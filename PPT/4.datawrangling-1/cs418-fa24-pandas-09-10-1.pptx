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60" r:id="rId1"/>
  </p:sldMasterIdLst>
  <p:notesMasterIdLst>
    <p:notesMasterId r:id="rId27"/>
  </p:notesMasterIdLst>
  <p:sldIdLst>
    <p:sldId id="256" r:id="rId2"/>
    <p:sldId id="356" r:id="rId3"/>
    <p:sldId id="398" r:id="rId4"/>
    <p:sldId id="357" r:id="rId5"/>
    <p:sldId id="358" r:id="rId6"/>
    <p:sldId id="361" r:id="rId7"/>
    <p:sldId id="362" r:id="rId8"/>
    <p:sldId id="363" r:id="rId9"/>
    <p:sldId id="364" r:id="rId10"/>
    <p:sldId id="365" r:id="rId11"/>
    <p:sldId id="366" r:id="rId12"/>
    <p:sldId id="367" r:id="rId13"/>
    <p:sldId id="368" r:id="rId14"/>
    <p:sldId id="369" r:id="rId15"/>
    <p:sldId id="370" r:id="rId16"/>
    <p:sldId id="371" r:id="rId17"/>
    <p:sldId id="292" r:id="rId18"/>
    <p:sldId id="293" r:id="rId19"/>
    <p:sldId id="372" r:id="rId20"/>
    <p:sldId id="374" r:id="rId21"/>
    <p:sldId id="373" r:id="rId22"/>
    <p:sldId id="375" r:id="rId23"/>
    <p:sldId id="390" r:id="rId24"/>
    <p:sldId id="376" r:id="rId25"/>
    <p:sldId id="397" r:id="rId26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2" roundtripDataSignature="AMtx7mgjr6sOdHEeufIgXygRCCpSkdg5S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1E43D9A-B9CC-D204-4563-8196A434CD32}" name="Ravi, Sathya" initials="" userId="S::sathya@uic.edu::617e2e82-06a6-4137-a700-b460764285c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29F83C-5B16-4E0F-93E5-201A7CBD518D}">
  <a:tblStyle styleId="{CA29F83C-5B16-4E0F-93E5-201A7CBD518D}" styleName="Table_0">
    <a:wholeTbl>
      <a:tcTxStyle b="off" i="off">
        <a:font>
          <a:latin typeface="Rockwell"/>
          <a:ea typeface="Rockwell"/>
          <a:cs typeface="Rockwel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7E8E7"/>
          </a:solidFill>
        </a:fill>
      </a:tcStyle>
    </a:wholeTbl>
    <a:band1H>
      <a:tcTxStyle b="off" i="off"/>
      <a:tcStyle>
        <a:tcBdr/>
        <a:fill>
          <a:solidFill>
            <a:srgbClr val="EFCEC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EFCEC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416"/>
    <p:restoredTop sz="83567"/>
  </p:normalViewPr>
  <p:slideViewPr>
    <p:cSldViewPr snapToGrid="0">
      <p:cViewPr varScale="1">
        <p:scale>
          <a:sx n="91" d="100"/>
          <a:sy n="91" d="100"/>
        </p:scale>
        <p:origin x="4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133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137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32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13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13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134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16" name="Google Shape;316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3" name="Google Shape;32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30" name="Google Shape;33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40" name="Google Shape;340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4" name="Google Shape;364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5" name="Google Shape;365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6" name="Google Shape;396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7" name="Google Shape;397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3" name="Google Shape;403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Discussion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04" name="Google Shape;404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5" name="Google Shape;415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6" name="Google Shape;416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2" name="Google Shape;422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3" name="Google Shape;423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3" name="Google Shape;44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1" name="Google Shape;461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62" name="Google Shape;462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1" name="Google Shape;481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82" name="Google Shape;482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A (quantitative), B (ordinal but sometimes treated as quantitative),  A(Quantitative), C(nominal)</a:t>
            </a:r>
            <a:endParaRPr dirty="0"/>
          </a:p>
        </p:txBody>
      </p:sp>
      <p:sp>
        <p:nvSpPr>
          <p:cNvPr id="504" name="Google Shape;504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1" name="Google Shape;511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</p:txBody>
      </p:sp>
      <p:sp>
        <p:nvSpPr>
          <p:cNvPr id="512" name="Google Shape;512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4" name="Google Shape;52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2" name="Google Shape;57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8" name="Google Shape;578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9" name="Google Shape;63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8" name="Google Shape;76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0" name="Google Shape;700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01" name="Google Shape;701;p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5" name="Google Shape;855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7" name="Google Shape;61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</a:t>
            </a:r>
            <a:endParaRPr dirty="0"/>
          </a:p>
        </p:txBody>
      </p:sp>
      <p:sp>
        <p:nvSpPr>
          <p:cNvPr id="618" name="Google Shape;618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51239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6" name="Google Shape;946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47" name="Google Shape;947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6" name="Google Shape;596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7" name="Google Shape;597;p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27680" y="1183257"/>
            <a:ext cx="82296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042421" y="3429000"/>
            <a:ext cx="82296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3828" y="1110597"/>
            <a:ext cx="2286000" cy="508000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5959" y="4117661"/>
            <a:ext cx="3657600" cy="512064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4" name="Rectangle 13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9" name="Rectangle 18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1215180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7" name="Rectangle 26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1" name="Oval 20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3" name="Oval 22"/>
          <p:cNvSpPr/>
          <p:nvPr/>
        </p:nvSpPr>
        <p:spPr bwMode="auto">
          <a:xfrm>
            <a:off x="1746176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4" name="Oval 23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6" name="Oval 25"/>
          <p:cNvSpPr/>
          <p:nvPr/>
        </p:nvSpPr>
        <p:spPr bwMode="auto">
          <a:xfrm>
            <a:off x="2218944" y="5788152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5" name="Oval 24"/>
          <p:cNvSpPr/>
          <p:nvPr/>
        </p:nvSpPr>
        <p:spPr>
          <a:xfrm>
            <a:off x="2540000" y="4495800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767392" y="4928702"/>
            <a:ext cx="812800" cy="517524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69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99568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539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1590" y="494193"/>
            <a:ext cx="82296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51616" y="3280744"/>
            <a:ext cx="82296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2008" y="1106932"/>
            <a:ext cx="2286000" cy="508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6208" y="4114800"/>
            <a:ext cx="3657600" cy="512064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0" name="Rectangle 9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Rectangle 10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8" name="Rectangle 17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19" name="Oval 18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0" name="Oval 19"/>
          <p:cNvSpPr/>
          <p:nvPr/>
        </p:nvSpPr>
        <p:spPr bwMode="auto">
          <a:xfrm>
            <a:off x="1766272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1" name="Oval 20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2" name="Oval 21"/>
          <p:cNvSpPr/>
          <p:nvPr/>
        </p:nvSpPr>
        <p:spPr bwMode="auto">
          <a:xfrm>
            <a:off x="2218944" y="5791200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3" name="Oval 22"/>
          <p:cNvSpPr/>
          <p:nvPr/>
        </p:nvSpPr>
        <p:spPr bwMode="auto">
          <a:xfrm>
            <a:off x="2505387" y="4479888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12130592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787488" y="4928702"/>
            <a:ext cx="812800" cy="517524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509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5693664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57923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0584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58293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6096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57912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554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41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638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47360" y="3124200"/>
            <a:ext cx="6309360" cy="6096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083040" y="274320"/>
            <a:ext cx="2036064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4" name="Oval 13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406400" y="274320"/>
            <a:ext cx="75184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19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3" name="Oval 12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18404" y="3124200"/>
            <a:ext cx="6309360" cy="6096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2296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21064" y="264795"/>
            <a:ext cx="2032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1" name="Rectangle 10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3748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782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235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6928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69415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6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6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6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116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71361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99568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10454640" y="1017843"/>
            <a:ext cx="2011680" cy="512064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9853648" y="3676280"/>
            <a:ext cx="3200400" cy="48768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016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0" name="Rectangle 9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2" name="Oval 11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838688" y="5734050"/>
            <a:ext cx="8128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25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eautiful-soup-4.readthedocs.io/en/latest/#kinds-of-object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 txBox="1">
            <a:spLocks noGrp="1"/>
          </p:cNvSpPr>
          <p:nvPr>
            <p:ph type="ctrTitle"/>
          </p:nvPr>
        </p:nvSpPr>
        <p:spPr>
          <a:xfrm>
            <a:off x="3027680" y="1183257"/>
            <a:ext cx="8565230" cy="1894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ockwell"/>
              <a:buNone/>
            </a:pPr>
            <a:r>
              <a:rPr lang="en-US" sz="6000" dirty="0"/>
              <a:t>data wrangling</a:t>
            </a:r>
            <a:endParaRPr lang="en-US" dirty="0"/>
          </a:p>
        </p:txBody>
      </p:sp>
      <p:sp>
        <p:nvSpPr>
          <p:cNvPr id="110" name="Google Shape;110;p1"/>
          <p:cNvSpPr txBox="1">
            <a:spLocks noGrp="1"/>
          </p:cNvSpPr>
          <p:nvPr>
            <p:ph type="subTitle" idx="1"/>
          </p:nvPr>
        </p:nvSpPr>
        <p:spPr>
          <a:xfrm>
            <a:off x="3027680" y="3429000"/>
            <a:ext cx="7891272" cy="1056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000"/>
              <a:buNone/>
            </a:pPr>
            <a:r>
              <a:rPr lang="en-US" dirty="0"/>
              <a:t>CS 418 Introduction to Data Science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dirty="0"/>
              <a:t>Prof. Sathya Ravi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dirty="0"/>
              <a:t>September 10, 2024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9"/>
          <p:cNvSpPr txBox="1">
            <a:spLocks noGrp="1"/>
          </p:cNvSpPr>
          <p:nvPr>
            <p:ph type="title"/>
          </p:nvPr>
        </p:nvSpPr>
        <p:spPr>
          <a:xfrm>
            <a:off x="1063752" y="211015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PARSING JSON IN PYTHON</a:t>
            </a:r>
            <a:endParaRPr dirty="0"/>
          </a:p>
        </p:txBody>
      </p:sp>
      <p:sp>
        <p:nvSpPr>
          <p:cNvPr id="319" name="Google Shape;319;p19"/>
          <p:cNvSpPr txBox="1">
            <a:spLocks noGrp="1"/>
          </p:cNvSpPr>
          <p:nvPr>
            <p:ph type="body" idx="1"/>
          </p:nvPr>
        </p:nvSpPr>
        <p:spPr>
          <a:xfrm>
            <a:off x="1069848" y="1435609"/>
            <a:ext cx="10058400" cy="521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indent="-182880">
              <a:lnSpc>
                <a:spcPct val="90000"/>
              </a:lnSpc>
              <a:spcBef>
                <a:spcPts val="0"/>
              </a:spcBef>
              <a:buSzPts val="1700"/>
              <a:buFont typeface="Wingdings"/>
              <a:buChar char="▪"/>
            </a:pPr>
            <a:r>
              <a:rPr lang="en-US" dirty="0"/>
              <a:t>Built-in library to read/write Python objects from/to JSON files. Can also use </a:t>
            </a:r>
            <a:r>
              <a:rPr lang="en-US" dirty="0" err="1"/>
              <a:t>pandas.read_json</a:t>
            </a:r>
            <a:r>
              <a:rPr lang="en-US" dirty="0"/>
              <a:t> .Try this on the terminal!</a:t>
            </a:r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endParaRPr lang="en-US" dirty="0"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endParaRPr lang="en-US" dirty="0"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endParaRPr lang="en-US" dirty="0"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endParaRPr lang="en-US" dirty="0"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endParaRPr lang="en-US" dirty="0"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endParaRPr lang="en-US" dirty="0"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endParaRPr lang="en-US" dirty="0"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endParaRPr lang="en-US" dirty="0"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endParaRPr lang="en-US" dirty="0"/>
          </a:p>
          <a:p>
            <a:pPr marL="182880" indent="-182880">
              <a:lnSpc>
                <a:spcPct val="90000"/>
              </a:lnSpc>
              <a:spcBef>
                <a:spcPts val="0"/>
              </a:spcBef>
              <a:buSzPts val="1700"/>
              <a:buFont typeface="Wingdings"/>
              <a:buChar char="▪"/>
            </a:pPr>
            <a:endParaRPr lang="en-US" dirty="0"/>
          </a:p>
          <a:p>
            <a:pPr marL="182880" indent="-182880">
              <a:lnSpc>
                <a:spcPct val="90000"/>
              </a:lnSpc>
              <a:spcBef>
                <a:spcPts val="0"/>
              </a:spcBef>
              <a:buSzPts val="1700"/>
              <a:buFont typeface="Wingdings"/>
              <a:buChar char="▪"/>
            </a:pPr>
            <a:endParaRPr lang="en-US" dirty="0"/>
          </a:p>
          <a:p>
            <a:pPr marL="182880" indent="-182880">
              <a:lnSpc>
                <a:spcPct val="90000"/>
              </a:lnSpc>
              <a:spcBef>
                <a:spcPts val="0"/>
              </a:spcBef>
              <a:buSzPts val="1700"/>
              <a:buFont typeface="Wingdings"/>
              <a:buChar char="▪"/>
            </a:pPr>
            <a:endParaRPr lang="en-US" dirty="0"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endParaRPr lang="en-US" dirty="0"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endParaRPr dirty="0"/>
          </a:p>
        </p:txBody>
      </p:sp>
      <p:pic>
        <p:nvPicPr>
          <p:cNvPr id="320" name="Google Shape;320;p19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1547092" y="2284311"/>
            <a:ext cx="4780639" cy="2753331"/>
          </a:xfrm>
          <a:prstGeom prst="rect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C0126B4-21D3-A9F5-387C-02B34D216F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47092" y="5228686"/>
            <a:ext cx="7772400" cy="11618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0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XML / HTML FILES</a:t>
            </a:r>
            <a:endParaRPr/>
          </a:p>
        </p:txBody>
      </p:sp>
      <p:sp>
        <p:nvSpPr>
          <p:cNvPr id="326" name="Google Shape;326;p20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The main format for the web (though XML seems to be losing a bit of popularity to JSON for use in APIs / file formats) 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XML files contain hierarchical content delineated by tags</a:t>
            </a: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HTML is syntactically like XML but horrible (e.g., open tags are not always closed), more fundamentally, HTML is meant to describe appearance</a:t>
            </a:r>
            <a:endParaRPr dirty="0"/>
          </a:p>
        </p:txBody>
      </p:sp>
      <p:pic>
        <p:nvPicPr>
          <p:cNvPr id="327" name="Google Shape;32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05150" y="3256801"/>
            <a:ext cx="5241193" cy="160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1"/>
          <p:cNvSpPr txBox="1">
            <a:spLocks noGrp="1"/>
          </p:cNvSpPr>
          <p:nvPr>
            <p:ph type="title"/>
          </p:nvPr>
        </p:nvSpPr>
        <p:spPr>
          <a:xfrm>
            <a:off x="753351" y="353325"/>
            <a:ext cx="10767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ckwell"/>
              <a:buNone/>
            </a:pPr>
            <a:r>
              <a:rPr lang="en-US"/>
              <a:t>XML (ANOTHER KIND OF NESTED DATA)</a:t>
            </a:r>
            <a:endParaRPr/>
          </a:p>
        </p:txBody>
      </p:sp>
      <p:sp>
        <p:nvSpPr>
          <p:cNvPr id="333" name="Google Shape;333;p21"/>
          <p:cNvSpPr txBox="1">
            <a:spLocks noGrp="1"/>
          </p:cNvSpPr>
          <p:nvPr>
            <p:ph type="body" idx="1"/>
          </p:nvPr>
        </p:nvSpPr>
        <p:spPr>
          <a:xfrm>
            <a:off x="1019950" y="1885050"/>
            <a:ext cx="8455500" cy="5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85000"/>
              <a:buNone/>
            </a:pP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&lt;catalog&gt;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ct val="85000"/>
              <a:buNone/>
            </a:pP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  &lt;plant type='a'&gt;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ct val="85000"/>
              <a:buNone/>
            </a:pP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    &lt;common&gt;Bloodroot&lt;/common&gt;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ct val="85000"/>
              <a:buNone/>
            </a:pP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    &lt;botanical&gt;Sanguinaria canadensis&lt;/botanical&gt;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ct val="85000"/>
              <a:buNone/>
            </a:pP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    &lt;zone&gt;4&lt;/zone&gt;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ct val="85000"/>
              <a:buNone/>
            </a:pP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    &lt;light&gt;Mostly Shady&lt;/light&gt;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ct val="85000"/>
              <a:buNone/>
            </a:pP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    &lt;price&gt;2.44&lt;/price&gt;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ct val="85000"/>
              <a:buNone/>
            </a:pP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    &lt;availability&gt;03/15/2006&lt;/availability&gt;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ct val="85000"/>
              <a:buNone/>
            </a:pP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    &lt;description&gt;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ct val="85000"/>
              <a:buNone/>
            </a:pP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		&lt;color&gt;white&lt;/color&gt;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ct val="85000"/>
              <a:buNone/>
            </a:pP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	&lt;petals&gt;true&lt;/petals&gt;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ct val="85000"/>
              <a:buNone/>
            </a:pP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    &lt;/description&gt;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ct val="85000"/>
              <a:buNone/>
            </a:pP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    &lt;indoor&gt;true&lt;/indoor&gt;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ct val="85000"/>
              <a:buNone/>
            </a:pP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  &lt;/plant&gt;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ct val="85000"/>
              <a:buNone/>
            </a:pP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…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ct val="85000"/>
              <a:buNone/>
            </a:pP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&lt;/catalog&gt;</a:t>
            </a:r>
            <a:endParaRPr/>
          </a:p>
        </p:txBody>
      </p:sp>
      <p:grpSp>
        <p:nvGrpSpPr>
          <p:cNvPr id="334" name="Google Shape;334;p21"/>
          <p:cNvGrpSpPr/>
          <p:nvPr/>
        </p:nvGrpSpPr>
        <p:grpSpPr>
          <a:xfrm>
            <a:off x="4880875" y="4431415"/>
            <a:ext cx="4253526" cy="680266"/>
            <a:chOff x="4880875" y="4431415"/>
            <a:chExt cx="4253526" cy="680266"/>
          </a:xfrm>
        </p:grpSpPr>
        <p:sp>
          <p:nvSpPr>
            <p:cNvPr id="335" name="Google Shape;335;p21"/>
            <p:cNvSpPr txBox="1"/>
            <p:nvPr/>
          </p:nvSpPr>
          <p:spPr>
            <a:xfrm>
              <a:off x="5705257" y="4526906"/>
              <a:ext cx="3429144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Nested structure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21"/>
            <p:cNvSpPr/>
            <p:nvPr/>
          </p:nvSpPr>
          <p:spPr>
            <a:xfrm rot="816306">
              <a:off x="4922757" y="4492487"/>
              <a:ext cx="569843" cy="424070"/>
            </a:xfrm>
            <a:prstGeom prst="lef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2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PARSING XML/HTML IN PYTHON</a:t>
            </a:r>
            <a:endParaRPr/>
          </a:p>
        </p:txBody>
      </p:sp>
      <p:sp>
        <p:nvSpPr>
          <p:cNvPr id="343" name="Google Shape;343;p22"/>
          <p:cNvSpPr txBox="1">
            <a:spLocks noGrp="1"/>
          </p:cNvSpPr>
          <p:nvPr>
            <p:ph type="body" idx="1"/>
          </p:nvPr>
        </p:nvSpPr>
        <p:spPr>
          <a:xfrm>
            <a:off x="1069848" y="1629509"/>
            <a:ext cx="10058400" cy="5105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There are a number of XML/HTML parsers for Python, but a nice one for data science is the </a:t>
            </a:r>
            <a:r>
              <a:rPr lang="en-US" dirty="0" err="1"/>
              <a:t>BeautifulSoup</a:t>
            </a:r>
            <a:r>
              <a:rPr lang="en-US" dirty="0"/>
              <a:t> library (focused on getting data out of XML/HTML).</a:t>
            </a:r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endParaRPr lang="en-US" dirty="0"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Try this!</a:t>
            </a: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Homework has data that you will get with </a:t>
            </a:r>
            <a:r>
              <a:rPr lang="en-US" dirty="0" err="1"/>
              <a:t>BeautifulSoup</a:t>
            </a:r>
            <a:r>
              <a:rPr lang="en-US" dirty="0"/>
              <a:t>.</a:t>
            </a:r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 Reference: </a:t>
            </a:r>
            <a:r>
              <a:rPr lang="en-US" dirty="0">
                <a:hlinkClick r:id="rId3"/>
              </a:rPr>
              <a:t>https://beautiful-soup-4.readthedocs.io/en/latest/#kinds-of-objects</a:t>
            </a:r>
            <a:r>
              <a:rPr lang="en-US" dirty="0"/>
              <a:t>, https://beautiful-soup-4.readthedocs.io/</a:t>
            </a:r>
            <a:r>
              <a:rPr lang="en-US" dirty="0" err="1"/>
              <a:t>en</a:t>
            </a:r>
            <a:r>
              <a:rPr lang="en-US" dirty="0"/>
              <a:t>/latest/#find-all</a:t>
            </a:r>
            <a:endParaRPr dirty="0"/>
          </a:p>
        </p:txBody>
      </p:sp>
      <p:pic>
        <p:nvPicPr>
          <p:cNvPr id="344" name="Google Shape;344;p22"/>
          <p:cNvPicPr preferRelativeResize="0"/>
          <p:nvPr/>
        </p:nvPicPr>
        <p:blipFill rotWithShape="1">
          <a:blip r:embed="rId4"/>
          <a:srcRect/>
          <a:stretch/>
        </p:blipFill>
        <p:spPr>
          <a:xfrm>
            <a:off x="1334548" y="2609309"/>
            <a:ext cx="9787604" cy="2946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6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Now</a:t>
            </a:r>
            <a:endParaRPr dirty="0"/>
          </a:p>
        </p:txBody>
      </p:sp>
      <p:sp>
        <p:nvSpPr>
          <p:cNvPr id="368" name="Google Shape;368;p26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5333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None/>
            </a:pPr>
            <a:endParaRPr sz="2400"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210"/>
              <a:buChar char="▪"/>
            </a:pPr>
            <a:r>
              <a:rPr lang="en-US" sz="2600" dirty="0">
                <a:solidFill>
                  <a:srgbClr val="BFBFBF"/>
                </a:solidFill>
              </a:rPr>
              <a:t>Data acquisition</a:t>
            </a:r>
            <a:endParaRPr dirty="0"/>
          </a:p>
          <a:p>
            <a:pPr marL="182880" lvl="0" indent="-42544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210"/>
              <a:buNone/>
            </a:pPr>
            <a:endParaRPr sz="2600" dirty="0"/>
          </a:p>
          <a:p>
            <a:pPr marL="182880" lvl="0" indent="-182880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</a:rPr>
              <a:t>Data wrangling</a:t>
            </a:r>
            <a:endParaRPr sz="2200" dirty="0">
              <a:solidFill>
                <a:srgbClr val="000000"/>
              </a:solidFill>
            </a:endParaRPr>
          </a:p>
          <a:p>
            <a:pPr marL="457200" lvl="1" indent="-18288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Structure 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Data types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Granularity</a:t>
            </a:r>
            <a:endParaRPr sz="22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</p:txBody>
      </p:sp>
      <p:sp>
        <p:nvSpPr>
          <p:cNvPr id="369" name="Google Shape;369;p26"/>
          <p:cNvSpPr/>
          <p:nvPr/>
        </p:nvSpPr>
        <p:spPr>
          <a:xfrm>
            <a:off x="6014548" y="1824796"/>
            <a:ext cx="780800" cy="7808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70" name="Google Shape;370;p26"/>
          <p:cNvSpPr txBox="1"/>
          <p:nvPr/>
        </p:nvSpPr>
        <p:spPr>
          <a:xfrm>
            <a:off x="6441535" y="982797"/>
            <a:ext cx="3081200" cy="9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Formulate Question or Problem</a:t>
            </a:r>
            <a:endParaRPr sz="266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1" name="Google Shape;371;p26"/>
          <p:cNvCxnSpPr/>
          <p:nvPr/>
        </p:nvCxnSpPr>
        <p:spPr>
          <a:xfrm>
            <a:off x="6404948" y="1247996"/>
            <a:ext cx="0" cy="576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72" name="Google Shape;372;p26"/>
          <p:cNvCxnSpPr/>
          <p:nvPr/>
        </p:nvCxnSpPr>
        <p:spPr>
          <a:xfrm>
            <a:off x="9797682" y="1247996"/>
            <a:ext cx="0" cy="576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73" name="Google Shape;373;p26"/>
          <p:cNvGrpSpPr/>
          <p:nvPr/>
        </p:nvGrpSpPr>
        <p:grpSpPr>
          <a:xfrm>
            <a:off x="6795349" y="1013008"/>
            <a:ext cx="5396651" cy="1592588"/>
            <a:chOff x="3149725" y="615959"/>
            <a:chExt cx="4047488" cy="1194441"/>
          </a:xfrm>
        </p:grpSpPr>
        <p:sp>
          <p:nvSpPr>
            <p:cNvPr id="374" name="Google Shape;374;p26"/>
            <p:cNvSpPr/>
            <p:nvPr/>
          </p:nvSpPr>
          <p:spPr>
            <a:xfrm>
              <a:off x="5108675" y="1224800"/>
              <a:ext cx="585600" cy="585600"/>
            </a:xfrm>
            <a:prstGeom prst="ellipse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375" name="Google Shape;375;p26"/>
            <p:cNvSpPr txBox="1"/>
            <p:nvPr/>
          </p:nvSpPr>
          <p:spPr>
            <a:xfrm>
              <a:off x="5714013" y="615959"/>
              <a:ext cx="1483200" cy="6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67"/>
                <a:buFont typeface="Arial"/>
                <a:buNone/>
              </a:pPr>
              <a:r>
                <a:rPr lang="en-US" sz="26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Acquire and Clean Data</a:t>
              </a:r>
              <a:endPara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76" name="Google Shape;376;p26"/>
            <p:cNvCxnSpPr/>
            <p:nvPr/>
          </p:nvCxnSpPr>
          <p:spPr>
            <a:xfrm>
              <a:off x="3149725" y="1517600"/>
              <a:ext cx="19590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377" name="Google Shape;377;p26"/>
          <p:cNvGrpSpPr/>
          <p:nvPr/>
        </p:nvGrpSpPr>
        <p:grpSpPr>
          <a:xfrm>
            <a:off x="9407283" y="2605596"/>
            <a:ext cx="2881135" cy="2928869"/>
            <a:chOff x="5108675" y="1810400"/>
            <a:chExt cx="2160851" cy="2196652"/>
          </a:xfrm>
        </p:grpSpPr>
        <p:grpSp>
          <p:nvGrpSpPr>
            <p:cNvPr id="378" name="Google Shape;378;p26"/>
            <p:cNvGrpSpPr/>
            <p:nvPr/>
          </p:nvGrpSpPr>
          <p:grpSpPr>
            <a:xfrm>
              <a:off x="5108675" y="3188600"/>
              <a:ext cx="2160851" cy="818452"/>
              <a:chOff x="5108675" y="3188600"/>
              <a:chExt cx="2160851" cy="818452"/>
            </a:xfrm>
          </p:grpSpPr>
          <p:sp>
            <p:nvSpPr>
              <p:cNvPr id="379" name="Google Shape;379;p26"/>
              <p:cNvSpPr/>
              <p:nvPr/>
            </p:nvSpPr>
            <p:spPr>
              <a:xfrm>
                <a:off x="5108675" y="3188600"/>
                <a:ext cx="585600" cy="585600"/>
              </a:xfrm>
              <a:prstGeom prst="ellipse">
                <a:avLst/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  <p:sp>
            <p:nvSpPr>
              <p:cNvPr id="380" name="Google Shape;380;p26"/>
              <p:cNvSpPr txBox="1"/>
              <p:nvPr/>
            </p:nvSpPr>
            <p:spPr>
              <a:xfrm>
                <a:off x="5694226" y="3329652"/>
                <a:ext cx="1575300" cy="67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67"/>
                  <a:buFont typeface="Arial"/>
                  <a:buNone/>
                </a:pPr>
                <a:r>
                  <a:rPr lang="en-US" sz="2667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Exploratory Data Analysis</a:t>
                </a:r>
                <a:endParaRPr sz="26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81" name="Google Shape;381;p26"/>
            <p:cNvCxnSpPr/>
            <p:nvPr/>
          </p:nvCxnSpPr>
          <p:spPr>
            <a:xfrm>
              <a:off x="5401475" y="1810400"/>
              <a:ext cx="0" cy="1378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cxnSp>
        <p:nvCxnSpPr>
          <p:cNvPr id="382" name="Google Shape;382;p26"/>
          <p:cNvCxnSpPr/>
          <p:nvPr/>
        </p:nvCxnSpPr>
        <p:spPr>
          <a:xfrm rot="10800000">
            <a:off x="6680827" y="2491141"/>
            <a:ext cx="2840800" cy="2066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83" name="Google Shape;383;p26"/>
          <p:cNvSpPr/>
          <p:nvPr/>
        </p:nvSpPr>
        <p:spPr>
          <a:xfrm>
            <a:off x="6014548" y="4443196"/>
            <a:ext cx="780800" cy="7808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84" name="Google Shape;384;p26"/>
          <p:cNvSpPr txBox="1"/>
          <p:nvPr/>
        </p:nvSpPr>
        <p:spPr>
          <a:xfrm>
            <a:off x="6349087" y="5058094"/>
            <a:ext cx="2713600" cy="9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Draw Conclusions</a:t>
            </a:r>
            <a:endParaRPr sz="266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5" name="Google Shape;385;p26"/>
          <p:cNvCxnSpPr/>
          <p:nvPr/>
        </p:nvCxnSpPr>
        <p:spPr>
          <a:xfrm rot="10800000">
            <a:off x="6795282" y="4833596"/>
            <a:ext cx="26120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86" name="Google Shape;386;p26"/>
          <p:cNvCxnSpPr/>
          <p:nvPr/>
        </p:nvCxnSpPr>
        <p:spPr>
          <a:xfrm rot="10800000">
            <a:off x="6404948" y="2605596"/>
            <a:ext cx="0" cy="1837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87" name="Google Shape;387;p26"/>
          <p:cNvGrpSpPr/>
          <p:nvPr/>
        </p:nvGrpSpPr>
        <p:grpSpPr>
          <a:xfrm>
            <a:off x="6404949" y="5223996"/>
            <a:ext cx="4380633" cy="1519600"/>
            <a:chOff x="2856925" y="3774200"/>
            <a:chExt cx="3285475" cy="1139700"/>
          </a:xfrm>
        </p:grpSpPr>
        <p:sp>
          <p:nvSpPr>
            <p:cNvPr id="388" name="Google Shape;388;p26"/>
            <p:cNvSpPr txBox="1"/>
            <p:nvPr/>
          </p:nvSpPr>
          <p:spPr>
            <a:xfrm>
              <a:off x="3938000" y="4236500"/>
              <a:ext cx="2204400" cy="6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67"/>
                <a:buFont typeface="Arial"/>
                <a:buNone/>
              </a:pPr>
              <a:r>
                <a:rPr lang="en-US" sz="26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Reports, Decisions, and Solutions</a:t>
              </a:r>
              <a:endPara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89" name="Google Shape;389;p26"/>
            <p:cNvCxnSpPr/>
            <p:nvPr/>
          </p:nvCxnSpPr>
          <p:spPr>
            <a:xfrm rot="-5400000" flipH="1">
              <a:off x="2997025" y="3634100"/>
              <a:ext cx="801000" cy="1081200"/>
            </a:xfrm>
            <a:prstGeom prst="bentConnector2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390" name="Google Shape;390;p26"/>
          <p:cNvSpPr txBox="1"/>
          <p:nvPr/>
        </p:nvSpPr>
        <p:spPr>
          <a:xfrm>
            <a:off x="9726412" y="4429765"/>
            <a:ext cx="384000" cy="3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91" name="Google Shape;391;p26"/>
          <p:cNvSpPr txBox="1"/>
          <p:nvPr/>
        </p:nvSpPr>
        <p:spPr>
          <a:xfrm>
            <a:off x="9904768" y="2276440"/>
            <a:ext cx="214800" cy="3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392" name="Google Shape;392;p26"/>
          <p:cNvCxnSpPr/>
          <p:nvPr/>
        </p:nvCxnSpPr>
        <p:spPr>
          <a:xfrm rot="-5400000">
            <a:off x="9040012" y="3534265"/>
            <a:ext cx="2150100" cy="9300"/>
          </a:xfrm>
          <a:prstGeom prst="curvedConnector3">
            <a:avLst>
              <a:gd name="adj1" fmla="val 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93" name="Google Shape;393;p26"/>
          <p:cNvSpPr/>
          <p:nvPr/>
        </p:nvSpPr>
        <p:spPr>
          <a:xfrm>
            <a:off x="9283700" y="889000"/>
            <a:ext cx="2794000" cy="1889640"/>
          </a:xfrm>
          <a:prstGeom prst="rect">
            <a:avLst/>
          </a:prstGeom>
          <a:solidFill>
            <a:schemeClr val="accent1">
              <a:alpha val="20392"/>
            </a:schemeClr>
          </a:solidFill>
          <a:ln w="12700" cap="flat" cmpd="sng">
            <a:solidFill>
              <a:srgbClr val="99341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7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DATA WRANGLING</a:t>
            </a:r>
            <a:endParaRPr dirty="0"/>
          </a:p>
        </p:txBody>
      </p:sp>
      <p:sp>
        <p:nvSpPr>
          <p:cNvPr id="400" name="Google Shape;400;p27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Data can be </a:t>
            </a:r>
            <a:r>
              <a:rPr lang="en-US" b="1" dirty="0"/>
              <a:t>split across files of different types </a:t>
            </a:r>
            <a:r>
              <a:rPr lang="en-US" dirty="0"/>
              <a:t>and </a:t>
            </a:r>
            <a:r>
              <a:rPr lang="en-US" b="1" dirty="0"/>
              <a:t>reference other data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Data wrangling is the </a:t>
            </a:r>
            <a:r>
              <a:rPr lang="en-US" b="1" dirty="0"/>
              <a:t>process of cleaning and unifying messy and complex data sets for easy access and analysis </a:t>
            </a: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b="1"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transforming and mapping data from one "raw" data format into another format</a:t>
            </a:r>
            <a:endParaRPr dirty="0"/>
          </a:p>
          <a:p>
            <a:pPr marL="457200" lvl="1" indent="-8572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None/>
            </a:pP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Three important pieces towards understanding the data:</a:t>
            </a:r>
            <a:endParaRPr dirty="0"/>
          </a:p>
          <a:p>
            <a:pPr marL="731520" lvl="2" indent="-182879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▪"/>
            </a:pPr>
            <a:r>
              <a:rPr lang="en-US" dirty="0">
                <a:solidFill>
                  <a:srgbClr val="000000"/>
                </a:solidFill>
              </a:rPr>
              <a:t>Structure </a:t>
            </a:r>
            <a:endParaRPr dirty="0"/>
          </a:p>
          <a:p>
            <a:pPr marL="731520" lvl="2" indent="-182879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▪"/>
            </a:pPr>
            <a:r>
              <a:rPr lang="en-US" dirty="0">
                <a:solidFill>
                  <a:srgbClr val="000000"/>
                </a:solidFill>
              </a:rPr>
              <a:t>Data types</a:t>
            </a:r>
            <a:endParaRPr dirty="0"/>
          </a:p>
          <a:p>
            <a:pPr marL="731520" lvl="2" indent="-182879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▪"/>
            </a:pPr>
            <a:r>
              <a:rPr lang="en-US" dirty="0">
                <a:solidFill>
                  <a:srgbClr val="000000"/>
                </a:solidFill>
              </a:rPr>
              <a:t>Granularity</a:t>
            </a:r>
            <a:endParaRPr dirty="0">
              <a:solidFill>
                <a:srgbClr val="000000"/>
              </a:solidFill>
            </a:endParaRPr>
          </a:p>
          <a:p>
            <a:pPr marL="182880" lvl="0" indent="-74928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457200" lvl="1" indent="-8572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4750" y="1999995"/>
            <a:ext cx="5639549" cy="4858005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28"/>
          <p:cNvSpPr txBox="1">
            <a:spLocks noGrp="1"/>
          </p:cNvSpPr>
          <p:nvPr>
            <p:ph type="title"/>
          </p:nvPr>
        </p:nvSpPr>
        <p:spPr>
          <a:xfrm>
            <a:off x="903819" y="14703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TRANSFORMING DATA</a:t>
            </a:r>
            <a:endParaRPr/>
          </a:p>
        </p:txBody>
      </p:sp>
      <p:sp>
        <p:nvSpPr>
          <p:cNvPr id="408" name="Google Shape;408;p28"/>
          <p:cNvSpPr txBox="1">
            <a:spLocks noGrp="1"/>
          </p:cNvSpPr>
          <p:nvPr>
            <p:ph type="body" idx="1"/>
          </p:nvPr>
        </p:nvSpPr>
        <p:spPr>
          <a:xfrm>
            <a:off x="903819" y="1472601"/>
            <a:ext cx="11552400" cy="53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4287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None/>
            </a:pPr>
            <a:r>
              <a:rPr lang="en-US" sz="2400"/>
              <a:t>A big part of data wrangling is about transforming data to be more rectangular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/>
          </a:p>
        </p:txBody>
      </p:sp>
      <p:graphicFrame>
        <p:nvGraphicFramePr>
          <p:cNvPr id="409" name="Google Shape;409;p28"/>
          <p:cNvGraphicFramePr/>
          <p:nvPr/>
        </p:nvGraphicFramePr>
        <p:xfrm>
          <a:off x="8344626" y="3263283"/>
          <a:ext cx="2589200" cy="2157150"/>
        </p:xfrm>
        <a:graphic>
          <a:graphicData uri="http://schemas.openxmlformats.org/drawingml/2006/table">
            <a:tbl>
              <a:tblPr firstRow="1" firstCol="1">
                <a:noFill/>
              </a:tblPr>
              <a:tblGrid>
                <a:gridCol w="323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3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3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3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200" b="0" i="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42100" marR="142100" marT="71050" marB="7105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10" name="Google Shape;410;p28"/>
          <p:cNvSpPr txBox="1"/>
          <p:nvPr/>
        </p:nvSpPr>
        <p:spPr>
          <a:xfrm rot="-5400000">
            <a:off x="6900247" y="4298448"/>
            <a:ext cx="229902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Records/Rows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8"/>
          <p:cNvSpPr txBox="1"/>
          <p:nvPr/>
        </p:nvSpPr>
        <p:spPr>
          <a:xfrm>
            <a:off x="8198747" y="2432286"/>
            <a:ext cx="288091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Fields/Attributes/</a:t>
            </a:r>
            <a:br>
              <a:rPr lang="en-US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</a:br>
            <a:r>
              <a:rPr lang="en-US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Features/Columns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8"/>
          <p:cNvSpPr/>
          <p:nvPr/>
        </p:nvSpPr>
        <p:spPr>
          <a:xfrm rot="10800000">
            <a:off x="5807234" y="3979523"/>
            <a:ext cx="1453882" cy="42407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9"/>
          <p:cNvSpPr txBox="1">
            <a:spLocks noGrp="1"/>
          </p:cNvSpPr>
          <p:nvPr>
            <p:ph type="title"/>
          </p:nvPr>
        </p:nvSpPr>
        <p:spPr>
          <a:xfrm>
            <a:off x="852949" y="35463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QUESTIONS TO ASK ABOUT </a:t>
            </a:r>
            <a:r>
              <a:rPr lang="en-US" b="1" i="1"/>
              <a:t>STRUCTURE</a:t>
            </a:r>
            <a:endParaRPr/>
          </a:p>
        </p:txBody>
      </p:sp>
      <p:sp>
        <p:nvSpPr>
          <p:cNvPr id="419" name="Google Shape;419;p29"/>
          <p:cNvSpPr txBox="1">
            <a:spLocks noGrp="1"/>
          </p:cNvSpPr>
          <p:nvPr>
            <p:ph type="body" idx="1"/>
          </p:nvPr>
        </p:nvSpPr>
        <p:spPr>
          <a:xfrm>
            <a:off x="852949" y="1680198"/>
            <a:ext cx="11195957" cy="5767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71487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Font typeface="Noto Sans Symbols"/>
              <a:buChar char="▪"/>
            </a:pPr>
            <a:r>
              <a:rPr lang="en-US" dirty="0"/>
              <a:t>Is the data in a standard format?</a:t>
            </a:r>
            <a:endParaRPr dirty="0"/>
          </a:p>
          <a:p>
            <a:pPr marL="928687" lvl="1" indent="-457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Font typeface="Noto Sans Symbols"/>
              <a:buChar char="▪"/>
            </a:pPr>
            <a:r>
              <a:rPr lang="en-US" b="1" dirty="0"/>
              <a:t>Tabular data:</a:t>
            </a:r>
            <a:r>
              <a:rPr lang="en-US" dirty="0"/>
              <a:t> CSV, TSV, Excel, SQL</a:t>
            </a:r>
            <a:endParaRPr dirty="0"/>
          </a:p>
          <a:p>
            <a:pPr marL="928687" lvl="1" indent="-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Font typeface="Noto Sans Symbols"/>
              <a:buChar char="▪"/>
            </a:pPr>
            <a:r>
              <a:rPr lang="en-US" b="1" dirty="0"/>
              <a:t>Nested data:</a:t>
            </a:r>
            <a:r>
              <a:rPr lang="en-US" dirty="0"/>
              <a:t> JSON or XML</a:t>
            </a:r>
            <a:endParaRPr dirty="0"/>
          </a:p>
          <a:p>
            <a:pPr marL="471487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Font typeface="Noto Sans Symbols"/>
              <a:buChar char="▪"/>
            </a:pPr>
            <a:r>
              <a:rPr lang="en-US" dirty="0"/>
              <a:t>Is the data organized in “records”?</a:t>
            </a:r>
            <a:endParaRPr dirty="0"/>
          </a:p>
          <a:p>
            <a:pPr marL="928687" lvl="1" indent="-457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Font typeface="Noto Sans Symbols"/>
              <a:buChar char="▪"/>
            </a:pPr>
            <a:r>
              <a:rPr lang="en-US" dirty="0"/>
              <a:t>No: Can we define records by parsing the data?</a:t>
            </a:r>
            <a:endParaRPr dirty="0"/>
          </a:p>
          <a:p>
            <a:pPr marL="471487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Font typeface="Noto Sans Symbols"/>
              <a:buChar char="▪"/>
            </a:pPr>
            <a:r>
              <a:rPr lang="en-US" dirty="0"/>
              <a:t>Is the data nested? (records contained within records…)</a:t>
            </a:r>
            <a:endParaRPr dirty="0"/>
          </a:p>
          <a:p>
            <a:pPr marL="928687" lvl="1" indent="-457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Font typeface="Noto Sans Symbols"/>
              <a:buChar char="▪"/>
            </a:pPr>
            <a:r>
              <a:rPr lang="en-US" dirty="0"/>
              <a:t>Yes: Can we reasonably un-nest the data?</a:t>
            </a:r>
            <a:endParaRPr dirty="0"/>
          </a:p>
          <a:p>
            <a:pPr marL="471487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Font typeface="Noto Sans Symbols"/>
              <a:buChar char="▪"/>
            </a:pPr>
            <a:r>
              <a:rPr lang="en-US" dirty="0"/>
              <a:t>Does the data reference other data?</a:t>
            </a:r>
            <a:endParaRPr dirty="0"/>
          </a:p>
          <a:p>
            <a:pPr marL="1031557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Font typeface="Noto Sans Symbols"/>
              <a:buChar char="▪"/>
            </a:pPr>
            <a:r>
              <a:rPr lang="en-US" dirty="0"/>
              <a:t>Yes: can we join/merge the data</a:t>
            </a:r>
            <a:endParaRPr dirty="0"/>
          </a:p>
          <a:p>
            <a:pPr marL="471487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Font typeface="Noto Sans Symbols"/>
              <a:buChar char="▪"/>
            </a:pPr>
            <a:r>
              <a:rPr lang="en-US" dirty="0"/>
              <a:t>What are the fields in each record?</a:t>
            </a:r>
            <a:endParaRPr dirty="0"/>
          </a:p>
          <a:p>
            <a:pPr marL="928687" lvl="1" indent="-457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Font typeface="Noto Sans Symbols"/>
              <a:buChar char="▪"/>
            </a:pPr>
            <a:r>
              <a:rPr lang="en-US" dirty="0"/>
              <a:t>How are they encoded?  (e.g., strings, numbers, binary, dates …)</a:t>
            </a:r>
            <a:endParaRPr dirty="0"/>
          </a:p>
          <a:p>
            <a:pPr marL="1031557" lvl="1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Font typeface="Noto Sans Symbols"/>
              <a:buChar char="▪"/>
            </a:pPr>
            <a:r>
              <a:rPr lang="en-US" dirty="0"/>
              <a:t>What is the type of the data?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0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STRUCTURE: KEYS</a:t>
            </a:r>
            <a:endParaRPr/>
          </a:p>
        </p:txBody>
      </p:sp>
      <p:sp>
        <p:nvSpPr>
          <p:cNvPr id="426" name="Google Shape;426;p30"/>
          <p:cNvSpPr txBox="1">
            <a:spLocks noGrp="1"/>
          </p:cNvSpPr>
          <p:nvPr>
            <p:ph type="body" idx="1"/>
          </p:nvPr>
        </p:nvSpPr>
        <p:spPr>
          <a:xfrm>
            <a:off x="1044409" y="2145029"/>
            <a:ext cx="5935228" cy="4650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Often data will reference other pieces of data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b="1" dirty="0"/>
              <a:t>Primary key:</a:t>
            </a:r>
            <a:r>
              <a:rPr lang="en-US" dirty="0"/>
              <a:t> </a:t>
            </a:r>
            <a:r>
              <a:rPr lang="en-US" i="1" dirty="0"/>
              <a:t>the column or set of columns in a table that determine the values of the remaining columns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Primary keys are unique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Examples: SSN, </a:t>
            </a:r>
            <a:r>
              <a:rPr lang="en-US" dirty="0" err="1"/>
              <a:t>ProductIDs</a:t>
            </a:r>
            <a:r>
              <a:rPr lang="en-US" dirty="0"/>
              <a:t>, …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▪"/>
            </a:pPr>
            <a:r>
              <a:rPr lang="en-US" b="1" dirty="0"/>
              <a:t>Foreign keys:</a:t>
            </a:r>
            <a:r>
              <a:rPr lang="en-US" dirty="0"/>
              <a:t> the column or sets of columns that reference primary keys in other tables.</a:t>
            </a:r>
            <a:endParaRPr b="1" dirty="0"/>
          </a:p>
        </p:txBody>
      </p:sp>
      <p:graphicFrame>
        <p:nvGraphicFramePr>
          <p:cNvPr id="427" name="Google Shape;427;p30"/>
          <p:cNvGraphicFramePr/>
          <p:nvPr/>
        </p:nvGraphicFramePr>
        <p:xfrm>
          <a:off x="7454017" y="444650"/>
          <a:ext cx="4520925" cy="147832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50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6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6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sng" strike="noStrike" cap="none"/>
                        <a:t>OrderNum</a:t>
                      </a:r>
                      <a:endParaRPr sz="1800" u="sng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sng" strike="noStrike" cap="none"/>
                        <a:t>ProdID</a:t>
                      </a:r>
                      <a:endParaRPr sz="1800" u="sng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Quantity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42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999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42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28" name="Google Shape;428;p30"/>
          <p:cNvGraphicFramePr/>
          <p:nvPr/>
        </p:nvGraphicFramePr>
        <p:xfrm>
          <a:off x="7624600" y="2377166"/>
          <a:ext cx="4350300" cy="110747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45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sng" strike="noStrike" cap="none"/>
                        <a:t>OrderNum</a:t>
                      </a:r>
                      <a:endParaRPr sz="1800" u="sng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sng" strike="noStrike" cap="none"/>
                        <a:t>CustID</a:t>
                      </a:r>
                      <a:endParaRPr sz="1800" u="sng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Date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171345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8/21/2017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281139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8/30/2017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29" name="Google Shape;429;p30"/>
          <p:cNvGraphicFramePr/>
          <p:nvPr/>
        </p:nvGraphicFramePr>
        <p:xfrm>
          <a:off x="9462926" y="3928804"/>
          <a:ext cx="2512000" cy="11125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2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sng" strike="noStrike" cap="none"/>
                        <a:t>ProdID</a:t>
                      </a:r>
                      <a:endParaRPr sz="1800" u="sng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Cost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42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3.14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999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2.72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30" name="Google Shape;430;p30"/>
          <p:cNvSpPr txBox="1"/>
          <p:nvPr/>
        </p:nvSpPr>
        <p:spPr>
          <a:xfrm>
            <a:off x="10235351" y="110078"/>
            <a:ext cx="17395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Purchases.csv</a:t>
            </a:r>
            <a:endParaRPr sz="18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31" name="Google Shape;431;p30"/>
          <p:cNvSpPr txBox="1"/>
          <p:nvPr/>
        </p:nvSpPr>
        <p:spPr>
          <a:xfrm>
            <a:off x="10386033" y="3589274"/>
            <a:ext cx="15888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Products.csv</a:t>
            </a:r>
            <a:endParaRPr sz="18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32" name="Google Shape;432;p30"/>
          <p:cNvSpPr txBox="1"/>
          <p:nvPr/>
        </p:nvSpPr>
        <p:spPr>
          <a:xfrm>
            <a:off x="10621674" y="2037636"/>
            <a:ext cx="13532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Orders.csv</a:t>
            </a:r>
            <a:endParaRPr sz="18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aphicFrame>
        <p:nvGraphicFramePr>
          <p:cNvPr id="433" name="Google Shape;433;p30"/>
          <p:cNvGraphicFramePr/>
          <p:nvPr/>
        </p:nvGraphicFramePr>
        <p:xfrm>
          <a:off x="9462926" y="5485525"/>
          <a:ext cx="2512000" cy="11125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2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sng" strike="noStrike" cap="none"/>
                        <a:t>CustID</a:t>
                      </a:r>
                      <a:endParaRPr sz="1800" u="sng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Addr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171345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Harmon.. 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281139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Main ..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34" name="Google Shape;434;p30"/>
          <p:cNvSpPr txBox="1"/>
          <p:nvPr/>
        </p:nvSpPr>
        <p:spPr>
          <a:xfrm>
            <a:off x="10185658" y="5145992"/>
            <a:ext cx="17892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Customers.csv</a:t>
            </a:r>
            <a:endParaRPr sz="18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pSp>
        <p:nvGrpSpPr>
          <p:cNvPr id="435" name="Google Shape;435;p30"/>
          <p:cNvGrpSpPr/>
          <p:nvPr/>
        </p:nvGrpSpPr>
        <p:grpSpPr>
          <a:xfrm>
            <a:off x="7865145" y="1960363"/>
            <a:ext cx="1934702" cy="416866"/>
            <a:chOff x="7865145" y="1960363"/>
            <a:chExt cx="1934702" cy="416866"/>
          </a:xfrm>
        </p:grpSpPr>
        <p:sp>
          <p:nvSpPr>
            <p:cNvPr id="436" name="Google Shape;436;p30"/>
            <p:cNvSpPr txBox="1"/>
            <p:nvPr/>
          </p:nvSpPr>
          <p:spPr>
            <a:xfrm>
              <a:off x="7865145" y="1960363"/>
              <a:ext cx="148470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Foreign Key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7" name="Google Shape;437;p30"/>
            <p:cNvCxnSpPr>
              <a:stCxn id="436" idx="3"/>
            </p:cNvCxnSpPr>
            <p:nvPr/>
          </p:nvCxnSpPr>
          <p:spPr>
            <a:xfrm>
              <a:off x="9349847" y="2145029"/>
              <a:ext cx="450000" cy="232200"/>
            </a:xfrm>
            <a:prstGeom prst="curvedConnector2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438" name="Google Shape;438;p30"/>
          <p:cNvGrpSpPr/>
          <p:nvPr/>
        </p:nvGrpSpPr>
        <p:grpSpPr>
          <a:xfrm>
            <a:off x="7873161" y="4961326"/>
            <a:ext cx="1926686" cy="524266"/>
            <a:chOff x="7873161" y="4961326"/>
            <a:chExt cx="1926686" cy="524266"/>
          </a:xfrm>
        </p:grpSpPr>
        <p:sp>
          <p:nvSpPr>
            <p:cNvPr id="439" name="Google Shape;439;p30"/>
            <p:cNvSpPr txBox="1"/>
            <p:nvPr/>
          </p:nvSpPr>
          <p:spPr>
            <a:xfrm>
              <a:off x="7873161" y="4961326"/>
              <a:ext cx="1476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Primary Key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0" name="Google Shape;440;p30"/>
            <p:cNvCxnSpPr>
              <a:stCxn id="439" idx="3"/>
            </p:cNvCxnSpPr>
            <p:nvPr/>
          </p:nvCxnSpPr>
          <p:spPr>
            <a:xfrm>
              <a:off x="9349847" y="5145992"/>
              <a:ext cx="450000" cy="339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1"/>
          <p:cNvSpPr txBox="1">
            <a:spLocks noGrp="1"/>
          </p:cNvSpPr>
          <p:nvPr>
            <p:ph type="title"/>
          </p:nvPr>
        </p:nvSpPr>
        <p:spPr>
          <a:xfrm>
            <a:off x="731695" y="222827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JOINING TWO TABLES</a:t>
            </a:r>
            <a:endParaRPr/>
          </a:p>
        </p:txBody>
      </p:sp>
      <p:graphicFrame>
        <p:nvGraphicFramePr>
          <p:cNvPr id="446" name="Google Shape;446;p31"/>
          <p:cNvGraphicFramePr/>
          <p:nvPr/>
        </p:nvGraphicFramePr>
        <p:xfrm>
          <a:off x="733177" y="1611256"/>
          <a:ext cx="4520925" cy="147832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50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6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6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sng" strike="noStrike" cap="none"/>
                        <a:t>OrderNum</a:t>
                      </a:r>
                      <a:endParaRPr sz="1800" u="sng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sng" strike="noStrike" cap="none"/>
                        <a:t>ProdID</a:t>
                      </a:r>
                      <a:endParaRPr sz="1800" u="sng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Name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42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Gum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999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Towel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42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Gum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47" name="Google Shape;447;p31"/>
          <p:cNvGraphicFramePr/>
          <p:nvPr/>
        </p:nvGraphicFramePr>
        <p:xfrm>
          <a:off x="6893080" y="1611256"/>
          <a:ext cx="4350300" cy="110747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45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sng" strike="noStrike" cap="none"/>
                        <a:t>OrderId</a:t>
                      </a:r>
                      <a:endParaRPr sz="1800" u="sng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Cust Name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Date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Joe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8/21/2017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Arthur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8/14/2017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48" name="Google Shape;448;p31"/>
          <p:cNvSpPr txBox="1"/>
          <p:nvPr/>
        </p:nvSpPr>
        <p:spPr>
          <a:xfrm>
            <a:off x="5857821" y="1811033"/>
            <a:ext cx="43152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49" name="Google Shape;449;p31"/>
          <p:cNvGraphicFramePr/>
          <p:nvPr/>
        </p:nvGraphicFramePr>
        <p:xfrm>
          <a:off x="736309" y="3886210"/>
          <a:ext cx="9127050" cy="25807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52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1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1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1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1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sng" strike="noStrike" cap="none"/>
                        <a:t>OrderNum</a:t>
                      </a:r>
                      <a:endParaRPr sz="1800" u="sng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sng" strike="noStrike" cap="none"/>
                        <a:t>ProdID</a:t>
                      </a:r>
                      <a:endParaRPr sz="1800" u="sng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Name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OrderId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Cust Name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Date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42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Gum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D6E3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Joe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D6E3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8/21/2017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D6E3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42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Gum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EBF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Arthur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EBF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8/14/2017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EB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999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Towel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D6E3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Joe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D6E3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8/21/2017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D6E3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999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Towel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EBF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Arthur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EBF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8/14/2017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EB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42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Gum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D6E3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Joe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D6E3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8/21/2017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D6E3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42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Gum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EBF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Arthur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EBF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8/14/2017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EB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50" name="Google Shape;450;p31"/>
          <p:cNvSpPr/>
          <p:nvPr/>
        </p:nvSpPr>
        <p:spPr>
          <a:xfrm>
            <a:off x="613117" y="3710353"/>
            <a:ext cx="1706879" cy="2954215"/>
          </a:xfrm>
          <a:prstGeom prst="roundRect">
            <a:avLst>
              <a:gd name="adj" fmla="val 16667"/>
            </a:avLst>
          </a:prstGeom>
          <a:solidFill>
            <a:schemeClr val="accent1">
              <a:alpha val="20000"/>
            </a:schemeClr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51" name="Google Shape;451;p31"/>
          <p:cNvSpPr txBox="1"/>
          <p:nvPr/>
        </p:nvSpPr>
        <p:spPr>
          <a:xfrm>
            <a:off x="861370" y="3386819"/>
            <a:ext cx="12747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Left “key”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2" name="Google Shape;452;p31"/>
          <p:cNvGrpSpPr/>
          <p:nvPr/>
        </p:nvGrpSpPr>
        <p:grpSpPr>
          <a:xfrm>
            <a:off x="5179401" y="3373491"/>
            <a:ext cx="1706879" cy="3291077"/>
            <a:chOff x="5953125" y="3373491"/>
            <a:chExt cx="1706879" cy="3291077"/>
          </a:xfrm>
        </p:grpSpPr>
        <p:sp>
          <p:nvSpPr>
            <p:cNvPr id="453" name="Google Shape;453;p31"/>
            <p:cNvSpPr/>
            <p:nvPr/>
          </p:nvSpPr>
          <p:spPr>
            <a:xfrm>
              <a:off x="5953125" y="3710353"/>
              <a:ext cx="1706879" cy="2954215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alpha val="20000"/>
              </a:schemeClr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454" name="Google Shape;454;p31"/>
            <p:cNvSpPr txBox="1"/>
            <p:nvPr/>
          </p:nvSpPr>
          <p:spPr>
            <a:xfrm>
              <a:off x="6098487" y="3373491"/>
              <a:ext cx="142699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Right “key”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55" name="Google Shape;455;p31"/>
          <p:cNvCxnSpPr/>
          <p:nvPr/>
        </p:nvCxnSpPr>
        <p:spPr>
          <a:xfrm>
            <a:off x="181699" y="4818183"/>
            <a:ext cx="10117994" cy="0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6" name="Google Shape;456;p31"/>
          <p:cNvSpPr txBox="1"/>
          <p:nvPr/>
        </p:nvSpPr>
        <p:spPr>
          <a:xfrm>
            <a:off x="10328519" y="4581441"/>
            <a:ext cx="1980221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Drop rows that don’t match on the key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7" name="Google Shape;457;p31"/>
          <p:cNvCxnSpPr/>
          <p:nvPr/>
        </p:nvCxnSpPr>
        <p:spPr>
          <a:xfrm>
            <a:off x="181699" y="5199188"/>
            <a:ext cx="10117994" cy="0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8" name="Google Shape;458;p31"/>
          <p:cNvCxnSpPr/>
          <p:nvPr/>
        </p:nvCxnSpPr>
        <p:spPr>
          <a:xfrm>
            <a:off x="181699" y="5931887"/>
            <a:ext cx="10117994" cy="0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2"/>
          <p:cNvSpPr txBox="1">
            <a:spLocks noGrp="1"/>
          </p:cNvSpPr>
          <p:nvPr>
            <p:ph type="title"/>
          </p:nvPr>
        </p:nvSpPr>
        <p:spPr>
          <a:xfrm>
            <a:off x="7079710" y="-261073"/>
            <a:ext cx="8052576" cy="111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JOINING TWO TABLES</a:t>
            </a:r>
            <a:endParaRPr dirty="0"/>
          </a:p>
        </p:txBody>
      </p:sp>
      <p:graphicFrame>
        <p:nvGraphicFramePr>
          <p:cNvPr id="465" name="Google Shape;465;p32"/>
          <p:cNvGraphicFramePr/>
          <p:nvPr/>
        </p:nvGraphicFramePr>
        <p:xfrm>
          <a:off x="929739" y="668037"/>
          <a:ext cx="9127050" cy="25807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52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1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1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1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1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sng" strike="noStrike" cap="none"/>
                        <a:t>OrderNum</a:t>
                      </a:r>
                      <a:endParaRPr sz="1800" u="sng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sng" strike="noStrike" cap="none"/>
                        <a:t>ProdID</a:t>
                      </a:r>
                      <a:endParaRPr sz="1800" u="sng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Name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OrderId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Cust Name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Date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42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Gum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D6E3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Joe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D6E3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8/21/2017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D6E3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42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Gum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EBF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Arthur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EBF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8/14/2017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EB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999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Towel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D6E3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Joe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D6E3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8/21/2017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D6E3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999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Towel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EBF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Arthur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EBF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8/14/2017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EB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42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Gum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D6E3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Joe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D6E3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8/21/2017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D6E3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42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Gum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EBF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Arthur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EBF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8/14/2017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EB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66" name="Google Shape;466;p32"/>
          <p:cNvSpPr/>
          <p:nvPr/>
        </p:nvSpPr>
        <p:spPr>
          <a:xfrm>
            <a:off x="806547" y="492180"/>
            <a:ext cx="1706879" cy="2954215"/>
          </a:xfrm>
          <a:prstGeom prst="roundRect">
            <a:avLst>
              <a:gd name="adj" fmla="val 16667"/>
            </a:avLst>
          </a:prstGeom>
          <a:solidFill>
            <a:schemeClr val="accent1">
              <a:alpha val="20000"/>
            </a:schemeClr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67" name="Google Shape;467;p32"/>
          <p:cNvSpPr txBox="1"/>
          <p:nvPr/>
        </p:nvSpPr>
        <p:spPr>
          <a:xfrm>
            <a:off x="1136445" y="168646"/>
            <a:ext cx="12747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Left “key”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8" name="Google Shape;468;p32"/>
          <p:cNvGrpSpPr/>
          <p:nvPr/>
        </p:nvGrpSpPr>
        <p:grpSpPr>
          <a:xfrm>
            <a:off x="5372831" y="168554"/>
            <a:ext cx="1706879" cy="3277841"/>
            <a:chOff x="5953125" y="3386727"/>
            <a:chExt cx="1706879" cy="3277841"/>
          </a:xfrm>
        </p:grpSpPr>
        <p:sp>
          <p:nvSpPr>
            <p:cNvPr id="469" name="Google Shape;469;p32"/>
            <p:cNvSpPr/>
            <p:nvPr/>
          </p:nvSpPr>
          <p:spPr>
            <a:xfrm>
              <a:off x="5953125" y="3710353"/>
              <a:ext cx="1706879" cy="2954215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alpha val="20000"/>
              </a:schemeClr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470" name="Google Shape;470;p32"/>
            <p:cNvSpPr txBox="1"/>
            <p:nvPr/>
          </p:nvSpPr>
          <p:spPr>
            <a:xfrm>
              <a:off x="6081659" y="3386727"/>
              <a:ext cx="142699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Right “key”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71" name="Google Shape;471;p32"/>
          <p:cNvCxnSpPr/>
          <p:nvPr/>
        </p:nvCxnSpPr>
        <p:spPr>
          <a:xfrm>
            <a:off x="375129" y="1600010"/>
            <a:ext cx="10117994" cy="0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2" name="Google Shape;472;p32"/>
          <p:cNvSpPr txBox="1"/>
          <p:nvPr/>
        </p:nvSpPr>
        <p:spPr>
          <a:xfrm>
            <a:off x="10521949" y="1363268"/>
            <a:ext cx="1980221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Drop rows that don’t match on the key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3" name="Google Shape;473;p32"/>
          <p:cNvCxnSpPr/>
          <p:nvPr/>
        </p:nvCxnSpPr>
        <p:spPr>
          <a:xfrm>
            <a:off x="375129" y="1981015"/>
            <a:ext cx="10117994" cy="0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4" name="Google Shape;474;p32"/>
          <p:cNvCxnSpPr/>
          <p:nvPr/>
        </p:nvCxnSpPr>
        <p:spPr>
          <a:xfrm>
            <a:off x="375129" y="2713714"/>
            <a:ext cx="10117994" cy="0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475" name="Google Shape;475;p32"/>
          <p:cNvGraphicFramePr/>
          <p:nvPr/>
        </p:nvGraphicFramePr>
        <p:xfrm>
          <a:off x="2384955" y="3733497"/>
          <a:ext cx="9127050" cy="147324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52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1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1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1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1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sng" strike="noStrike" cap="none"/>
                        <a:t>OrderNum</a:t>
                      </a:r>
                      <a:endParaRPr sz="1800" u="sng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sng" strike="noStrike" cap="none"/>
                        <a:t>ProdID</a:t>
                      </a:r>
                      <a:endParaRPr sz="1800" u="sng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Name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OrderId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Cust Name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Date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42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Gum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D6E3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Joe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D6E3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8/21/2017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D6E3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999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Towel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EBF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Arthur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EBF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8/14/2017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EB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42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Gum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EBF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Arthur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EBF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8/14/2017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EB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76" name="Google Shape;476;p32"/>
          <p:cNvSpPr/>
          <p:nvPr/>
        </p:nvSpPr>
        <p:spPr>
          <a:xfrm>
            <a:off x="1136445" y="4111391"/>
            <a:ext cx="895555" cy="6952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77" name="Google Shape;477;p32"/>
          <p:cNvSpPr/>
          <p:nvPr/>
        </p:nvSpPr>
        <p:spPr>
          <a:xfrm>
            <a:off x="1248326" y="5471618"/>
            <a:ext cx="10565132" cy="1328023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pandas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purchases=pd.read_csv(“Purchases.csv”)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orders=pd.read_csv(“Orders.csv”)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purchases.merge(orders, how=“inner”, left_on=“OrderNum”, right_on=“OrderId”)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32"/>
          <p:cNvSpPr txBox="1"/>
          <p:nvPr/>
        </p:nvSpPr>
        <p:spPr>
          <a:xfrm>
            <a:off x="8765704" y="5545033"/>
            <a:ext cx="2582278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Python (with </a:t>
            </a:r>
            <a:r>
              <a:rPr lang="en-US" sz="16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pandas</a:t>
            </a: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600" b="1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3"/>
          <p:cNvSpPr txBox="1">
            <a:spLocks noGrp="1"/>
          </p:cNvSpPr>
          <p:nvPr>
            <p:ph type="title"/>
          </p:nvPr>
        </p:nvSpPr>
        <p:spPr>
          <a:xfrm>
            <a:off x="-14140" y="92215"/>
            <a:ext cx="3794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KINDS OF </a:t>
            </a:r>
            <a:endParaRPr/>
          </a:p>
        </p:txBody>
      </p:sp>
      <p:sp>
        <p:nvSpPr>
          <p:cNvPr id="485" name="Google Shape;485;p33"/>
          <p:cNvSpPr/>
          <p:nvPr/>
        </p:nvSpPr>
        <p:spPr>
          <a:xfrm>
            <a:off x="1136369" y="1916346"/>
            <a:ext cx="2531165" cy="88789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Quantitative Data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33"/>
          <p:cNvSpPr/>
          <p:nvPr/>
        </p:nvSpPr>
        <p:spPr>
          <a:xfrm>
            <a:off x="7128390" y="1597137"/>
            <a:ext cx="2531165" cy="88789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Categorical 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33"/>
          <p:cNvSpPr/>
          <p:nvPr/>
        </p:nvSpPr>
        <p:spPr>
          <a:xfrm>
            <a:off x="5637521" y="3001410"/>
            <a:ext cx="1490869" cy="88789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Ordinal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33"/>
          <p:cNvSpPr/>
          <p:nvPr/>
        </p:nvSpPr>
        <p:spPr>
          <a:xfrm>
            <a:off x="9395279" y="3000655"/>
            <a:ext cx="1490869" cy="88789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Nominal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33"/>
          <p:cNvSpPr/>
          <p:nvPr/>
        </p:nvSpPr>
        <p:spPr>
          <a:xfrm>
            <a:off x="3283245" y="296124"/>
            <a:ext cx="1924859" cy="88789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33"/>
          <p:cNvSpPr txBox="1"/>
          <p:nvPr/>
        </p:nvSpPr>
        <p:spPr>
          <a:xfrm>
            <a:off x="729281" y="3882132"/>
            <a:ext cx="2068195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Examples: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Price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Quantity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Temperature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…</a:t>
            </a:r>
            <a:endParaRPr sz="20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91" name="Google Shape;491;p33"/>
          <p:cNvSpPr txBox="1"/>
          <p:nvPr/>
        </p:nvSpPr>
        <p:spPr>
          <a:xfrm>
            <a:off x="457023" y="2970997"/>
            <a:ext cx="3889859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Numbers with meaningful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ratios or intervals.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3"/>
          <p:cNvSpPr txBox="1"/>
          <p:nvPr/>
        </p:nvSpPr>
        <p:spPr>
          <a:xfrm>
            <a:off x="4919888" y="5102709"/>
            <a:ext cx="2811988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Examples: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Preferences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Level of education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…</a:t>
            </a:r>
            <a:endParaRPr sz="2000" b="0" i="0" u="none" strike="noStrike" cap="none" dirty="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93" name="Google Shape;493;p33"/>
          <p:cNvSpPr txBox="1"/>
          <p:nvPr/>
        </p:nvSpPr>
        <p:spPr>
          <a:xfrm>
            <a:off x="9036722" y="5102709"/>
            <a:ext cx="2719014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Examples: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Political Affiliation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Product Type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…</a:t>
            </a:r>
            <a:endParaRPr sz="20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28575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94" name="Google Shape;494;p33"/>
          <p:cNvSpPr txBox="1"/>
          <p:nvPr/>
        </p:nvSpPr>
        <p:spPr>
          <a:xfrm>
            <a:off x="4438025" y="3978086"/>
            <a:ext cx="388985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Categories with orders but no consistent meaning if magnitudes or intervals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33"/>
          <p:cNvSpPr txBox="1"/>
          <p:nvPr/>
        </p:nvSpPr>
        <p:spPr>
          <a:xfrm>
            <a:off x="8251931" y="4121434"/>
            <a:ext cx="3889859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Categories with no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specific ordering.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6" name="Google Shape;496;p33"/>
          <p:cNvCxnSpPr>
            <a:stCxn id="489" idx="2"/>
            <a:endCxn id="485" idx="0"/>
          </p:cNvCxnSpPr>
          <p:nvPr/>
        </p:nvCxnSpPr>
        <p:spPr>
          <a:xfrm flipH="1">
            <a:off x="2401875" y="1184020"/>
            <a:ext cx="1843800" cy="732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97" name="Google Shape;497;p33"/>
          <p:cNvCxnSpPr>
            <a:stCxn id="489" idx="2"/>
            <a:endCxn id="486" idx="1"/>
          </p:cNvCxnSpPr>
          <p:nvPr/>
        </p:nvCxnSpPr>
        <p:spPr>
          <a:xfrm>
            <a:off x="4245675" y="1184020"/>
            <a:ext cx="2882700" cy="857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98" name="Google Shape;498;p33"/>
          <p:cNvCxnSpPr>
            <a:stCxn id="486" idx="2"/>
            <a:endCxn id="487" idx="0"/>
          </p:cNvCxnSpPr>
          <p:nvPr/>
        </p:nvCxnSpPr>
        <p:spPr>
          <a:xfrm flipH="1">
            <a:off x="6383073" y="2485033"/>
            <a:ext cx="2010900" cy="516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99" name="Google Shape;499;p33"/>
          <p:cNvCxnSpPr>
            <a:stCxn id="486" idx="2"/>
            <a:endCxn id="488" idx="0"/>
          </p:cNvCxnSpPr>
          <p:nvPr/>
        </p:nvCxnSpPr>
        <p:spPr>
          <a:xfrm>
            <a:off x="8393973" y="2485033"/>
            <a:ext cx="1746600" cy="515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00" name="Google Shape;500;p33"/>
          <p:cNvSpPr txBox="1"/>
          <p:nvPr/>
        </p:nvSpPr>
        <p:spPr>
          <a:xfrm>
            <a:off x="7479969" y="293404"/>
            <a:ext cx="455874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Note that categorical data can also be numbers and quantitative data may be stored as strings.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4"/>
          <p:cNvSpPr txBox="1">
            <a:spLocks noGrp="1"/>
          </p:cNvSpPr>
          <p:nvPr>
            <p:ph type="body" idx="1"/>
          </p:nvPr>
        </p:nvSpPr>
        <p:spPr>
          <a:xfrm>
            <a:off x="767443" y="1436914"/>
            <a:ext cx="10842171" cy="5176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9431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60"/>
              <a:buChar char="▪"/>
            </a:pPr>
            <a:r>
              <a:rPr lang="en-US" sz="3600" dirty="0"/>
              <a:t>Price in dollars of a product?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720"/>
              <a:buChar char="▪"/>
            </a:pPr>
            <a:r>
              <a:rPr lang="en-US" sz="3200" dirty="0"/>
              <a:t>(A) Quantitative, (B) Ordinal, (C) Nominal</a:t>
            </a:r>
            <a:endParaRPr dirty="0"/>
          </a:p>
          <a:p>
            <a:pPr marL="182880" lvl="0" indent="-19431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3060"/>
              <a:buChar char="▪"/>
            </a:pPr>
            <a:r>
              <a:rPr lang="en-US" sz="3600" dirty="0"/>
              <a:t>Star Rating on Yelp?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720"/>
              <a:buChar char="▪"/>
            </a:pPr>
            <a:r>
              <a:rPr lang="en-US" sz="3200" dirty="0"/>
              <a:t>(A) Quantitative, (B) Ordinal, (C) Nominal</a:t>
            </a:r>
            <a:endParaRPr dirty="0"/>
          </a:p>
          <a:p>
            <a:pPr marL="182880" lvl="0" indent="-19431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3060"/>
              <a:buChar char="▪"/>
            </a:pPr>
            <a:r>
              <a:rPr lang="en-US" sz="3600" dirty="0"/>
              <a:t>Date an item was sold?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720"/>
              <a:buChar char="▪"/>
            </a:pPr>
            <a:r>
              <a:rPr lang="en-US" sz="3200" dirty="0"/>
              <a:t>(A) Quantitative, (B) Ordinal, (C) Nominal</a:t>
            </a:r>
            <a:endParaRPr dirty="0"/>
          </a:p>
          <a:p>
            <a:pPr marL="182880" lvl="0" indent="-19431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3060"/>
              <a:buChar char="▪"/>
            </a:pPr>
            <a:r>
              <a:rPr lang="en-US" sz="3600" dirty="0"/>
              <a:t>What is your Credit Card Number?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720"/>
              <a:buChar char="▪"/>
            </a:pPr>
            <a:r>
              <a:rPr lang="en-US" sz="3200" dirty="0"/>
              <a:t>(A) Quantitative, (B) Ordinal, (C) Nominal</a:t>
            </a:r>
            <a:endParaRPr dirty="0"/>
          </a:p>
          <a:p>
            <a:pPr marL="18288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3060"/>
              <a:buNone/>
            </a:pPr>
            <a:endParaRPr sz="3600" dirty="0"/>
          </a:p>
        </p:txBody>
      </p:sp>
      <p:sp>
        <p:nvSpPr>
          <p:cNvPr id="507" name="Google Shape;507;p34"/>
          <p:cNvSpPr txBox="1">
            <a:spLocks noGrp="1"/>
          </p:cNvSpPr>
          <p:nvPr>
            <p:ph type="title"/>
          </p:nvPr>
        </p:nvSpPr>
        <p:spPr>
          <a:xfrm>
            <a:off x="962771" y="140647"/>
            <a:ext cx="10801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i="1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Quiz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5"/>
          <p:cNvSpPr txBox="1">
            <a:spLocks noGrp="1"/>
          </p:cNvSpPr>
          <p:nvPr>
            <p:ph type="title"/>
          </p:nvPr>
        </p:nvSpPr>
        <p:spPr>
          <a:xfrm>
            <a:off x="962771" y="140647"/>
            <a:ext cx="10801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i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QUIZ</a:t>
            </a:r>
            <a:endParaRPr/>
          </a:p>
        </p:txBody>
      </p:sp>
      <p:sp>
        <p:nvSpPr>
          <p:cNvPr id="515" name="Google Shape;515;p35"/>
          <p:cNvSpPr txBox="1">
            <a:spLocks noGrp="1"/>
          </p:cNvSpPr>
          <p:nvPr>
            <p:ph type="body" idx="1"/>
          </p:nvPr>
        </p:nvSpPr>
        <p:spPr>
          <a:xfrm>
            <a:off x="767443" y="1436914"/>
            <a:ext cx="10842171" cy="5176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9431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60"/>
              <a:buChar char="▪"/>
            </a:pPr>
            <a:r>
              <a:rPr lang="en-US" sz="3600"/>
              <a:t>Price in dollars of a product?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720"/>
              <a:buChar char="▪"/>
            </a:pPr>
            <a:r>
              <a:rPr lang="en-US" sz="3200"/>
              <a:t>(A) Quantitative, (B) Ordinal, (C) Nominal</a:t>
            </a:r>
            <a:endParaRPr/>
          </a:p>
          <a:p>
            <a:pPr marL="182880" lvl="0" indent="-19431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3060"/>
              <a:buChar char="▪"/>
            </a:pPr>
            <a:r>
              <a:rPr lang="en-US" sz="3600"/>
              <a:t>Star Rating on Yelp?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720"/>
              <a:buChar char="▪"/>
            </a:pPr>
            <a:r>
              <a:rPr lang="en-US" sz="3200"/>
              <a:t>(A) Quantitative, (B) Ordinal, (C) Nominal</a:t>
            </a:r>
            <a:endParaRPr/>
          </a:p>
          <a:p>
            <a:pPr marL="182880" lvl="0" indent="-19431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3060"/>
              <a:buChar char="▪"/>
            </a:pPr>
            <a:r>
              <a:rPr lang="en-US" sz="3600"/>
              <a:t>Date an item was sold?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720"/>
              <a:buChar char="▪"/>
            </a:pPr>
            <a:r>
              <a:rPr lang="en-US" sz="3200"/>
              <a:t>(A) Quantitative, (B) Ordinal, (C) Nominal</a:t>
            </a:r>
            <a:endParaRPr/>
          </a:p>
          <a:p>
            <a:pPr marL="182880" lvl="0" indent="-19431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3060"/>
              <a:buChar char="▪"/>
            </a:pPr>
            <a:r>
              <a:rPr lang="en-US" sz="3600"/>
              <a:t>What is your Credit Card Number?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720"/>
              <a:buChar char="▪"/>
            </a:pPr>
            <a:r>
              <a:rPr lang="en-US" sz="3200"/>
              <a:t>(A) Quantitative, (B) Ordinal, (C) Nominal</a:t>
            </a:r>
            <a:endParaRPr/>
          </a:p>
          <a:p>
            <a:pPr marL="18288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3060"/>
              <a:buNone/>
            </a:pPr>
            <a:endParaRPr sz="3600"/>
          </a:p>
        </p:txBody>
      </p:sp>
      <p:grpSp>
        <p:nvGrpSpPr>
          <p:cNvPr id="517" name="Google Shape;517;p35"/>
          <p:cNvGrpSpPr/>
          <p:nvPr/>
        </p:nvGrpSpPr>
        <p:grpSpPr>
          <a:xfrm>
            <a:off x="1270658" y="1941862"/>
            <a:ext cx="7755355" cy="4077267"/>
            <a:chOff x="1270658" y="1941862"/>
            <a:chExt cx="7755355" cy="4077267"/>
          </a:xfrm>
        </p:grpSpPr>
        <p:sp>
          <p:nvSpPr>
            <p:cNvPr id="518" name="Google Shape;518;p35"/>
            <p:cNvSpPr/>
            <p:nvPr/>
          </p:nvSpPr>
          <p:spPr>
            <a:xfrm>
              <a:off x="1270659" y="1941862"/>
              <a:ext cx="3021121" cy="53439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19" name="Google Shape;519;p35"/>
            <p:cNvSpPr/>
            <p:nvPr/>
          </p:nvSpPr>
          <p:spPr>
            <a:xfrm>
              <a:off x="4373709" y="3164415"/>
              <a:ext cx="2145078" cy="53439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20" name="Google Shape;520;p35"/>
            <p:cNvSpPr/>
            <p:nvPr/>
          </p:nvSpPr>
          <p:spPr>
            <a:xfrm>
              <a:off x="1270658" y="4277466"/>
              <a:ext cx="3021121" cy="53439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21" name="Google Shape;521;p35"/>
            <p:cNvSpPr/>
            <p:nvPr/>
          </p:nvSpPr>
          <p:spPr>
            <a:xfrm>
              <a:off x="6670805" y="5484739"/>
              <a:ext cx="2355208" cy="53439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6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DATA GRANULARITY</a:t>
            </a:r>
            <a:endParaRPr/>
          </a:p>
        </p:txBody>
      </p:sp>
      <p:sp>
        <p:nvSpPr>
          <p:cNvPr id="527" name="Google Shape;527;p36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7030A0"/>
                </a:solidFill>
              </a:rPr>
              <a:t>→ What does each row represent?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7030A0"/>
                </a:solidFill>
              </a:rPr>
              <a:t>→ How fine/coarse is each datum?</a:t>
            </a:r>
            <a:endParaRPr dirty="0"/>
          </a:p>
        </p:txBody>
      </p:sp>
      <p:sp>
        <p:nvSpPr>
          <p:cNvPr id="528" name="Google Shape;528;p36"/>
          <p:cNvSpPr txBox="1"/>
          <p:nvPr/>
        </p:nvSpPr>
        <p:spPr>
          <a:xfrm>
            <a:off x="1569328" y="4670868"/>
            <a:ext cx="1824537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Fine </a:t>
            </a:r>
            <a:br>
              <a:rPr lang="en-US" sz="3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</a:br>
            <a:r>
              <a:rPr lang="en-US" sz="3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Grained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36"/>
          <p:cNvSpPr txBox="1"/>
          <p:nvPr/>
        </p:nvSpPr>
        <p:spPr>
          <a:xfrm>
            <a:off x="9311669" y="4670868"/>
            <a:ext cx="1824537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Coarse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Grained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36"/>
          <p:cNvSpPr/>
          <p:nvPr/>
        </p:nvSpPr>
        <p:spPr>
          <a:xfrm>
            <a:off x="3813934" y="4849813"/>
            <a:ext cx="5108448" cy="719328"/>
          </a:xfrm>
          <a:prstGeom prst="leftRightArrow">
            <a:avLst>
              <a:gd name="adj1" fmla="val 50000"/>
              <a:gd name="adj2" fmla="val 50000"/>
            </a:avLst>
          </a:prstGeom>
          <a:blipFill rotWithShape="1">
            <a:blip r:embed="rId3">
              <a:alphaModFix/>
            </a:blip>
            <a:tile tx="0" ty="0" sx="60000" sy="58999" flip="none" algn="tl"/>
          </a:blipFill>
          <a:ln>
            <a:noFill/>
          </a:ln>
          <a:effectLst>
            <a:outerShdw blurRad="50800" dist="19050" dir="5400000" algn="tl" rotWithShape="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pSp>
        <p:nvGrpSpPr>
          <p:cNvPr id="531" name="Google Shape;531;p36"/>
          <p:cNvGrpSpPr/>
          <p:nvPr/>
        </p:nvGrpSpPr>
        <p:grpSpPr>
          <a:xfrm>
            <a:off x="1157393" y="3529040"/>
            <a:ext cx="2878708" cy="1116542"/>
            <a:chOff x="866947" y="3704974"/>
            <a:chExt cx="2878708" cy="1116542"/>
          </a:xfrm>
        </p:grpSpPr>
        <p:sp>
          <p:nvSpPr>
            <p:cNvPr id="532" name="Google Shape;532;p36"/>
            <p:cNvSpPr/>
            <p:nvPr/>
          </p:nvSpPr>
          <p:spPr>
            <a:xfrm>
              <a:off x="1034578" y="4073370"/>
              <a:ext cx="445914" cy="748146"/>
            </a:xfrm>
            <a:custGeom>
              <a:avLst/>
              <a:gdLst/>
              <a:ahLst/>
              <a:cxnLst/>
              <a:rect l="l" t="t" r="r" b="b"/>
              <a:pathLst>
                <a:path w="1590278" h="2668139" extrusionOk="0">
                  <a:moveTo>
                    <a:pt x="696459" y="0"/>
                  </a:moveTo>
                  <a:cubicBezTo>
                    <a:pt x="862580" y="0"/>
                    <a:pt x="997248" y="134668"/>
                    <a:pt x="997248" y="300789"/>
                  </a:cubicBezTo>
                  <a:cubicBezTo>
                    <a:pt x="997248" y="425380"/>
                    <a:pt x="921498" y="532278"/>
                    <a:pt x="813540" y="577941"/>
                  </a:cubicBezTo>
                  <a:lnTo>
                    <a:pt x="797770" y="582836"/>
                  </a:lnTo>
                  <a:lnTo>
                    <a:pt x="797770" y="673085"/>
                  </a:lnTo>
                  <a:lnTo>
                    <a:pt x="938304" y="673085"/>
                  </a:lnTo>
                  <a:cubicBezTo>
                    <a:pt x="968274" y="673085"/>
                    <a:pt x="995406" y="685233"/>
                    <a:pt x="1015046" y="704873"/>
                  </a:cubicBezTo>
                  <a:lnTo>
                    <a:pt x="1037967" y="738868"/>
                  </a:lnTo>
                  <a:lnTo>
                    <a:pt x="1060789" y="753442"/>
                  </a:lnTo>
                  <a:lnTo>
                    <a:pt x="1582472" y="1500202"/>
                  </a:lnTo>
                  <a:cubicBezTo>
                    <a:pt x="1596166" y="1519804"/>
                    <a:pt x="1591376" y="1546796"/>
                    <a:pt x="1571774" y="1560490"/>
                  </a:cubicBezTo>
                  <a:lnTo>
                    <a:pt x="1429805" y="1659669"/>
                  </a:lnTo>
                  <a:cubicBezTo>
                    <a:pt x="1410202" y="1673363"/>
                    <a:pt x="1383211" y="1668573"/>
                    <a:pt x="1369517" y="1648971"/>
                  </a:cubicBezTo>
                  <a:lnTo>
                    <a:pt x="1046834" y="1187069"/>
                  </a:lnTo>
                  <a:lnTo>
                    <a:pt x="1046834" y="1713908"/>
                  </a:lnTo>
                  <a:lnTo>
                    <a:pt x="1046834" y="1832245"/>
                  </a:lnTo>
                  <a:lnTo>
                    <a:pt x="1046834" y="2624843"/>
                  </a:lnTo>
                  <a:cubicBezTo>
                    <a:pt x="1046834" y="2648755"/>
                    <a:pt x="1027450" y="2668139"/>
                    <a:pt x="1003538" y="2668139"/>
                  </a:cubicBezTo>
                  <a:lnTo>
                    <a:pt x="830357" y="2668139"/>
                  </a:lnTo>
                  <a:cubicBezTo>
                    <a:pt x="806445" y="2668139"/>
                    <a:pt x="787061" y="2648755"/>
                    <a:pt x="787061" y="2624843"/>
                  </a:cubicBezTo>
                  <a:lnTo>
                    <a:pt x="787061" y="1940775"/>
                  </a:lnTo>
                  <a:lnTo>
                    <a:pt x="655443" y="1940775"/>
                  </a:lnTo>
                  <a:lnTo>
                    <a:pt x="655443" y="2624843"/>
                  </a:lnTo>
                  <a:cubicBezTo>
                    <a:pt x="655443" y="2648755"/>
                    <a:pt x="636059" y="2668139"/>
                    <a:pt x="612147" y="2668139"/>
                  </a:cubicBezTo>
                  <a:lnTo>
                    <a:pt x="438966" y="2668139"/>
                  </a:lnTo>
                  <a:cubicBezTo>
                    <a:pt x="415054" y="2668139"/>
                    <a:pt x="395670" y="2648755"/>
                    <a:pt x="395670" y="2624843"/>
                  </a:cubicBezTo>
                  <a:lnTo>
                    <a:pt x="395670" y="1832245"/>
                  </a:lnTo>
                  <a:lnTo>
                    <a:pt x="395670" y="1713908"/>
                  </a:lnTo>
                  <a:lnTo>
                    <a:pt x="395670" y="1329499"/>
                  </a:lnTo>
                  <a:lnTo>
                    <a:pt x="233765" y="1629191"/>
                  </a:lnTo>
                  <a:cubicBezTo>
                    <a:pt x="222399" y="1650229"/>
                    <a:pt x="196131" y="1658070"/>
                    <a:pt x="175093" y="1646704"/>
                  </a:cubicBezTo>
                  <a:lnTo>
                    <a:pt x="22725" y="1564389"/>
                  </a:lnTo>
                  <a:cubicBezTo>
                    <a:pt x="1687" y="1553024"/>
                    <a:pt x="-6154" y="1526756"/>
                    <a:pt x="5212" y="1505718"/>
                  </a:cubicBezTo>
                  <a:lnTo>
                    <a:pt x="395670" y="782967"/>
                  </a:lnTo>
                  <a:lnTo>
                    <a:pt x="395670" y="781615"/>
                  </a:lnTo>
                  <a:cubicBezTo>
                    <a:pt x="395670" y="721676"/>
                    <a:pt x="444261" y="673085"/>
                    <a:pt x="504200" y="673085"/>
                  </a:cubicBezTo>
                  <a:lnTo>
                    <a:pt x="595147" y="673085"/>
                  </a:lnTo>
                  <a:lnTo>
                    <a:pt x="595147" y="582835"/>
                  </a:lnTo>
                  <a:lnTo>
                    <a:pt x="579378" y="577941"/>
                  </a:lnTo>
                  <a:cubicBezTo>
                    <a:pt x="471421" y="532278"/>
                    <a:pt x="395670" y="425380"/>
                    <a:pt x="395670" y="300789"/>
                  </a:cubicBezTo>
                  <a:cubicBezTo>
                    <a:pt x="395670" y="134668"/>
                    <a:pt x="530338" y="0"/>
                    <a:pt x="696459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33" name="Google Shape;533;p36"/>
            <p:cNvSpPr/>
            <p:nvPr/>
          </p:nvSpPr>
          <p:spPr>
            <a:xfrm>
              <a:off x="2096868" y="4073370"/>
              <a:ext cx="445914" cy="748146"/>
            </a:xfrm>
            <a:custGeom>
              <a:avLst/>
              <a:gdLst/>
              <a:ahLst/>
              <a:cxnLst/>
              <a:rect l="l" t="t" r="r" b="b"/>
              <a:pathLst>
                <a:path w="1590278" h="2668139" extrusionOk="0">
                  <a:moveTo>
                    <a:pt x="696459" y="0"/>
                  </a:moveTo>
                  <a:cubicBezTo>
                    <a:pt x="862580" y="0"/>
                    <a:pt x="997248" y="134668"/>
                    <a:pt x="997248" y="300789"/>
                  </a:cubicBezTo>
                  <a:cubicBezTo>
                    <a:pt x="997248" y="425380"/>
                    <a:pt x="921498" y="532278"/>
                    <a:pt x="813540" y="577941"/>
                  </a:cubicBezTo>
                  <a:lnTo>
                    <a:pt x="797770" y="582836"/>
                  </a:lnTo>
                  <a:lnTo>
                    <a:pt x="797770" y="673085"/>
                  </a:lnTo>
                  <a:lnTo>
                    <a:pt x="938304" y="673085"/>
                  </a:lnTo>
                  <a:cubicBezTo>
                    <a:pt x="968274" y="673085"/>
                    <a:pt x="995406" y="685233"/>
                    <a:pt x="1015046" y="704873"/>
                  </a:cubicBezTo>
                  <a:lnTo>
                    <a:pt x="1037967" y="738868"/>
                  </a:lnTo>
                  <a:lnTo>
                    <a:pt x="1060789" y="753442"/>
                  </a:lnTo>
                  <a:lnTo>
                    <a:pt x="1582472" y="1500202"/>
                  </a:lnTo>
                  <a:cubicBezTo>
                    <a:pt x="1596166" y="1519804"/>
                    <a:pt x="1591376" y="1546796"/>
                    <a:pt x="1571774" y="1560490"/>
                  </a:cubicBezTo>
                  <a:lnTo>
                    <a:pt x="1429805" y="1659669"/>
                  </a:lnTo>
                  <a:cubicBezTo>
                    <a:pt x="1410202" y="1673363"/>
                    <a:pt x="1383211" y="1668573"/>
                    <a:pt x="1369517" y="1648971"/>
                  </a:cubicBezTo>
                  <a:lnTo>
                    <a:pt x="1046834" y="1187069"/>
                  </a:lnTo>
                  <a:lnTo>
                    <a:pt x="1046834" y="1713908"/>
                  </a:lnTo>
                  <a:lnTo>
                    <a:pt x="1046834" y="1832245"/>
                  </a:lnTo>
                  <a:lnTo>
                    <a:pt x="1046834" y="2624843"/>
                  </a:lnTo>
                  <a:cubicBezTo>
                    <a:pt x="1046834" y="2648755"/>
                    <a:pt x="1027450" y="2668139"/>
                    <a:pt x="1003538" y="2668139"/>
                  </a:cubicBezTo>
                  <a:lnTo>
                    <a:pt x="830357" y="2668139"/>
                  </a:lnTo>
                  <a:cubicBezTo>
                    <a:pt x="806445" y="2668139"/>
                    <a:pt x="787061" y="2648755"/>
                    <a:pt x="787061" y="2624843"/>
                  </a:cubicBezTo>
                  <a:lnTo>
                    <a:pt x="787061" y="1940775"/>
                  </a:lnTo>
                  <a:lnTo>
                    <a:pt x="655443" y="1940775"/>
                  </a:lnTo>
                  <a:lnTo>
                    <a:pt x="655443" y="2624843"/>
                  </a:lnTo>
                  <a:cubicBezTo>
                    <a:pt x="655443" y="2648755"/>
                    <a:pt x="636059" y="2668139"/>
                    <a:pt x="612147" y="2668139"/>
                  </a:cubicBezTo>
                  <a:lnTo>
                    <a:pt x="438966" y="2668139"/>
                  </a:lnTo>
                  <a:cubicBezTo>
                    <a:pt x="415054" y="2668139"/>
                    <a:pt x="395670" y="2648755"/>
                    <a:pt x="395670" y="2624843"/>
                  </a:cubicBezTo>
                  <a:lnTo>
                    <a:pt x="395670" y="1832245"/>
                  </a:lnTo>
                  <a:lnTo>
                    <a:pt x="395670" y="1713908"/>
                  </a:lnTo>
                  <a:lnTo>
                    <a:pt x="395670" y="1329499"/>
                  </a:lnTo>
                  <a:lnTo>
                    <a:pt x="233765" y="1629191"/>
                  </a:lnTo>
                  <a:cubicBezTo>
                    <a:pt x="222399" y="1650229"/>
                    <a:pt x="196131" y="1658070"/>
                    <a:pt x="175093" y="1646704"/>
                  </a:cubicBezTo>
                  <a:lnTo>
                    <a:pt x="22725" y="1564389"/>
                  </a:lnTo>
                  <a:cubicBezTo>
                    <a:pt x="1687" y="1553024"/>
                    <a:pt x="-6154" y="1526756"/>
                    <a:pt x="5212" y="1505718"/>
                  </a:cubicBezTo>
                  <a:lnTo>
                    <a:pt x="395670" y="782967"/>
                  </a:lnTo>
                  <a:lnTo>
                    <a:pt x="395670" y="781615"/>
                  </a:lnTo>
                  <a:cubicBezTo>
                    <a:pt x="395670" y="721676"/>
                    <a:pt x="444261" y="673085"/>
                    <a:pt x="504200" y="673085"/>
                  </a:cubicBezTo>
                  <a:lnTo>
                    <a:pt x="595147" y="673085"/>
                  </a:lnTo>
                  <a:lnTo>
                    <a:pt x="595147" y="582835"/>
                  </a:lnTo>
                  <a:lnTo>
                    <a:pt x="579378" y="577941"/>
                  </a:lnTo>
                  <a:cubicBezTo>
                    <a:pt x="471421" y="532278"/>
                    <a:pt x="395670" y="425380"/>
                    <a:pt x="395670" y="300789"/>
                  </a:cubicBezTo>
                  <a:cubicBezTo>
                    <a:pt x="395670" y="134668"/>
                    <a:pt x="530338" y="0"/>
                    <a:pt x="696459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34" name="Google Shape;534;p36"/>
            <p:cNvSpPr/>
            <p:nvPr/>
          </p:nvSpPr>
          <p:spPr>
            <a:xfrm>
              <a:off x="3092540" y="4073370"/>
              <a:ext cx="445914" cy="748146"/>
            </a:xfrm>
            <a:custGeom>
              <a:avLst/>
              <a:gdLst/>
              <a:ahLst/>
              <a:cxnLst/>
              <a:rect l="l" t="t" r="r" b="b"/>
              <a:pathLst>
                <a:path w="1590278" h="2668139" extrusionOk="0">
                  <a:moveTo>
                    <a:pt x="696459" y="0"/>
                  </a:moveTo>
                  <a:cubicBezTo>
                    <a:pt x="862580" y="0"/>
                    <a:pt x="997248" y="134668"/>
                    <a:pt x="997248" y="300789"/>
                  </a:cubicBezTo>
                  <a:cubicBezTo>
                    <a:pt x="997248" y="425380"/>
                    <a:pt x="921498" y="532278"/>
                    <a:pt x="813540" y="577941"/>
                  </a:cubicBezTo>
                  <a:lnTo>
                    <a:pt x="797770" y="582836"/>
                  </a:lnTo>
                  <a:lnTo>
                    <a:pt x="797770" y="673085"/>
                  </a:lnTo>
                  <a:lnTo>
                    <a:pt x="938304" y="673085"/>
                  </a:lnTo>
                  <a:cubicBezTo>
                    <a:pt x="968274" y="673085"/>
                    <a:pt x="995406" y="685233"/>
                    <a:pt x="1015046" y="704873"/>
                  </a:cubicBezTo>
                  <a:lnTo>
                    <a:pt x="1037967" y="738868"/>
                  </a:lnTo>
                  <a:lnTo>
                    <a:pt x="1060789" y="753442"/>
                  </a:lnTo>
                  <a:lnTo>
                    <a:pt x="1582472" y="1500202"/>
                  </a:lnTo>
                  <a:cubicBezTo>
                    <a:pt x="1596166" y="1519804"/>
                    <a:pt x="1591376" y="1546796"/>
                    <a:pt x="1571774" y="1560490"/>
                  </a:cubicBezTo>
                  <a:lnTo>
                    <a:pt x="1429805" y="1659669"/>
                  </a:lnTo>
                  <a:cubicBezTo>
                    <a:pt x="1410202" y="1673363"/>
                    <a:pt x="1383211" y="1668573"/>
                    <a:pt x="1369517" y="1648971"/>
                  </a:cubicBezTo>
                  <a:lnTo>
                    <a:pt x="1046834" y="1187069"/>
                  </a:lnTo>
                  <a:lnTo>
                    <a:pt x="1046834" y="1713908"/>
                  </a:lnTo>
                  <a:lnTo>
                    <a:pt x="1046834" y="1832245"/>
                  </a:lnTo>
                  <a:lnTo>
                    <a:pt x="1046834" y="2624843"/>
                  </a:lnTo>
                  <a:cubicBezTo>
                    <a:pt x="1046834" y="2648755"/>
                    <a:pt x="1027450" y="2668139"/>
                    <a:pt x="1003538" y="2668139"/>
                  </a:cubicBezTo>
                  <a:lnTo>
                    <a:pt x="830357" y="2668139"/>
                  </a:lnTo>
                  <a:cubicBezTo>
                    <a:pt x="806445" y="2668139"/>
                    <a:pt x="787061" y="2648755"/>
                    <a:pt x="787061" y="2624843"/>
                  </a:cubicBezTo>
                  <a:lnTo>
                    <a:pt x="787061" y="1940775"/>
                  </a:lnTo>
                  <a:lnTo>
                    <a:pt x="655443" y="1940775"/>
                  </a:lnTo>
                  <a:lnTo>
                    <a:pt x="655443" y="2624843"/>
                  </a:lnTo>
                  <a:cubicBezTo>
                    <a:pt x="655443" y="2648755"/>
                    <a:pt x="636059" y="2668139"/>
                    <a:pt x="612147" y="2668139"/>
                  </a:cubicBezTo>
                  <a:lnTo>
                    <a:pt x="438966" y="2668139"/>
                  </a:lnTo>
                  <a:cubicBezTo>
                    <a:pt x="415054" y="2668139"/>
                    <a:pt x="395670" y="2648755"/>
                    <a:pt x="395670" y="2624843"/>
                  </a:cubicBezTo>
                  <a:lnTo>
                    <a:pt x="395670" y="1832245"/>
                  </a:lnTo>
                  <a:lnTo>
                    <a:pt x="395670" y="1713908"/>
                  </a:lnTo>
                  <a:lnTo>
                    <a:pt x="395670" y="1329499"/>
                  </a:lnTo>
                  <a:lnTo>
                    <a:pt x="233765" y="1629191"/>
                  </a:lnTo>
                  <a:cubicBezTo>
                    <a:pt x="222399" y="1650229"/>
                    <a:pt x="196131" y="1658070"/>
                    <a:pt x="175093" y="1646704"/>
                  </a:cubicBezTo>
                  <a:lnTo>
                    <a:pt x="22725" y="1564389"/>
                  </a:lnTo>
                  <a:cubicBezTo>
                    <a:pt x="1687" y="1553024"/>
                    <a:pt x="-6154" y="1526756"/>
                    <a:pt x="5212" y="1505718"/>
                  </a:cubicBezTo>
                  <a:lnTo>
                    <a:pt x="395670" y="782967"/>
                  </a:lnTo>
                  <a:lnTo>
                    <a:pt x="395670" y="781615"/>
                  </a:lnTo>
                  <a:cubicBezTo>
                    <a:pt x="395670" y="721676"/>
                    <a:pt x="444261" y="673085"/>
                    <a:pt x="504200" y="673085"/>
                  </a:cubicBezTo>
                  <a:lnTo>
                    <a:pt x="595147" y="673085"/>
                  </a:lnTo>
                  <a:lnTo>
                    <a:pt x="595147" y="582835"/>
                  </a:lnTo>
                  <a:lnTo>
                    <a:pt x="579378" y="577941"/>
                  </a:lnTo>
                  <a:cubicBezTo>
                    <a:pt x="471421" y="532278"/>
                    <a:pt x="395670" y="425380"/>
                    <a:pt x="395670" y="300789"/>
                  </a:cubicBezTo>
                  <a:cubicBezTo>
                    <a:pt x="395670" y="134668"/>
                    <a:pt x="530338" y="0"/>
                    <a:pt x="696459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35" name="Google Shape;535;p36"/>
            <p:cNvSpPr txBox="1"/>
            <p:nvPr/>
          </p:nvSpPr>
          <p:spPr>
            <a:xfrm>
              <a:off x="866947" y="3704974"/>
              <a:ext cx="880369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Rec. 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36"/>
            <p:cNvSpPr txBox="1"/>
            <p:nvPr/>
          </p:nvSpPr>
          <p:spPr>
            <a:xfrm>
              <a:off x="1866117" y="3704974"/>
              <a:ext cx="880369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Rec. 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36"/>
            <p:cNvSpPr txBox="1"/>
            <p:nvPr/>
          </p:nvSpPr>
          <p:spPr>
            <a:xfrm>
              <a:off x="2865286" y="3704974"/>
              <a:ext cx="880369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Rec. 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8" name="Google Shape;538;p36"/>
          <p:cNvGrpSpPr/>
          <p:nvPr/>
        </p:nvGrpSpPr>
        <p:grpSpPr>
          <a:xfrm>
            <a:off x="4837980" y="3199405"/>
            <a:ext cx="3426228" cy="1446177"/>
            <a:chOff x="4486574" y="3541039"/>
            <a:chExt cx="3426228" cy="1446177"/>
          </a:xfrm>
        </p:grpSpPr>
        <p:grpSp>
          <p:nvGrpSpPr>
            <p:cNvPr id="539" name="Google Shape;539;p36"/>
            <p:cNvGrpSpPr/>
            <p:nvPr/>
          </p:nvGrpSpPr>
          <p:grpSpPr>
            <a:xfrm>
              <a:off x="4499497" y="3979852"/>
              <a:ext cx="769012" cy="935183"/>
              <a:chOff x="4499497" y="4136968"/>
              <a:chExt cx="769012" cy="935183"/>
            </a:xfrm>
          </p:grpSpPr>
          <p:sp>
            <p:nvSpPr>
              <p:cNvPr id="540" name="Google Shape;540;p36"/>
              <p:cNvSpPr/>
              <p:nvPr/>
            </p:nvSpPr>
            <p:spPr>
              <a:xfrm>
                <a:off x="4670195" y="4136968"/>
                <a:ext cx="445914" cy="748146"/>
              </a:xfrm>
              <a:custGeom>
                <a:avLst/>
                <a:gdLst/>
                <a:ahLst/>
                <a:cxnLst/>
                <a:rect l="l" t="t" r="r" b="b"/>
                <a:pathLst>
                  <a:path w="1590278" h="2668139" extrusionOk="0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  <p:sp>
            <p:nvSpPr>
              <p:cNvPr id="541" name="Google Shape;541;p36"/>
              <p:cNvSpPr/>
              <p:nvPr/>
            </p:nvSpPr>
            <p:spPr>
              <a:xfrm>
                <a:off x="4499497" y="4324005"/>
                <a:ext cx="445914" cy="748146"/>
              </a:xfrm>
              <a:custGeom>
                <a:avLst/>
                <a:gdLst/>
                <a:ahLst/>
                <a:cxnLst/>
                <a:rect l="l" t="t" r="r" b="b"/>
                <a:pathLst>
                  <a:path w="1590278" h="2668139" extrusionOk="0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  <p:sp>
            <p:nvSpPr>
              <p:cNvPr id="542" name="Google Shape;542;p36"/>
              <p:cNvSpPr/>
              <p:nvPr/>
            </p:nvSpPr>
            <p:spPr>
              <a:xfrm>
                <a:off x="4822595" y="4289368"/>
                <a:ext cx="445914" cy="748146"/>
              </a:xfrm>
              <a:custGeom>
                <a:avLst/>
                <a:gdLst/>
                <a:ahLst/>
                <a:cxnLst/>
                <a:rect l="l" t="t" r="r" b="b"/>
                <a:pathLst>
                  <a:path w="1590278" h="2668139" extrusionOk="0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</p:grpSp>
        <p:grpSp>
          <p:nvGrpSpPr>
            <p:cNvPr id="543" name="Google Shape;543;p36"/>
            <p:cNvGrpSpPr/>
            <p:nvPr/>
          </p:nvGrpSpPr>
          <p:grpSpPr>
            <a:xfrm>
              <a:off x="5925929" y="3907670"/>
              <a:ext cx="606842" cy="1079546"/>
              <a:chOff x="5941798" y="4256671"/>
              <a:chExt cx="606842" cy="1079546"/>
            </a:xfrm>
          </p:grpSpPr>
          <p:sp>
            <p:nvSpPr>
              <p:cNvPr id="544" name="Google Shape;544;p36"/>
              <p:cNvSpPr/>
              <p:nvPr/>
            </p:nvSpPr>
            <p:spPr>
              <a:xfrm>
                <a:off x="5950326" y="4256671"/>
                <a:ext cx="445914" cy="748146"/>
              </a:xfrm>
              <a:custGeom>
                <a:avLst/>
                <a:gdLst/>
                <a:ahLst/>
                <a:cxnLst/>
                <a:rect l="l" t="t" r="r" b="b"/>
                <a:pathLst>
                  <a:path w="1590278" h="2668139" extrusionOk="0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  <p:sp>
            <p:nvSpPr>
              <p:cNvPr id="545" name="Google Shape;545;p36"/>
              <p:cNvSpPr/>
              <p:nvPr/>
            </p:nvSpPr>
            <p:spPr>
              <a:xfrm>
                <a:off x="6102726" y="4409071"/>
                <a:ext cx="445914" cy="748146"/>
              </a:xfrm>
              <a:custGeom>
                <a:avLst/>
                <a:gdLst/>
                <a:ahLst/>
                <a:cxnLst/>
                <a:rect l="l" t="t" r="r" b="b"/>
                <a:pathLst>
                  <a:path w="1590278" h="2668139" extrusionOk="0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  <p:sp>
            <p:nvSpPr>
              <p:cNvPr id="546" name="Google Shape;546;p36"/>
              <p:cNvSpPr/>
              <p:nvPr/>
            </p:nvSpPr>
            <p:spPr>
              <a:xfrm>
                <a:off x="5941798" y="4588071"/>
                <a:ext cx="445914" cy="748146"/>
              </a:xfrm>
              <a:custGeom>
                <a:avLst/>
                <a:gdLst/>
                <a:ahLst/>
                <a:cxnLst/>
                <a:rect l="l" t="t" r="r" b="b"/>
                <a:pathLst>
                  <a:path w="1590278" h="2668139" extrusionOk="0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</p:grpSp>
        <p:grpSp>
          <p:nvGrpSpPr>
            <p:cNvPr id="547" name="Google Shape;547;p36"/>
            <p:cNvGrpSpPr/>
            <p:nvPr/>
          </p:nvGrpSpPr>
          <p:grpSpPr>
            <a:xfrm>
              <a:off x="6921601" y="3909609"/>
              <a:ext cx="991201" cy="1075668"/>
              <a:chOff x="6799630" y="4213998"/>
              <a:chExt cx="991201" cy="1075668"/>
            </a:xfrm>
          </p:grpSpPr>
          <p:sp>
            <p:nvSpPr>
              <p:cNvPr id="548" name="Google Shape;548;p36"/>
              <p:cNvSpPr/>
              <p:nvPr/>
            </p:nvSpPr>
            <p:spPr>
              <a:xfrm>
                <a:off x="7078058" y="4213998"/>
                <a:ext cx="445914" cy="748146"/>
              </a:xfrm>
              <a:custGeom>
                <a:avLst/>
                <a:gdLst/>
                <a:ahLst/>
                <a:cxnLst/>
                <a:rect l="l" t="t" r="r" b="b"/>
                <a:pathLst>
                  <a:path w="1590278" h="2668139" extrusionOk="0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rgbClr val="7030A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  <p:sp>
            <p:nvSpPr>
              <p:cNvPr id="549" name="Google Shape;549;p36"/>
              <p:cNvSpPr/>
              <p:nvPr/>
            </p:nvSpPr>
            <p:spPr>
              <a:xfrm>
                <a:off x="7344917" y="4315971"/>
                <a:ext cx="445914" cy="748146"/>
              </a:xfrm>
              <a:custGeom>
                <a:avLst/>
                <a:gdLst/>
                <a:ahLst/>
                <a:cxnLst/>
                <a:rect l="l" t="t" r="r" b="b"/>
                <a:pathLst>
                  <a:path w="1590278" h="2668139" extrusionOk="0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rgbClr val="7030A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  <p:sp>
            <p:nvSpPr>
              <p:cNvPr id="550" name="Google Shape;550;p36"/>
              <p:cNvSpPr/>
              <p:nvPr/>
            </p:nvSpPr>
            <p:spPr>
              <a:xfrm>
                <a:off x="6799630" y="4366398"/>
                <a:ext cx="445914" cy="748146"/>
              </a:xfrm>
              <a:custGeom>
                <a:avLst/>
                <a:gdLst/>
                <a:ahLst/>
                <a:cxnLst/>
                <a:rect l="l" t="t" r="r" b="b"/>
                <a:pathLst>
                  <a:path w="1590278" h="2668139" extrusionOk="0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rgbClr val="7030A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  <p:sp>
            <p:nvSpPr>
              <p:cNvPr id="551" name="Google Shape;551;p36"/>
              <p:cNvSpPr/>
              <p:nvPr/>
            </p:nvSpPr>
            <p:spPr>
              <a:xfrm>
                <a:off x="7089205" y="4541520"/>
                <a:ext cx="445914" cy="748146"/>
              </a:xfrm>
              <a:custGeom>
                <a:avLst/>
                <a:gdLst/>
                <a:ahLst/>
                <a:cxnLst/>
                <a:rect l="l" t="t" r="r" b="b"/>
                <a:pathLst>
                  <a:path w="1590278" h="2668139" extrusionOk="0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rgbClr val="7030A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</p:grpSp>
        <p:sp>
          <p:nvSpPr>
            <p:cNvPr id="552" name="Google Shape;552;p36"/>
            <p:cNvSpPr txBox="1"/>
            <p:nvPr/>
          </p:nvSpPr>
          <p:spPr>
            <a:xfrm>
              <a:off x="4486574" y="3541039"/>
              <a:ext cx="880369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Rec. 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36"/>
            <p:cNvSpPr txBox="1"/>
            <p:nvPr/>
          </p:nvSpPr>
          <p:spPr>
            <a:xfrm>
              <a:off x="5707832" y="3541039"/>
              <a:ext cx="880369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Rec. 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36"/>
            <p:cNvSpPr txBox="1"/>
            <p:nvPr/>
          </p:nvSpPr>
          <p:spPr>
            <a:xfrm>
              <a:off x="6982801" y="3541039"/>
              <a:ext cx="880369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Rec. 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5" name="Google Shape;555;p36"/>
          <p:cNvGrpSpPr/>
          <p:nvPr/>
        </p:nvGrpSpPr>
        <p:grpSpPr>
          <a:xfrm>
            <a:off x="9310579" y="2770633"/>
            <a:ext cx="1935603" cy="1874949"/>
            <a:chOff x="9227397" y="3290580"/>
            <a:chExt cx="1935603" cy="1874949"/>
          </a:xfrm>
        </p:grpSpPr>
        <p:grpSp>
          <p:nvGrpSpPr>
            <p:cNvPr id="556" name="Google Shape;556;p36"/>
            <p:cNvGrpSpPr/>
            <p:nvPr/>
          </p:nvGrpSpPr>
          <p:grpSpPr>
            <a:xfrm>
              <a:off x="9227397" y="3704974"/>
              <a:ext cx="1935603" cy="1460555"/>
              <a:chOff x="9227397" y="3704974"/>
              <a:chExt cx="1935603" cy="1460555"/>
            </a:xfrm>
          </p:grpSpPr>
          <p:sp>
            <p:nvSpPr>
              <p:cNvPr id="557" name="Google Shape;557;p36"/>
              <p:cNvSpPr/>
              <p:nvPr/>
            </p:nvSpPr>
            <p:spPr>
              <a:xfrm>
                <a:off x="9240655" y="3722614"/>
                <a:ext cx="445914" cy="748146"/>
              </a:xfrm>
              <a:custGeom>
                <a:avLst/>
                <a:gdLst/>
                <a:ahLst/>
                <a:cxnLst/>
                <a:rect l="l" t="t" r="r" b="b"/>
                <a:pathLst>
                  <a:path w="1590278" h="2668139" extrusionOk="0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  <p:sp>
            <p:nvSpPr>
              <p:cNvPr id="558" name="Google Shape;558;p36"/>
              <p:cNvSpPr/>
              <p:nvPr/>
            </p:nvSpPr>
            <p:spPr>
              <a:xfrm>
                <a:off x="9556551" y="3879240"/>
                <a:ext cx="445914" cy="748146"/>
              </a:xfrm>
              <a:custGeom>
                <a:avLst/>
                <a:gdLst/>
                <a:ahLst/>
                <a:cxnLst/>
                <a:rect l="l" t="t" r="r" b="b"/>
                <a:pathLst>
                  <a:path w="1590278" h="2668139" extrusionOk="0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  <p:sp>
            <p:nvSpPr>
              <p:cNvPr id="559" name="Google Shape;559;p36"/>
              <p:cNvSpPr/>
              <p:nvPr/>
            </p:nvSpPr>
            <p:spPr>
              <a:xfrm>
                <a:off x="9719768" y="4057011"/>
                <a:ext cx="445914" cy="748146"/>
              </a:xfrm>
              <a:custGeom>
                <a:avLst/>
                <a:gdLst/>
                <a:ahLst/>
                <a:cxnLst/>
                <a:rect l="l" t="t" r="r" b="b"/>
                <a:pathLst>
                  <a:path w="1590278" h="2668139" extrusionOk="0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  <p:sp>
            <p:nvSpPr>
              <p:cNvPr id="560" name="Google Shape;560;p36"/>
              <p:cNvSpPr/>
              <p:nvPr/>
            </p:nvSpPr>
            <p:spPr>
              <a:xfrm>
                <a:off x="9227397" y="4108150"/>
                <a:ext cx="445914" cy="748146"/>
              </a:xfrm>
              <a:custGeom>
                <a:avLst/>
                <a:gdLst/>
                <a:ahLst/>
                <a:cxnLst/>
                <a:rect l="l" t="t" r="r" b="b"/>
                <a:pathLst>
                  <a:path w="1590278" h="2668139" extrusionOk="0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  <p:sp>
            <p:nvSpPr>
              <p:cNvPr id="561" name="Google Shape;561;p36"/>
              <p:cNvSpPr/>
              <p:nvPr/>
            </p:nvSpPr>
            <p:spPr>
              <a:xfrm>
                <a:off x="9968745" y="3704974"/>
                <a:ext cx="445914" cy="748146"/>
              </a:xfrm>
              <a:custGeom>
                <a:avLst/>
                <a:gdLst/>
                <a:ahLst/>
                <a:cxnLst/>
                <a:rect l="l" t="t" r="r" b="b"/>
                <a:pathLst>
                  <a:path w="1590278" h="2668139" extrusionOk="0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  <p:sp>
            <p:nvSpPr>
              <p:cNvPr id="562" name="Google Shape;562;p36"/>
              <p:cNvSpPr/>
              <p:nvPr/>
            </p:nvSpPr>
            <p:spPr>
              <a:xfrm>
                <a:off x="10717086" y="3868918"/>
                <a:ext cx="445914" cy="748146"/>
              </a:xfrm>
              <a:custGeom>
                <a:avLst/>
                <a:gdLst/>
                <a:ahLst/>
                <a:cxnLst/>
                <a:rect l="l" t="t" r="r" b="b"/>
                <a:pathLst>
                  <a:path w="1590278" h="2668139" extrusionOk="0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  <p:sp>
            <p:nvSpPr>
              <p:cNvPr id="563" name="Google Shape;563;p36"/>
              <p:cNvSpPr/>
              <p:nvPr/>
            </p:nvSpPr>
            <p:spPr>
              <a:xfrm>
                <a:off x="10147341" y="3792448"/>
                <a:ext cx="445914" cy="748146"/>
              </a:xfrm>
              <a:custGeom>
                <a:avLst/>
                <a:gdLst/>
                <a:ahLst/>
                <a:cxnLst/>
                <a:rect l="l" t="t" r="r" b="b"/>
                <a:pathLst>
                  <a:path w="1590278" h="2668139" extrusionOk="0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rgbClr val="7030A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  <p:sp>
            <p:nvSpPr>
              <p:cNvPr id="564" name="Google Shape;564;p36"/>
              <p:cNvSpPr/>
              <p:nvPr/>
            </p:nvSpPr>
            <p:spPr>
              <a:xfrm>
                <a:off x="10412473" y="4078199"/>
                <a:ext cx="445914" cy="748146"/>
              </a:xfrm>
              <a:custGeom>
                <a:avLst/>
                <a:gdLst/>
                <a:ahLst/>
                <a:cxnLst/>
                <a:rect l="l" t="t" r="r" b="b"/>
                <a:pathLst>
                  <a:path w="1590278" h="2668139" extrusionOk="0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rgbClr val="7030A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  <p:sp>
            <p:nvSpPr>
              <p:cNvPr id="565" name="Google Shape;565;p36"/>
              <p:cNvSpPr/>
              <p:nvPr/>
            </p:nvSpPr>
            <p:spPr>
              <a:xfrm>
                <a:off x="9452772" y="4213998"/>
                <a:ext cx="445914" cy="748146"/>
              </a:xfrm>
              <a:custGeom>
                <a:avLst/>
                <a:gdLst/>
                <a:ahLst/>
                <a:cxnLst/>
                <a:rect l="l" t="t" r="r" b="b"/>
                <a:pathLst>
                  <a:path w="1590278" h="2668139" extrusionOk="0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rgbClr val="7030A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  <p:sp>
            <p:nvSpPr>
              <p:cNvPr id="566" name="Google Shape;566;p36"/>
              <p:cNvSpPr/>
              <p:nvPr/>
            </p:nvSpPr>
            <p:spPr>
              <a:xfrm>
                <a:off x="9696668" y="4400539"/>
                <a:ext cx="445914" cy="748146"/>
              </a:xfrm>
              <a:custGeom>
                <a:avLst/>
                <a:gdLst/>
                <a:ahLst/>
                <a:cxnLst/>
                <a:rect l="l" t="t" r="r" b="b"/>
                <a:pathLst>
                  <a:path w="1590278" h="2668139" extrusionOk="0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rgbClr val="7030A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  <p:sp>
            <p:nvSpPr>
              <p:cNvPr id="567" name="Google Shape;567;p36"/>
              <p:cNvSpPr/>
              <p:nvPr/>
            </p:nvSpPr>
            <p:spPr>
              <a:xfrm>
                <a:off x="10638565" y="4417383"/>
                <a:ext cx="445914" cy="748146"/>
              </a:xfrm>
              <a:custGeom>
                <a:avLst/>
                <a:gdLst/>
                <a:ahLst/>
                <a:cxnLst/>
                <a:rect l="l" t="t" r="r" b="b"/>
                <a:pathLst>
                  <a:path w="1590278" h="2668139" extrusionOk="0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  <p:sp>
            <p:nvSpPr>
              <p:cNvPr id="568" name="Google Shape;568;p36"/>
              <p:cNvSpPr/>
              <p:nvPr/>
            </p:nvSpPr>
            <p:spPr>
              <a:xfrm>
                <a:off x="10081143" y="4274714"/>
                <a:ext cx="445914" cy="748146"/>
              </a:xfrm>
              <a:custGeom>
                <a:avLst/>
                <a:gdLst/>
                <a:ahLst/>
                <a:cxnLst/>
                <a:rect l="l" t="t" r="r" b="b"/>
                <a:pathLst>
                  <a:path w="1590278" h="2668139" extrusionOk="0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</p:grpSp>
        <p:sp>
          <p:nvSpPr>
            <p:cNvPr id="569" name="Google Shape;569;p36"/>
            <p:cNvSpPr txBox="1"/>
            <p:nvPr/>
          </p:nvSpPr>
          <p:spPr>
            <a:xfrm>
              <a:off x="9779508" y="3290580"/>
              <a:ext cx="880369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Rec. 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7"/>
          <p:cNvSpPr txBox="1">
            <a:spLocks noGrp="1"/>
          </p:cNvSpPr>
          <p:nvPr>
            <p:ph type="title"/>
          </p:nvPr>
        </p:nvSpPr>
        <p:spPr>
          <a:xfrm>
            <a:off x="1098246" y="482908"/>
            <a:ext cx="10801350" cy="957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QUESTIONS TO ASK ABOUT </a:t>
            </a:r>
            <a:r>
              <a:rPr lang="en-US" i="1"/>
              <a:t>GRANULARITY</a:t>
            </a:r>
            <a:endParaRPr/>
          </a:p>
        </p:txBody>
      </p:sp>
      <p:sp>
        <p:nvSpPr>
          <p:cNvPr id="575" name="Google Shape;575;p37"/>
          <p:cNvSpPr txBox="1">
            <a:spLocks noGrp="1"/>
          </p:cNvSpPr>
          <p:nvPr>
            <p:ph type="body" idx="1"/>
          </p:nvPr>
        </p:nvSpPr>
        <p:spPr>
          <a:xfrm>
            <a:off x="1015452" y="1630494"/>
            <a:ext cx="10966938" cy="548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Char char="▪"/>
            </a:pPr>
            <a:r>
              <a:rPr lang="en-US" sz="2400" dirty="0"/>
              <a:t>What does each record represent?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Char char="▪"/>
            </a:pPr>
            <a:r>
              <a:rPr lang="en-US" sz="2000" dirty="0"/>
              <a:t>Examples: a purchase, a person, a group of users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40"/>
              <a:buChar char="▪"/>
            </a:pPr>
            <a:r>
              <a:rPr lang="en-US" sz="2400" dirty="0"/>
              <a:t>Do all records capture granularity at the same level?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Char char="▪"/>
            </a:pPr>
            <a:r>
              <a:rPr lang="en-US" sz="2000" dirty="0"/>
              <a:t>Some data will include summaries as records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40"/>
              <a:buChar char="▪"/>
            </a:pPr>
            <a:r>
              <a:rPr lang="en-US" sz="2400" dirty="0"/>
              <a:t>If the data are coarse, how was it aggregated?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Char char="▪"/>
            </a:pPr>
            <a:r>
              <a:rPr lang="en-US" sz="2000" dirty="0"/>
              <a:t>Sampling, averaging, …</a:t>
            </a:r>
            <a:endParaRPr sz="2000" dirty="0"/>
          </a:p>
          <a:p>
            <a:pPr marL="18288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40"/>
              <a:buChar char="▪"/>
            </a:pPr>
            <a:r>
              <a:rPr lang="en-US" sz="2400" dirty="0"/>
              <a:t>What kinds of aggregation is possible/desirable? 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Char char="▪"/>
            </a:pPr>
            <a:r>
              <a:rPr lang="en-US" sz="2000" dirty="0"/>
              <a:t>From individual people to demographic groups? 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Char char="▪"/>
            </a:pPr>
            <a:r>
              <a:rPr lang="en-US" sz="2000" dirty="0"/>
              <a:t>From individual events to totals across time or regions?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Char char="▪"/>
            </a:pPr>
            <a:r>
              <a:rPr lang="en-US" sz="2000" dirty="0"/>
              <a:t>Hierarchies (city/county/state, second/minute/hour/days)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Understanding and manipulating granularity can help reveal patterns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8"/>
          <p:cNvSpPr txBox="1">
            <a:spLocks noGrp="1"/>
          </p:cNvSpPr>
          <p:nvPr>
            <p:ph type="title"/>
          </p:nvPr>
        </p:nvSpPr>
        <p:spPr>
          <a:xfrm>
            <a:off x="820411" y="13233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MANIPULATING GRANULARITY: GROUP BY</a:t>
            </a:r>
            <a:endParaRPr/>
          </a:p>
        </p:txBody>
      </p:sp>
      <p:grpSp>
        <p:nvGrpSpPr>
          <p:cNvPr id="581" name="Google Shape;581;p38"/>
          <p:cNvGrpSpPr/>
          <p:nvPr/>
        </p:nvGrpSpPr>
        <p:grpSpPr>
          <a:xfrm>
            <a:off x="922041" y="1846263"/>
            <a:ext cx="1036330" cy="407773"/>
            <a:chOff x="922041" y="1846263"/>
            <a:chExt cx="1036330" cy="407773"/>
          </a:xfrm>
        </p:grpSpPr>
        <p:sp>
          <p:nvSpPr>
            <p:cNvPr id="582" name="Google Shape;582;p38"/>
            <p:cNvSpPr/>
            <p:nvPr/>
          </p:nvSpPr>
          <p:spPr>
            <a:xfrm>
              <a:off x="922041" y="18462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38"/>
            <p:cNvSpPr/>
            <p:nvPr/>
          </p:nvSpPr>
          <p:spPr>
            <a:xfrm>
              <a:off x="1464966" y="18462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4" name="Google Shape;584;p38"/>
          <p:cNvGrpSpPr/>
          <p:nvPr/>
        </p:nvGrpSpPr>
        <p:grpSpPr>
          <a:xfrm>
            <a:off x="922041" y="2379663"/>
            <a:ext cx="1036330" cy="407773"/>
            <a:chOff x="922041" y="2379663"/>
            <a:chExt cx="1036330" cy="407773"/>
          </a:xfrm>
        </p:grpSpPr>
        <p:sp>
          <p:nvSpPr>
            <p:cNvPr id="585" name="Google Shape;585;p38"/>
            <p:cNvSpPr/>
            <p:nvPr/>
          </p:nvSpPr>
          <p:spPr>
            <a:xfrm>
              <a:off x="922041" y="23796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38"/>
            <p:cNvSpPr/>
            <p:nvPr/>
          </p:nvSpPr>
          <p:spPr>
            <a:xfrm>
              <a:off x="1464966" y="23796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7" name="Google Shape;587;p38"/>
          <p:cNvGrpSpPr/>
          <p:nvPr/>
        </p:nvGrpSpPr>
        <p:grpSpPr>
          <a:xfrm>
            <a:off x="922041" y="2913063"/>
            <a:ext cx="1036330" cy="407773"/>
            <a:chOff x="922041" y="2913063"/>
            <a:chExt cx="1036330" cy="407773"/>
          </a:xfrm>
        </p:grpSpPr>
        <p:sp>
          <p:nvSpPr>
            <p:cNvPr id="588" name="Google Shape;588;p38"/>
            <p:cNvSpPr/>
            <p:nvPr/>
          </p:nvSpPr>
          <p:spPr>
            <a:xfrm>
              <a:off x="922041" y="29130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38"/>
            <p:cNvSpPr/>
            <p:nvPr/>
          </p:nvSpPr>
          <p:spPr>
            <a:xfrm>
              <a:off x="1464966" y="29130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0" name="Google Shape;590;p38"/>
          <p:cNvGrpSpPr/>
          <p:nvPr/>
        </p:nvGrpSpPr>
        <p:grpSpPr>
          <a:xfrm>
            <a:off x="922041" y="3446463"/>
            <a:ext cx="1036330" cy="407773"/>
            <a:chOff x="922041" y="3446463"/>
            <a:chExt cx="1036330" cy="407773"/>
          </a:xfrm>
        </p:grpSpPr>
        <p:sp>
          <p:nvSpPr>
            <p:cNvPr id="591" name="Google Shape;591;p38"/>
            <p:cNvSpPr/>
            <p:nvPr/>
          </p:nvSpPr>
          <p:spPr>
            <a:xfrm>
              <a:off x="922041" y="34464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38"/>
            <p:cNvSpPr/>
            <p:nvPr/>
          </p:nvSpPr>
          <p:spPr>
            <a:xfrm>
              <a:off x="1464966" y="34464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3" name="Google Shape;593;p38"/>
          <p:cNvGrpSpPr/>
          <p:nvPr/>
        </p:nvGrpSpPr>
        <p:grpSpPr>
          <a:xfrm>
            <a:off x="922041" y="3979863"/>
            <a:ext cx="1036330" cy="407773"/>
            <a:chOff x="922041" y="3979863"/>
            <a:chExt cx="1036330" cy="407773"/>
          </a:xfrm>
        </p:grpSpPr>
        <p:sp>
          <p:nvSpPr>
            <p:cNvPr id="594" name="Google Shape;594;p38"/>
            <p:cNvSpPr/>
            <p:nvPr/>
          </p:nvSpPr>
          <p:spPr>
            <a:xfrm>
              <a:off x="922041" y="39798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38"/>
            <p:cNvSpPr/>
            <p:nvPr/>
          </p:nvSpPr>
          <p:spPr>
            <a:xfrm>
              <a:off x="1464966" y="39798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6" name="Google Shape;596;p38"/>
          <p:cNvGrpSpPr/>
          <p:nvPr/>
        </p:nvGrpSpPr>
        <p:grpSpPr>
          <a:xfrm>
            <a:off x="922041" y="4513263"/>
            <a:ext cx="1036330" cy="407773"/>
            <a:chOff x="922041" y="4513263"/>
            <a:chExt cx="1036330" cy="407773"/>
          </a:xfrm>
        </p:grpSpPr>
        <p:sp>
          <p:nvSpPr>
            <p:cNvPr id="597" name="Google Shape;597;p38"/>
            <p:cNvSpPr/>
            <p:nvPr/>
          </p:nvSpPr>
          <p:spPr>
            <a:xfrm>
              <a:off x="922041" y="45132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38"/>
            <p:cNvSpPr/>
            <p:nvPr/>
          </p:nvSpPr>
          <p:spPr>
            <a:xfrm>
              <a:off x="1464966" y="45132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9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9" name="Google Shape;599;p38"/>
          <p:cNvGrpSpPr/>
          <p:nvPr/>
        </p:nvGrpSpPr>
        <p:grpSpPr>
          <a:xfrm>
            <a:off x="922041" y="5580063"/>
            <a:ext cx="1036330" cy="407773"/>
            <a:chOff x="922041" y="5580063"/>
            <a:chExt cx="1036330" cy="407773"/>
          </a:xfrm>
        </p:grpSpPr>
        <p:sp>
          <p:nvSpPr>
            <p:cNvPr id="600" name="Google Shape;600;p38"/>
            <p:cNvSpPr/>
            <p:nvPr/>
          </p:nvSpPr>
          <p:spPr>
            <a:xfrm>
              <a:off x="922041" y="55800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38"/>
            <p:cNvSpPr/>
            <p:nvPr/>
          </p:nvSpPr>
          <p:spPr>
            <a:xfrm>
              <a:off x="1464966" y="55800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2" name="Google Shape;602;p38"/>
          <p:cNvGrpSpPr/>
          <p:nvPr/>
        </p:nvGrpSpPr>
        <p:grpSpPr>
          <a:xfrm>
            <a:off x="922041" y="6113463"/>
            <a:ext cx="1036330" cy="407773"/>
            <a:chOff x="922041" y="6113463"/>
            <a:chExt cx="1036330" cy="407773"/>
          </a:xfrm>
        </p:grpSpPr>
        <p:sp>
          <p:nvSpPr>
            <p:cNvPr id="603" name="Google Shape;603;p38"/>
            <p:cNvSpPr/>
            <p:nvPr/>
          </p:nvSpPr>
          <p:spPr>
            <a:xfrm>
              <a:off x="922041" y="61134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38"/>
            <p:cNvSpPr/>
            <p:nvPr/>
          </p:nvSpPr>
          <p:spPr>
            <a:xfrm>
              <a:off x="1464966" y="61134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5" name="Google Shape;605;p38"/>
          <p:cNvSpPr txBox="1"/>
          <p:nvPr/>
        </p:nvSpPr>
        <p:spPr>
          <a:xfrm>
            <a:off x="820411" y="1414118"/>
            <a:ext cx="59503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Key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38"/>
          <p:cNvSpPr txBox="1"/>
          <p:nvPr/>
        </p:nvSpPr>
        <p:spPr>
          <a:xfrm>
            <a:off x="1348771" y="1414118"/>
            <a:ext cx="7489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7" name="Google Shape;607;p38"/>
          <p:cNvGrpSpPr/>
          <p:nvPr/>
        </p:nvGrpSpPr>
        <p:grpSpPr>
          <a:xfrm>
            <a:off x="922041" y="5046663"/>
            <a:ext cx="1036330" cy="407773"/>
            <a:chOff x="922041" y="5046663"/>
            <a:chExt cx="1036330" cy="407773"/>
          </a:xfrm>
        </p:grpSpPr>
        <p:sp>
          <p:nvSpPr>
            <p:cNvPr id="608" name="Google Shape;608;p38"/>
            <p:cNvSpPr/>
            <p:nvPr/>
          </p:nvSpPr>
          <p:spPr>
            <a:xfrm>
              <a:off x="922041" y="50466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38"/>
            <p:cNvSpPr/>
            <p:nvPr/>
          </p:nvSpPr>
          <p:spPr>
            <a:xfrm>
              <a:off x="1464966" y="50466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0" name="Google Shape;610;p38"/>
          <p:cNvGrpSpPr/>
          <p:nvPr/>
        </p:nvGrpSpPr>
        <p:grpSpPr>
          <a:xfrm>
            <a:off x="922041" y="1846263"/>
            <a:ext cx="1036330" cy="407773"/>
            <a:chOff x="922041" y="1846263"/>
            <a:chExt cx="1036330" cy="407773"/>
          </a:xfrm>
        </p:grpSpPr>
        <p:sp>
          <p:nvSpPr>
            <p:cNvPr id="611" name="Google Shape;611;p38"/>
            <p:cNvSpPr/>
            <p:nvPr/>
          </p:nvSpPr>
          <p:spPr>
            <a:xfrm>
              <a:off x="922041" y="18462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38"/>
            <p:cNvSpPr/>
            <p:nvPr/>
          </p:nvSpPr>
          <p:spPr>
            <a:xfrm>
              <a:off x="1464966" y="18462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3" name="Google Shape;613;p38"/>
          <p:cNvGrpSpPr/>
          <p:nvPr/>
        </p:nvGrpSpPr>
        <p:grpSpPr>
          <a:xfrm>
            <a:off x="922041" y="2379663"/>
            <a:ext cx="1036330" cy="407773"/>
            <a:chOff x="922041" y="2379663"/>
            <a:chExt cx="1036330" cy="407773"/>
          </a:xfrm>
        </p:grpSpPr>
        <p:sp>
          <p:nvSpPr>
            <p:cNvPr id="614" name="Google Shape;614;p38"/>
            <p:cNvSpPr/>
            <p:nvPr/>
          </p:nvSpPr>
          <p:spPr>
            <a:xfrm>
              <a:off x="922041" y="23796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38"/>
            <p:cNvSpPr/>
            <p:nvPr/>
          </p:nvSpPr>
          <p:spPr>
            <a:xfrm>
              <a:off x="1464966" y="23796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6" name="Google Shape;616;p38"/>
          <p:cNvGrpSpPr/>
          <p:nvPr/>
        </p:nvGrpSpPr>
        <p:grpSpPr>
          <a:xfrm>
            <a:off x="922041" y="2913063"/>
            <a:ext cx="1036330" cy="407773"/>
            <a:chOff x="922041" y="2913063"/>
            <a:chExt cx="1036330" cy="407773"/>
          </a:xfrm>
        </p:grpSpPr>
        <p:sp>
          <p:nvSpPr>
            <p:cNvPr id="617" name="Google Shape;617;p38"/>
            <p:cNvSpPr/>
            <p:nvPr/>
          </p:nvSpPr>
          <p:spPr>
            <a:xfrm>
              <a:off x="922041" y="29130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38"/>
            <p:cNvSpPr/>
            <p:nvPr/>
          </p:nvSpPr>
          <p:spPr>
            <a:xfrm>
              <a:off x="1464966" y="29130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9" name="Google Shape;619;p38"/>
          <p:cNvGrpSpPr/>
          <p:nvPr/>
        </p:nvGrpSpPr>
        <p:grpSpPr>
          <a:xfrm>
            <a:off x="922041" y="3446463"/>
            <a:ext cx="1036330" cy="407773"/>
            <a:chOff x="922041" y="3446463"/>
            <a:chExt cx="1036330" cy="407773"/>
          </a:xfrm>
        </p:grpSpPr>
        <p:sp>
          <p:nvSpPr>
            <p:cNvPr id="620" name="Google Shape;620;p38"/>
            <p:cNvSpPr/>
            <p:nvPr/>
          </p:nvSpPr>
          <p:spPr>
            <a:xfrm>
              <a:off x="922041" y="34464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38"/>
            <p:cNvSpPr/>
            <p:nvPr/>
          </p:nvSpPr>
          <p:spPr>
            <a:xfrm>
              <a:off x="1464966" y="34464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2" name="Google Shape;622;p38"/>
          <p:cNvGrpSpPr/>
          <p:nvPr/>
        </p:nvGrpSpPr>
        <p:grpSpPr>
          <a:xfrm>
            <a:off x="922041" y="3979863"/>
            <a:ext cx="1036330" cy="407773"/>
            <a:chOff x="922041" y="3979863"/>
            <a:chExt cx="1036330" cy="407773"/>
          </a:xfrm>
        </p:grpSpPr>
        <p:sp>
          <p:nvSpPr>
            <p:cNvPr id="623" name="Google Shape;623;p38"/>
            <p:cNvSpPr/>
            <p:nvPr/>
          </p:nvSpPr>
          <p:spPr>
            <a:xfrm>
              <a:off x="922041" y="39798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38"/>
            <p:cNvSpPr/>
            <p:nvPr/>
          </p:nvSpPr>
          <p:spPr>
            <a:xfrm>
              <a:off x="1464966" y="39798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5" name="Google Shape;625;p38"/>
          <p:cNvGrpSpPr/>
          <p:nvPr/>
        </p:nvGrpSpPr>
        <p:grpSpPr>
          <a:xfrm>
            <a:off x="922041" y="4513263"/>
            <a:ext cx="1036330" cy="407773"/>
            <a:chOff x="922041" y="4513263"/>
            <a:chExt cx="1036330" cy="407773"/>
          </a:xfrm>
        </p:grpSpPr>
        <p:sp>
          <p:nvSpPr>
            <p:cNvPr id="626" name="Google Shape;626;p38"/>
            <p:cNvSpPr/>
            <p:nvPr/>
          </p:nvSpPr>
          <p:spPr>
            <a:xfrm>
              <a:off x="922041" y="45132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38"/>
            <p:cNvSpPr/>
            <p:nvPr/>
          </p:nvSpPr>
          <p:spPr>
            <a:xfrm>
              <a:off x="1464966" y="45132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9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8" name="Google Shape;628;p38"/>
          <p:cNvGrpSpPr/>
          <p:nvPr/>
        </p:nvGrpSpPr>
        <p:grpSpPr>
          <a:xfrm>
            <a:off x="922041" y="5580063"/>
            <a:ext cx="1036330" cy="407773"/>
            <a:chOff x="922041" y="5580063"/>
            <a:chExt cx="1036330" cy="407773"/>
          </a:xfrm>
        </p:grpSpPr>
        <p:sp>
          <p:nvSpPr>
            <p:cNvPr id="629" name="Google Shape;629;p38"/>
            <p:cNvSpPr/>
            <p:nvPr/>
          </p:nvSpPr>
          <p:spPr>
            <a:xfrm>
              <a:off x="922041" y="55800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38"/>
            <p:cNvSpPr/>
            <p:nvPr/>
          </p:nvSpPr>
          <p:spPr>
            <a:xfrm>
              <a:off x="1464966" y="55800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1" name="Google Shape;631;p38"/>
          <p:cNvGrpSpPr/>
          <p:nvPr/>
        </p:nvGrpSpPr>
        <p:grpSpPr>
          <a:xfrm>
            <a:off x="922041" y="6113463"/>
            <a:ext cx="1036330" cy="407773"/>
            <a:chOff x="922041" y="6113463"/>
            <a:chExt cx="1036330" cy="407773"/>
          </a:xfrm>
        </p:grpSpPr>
        <p:sp>
          <p:nvSpPr>
            <p:cNvPr id="632" name="Google Shape;632;p38"/>
            <p:cNvSpPr/>
            <p:nvPr/>
          </p:nvSpPr>
          <p:spPr>
            <a:xfrm>
              <a:off x="922041" y="61134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38"/>
            <p:cNvSpPr/>
            <p:nvPr/>
          </p:nvSpPr>
          <p:spPr>
            <a:xfrm>
              <a:off x="1464966" y="61134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4" name="Google Shape;634;p38"/>
          <p:cNvGrpSpPr/>
          <p:nvPr/>
        </p:nvGrpSpPr>
        <p:grpSpPr>
          <a:xfrm>
            <a:off x="922041" y="5046663"/>
            <a:ext cx="1036330" cy="407773"/>
            <a:chOff x="922041" y="5046663"/>
            <a:chExt cx="1036330" cy="407773"/>
          </a:xfrm>
        </p:grpSpPr>
        <p:sp>
          <p:nvSpPr>
            <p:cNvPr id="635" name="Google Shape;635;p38"/>
            <p:cNvSpPr/>
            <p:nvPr/>
          </p:nvSpPr>
          <p:spPr>
            <a:xfrm>
              <a:off x="922041" y="50466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38"/>
            <p:cNvSpPr/>
            <p:nvPr/>
          </p:nvSpPr>
          <p:spPr>
            <a:xfrm>
              <a:off x="1464966" y="50466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9"/>
          <p:cNvSpPr txBox="1">
            <a:spLocks noGrp="1"/>
          </p:cNvSpPr>
          <p:nvPr>
            <p:ph type="title"/>
          </p:nvPr>
        </p:nvSpPr>
        <p:spPr>
          <a:xfrm>
            <a:off x="820411" y="0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MANIPULATING GRANULARITY: GROUP BY</a:t>
            </a:r>
            <a:endParaRPr/>
          </a:p>
        </p:txBody>
      </p:sp>
      <p:sp>
        <p:nvSpPr>
          <p:cNvPr id="642" name="Google Shape;642;p39"/>
          <p:cNvSpPr txBox="1"/>
          <p:nvPr/>
        </p:nvSpPr>
        <p:spPr>
          <a:xfrm>
            <a:off x="820411" y="1414118"/>
            <a:ext cx="59503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Key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39"/>
          <p:cNvSpPr txBox="1"/>
          <p:nvPr/>
        </p:nvSpPr>
        <p:spPr>
          <a:xfrm>
            <a:off x="1348771" y="1414118"/>
            <a:ext cx="7489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4" name="Google Shape;644;p39"/>
          <p:cNvGrpSpPr/>
          <p:nvPr/>
        </p:nvGrpSpPr>
        <p:grpSpPr>
          <a:xfrm>
            <a:off x="3598181" y="1753929"/>
            <a:ext cx="1036330" cy="407773"/>
            <a:chOff x="931566" y="1442351"/>
            <a:chExt cx="1036330" cy="407773"/>
          </a:xfrm>
        </p:grpSpPr>
        <p:sp>
          <p:nvSpPr>
            <p:cNvPr id="645" name="Google Shape;645;p39"/>
            <p:cNvSpPr/>
            <p:nvPr/>
          </p:nvSpPr>
          <p:spPr>
            <a:xfrm>
              <a:off x="931566" y="1442351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39"/>
            <p:cNvSpPr/>
            <p:nvPr/>
          </p:nvSpPr>
          <p:spPr>
            <a:xfrm>
              <a:off x="1474491" y="1442351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7" name="Google Shape;647;p39"/>
          <p:cNvGrpSpPr/>
          <p:nvPr/>
        </p:nvGrpSpPr>
        <p:grpSpPr>
          <a:xfrm>
            <a:off x="3598181" y="2233540"/>
            <a:ext cx="1036330" cy="407773"/>
            <a:chOff x="931566" y="3042551"/>
            <a:chExt cx="1036330" cy="407773"/>
          </a:xfrm>
        </p:grpSpPr>
        <p:sp>
          <p:nvSpPr>
            <p:cNvPr id="648" name="Google Shape;648;p39"/>
            <p:cNvSpPr/>
            <p:nvPr/>
          </p:nvSpPr>
          <p:spPr>
            <a:xfrm>
              <a:off x="931566" y="3042551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39"/>
            <p:cNvSpPr/>
            <p:nvPr/>
          </p:nvSpPr>
          <p:spPr>
            <a:xfrm>
              <a:off x="1474491" y="3042551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0" name="Google Shape;650;p39"/>
          <p:cNvGrpSpPr/>
          <p:nvPr/>
        </p:nvGrpSpPr>
        <p:grpSpPr>
          <a:xfrm>
            <a:off x="3598181" y="2713151"/>
            <a:ext cx="1036330" cy="407773"/>
            <a:chOff x="931566" y="3042551"/>
            <a:chExt cx="1036330" cy="407773"/>
          </a:xfrm>
        </p:grpSpPr>
        <p:sp>
          <p:nvSpPr>
            <p:cNvPr id="651" name="Google Shape;651;p39"/>
            <p:cNvSpPr/>
            <p:nvPr/>
          </p:nvSpPr>
          <p:spPr>
            <a:xfrm>
              <a:off x="931566" y="3042551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39"/>
            <p:cNvSpPr/>
            <p:nvPr/>
          </p:nvSpPr>
          <p:spPr>
            <a:xfrm>
              <a:off x="1474491" y="3042551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3" name="Google Shape;653;p39"/>
          <p:cNvGrpSpPr/>
          <p:nvPr/>
        </p:nvGrpSpPr>
        <p:grpSpPr>
          <a:xfrm>
            <a:off x="922041" y="1846263"/>
            <a:ext cx="1036330" cy="407773"/>
            <a:chOff x="922041" y="1846263"/>
            <a:chExt cx="1036330" cy="407773"/>
          </a:xfrm>
        </p:grpSpPr>
        <p:sp>
          <p:nvSpPr>
            <p:cNvPr id="654" name="Google Shape;654;p39"/>
            <p:cNvSpPr/>
            <p:nvPr/>
          </p:nvSpPr>
          <p:spPr>
            <a:xfrm>
              <a:off x="922041" y="18462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39"/>
            <p:cNvSpPr/>
            <p:nvPr/>
          </p:nvSpPr>
          <p:spPr>
            <a:xfrm>
              <a:off x="1464966" y="18462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6" name="Google Shape;656;p39"/>
          <p:cNvGrpSpPr/>
          <p:nvPr/>
        </p:nvGrpSpPr>
        <p:grpSpPr>
          <a:xfrm>
            <a:off x="922041" y="2379663"/>
            <a:ext cx="1036330" cy="407773"/>
            <a:chOff x="922041" y="2379663"/>
            <a:chExt cx="1036330" cy="407773"/>
          </a:xfrm>
        </p:grpSpPr>
        <p:sp>
          <p:nvSpPr>
            <p:cNvPr id="657" name="Google Shape;657;p39"/>
            <p:cNvSpPr/>
            <p:nvPr/>
          </p:nvSpPr>
          <p:spPr>
            <a:xfrm>
              <a:off x="922041" y="23796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39"/>
            <p:cNvSpPr/>
            <p:nvPr/>
          </p:nvSpPr>
          <p:spPr>
            <a:xfrm>
              <a:off x="1464966" y="23796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9" name="Google Shape;659;p39"/>
          <p:cNvGrpSpPr/>
          <p:nvPr/>
        </p:nvGrpSpPr>
        <p:grpSpPr>
          <a:xfrm>
            <a:off x="922041" y="2913063"/>
            <a:ext cx="1036330" cy="407773"/>
            <a:chOff x="922041" y="2913063"/>
            <a:chExt cx="1036330" cy="407773"/>
          </a:xfrm>
        </p:grpSpPr>
        <p:sp>
          <p:nvSpPr>
            <p:cNvPr id="660" name="Google Shape;660;p39"/>
            <p:cNvSpPr/>
            <p:nvPr/>
          </p:nvSpPr>
          <p:spPr>
            <a:xfrm>
              <a:off x="922041" y="29130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39"/>
            <p:cNvSpPr/>
            <p:nvPr/>
          </p:nvSpPr>
          <p:spPr>
            <a:xfrm>
              <a:off x="1464966" y="29130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2" name="Google Shape;662;p39"/>
          <p:cNvGrpSpPr/>
          <p:nvPr/>
        </p:nvGrpSpPr>
        <p:grpSpPr>
          <a:xfrm>
            <a:off x="922041" y="3446463"/>
            <a:ext cx="1036330" cy="407773"/>
            <a:chOff x="922041" y="3446463"/>
            <a:chExt cx="1036330" cy="407773"/>
          </a:xfrm>
        </p:grpSpPr>
        <p:sp>
          <p:nvSpPr>
            <p:cNvPr id="663" name="Google Shape;663;p39"/>
            <p:cNvSpPr/>
            <p:nvPr/>
          </p:nvSpPr>
          <p:spPr>
            <a:xfrm>
              <a:off x="922041" y="34464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39"/>
            <p:cNvSpPr/>
            <p:nvPr/>
          </p:nvSpPr>
          <p:spPr>
            <a:xfrm>
              <a:off x="1464966" y="34464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5" name="Google Shape;665;p39"/>
          <p:cNvGrpSpPr/>
          <p:nvPr/>
        </p:nvGrpSpPr>
        <p:grpSpPr>
          <a:xfrm>
            <a:off x="922041" y="3979863"/>
            <a:ext cx="1036330" cy="407773"/>
            <a:chOff x="922041" y="3979863"/>
            <a:chExt cx="1036330" cy="407773"/>
          </a:xfrm>
        </p:grpSpPr>
        <p:sp>
          <p:nvSpPr>
            <p:cNvPr id="666" name="Google Shape;666;p39"/>
            <p:cNvSpPr/>
            <p:nvPr/>
          </p:nvSpPr>
          <p:spPr>
            <a:xfrm>
              <a:off x="922041" y="39798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39"/>
            <p:cNvSpPr/>
            <p:nvPr/>
          </p:nvSpPr>
          <p:spPr>
            <a:xfrm>
              <a:off x="1464966" y="39798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8" name="Google Shape;668;p39"/>
          <p:cNvGrpSpPr/>
          <p:nvPr/>
        </p:nvGrpSpPr>
        <p:grpSpPr>
          <a:xfrm>
            <a:off x="922041" y="4513263"/>
            <a:ext cx="1036330" cy="407773"/>
            <a:chOff x="922041" y="4513263"/>
            <a:chExt cx="1036330" cy="407773"/>
          </a:xfrm>
        </p:grpSpPr>
        <p:sp>
          <p:nvSpPr>
            <p:cNvPr id="669" name="Google Shape;669;p39"/>
            <p:cNvSpPr/>
            <p:nvPr/>
          </p:nvSpPr>
          <p:spPr>
            <a:xfrm>
              <a:off x="922041" y="45132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39"/>
            <p:cNvSpPr/>
            <p:nvPr/>
          </p:nvSpPr>
          <p:spPr>
            <a:xfrm>
              <a:off x="1464966" y="45132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9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1" name="Google Shape;671;p39"/>
          <p:cNvGrpSpPr/>
          <p:nvPr/>
        </p:nvGrpSpPr>
        <p:grpSpPr>
          <a:xfrm>
            <a:off x="922041" y="5580063"/>
            <a:ext cx="1036330" cy="407773"/>
            <a:chOff x="922041" y="5580063"/>
            <a:chExt cx="1036330" cy="407773"/>
          </a:xfrm>
        </p:grpSpPr>
        <p:sp>
          <p:nvSpPr>
            <p:cNvPr id="672" name="Google Shape;672;p39"/>
            <p:cNvSpPr/>
            <p:nvPr/>
          </p:nvSpPr>
          <p:spPr>
            <a:xfrm>
              <a:off x="922041" y="55800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39"/>
            <p:cNvSpPr/>
            <p:nvPr/>
          </p:nvSpPr>
          <p:spPr>
            <a:xfrm>
              <a:off x="1464966" y="55800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4" name="Google Shape;674;p39"/>
          <p:cNvGrpSpPr/>
          <p:nvPr/>
        </p:nvGrpSpPr>
        <p:grpSpPr>
          <a:xfrm>
            <a:off x="922041" y="6113463"/>
            <a:ext cx="1036330" cy="407773"/>
            <a:chOff x="922041" y="6113463"/>
            <a:chExt cx="1036330" cy="407773"/>
          </a:xfrm>
        </p:grpSpPr>
        <p:sp>
          <p:nvSpPr>
            <p:cNvPr id="675" name="Google Shape;675;p39"/>
            <p:cNvSpPr/>
            <p:nvPr/>
          </p:nvSpPr>
          <p:spPr>
            <a:xfrm>
              <a:off x="922041" y="61134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39"/>
            <p:cNvSpPr/>
            <p:nvPr/>
          </p:nvSpPr>
          <p:spPr>
            <a:xfrm>
              <a:off x="1464966" y="61134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7" name="Google Shape;677;p39"/>
          <p:cNvGrpSpPr/>
          <p:nvPr/>
        </p:nvGrpSpPr>
        <p:grpSpPr>
          <a:xfrm>
            <a:off x="922041" y="5046663"/>
            <a:ext cx="1036330" cy="407773"/>
            <a:chOff x="922041" y="5046663"/>
            <a:chExt cx="1036330" cy="407773"/>
          </a:xfrm>
        </p:grpSpPr>
        <p:sp>
          <p:nvSpPr>
            <p:cNvPr id="678" name="Google Shape;678;p39"/>
            <p:cNvSpPr/>
            <p:nvPr/>
          </p:nvSpPr>
          <p:spPr>
            <a:xfrm>
              <a:off x="922041" y="50466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39"/>
            <p:cNvSpPr/>
            <p:nvPr/>
          </p:nvSpPr>
          <p:spPr>
            <a:xfrm>
              <a:off x="1464966" y="50466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0" name="Google Shape;680;p39"/>
          <p:cNvGrpSpPr/>
          <p:nvPr/>
        </p:nvGrpSpPr>
        <p:grpSpPr>
          <a:xfrm>
            <a:off x="922041" y="2379663"/>
            <a:ext cx="1036330" cy="407773"/>
            <a:chOff x="922041" y="2379663"/>
            <a:chExt cx="1036330" cy="407773"/>
          </a:xfrm>
        </p:grpSpPr>
        <p:sp>
          <p:nvSpPr>
            <p:cNvPr id="681" name="Google Shape;681;p39"/>
            <p:cNvSpPr/>
            <p:nvPr/>
          </p:nvSpPr>
          <p:spPr>
            <a:xfrm>
              <a:off x="922041" y="23796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39"/>
            <p:cNvSpPr/>
            <p:nvPr/>
          </p:nvSpPr>
          <p:spPr>
            <a:xfrm>
              <a:off x="1464966" y="23796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3" name="Google Shape;683;p39"/>
          <p:cNvGrpSpPr/>
          <p:nvPr/>
        </p:nvGrpSpPr>
        <p:grpSpPr>
          <a:xfrm>
            <a:off x="922041" y="2913063"/>
            <a:ext cx="1036330" cy="407773"/>
            <a:chOff x="922041" y="2913063"/>
            <a:chExt cx="1036330" cy="407773"/>
          </a:xfrm>
        </p:grpSpPr>
        <p:sp>
          <p:nvSpPr>
            <p:cNvPr id="684" name="Google Shape;684;p39"/>
            <p:cNvSpPr/>
            <p:nvPr/>
          </p:nvSpPr>
          <p:spPr>
            <a:xfrm>
              <a:off x="922041" y="29130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39"/>
            <p:cNvSpPr/>
            <p:nvPr/>
          </p:nvSpPr>
          <p:spPr>
            <a:xfrm>
              <a:off x="1464966" y="29130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6" name="Google Shape;686;p39"/>
          <p:cNvGrpSpPr/>
          <p:nvPr/>
        </p:nvGrpSpPr>
        <p:grpSpPr>
          <a:xfrm>
            <a:off x="922041" y="3979863"/>
            <a:ext cx="1036330" cy="407773"/>
            <a:chOff x="922041" y="3979863"/>
            <a:chExt cx="1036330" cy="407773"/>
          </a:xfrm>
        </p:grpSpPr>
        <p:sp>
          <p:nvSpPr>
            <p:cNvPr id="687" name="Google Shape;687;p39"/>
            <p:cNvSpPr/>
            <p:nvPr/>
          </p:nvSpPr>
          <p:spPr>
            <a:xfrm>
              <a:off x="922041" y="39798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39"/>
            <p:cNvSpPr/>
            <p:nvPr/>
          </p:nvSpPr>
          <p:spPr>
            <a:xfrm>
              <a:off x="1464966" y="39798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9" name="Google Shape;689;p39"/>
          <p:cNvGrpSpPr/>
          <p:nvPr/>
        </p:nvGrpSpPr>
        <p:grpSpPr>
          <a:xfrm>
            <a:off x="922041" y="4513263"/>
            <a:ext cx="1036330" cy="407773"/>
            <a:chOff x="922041" y="4513263"/>
            <a:chExt cx="1036330" cy="407773"/>
          </a:xfrm>
        </p:grpSpPr>
        <p:sp>
          <p:nvSpPr>
            <p:cNvPr id="690" name="Google Shape;690;p39"/>
            <p:cNvSpPr/>
            <p:nvPr/>
          </p:nvSpPr>
          <p:spPr>
            <a:xfrm>
              <a:off x="922041" y="45132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39"/>
            <p:cNvSpPr/>
            <p:nvPr/>
          </p:nvSpPr>
          <p:spPr>
            <a:xfrm>
              <a:off x="1464966" y="45132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9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2" name="Google Shape;692;p39"/>
          <p:cNvGrpSpPr/>
          <p:nvPr/>
        </p:nvGrpSpPr>
        <p:grpSpPr>
          <a:xfrm>
            <a:off x="922041" y="5580063"/>
            <a:ext cx="1036330" cy="407773"/>
            <a:chOff x="922041" y="5580063"/>
            <a:chExt cx="1036330" cy="407773"/>
          </a:xfrm>
        </p:grpSpPr>
        <p:sp>
          <p:nvSpPr>
            <p:cNvPr id="693" name="Google Shape;693;p39"/>
            <p:cNvSpPr/>
            <p:nvPr/>
          </p:nvSpPr>
          <p:spPr>
            <a:xfrm>
              <a:off x="922041" y="55800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39"/>
            <p:cNvSpPr/>
            <p:nvPr/>
          </p:nvSpPr>
          <p:spPr>
            <a:xfrm>
              <a:off x="1464966" y="55800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5" name="Google Shape;695;p39"/>
          <p:cNvGrpSpPr/>
          <p:nvPr/>
        </p:nvGrpSpPr>
        <p:grpSpPr>
          <a:xfrm>
            <a:off x="922041" y="6113463"/>
            <a:ext cx="1036330" cy="407773"/>
            <a:chOff x="922041" y="6113463"/>
            <a:chExt cx="1036330" cy="407773"/>
          </a:xfrm>
        </p:grpSpPr>
        <p:sp>
          <p:nvSpPr>
            <p:cNvPr id="696" name="Google Shape;696;p39"/>
            <p:cNvSpPr/>
            <p:nvPr/>
          </p:nvSpPr>
          <p:spPr>
            <a:xfrm>
              <a:off x="922041" y="61134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39"/>
            <p:cNvSpPr/>
            <p:nvPr/>
          </p:nvSpPr>
          <p:spPr>
            <a:xfrm>
              <a:off x="1464966" y="61134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41"/>
          <p:cNvSpPr txBox="1">
            <a:spLocks noGrp="1"/>
          </p:cNvSpPr>
          <p:nvPr>
            <p:ph type="title"/>
          </p:nvPr>
        </p:nvSpPr>
        <p:spPr>
          <a:xfrm>
            <a:off x="820411" y="-16998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MANIPULATING GRANULARITY: GROUP BY</a:t>
            </a:r>
            <a:endParaRPr/>
          </a:p>
        </p:txBody>
      </p:sp>
      <p:sp>
        <p:nvSpPr>
          <p:cNvPr id="771" name="Google Shape;771;p41"/>
          <p:cNvSpPr txBox="1"/>
          <p:nvPr/>
        </p:nvSpPr>
        <p:spPr>
          <a:xfrm>
            <a:off x="820411" y="1414118"/>
            <a:ext cx="59503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Key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41"/>
          <p:cNvSpPr txBox="1"/>
          <p:nvPr/>
        </p:nvSpPr>
        <p:spPr>
          <a:xfrm>
            <a:off x="1348771" y="1414118"/>
            <a:ext cx="7489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3" name="Google Shape;773;p41"/>
          <p:cNvGrpSpPr/>
          <p:nvPr/>
        </p:nvGrpSpPr>
        <p:grpSpPr>
          <a:xfrm>
            <a:off x="3598181" y="1753929"/>
            <a:ext cx="1036330" cy="407773"/>
            <a:chOff x="931566" y="1442351"/>
            <a:chExt cx="1036330" cy="407773"/>
          </a:xfrm>
        </p:grpSpPr>
        <p:sp>
          <p:nvSpPr>
            <p:cNvPr id="774" name="Google Shape;774;p41"/>
            <p:cNvSpPr/>
            <p:nvPr/>
          </p:nvSpPr>
          <p:spPr>
            <a:xfrm>
              <a:off x="931566" y="1442351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41"/>
            <p:cNvSpPr/>
            <p:nvPr/>
          </p:nvSpPr>
          <p:spPr>
            <a:xfrm>
              <a:off x="1474491" y="1442351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6" name="Google Shape;776;p41"/>
          <p:cNvGrpSpPr/>
          <p:nvPr/>
        </p:nvGrpSpPr>
        <p:grpSpPr>
          <a:xfrm>
            <a:off x="3598181" y="2233540"/>
            <a:ext cx="1036330" cy="407773"/>
            <a:chOff x="931566" y="3042551"/>
            <a:chExt cx="1036330" cy="407773"/>
          </a:xfrm>
        </p:grpSpPr>
        <p:sp>
          <p:nvSpPr>
            <p:cNvPr id="777" name="Google Shape;777;p41"/>
            <p:cNvSpPr/>
            <p:nvPr/>
          </p:nvSpPr>
          <p:spPr>
            <a:xfrm>
              <a:off x="931566" y="3042551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41"/>
            <p:cNvSpPr/>
            <p:nvPr/>
          </p:nvSpPr>
          <p:spPr>
            <a:xfrm>
              <a:off x="1474491" y="3042551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9" name="Google Shape;779;p41"/>
          <p:cNvGrpSpPr/>
          <p:nvPr/>
        </p:nvGrpSpPr>
        <p:grpSpPr>
          <a:xfrm>
            <a:off x="3598181" y="2713151"/>
            <a:ext cx="1036330" cy="407773"/>
            <a:chOff x="931566" y="3042551"/>
            <a:chExt cx="1036330" cy="407773"/>
          </a:xfrm>
        </p:grpSpPr>
        <p:sp>
          <p:nvSpPr>
            <p:cNvPr id="780" name="Google Shape;780;p41"/>
            <p:cNvSpPr/>
            <p:nvPr/>
          </p:nvSpPr>
          <p:spPr>
            <a:xfrm>
              <a:off x="931566" y="3042551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41"/>
            <p:cNvSpPr/>
            <p:nvPr/>
          </p:nvSpPr>
          <p:spPr>
            <a:xfrm>
              <a:off x="1474491" y="3042551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2" name="Google Shape;782;p41"/>
          <p:cNvGrpSpPr/>
          <p:nvPr/>
        </p:nvGrpSpPr>
        <p:grpSpPr>
          <a:xfrm>
            <a:off x="922041" y="1846263"/>
            <a:ext cx="1036330" cy="407773"/>
            <a:chOff x="922041" y="1846263"/>
            <a:chExt cx="1036330" cy="407773"/>
          </a:xfrm>
        </p:grpSpPr>
        <p:sp>
          <p:nvSpPr>
            <p:cNvPr id="783" name="Google Shape;783;p41"/>
            <p:cNvSpPr/>
            <p:nvPr/>
          </p:nvSpPr>
          <p:spPr>
            <a:xfrm>
              <a:off x="922041" y="18462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41"/>
            <p:cNvSpPr/>
            <p:nvPr/>
          </p:nvSpPr>
          <p:spPr>
            <a:xfrm>
              <a:off x="1464966" y="18462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5" name="Google Shape;785;p41"/>
          <p:cNvGrpSpPr/>
          <p:nvPr/>
        </p:nvGrpSpPr>
        <p:grpSpPr>
          <a:xfrm>
            <a:off x="922041" y="2379663"/>
            <a:ext cx="1036330" cy="407773"/>
            <a:chOff x="922041" y="2379663"/>
            <a:chExt cx="1036330" cy="407773"/>
          </a:xfrm>
        </p:grpSpPr>
        <p:sp>
          <p:nvSpPr>
            <p:cNvPr id="786" name="Google Shape;786;p41"/>
            <p:cNvSpPr/>
            <p:nvPr/>
          </p:nvSpPr>
          <p:spPr>
            <a:xfrm>
              <a:off x="922041" y="23796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41"/>
            <p:cNvSpPr/>
            <p:nvPr/>
          </p:nvSpPr>
          <p:spPr>
            <a:xfrm>
              <a:off x="1464966" y="23796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8" name="Google Shape;788;p41"/>
          <p:cNvGrpSpPr/>
          <p:nvPr/>
        </p:nvGrpSpPr>
        <p:grpSpPr>
          <a:xfrm>
            <a:off x="922041" y="2913063"/>
            <a:ext cx="1036330" cy="407773"/>
            <a:chOff x="922041" y="2913063"/>
            <a:chExt cx="1036330" cy="407773"/>
          </a:xfrm>
        </p:grpSpPr>
        <p:sp>
          <p:nvSpPr>
            <p:cNvPr id="789" name="Google Shape;789;p41"/>
            <p:cNvSpPr/>
            <p:nvPr/>
          </p:nvSpPr>
          <p:spPr>
            <a:xfrm>
              <a:off x="922041" y="29130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41"/>
            <p:cNvSpPr/>
            <p:nvPr/>
          </p:nvSpPr>
          <p:spPr>
            <a:xfrm>
              <a:off x="1464966" y="29130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1" name="Google Shape;791;p41"/>
          <p:cNvGrpSpPr/>
          <p:nvPr/>
        </p:nvGrpSpPr>
        <p:grpSpPr>
          <a:xfrm>
            <a:off x="922041" y="3446463"/>
            <a:ext cx="1036330" cy="407773"/>
            <a:chOff x="922041" y="3446463"/>
            <a:chExt cx="1036330" cy="407773"/>
          </a:xfrm>
        </p:grpSpPr>
        <p:sp>
          <p:nvSpPr>
            <p:cNvPr id="792" name="Google Shape;792;p41"/>
            <p:cNvSpPr/>
            <p:nvPr/>
          </p:nvSpPr>
          <p:spPr>
            <a:xfrm>
              <a:off x="922041" y="34464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41"/>
            <p:cNvSpPr/>
            <p:nvPr/>
          </p:nvSpPr>
          <p:spPr>
            <a:xfrm>
              <a:off x="1464966" y="34464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4" name="Google Shape;794;p41"/>
          <p:cNvGrpSpPr/>
          <p:nvPr/>
        </p:nvGrpSpPr>
        <p:grpSpPr>
          <a:xfrm>
            <a:off x="922041" y="3979863"/>
            <a:ext cx="1036330" cy="407773"/>
            <a:chOff x="922041" y="3979863"/>
            <a:chExt cx="1036330" cy="407773"/>
          </a:xfrm>
        </p:grpSpPr>
        <p:sp>
          <p:nvSpPr>
            <p:cNvPr id="795" name="Google Shape;795;p41"/>
            <p:cNvSpPr/>
            <p:nvPr/>
          </p:nvSpPr>
          <p:spPr>
            <a:xfrm>
              <a:off x="922041" y="39798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41"/>
            <p:cNvSpPr/>
            <p:nvPr/>
          </p:nvSpPr>
          <p:spPr>
            <a:xfrm>
              <a:off x="1464966" y="39798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7" name="Google Shape;797;p41"/>
          <p:cNvGrpSpPr/>
          <p:nvPr/>
        </p:nvGrpSpPr>
        <p:grpSpPr>
          <a:xfrm>
            <a:off x="922041" y="4513263"/>
            <a:ext cx="1036330" cy="407773"/>
            <a:chOff x="922041" y="4513263"/>
            <a:chExt cx="1036330" cy="407773"/>
          </a:xfrm>
        </p:grpSpPr>
        <p:sp>
          <p:nvSpPr>
            <p:cNvPr id="798" name="Google Shape;798;p41"/>
            <p:cNvSpPr/>
            <p:nvPr/>
          </p:nvSpPr>
          <p:spPr>
            <a:xfrm>
              <a:off x="922041" y="45132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41"/>
            <p:cNvSpPr/>
            <p:nvPr/>
          </p:nvSpPr>
          <p:spPr>
            <a:xfrm>
              <a:off x="1464966" y="45132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9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0" name="Google Shape;800;p41"/>
          <p:cNvGrpSpPr/>
          <p:nvPr/>
        </p:nvGrpSpPr>
        <p:grpSpPr>
          <a:xfrm>
            <a:off x="922041" y="5580063"/>
            <a:ext cx="1036330" cy="407773"/>
            <a:chOff x="922041" y="5580063"/>
            <a:chExt cx="1036330" cy="407773"/>
          </a:xfrm>
        </p:grpSpPr>
        <p:sp>
          <p:nvSpPr>
            <p:cNvPr id="801" name="Google Shape;801;p41"/>
            <p:cNvSpPr/>
            <p:nvPr/>
          </p:nvSpPr>
          <p:spPr>
            <a:xfrm>
              <a:off x="922041" y="55800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41"/>
            <p:cNvSpPr/>
            <p:nvPr/>
          </p:nvSpPr>
          <p:spPr>
            <a:xfrm>
              <a:off x="1464966" y="55800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3" name="Google Shape;803;p41"/>
          <p:cNvGrpSpPr/>
          <p:nvPr/>
        </p:nvGrpSpPr>
        <p:grpSpPr>
          <a:xfrm>
            <a:off x="922041" y="6113463"/>
            <a:ext cx="1036330" cy="407773"/>
            <a:chOff x="922041" y="6113463"/>
            <a:chExt cx="1036330" cy="407773"/>
          </a:xfrm>
        </p:grpSpPr>
        <p:sp>
          <p:nvSpPr>
            <p:cNvPr id="804" name="Google Shape;804;p41"/>
            <p:cNvSpPr/>
            <p:nvPr/>
          </p:nvSpPr>
          <p:spPr>
            <a:xfrm>
              <a:off x="922041" y="61134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41"/>
            <p:cNvSpPr/>
            <p:nvPr/>
          </p:nvSpPr>
          <p:spPr>
            <a:xfrm>
              <a:off x="1464966" y="61134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6" name="Google Shape;806;p41"/>
          <p:cNvGrpSpPr/>
          <p:nvPr/>
        </p:nvGrpSpPr>
        <p:grpSpPr>
          <a:xfrm>
            <a:off x="922041" y="5046663"/>
            <a:ext cx="1036330" cy="407773"/>
            <a:chOff x="922041" y="5046663"/>
            <a:chExt cx="1036330" cy="407773"/>
          </a:xfrm>
        </p:grpSpPr>
        <p:sp>
          <p:nvSpPr>
            <p:cNvPr id="807" name="Google Shape;807;p41"/>
            <p:cNvSpPr/>
            <p:nvPr/>
          </p:nvSpPr>
          <p:spPr>
            <a:xfrm>
              <a:off x="922041" y="50466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41"/>
            <p:cNvSpPr/>
            <p:nvPr/>
          </p:nvSpPr>
          <p:spPr>
            <a:xfrm>
              <a:off x="1464966" y="50466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9" name="Google Shape;809;p41"/>
          <p:cNvGrpSpPr/>
          <p:nvPr/>
        </p:nvGrpSpPr>
        <p:grpSpPr>
          <a:xfrm>
            <a:off x="3598181" y="3496577"/>
            <a:ext cx="1036330" cy="407773"/>
            <a:chOff x="922041" y="2379663"/>
            <a:chExt cx="1036330" cy="407773"/>
          </a:xfrm>
        </p:grpSpPr>
        <p:sp>
          <p:nvSpPr>
            <p:cNvPr id="810" name="Google Shape;810;p41"/>
            <p:cNvSpPr/>
            <p:nvPr/>
          </p:nvSpPr>
          <p:spPr>
            <a:xfrm>
              <a:off x="922041" y="23796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41"/>
            <p:cNvSpPr/>
            <p:nvPr/>
          </p:nvSpPr>
          <p:spPr>
            <a:xfrm>
              <a:off x="1464966" y="23796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2" name="Google Shape;812;p41"/>
          <p:cNvGrpSpPr/>
          <p:nvPr/>
        </p:nvGrpSpPr>
        <p:grpSpPr>
          <a:xfrm>
            <a:off x="3601516" y="5250549"/>
            <a:ext cx="1036330" cy="407773"/>
            <a:chOff x="922041" y="2913063"/>
            <a:chExt cx="1036330" cy="407773"/>
          </a:xfrm>
        </p:grpSpPr>
        <p:sp>
          <p:nvSpPr>
            <p:cNvPr id="813" name="Google Shape;813;p41"/>
            <p:cNvSpPr/>
            <p:nvPr/>
          </p:nvSpPr>
          <p:spPr>
            <a:xfrm>
              <a:off x="922041" y="29130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41"/>
            <p:cNvSpPr/>
            <p:nvPr/>
          </p:nvSpPr>
          <p:spPr>
            <a:xfrm>
              <a:off x="1464966" y="29130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5" name="Google Shape;815;p41"/>
          <p:cNvGrpSpPr/>
          <p:nvPr/>
        </p:nvGrpSpPr>
        <p:grpSpPr>
          <a:xfrm>
            <a:off x="3598181" y="3981850"/>
            <a:ext cx="1036330" cy="407773"/>
            <a:chOff x="922041" y="3979863"/>
            <a:chExt cx="1036330" cy="407773"/>
          </a:xfrm>
        </p:grpSpPr>
        <p:sp>
          <p:nvSpPr>
            <p:cNvPr id="816" name="Google Shape;816;p41"/>
            <p:cNvSpPr/>
            <p:nvPr/>
          </p:nvSpPr>
          <p:spPr>
            <a:xfrm>
              <a:off x="922041" y="39798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41"/>
            <p:cNvSpPr/>
            <p:nvPr/>
          </p:nvSpPr>
          <p:spPr>
            <a:xfrm>
              <a:off x="1464966" y="39798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8" name="Google Shape;818;p41"/>
          <p:cNvGrpSpPr/>
          <p:nvPr/>
        </p:nvGrpSpPr>
        <p:grpSpPr>
          <a:xfrm>
            <a:off x="3598181" y="5718204"/>
            <a:ext cx="1036330" cy="407773"/>
            <a:chOff x="922041" y="4513263"/>
            <a:chExt cx="1036330" cy="407773"/>
          </a:xfrm>
        </p:grpSpPr>
        <p:sp>
          <p:nvSpPr>
            <p:cNvPr id="819" name="Google Shape;819;p41"/>
            <p:cNvSpPr/>
            <p:nvPr/>
          </p:nvSpPr>
          <p:spPr>
            <a:xfrm>
              <a:off x="922041" y="45132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41"/>
            <p:cNvSpPr/>
            <p:nvPr/>
          </p:nvSpPr>
          <p:spPr>
            <a:xfrm>
              <a:off x="1464966" y="45132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9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1" name="Google Shape;821;p41"/>
          <p:cNvGrpSpPr/>
          <p:nvPr/>
        </p:nvGrpSpPr>
        <p:grpSpPr>
          <a:xfrm>
            <a:off x="3598181" y="4467123"/>
            <a:ext cx="1036330" cy="407773"/>
            <a:chOff x="922041" y="5580063"/>
            <a:chExt cx="1036330" cy="407773"/>
          </a:xfrm>
        </p:grpSpPr>
        <p:sp>
          <p:nvSpPr>
            <p:cNvPr id="822" name="Google Shape;822;p41"/>
            <p:cNvSpPr/>
            <p:nvPr/>
          </p:nvSpPr>
          <p:spPr>
            <a:xfrm>
              <a:off x="922041" y="55800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41"/>
            <p:cNvSpPr/>
            <p:nvPr/>
          </p:nvSpPr>
          <p:spPr>
            <a:xfrm>
              <a:off x="1464966" y="55800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4" name="Google Shape;824;p41"/>
          <p:cNvGrpSpPr/>
          <p:nvPr/>
        </p:nvGrpSpPr>
        <p:grpSpPr>
          <a:xfrm>
            <a:off x="3598181" y="6191722"/>
            <a:ext cx="1036330" cy="407773"/>
            <a:chOff x="922041" y="6113463"/>
            <a:chExt cx="1036330" cy="407773"/>
          </a:xfrm>
        </p:grpSpPr>
        <p:sp>
          <p:nvSpPr>
            <p:cNvPr id="825" name="Google Shape;825;p41"/>
            <p:cNvSpPr/>
            <p:nvPr/>
          </p:nvSpPr>
          <p:spPr>
            <a:xfrm>
              <a:off x="922041" y="61134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41"/>
            <p:cNvSpPr/>
            <p:nvPr/>
          </p:nvSpPr>
          <p:spPr>
            <a:xfrm>
              <a:off x="1464966" y="61134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27" name="Google Shape;827;p41"/>
          <p:cNvCxnSpPr/>
          <p:nvPr/>
        </p:nvCxnSpPr>
        <p:spPr>
          <a:xfrm>
            <a:off x="2222180" y="3973515"/>
            <a:ext cx="1109599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28" name="Google Shape;828;p41"/>
          <p:cNvSpPr txBox="1"/>
          <p:nvPr/>
        </p:nvSpPr>
        <p:spPr>
          <a:xfrm>
            <a:off x="2222180" y="3650349"/>
            <a:ext cx="11095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Split into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Groups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41"/>
          <p:cNvSpPr txBox="1"/>
          <p:nvPr/>
        </p:nvSpPr>
        <p:spPr>
          <a:xfrm>
            <a:off x="4902547" y="2141105"/>
            <a:ext cx="142859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Aggregate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Function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0" name="Google Shape;830;p41"/>
          <p:cNvCxnSpPr/>
          <p:nvPr/>
        </p:nvCxnSpPr>
        <p:spPr>
          <a:xfrm>
            <a:off x="4902547" y="2464271"/>
            <a:ext cx="1428596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31" name="Google Shape;831;p41"/>
          <p:cNvSpPr txBox="1"/>
          <p:nvPr/>
        </p:nvSpPr>
        <p:spPr>
          <a:xfrm>
            <a:off x="4902547" y="3854236"/>
            <a:ext cx="142859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Aggregate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Function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2" name="Google Shape;832;p41"/>
          <p:cNvCxnSpPr/>
          <p:nvPr/>
        </p:nvCxnSpPr>
        <p:spPr>
          <a:xfrm>
            <a:off x="4902547" y="4177402"/>
            <a:ext cx="1428596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33" name="Google Shape;833;p41"/>
          <p:cNvSpPr txBox="1"/>
          <p:nvPr/>
        </p:nvSpPr>
        <p:spPr>
          <a:xfrm>
            <a:off x="4942817" y="5613772"/>
            <a:ext cx="142859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Aggregate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Function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4" name="Google Shape;834;p41"/>
          <p:cNvCxnSpPr/>
          <p:nvPr/>
        </p:nvCxnSpPr>
        <p:spPr>
          <a:xfrm>
            <a:off x="4942817" y="5936938"/>
            <a:ext cx="1428596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835" name="Google Shape;835;p41"/>
          <p:cNvGrpSpPr/>
          <p:nvPr/>
        </p:nvGrpSpPr>
        <p:grpSpPr>
          <a:xfrm>
            <a:off x="6599179" y="2211406"/>
            <a:ext cx="1199792" cy="407773"/>
            <a:chOff x="931566" y="1442351"/>
            <a:chExt cx="1199792" cy="407773"/>
          </a:xfrm>
        </p:grpSpPr>
        <p:sp>
          <p:nvSpPr>
            <p:cNvPr id="836" name="Google Shape;836;p41"/>
            <p:cNvSpPr/>
            <p:nvPr/>
          </p:nvSpPr>
          <p:spPr>
            <a:xfrm>
              <a:off x="931566" y="1442351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41"/>
            <p:cNvSpPr/>
            <p:nvPr/>
          </p:nvSpPr>
          <p:spPr>
            <a:xfrm>
              <a:off x="1474491" y="1442351"/>
              <a:ext cx="656867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8" name="Google Shape;838;p41"/>
          <p:cNvGrpSpPr/>
          <p:nvPr/>
        </p:nvGrpSpPr>
        <p:grpSpPr>
          <a:xfrm>
            <a:off x="6599179" y="3888907"/>
            <a:ext cx="1199792" cy="407773"/>
            <a:chOff x="931566" y="1442351"/>
            <a:chExt cx="1199792" cy="407773"/>
          </a:xfrm>
        </p:grpSpPr>
        <p:sp>
          <p:nvSpPr>
            <p:cNvPr id="839" name="Google Shape;839;p41"/>
            <p:cNvSpPr/>
            <p:nvPr/>
          </p:nvSpPr>
          <p:spPr>
            <a:xfrm>
              <a:off x="931566" y="1442351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41"/>
            <p:cNvSpPr/>
            <p:nvPr/>
          </p:nvSpPr>
          <p:spPr>
            <a:xfrm>
              <a:off x="1474491" y="1442351"/>
              <a:ext cx="656867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12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1" name="Google Shape;841;p41"/>
          <p:cNvGrpSpPr/>
          <p:nvPr/>
        </p:nvGrpSpPr>
        <p:grpSpPr>
          <a:xfrm>
            <a:off x="6599179" y="5733837"/>
            <a:ext cx="1199792" cy="407773"/>
            <a:chOff x="931566" y="1442351"/>
            <a:chExt cx="1199792" cy="407773"/>
          </a:xfrm>
        </p:grpSpPr>
        <p:sp>
          <p:nvSpPr>
            <p:cNvPr id="842" name="Google Shape;842;p41"/>
            <p:cNvSpPr/>
            <p:nvPr/>
          </p:nvSpPr>
          <p:spPr>
            <a:xfrm>
              <a:off x="931566" y="1442351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41"/>
            <p:cNvSpPr/>
            <p:nvPr/>
          </p:nvSpPr>
          <p:spPr>
            <a:xfrm>
              <a:off x="1474491" y="1442351"/>
              <a:ext cx="656867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18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4" name="Google Shape;844;p41"/>
          <p:cNvGrpSpPr/>
          <p:nvPr/>
        </p:nvGrpSpPr>
        <p:grpSpPr>
          <a:xfrm>
            <a:off x="6599179" y="2211406"/>
            <a:ext cx="1199792" cy="407773"/>
            <a:chOff x="931566" y="1442351"/>
            <a:chExt cx="1199792" cy="407773"/>
          </a:xfrm>
        </p:grpSpPr>
        <p:sp>
          <p:nvSpPr>
            <p:cNvPr id="845" name="Google Shape;845;p41"/>
            <p:cNvSpPr/>
            <p:nvPr/>
          </p:nvSpPr>
          <p:spPr>
            <a:xfrm>
              <a:off x="931566" y="1442351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41"/>
            <p:cNvSpPr/>
            <p:nvPr/>
          </p:nvSpPr>
          <p:spPr>
            <a:xfrm>
              <a:off x="1474491" y="1442351"/>
              <a:ext cx="656867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7" name="Google Shape;847;p41"/>
          <p:cNvGrpSpPr/>
          <p:nvPr/>
        </p:nvGrpSpPr>
        <p:grpSpPr>
          <a:xfrm>
            <a:off x="6599179" y="3888907"/>
            <a:ext cx="1199792" cy="407773"/>
            <a:chOff x="931566" y="1442351"/>
            <a:chExt cx="1199792" cy="407773"/>
          </a:xfrm>
        </p:grpSpPr>
        <p:sp>
          <p:nvSpPr>
            <p:cNvPr id="848" name="Google Shape;848;p41"/>
            <p:cNvSpPr/>
            <p:nvPr/>
          </p:nvSpPr>
          <p:spPr>
            <a:xfrm>
              <a:off x="931566" y="1442351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41"/>
            <p:cNvSpPr/>
            <p:nvPr/>
          </p:nvSpPr>
          <p:spPr>
            <a:xfrm>
              <a:off x="1474491" y="1442351"/>
              <a:ext cx="656867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12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0" name="Google Shape;850;p41"/>
          <p:cNvGrpSpPr/>
          <p:nvPr/>
        </p:nvGrpSpPr>
        <p:grpSpPr>
          <a:xfrm>
            <a:off x="6599179" y="5733837"/>
            <a:ext cx="1199792" cy="407773"/>
            <a:chOff x="931566" y="1442351"/>
            <a:chExt cx="1199792" cy="407773"/>
          </a:xfrm>
        </p:grpSpPr>
        <p:sp>
          <p:nvSpPr>
            <p:cNvPr id="851" name="Google Shape;851;p41"/>
            <p:cNvSpPr/>
            <p:nvPr/>
          </p:nvSpPr>
          <p:spPr>
            <a:xfrm>
              <a:off x="931566" y="1442351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41"/>
            <p:cNvSpPr/>
            <p:nvPr/>
          </p:nvSpPr>
          <p:spPr>
            <a:xfrm>
              <a:off x="1474491" y="1442351"/>
              <a:ext cx="656867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18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40"/>
          <p:cNvSpPr txBox="1">
            <a:spLocks noGrp="1"/>
          </p:cNvSpPr>
          <p:nvPr>
            <p:ph type="title"/>
          </p:nvPr>
        </p:nvSpPr>
        <p:spPr>
          <a:xfrm>
            <a:off x="861691" y="-16998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MANIPULATING GRANULARITY: GROUP BY</a:t>
            </a:r>
            <a:endParaRPr/>
          </a:p>
        </p:txBody>
      </p:sp>
      <p:sp>
        <p:nvSpPr>
          <p:cNvPr id="704" name="Google Shape;704;p40"/>
          <p:cNvSpPr txBox="1"/>
          <p:nvPr/>
        </p:nvSpPr>
        <p:spPr>
          <a:xfrm>
            <a:off x="820411" y="1414118"/>
            <a:ext cx="59503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Key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40"/>
          <p:cNvSpPr txBox="1"/>
          <p:nvPr/>
        </p:nvSpPr>
        <p:spPr>
          <a:xfrm>
            <a:off x="1348771" y="1414118"/>
            <a:ext cx="7489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6" name="Google Shape;706;p40"/>
          <p:cNvGrpSpPr/>
          <p:nvPr/>
        </p:nvGrpSpPr>
        <p:grpSpPr>
          <a:xfrm>
            <a:off x="3598181" y="1753929"/>
            <a:ext cx="1036330" cy="407773"/>
            <a:chOff x="931566" y="1442351"/>
            <a:chExt cx="1036330" cy="407773"/>
          </a:xfrm>
        </p:grpSpPr>
        <p:sp>
          <p:nvSpPr>
            <p:cNvPr id="707" name="Google Shape;707;p40"/>
            <p:cNvSpPr/>
            <p:nvPr/>
          </p:nvSpPr>
          <p:spPr>
            <a:xfrm>
              <a:off x="931566" y="1442351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40"/>
            <p:cNvSpPr/>
            <p:nvPr/>
          </p:nvSpPr>
          <p:spPr>
            <a:xfrm>
              <a:off x="1474491" y="1442351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9" name="Google Shape;709;p40"/>
          <p:cNvGrpSpPr/>
          <p:nvPr/>
        </p:nvGrpSpPr>
        <p:grpSpPr>
          <a:xfrm>
            <a:off x="3598181" y="2233540"/>
            <a:ext cx="1036330" cy="407773"/>
            <a:chOff x="931566" y="3042551"/>
            <a:chExt cx="1036330" cy="407773"/>
          </a:xfrm>
        </p:grpSpPr>
        <p:sp>
          <p:nvSpPr>
            <p:cNvPr id="710" name="Google Shape;710;p40"/>
            <p:cNvSpPr/>
            <p:nvPr/>
          </p:nvSpPr>
          <p:spPr>
            <a:xfrm>
              <a:off x="931566" y="3042551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40"/>
            <p:cNvSpPr/>
            <p:nvPr/>
          </p:nvSpPr>
          <p:spPr>
            <a:xfrm>
              <a:off x="1474491" y="3042551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2" name="Google Shape;712;p40"/>
          <p:cNvGrpSpPr/>
          <p:nvPr/>
        </p:nvGrpSpPr>
        <p:grpSpPr>
          <a:xfrm>
            <a:off x="3598181" y="2713151"/>
            <a:ext cx="1036330" cy="407773"/>
            <a:chOff x="931566" y="3042551"/>
            <a:chExt cx="1036330" cy="407773"/>
          </a:xfrm>
        </p:grpSpPr>
        <p:sp>
          <p:nvSpPr>
            <p:cNvPr id="713" name="Google Shape;713;p40"/>
            <p:cNvSpPr/>
            <p:nvPr/>
          </p:nvSpPr>
          <p:spPr>
            <a:xfrm>
              <a:off x="931566" y="3042551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40"/>
            <p:cNvSpPr/>
            <p:nvPr/>
          </p:nvSpPr>
          <p:spPr>
            <a:xfrm>
              <a:off x="1474491" y="3042551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5" name="Google Shape;715;p40"/>
          <p:cNvGrpSpPr/>
          <p:nvPr/>
        </p:nvGrpSpPr>
        <p:grpSpPr>
          <a:xfrm>
            <a:off x="922041" y="1846263"/>
            <a:ext cx="1036330" cy="407773"/>
            <a:chOff x="922041" y="1846263"/>
            <a:chExt cx="1036330" cy="407773"/>
          </a:xfrm>
        </p:grpSpPr>
        <p:sp>
          <p:nvSpPr>
            <p:cNvPr id="716" name="Google Shape;716;p40"/>
            <p:cNvSpPr/>
            <p:nvPr/>
          </p:nvSpPr>
          <p:spPr>
            <a:xfrm>
              <a:off x="922041" y="18462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40"/>
            <p:cNvSpPr/>
            <p:nvPr/>
          </p:nvSpPr>
          <p:spPr>
            <a:xfrm>
              <a:off x="1464966" y="18462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8" name="Google Shape;718;p40"/>
          <p:cNvGrpSpPr/>
          <p:nvPr/>
        </p:nvGrpSpPr>
        <p:grpSpPr>
          <a:xfrm>
            <a:off x="922041" y="2379663"/>
            <a:ext cx="1036330" cy="407773"/>
            <a:chOff x="922041" y="2379663"/>
            <a:chExt cx="1036330" cy="407773"/>
          </a:xfrm>
        </p:grpSpPr>
        <p:sp>
          <p:nvSpPr>
            <p:cNvPr id="719" name="Google Shape;719;p40"/>
            <p:cNvSpPr/>
            <p:nvPr/>
          </p:nvSpPr>
          <p:spPr>
            <a:xfrm>
              <a:off x="922041" y="23796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40"/>
            <p:cNvSpPr/>
            <p:nvPr/>
          </p:nvSpPr>
          <p:spPr>
            <a:xfrm>
              <a:off x="1464966" y="23796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1" name="Google Shape;721;p40"/>
          <p:cNvGrpSpPr/>
          <p:nvPr/>
        </p:nvGrpSpPr>
        <p:grpSpPr>
          <a:xfrm>
            <a:off x="922041" y="2913063"/>
            <a:ext cx="1036330" cy="407773"/>
            <a:chOff x="922041" y="2913063"/>
            <a:chExt cx="1036330" cy="407773"/>
          </a:xfrm>
        </p:grpSpPr>
        <p:sp>
          <p:nvSpPr>
            <p:cNvPr id="722" name="Google Shape;722;p40"/>
            <p:cNvSpPr/>
            <p:nvPr/>
          </p:nvSpPr>
          <p:spPr>
            <a:xfrm>
              <a:off x="922041" y="29130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40"/>
            <p:cNvSpPr/>
            <p:nvPr/>
          </p:nvSpPr>
          <p:spPr>
            <a:xfrm>
              <a:off x="1464966" y="29130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4" name="Google Shape;724;p40"/>
          <p:cNvGrpSpPr/>
          <p:nvPr/>
        </p:nvGrpSpPr>
        <p:grpSpPr>
          <a:xfrm>
            <a:off x="922041" y="3446463"/>
            <a:ext cx="1036330" cy="407773"/>
            <a:chOff x="922041" y="3446463"/>
            <a:chExt cx="1036330" cy="407773"/>
          </a:xfrm>
        </p:grpSpPr>
        <p:sp>
          <p:nvSpPr>
            <p:cNvPr id="725" name="Google Shape;725;p40"/>
            <p:cNvSpPr/>
            <p:nvPr/>
          </p:nvSpPr>
          <p:spPr>
            <a:xfrm>
              <a:off x="922041" y="34464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40"/>
            <p:cNvSpPr/>
            <p:nvPr/>
          </p:nvSpPr>
          <p:spPr>
            <a:xfrm>
              <a:off x="1464966" y="34464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7" name="Google Shape;727;p40"/>
          <p:cNvGrpSpPr/>
          <p:nvPr/>
        </p:nvGrpSpPr>
        <p:grpSpPr>
          <a:xfrm>
            <a:off x="922041" y="3979863"/>
            <a:ext cx="1036330" cy="407773"/>
            <a:chOff x="922041" y="3979863"/>
            <a:chExt cx="1036330" cy="407773"/>
          </a:xfrm>
        </p:grpSpPr>
        <p:sp>
          <p:nvSpPr>
            <p:cNvPr id="728" name="Google Shape;728;p40"/>
            <p:cNvSpPr/>
            <p:nvPr/>
          </p:nvSpPr>
          <p:spPr>
            <a:xfrm>
              <a:off x="922041" y="39798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40"/>
            <p:cNvSpPr/>
            <p:nvPr/>
          </p:nvSpPr>
          <p:spPr>
            <a:xfrm>
              <a:off x="1464966" y="39798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0" name="Google Shape;730;p40"/>
          <p:cNvGrpSpPr/>
          <p:nvPr/>
        </p:nvGrpSpPr>
        <p:grpSpPr>
          <a:xfrm>
            <a:off x="922041" y="4513263"/>
            <a:ext cx="1036330" cy="407773"/>
            <a:chOff x="922041" y="4513263"/>
            <a:chExt cx="1036330" cy="407773"/>
          </a:xfrm>
        </p:grpSpPr>
        <p:sp>
          <p:nvSpPr>
            <p:cNvPr id="731" name="Google Shape;731;p40"/>
            <p:cNvSpPr/>
            <p:nvPr/>
          </p:nvSpPr>
          <p:spPr>
            <a:xfrm>
              <a:off x="922041" y="45132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40"/>
            <p:cNvSpPr/>
            <p:nvPr/>
          </p:nvSpPr>
          <p:spPr>
            <a:xfrm>
              <a:off x="1464966" y="45132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9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3" name="Google Shape;733;p40"/>
          <p:cNvGrpSpPr/>
          <p:nvPr/>
        </p:nvGrpSpPr>
        <p:grpSpPr>
          <a:xfrm>
            <a:off x="922041" y="5580063"/>
            <a:ext cx="1036330" cy="407773"/>
            <a:chOff x="922041" y="5580063"/>
            <a:chExt cx="1036330" cy="407773"/>
          </a:xfrm>
        </p:grpSpPr>
        <p:sp>
          <p:nvSpPr>
            <p:cNvPr id="734" name="Google Shape;734;p40"/>
            <p:cNvSpPr/>
            <p:nvPr/>
          </p:nvSpPr>
          <p:spPr>
            <a:xfrm>
              <a:off x="922041" y="55800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40"/>
            <p:cNvSpPr/>
            <p:nvPr/>
          </p:nvSpPr>
          <p:spPr>
            <a:xfrm>
              <a:off x="1464966" y="55800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6" name="Google Shape;736;p40"/>
          <p:cNvGrpSpPr/>
          <p:nvPr/>
        </p:nvGrpSpPr>
        <p:grpSpPr>
          <a:xfrm>
            <a:off x="922041" y="6113463"/>
            <a:ext cx="1036330" cy="407773"/>
            <a:chOff x="922041" y="6113463"/>
            <a:chExt cx="1036330" cy="407773"/>
          </a:xfrm>
        </p:grpSpPr>
        <p:sp>
          <p:nvSpPr>
            <p:cNvPr id="737" name="Google Shape;737;p40"/>
            <p:cNvSpPr/>
            <p:nvPr/>
          </p:nvSpPr>
          <p:spPr>
            <a:xfrm>
              <a:off x="922041" y="61134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40"/>
            <p:cNvSpPr/>
            <p:nvPr/>
          </p:nvSpPr>
          <p:spPr>
            <a:xfrm>
              <a:off x="1464966" y="61134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9" name="Google Shape;739;p40"/>
          <p:cNvGrpSpPr/>
          <p:nvPr/>
        </p:nvGrpSpPr>
        <p:grpSpPr>
          <a:xfrm>
            <a:off x="922041" y="5046663"/>
            <a:ext cx="1036330" cy="407773"/>
            <a:chOff x="922041" y="5046663"/>
            <a:chExt cx="1036330" cy="407773"/>
          </a:xfrm>
        </p:grpSpPr>
        <p:sp>
          <p:nvSpPr>
            <p:cNvPr id="740" name="Google Shape;740;p40"/>
            <p:cNvSpPr/>
            <p:nvPr/>
          </p:nvSpPr>
          <p:spPr>
            <a:xfrm>
              <a:off x="922041" y="50466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40"/>
            <p:cNvSpPr/>
            <p:nvPr/>
          </p:nvSpPr>
          <p:spPr>
            <a:xfrm>
              <a:off x="1464966" y="50466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2" name="Google Shape;742;p40"/>
          <p:cNvGrpSpPr/>
          <p:nvPr/>
        </p:nvGrpSpPr>
        <p:grpSpPr>
          <a:xfrm>
            <a:off x="3598181" y="3496577"/>
            <a:ext cx="1036330" cy="407773"/>
            <a:chOff x="922041" y="2379663"/>
            <a:chExt cx="1036330" cy="407773"/>
          </a:xfrm>
        </p:grpSpPr>
        <p:sp>
          <p:nvSpPr>
            <p:cNvPr id="743" name="Google Shape;743;p40"/>
            <p:cNvSpPr/>
            <p:nvPr/>
          </p:nvSpPr>
          <p:spPr>
            <a:xfrm>
              <a:off x="922041" y="23796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40"/>
            <p:cNvSpPr/>
            <p:nvPr/>
          </p:nvSpPr>
          <p:spPr>
            <a:xfrm>
              <a:off x="1464966" y="23796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5" name="Google Shape;745;p40"/>
          <p:cNvGrpSpPr/>
          <p:nvPr/>
        </p:nvGrpSpPr>
        <p:grpSpPr>
          <a:xfrm>
            <a:off x="3601516" y="5250549"/>
            <a:ext cx="1036330" cy="407773"/>
            <a:chOff x="922041" y="2913063"/>
            <a:chExt cx="1036330" cy="407773"/>
          </a:xfrm>
        </p:grpSpPr>
        <p:sp>
          <p:nvSpPr>
            <p:cNvPr id="746" name="Google Shape;746;p40"/>
            <p:cNvSpPr/>
            <p:nvPr/>
          </p:nvSpPr>
          <p:spPr>
            <a:xfrm>
              <a:off x="922041" y="29130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40"/>
            <p:cNvSpPr/>
            <p:nvPr/>
          </p:nvSpPr>
          <p:spPr>
            <a:xfrm>
              <a:off x="1464966" y="29130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8" name="Google Shape;748;p40"/>
          <p:cNvGrpSpPr/>
          <p:nvPr/>
        </p:nvGrpSpPr>
        <p:grpSpPr>
          <a:xfrm>
            <a:off x="3598181" y="3981850"/>
            <a:ext cx="1036330" cy="407773"/>
            <a:chOff x="922041" y="3979863"/>
            <a:chExt cx="1036330" cy="407773"/>
          </a:xfrm>
        </p:grpSpPr>
        <p:sp>
          <p:nvSpPr>
            <p:cNvPr id="749" name="Google Shape;749;p40"/>
            <p:cNvSpPr/>
            <p:nvPr/>
          </p:nvSpPr>
          <p:spPr>
            <a:xfrm>
              <a:off x="922041" y="39798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40"/>
            <p:cNvSpPr/>
            <p:nvPr/>
          </p:nvSpPr>
          <p:spPr>
            <a:xfrm>
              <a:off x="1464966" y="39798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1" name="Google Shape;751;p40"/>
          <p:cNvGrpSpPr/>
          <p:nvPr/>
        </p:nvGrpSpPr>
        <p:grpSpPr>
          <a:xfrm>
            <a:off x="3598181" y="5718204"/>
            <a:ext cx="1036330" cy="407773"/>
            <a:chOff x="922041" y="4513263"/>
            <a:chExt cx="1036330" cy="407773"/>
          </a:xfrm>
        </p:grpSpPr>
        <p:sp>
          <p:nvSpPr>
            <p:cNvPr id="752" name="Google Shape;752;p40"/>
            <p:cNvSpPr/>
            <p:nvPr/>
          </p:nvSpPr>
          <p:spPr>
            <a:xfrm>
              <a:off x="922041" y="45132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40"/>
            <p:cNvSpPr/>
            <p:nvPr/>
          </p:nvSpPr>
          <p:spPr>
            <a:xfrm>
              <a:off x="1464966" y="45132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9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4" name="Google Shape;754;p40"/>
          <p:cNvGrpSpPr/>
          <p:nvPr/>
        </p:nvGrpSpPr>
        <p:grpSpPr>
          <a:xfrm>
            <a:off x="3598181" y="4467123"/>
            <a:ext cx="1036330" cy="407773"/>
            <a:chOff x="922041" y="5580063"/>
            <a:chExt cx="1036330" cy="407773"/>
          </a:xfrm>
        </p:grpSpPr>
        <p:sp>
          <p:nvSpPr>
            <p:cNvPr id="755" name="Google Shape;755;p40"/>
            <p:cNvSpPr/>
            <p:nvPr/>
          </p:nvSpPr>
          <p:spPr>
            <a:xfrm>
              <a:off x="922041" y="55800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40"/>
            <p:cNvSpPr/>
            <p:nvPr/>
          </p:nvSpPr>
          <p:spPr>
            <a:xfrm>
              <a:off x="1464966" y="55800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7" name="Google Shape;757;p40"/>
          <p:cNvGrpSpPr/>
          <p:nvPr/>
        </p:nvGrpSpPr>
        <p:grpSpPr>
          <a:xfrm>
            <a:off x="3598181" y="6191722"/>
            <a:ext cx="1036330" cy="407773"/>
            <a:chOff x="922041" y="6113463"/>
            <a:chExt cx="1036330" cy="407773"/>
          </a:xfrm>
        </p:grpSpPr>
        <p:sp>
          <p:nvSpPr>
            <p:cNvPr id="758" name="Google Shape;758;p40"/>
            <p:cNvSpPr/>
            <p:nvPr/>
          </p:nvSpPr>
          <p:spPr>
            <a:xfrm>
              <a:off x="922041" y="61134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40"/>
            <p:cNvSpPr/>
            <p:nvPr/>
          </p:nvSpPr>
          <p:spPr>
            <a:xfrm>
              <a:off x="1464966" y="61134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60" name="Google Shape;760;p40"/>
          <p:cNvCxnSpPr/>
          <p:nvPr/>
        </p:nvCxnSpPr>
        <p:spPr>
          <a:xfrm>
            <a:off x="2222180" y="3973515"/>
            <a:ext cx="1109599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61" name="Google Shape;761;p40"/>
          <p:cNvSpPr txBox="1"/>
          <p:nvPr/>
        </p:nvSpPr>
        <p:spPr>
          <a:xfrm>
            <a:off x="2222180" y="3650349"/>
            <a:ext cx="11095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Split into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Groups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40"/>
          <p:cNvSpPr txBox="1"/>
          <p:nvPr/>
        </p:nvSpPr>
        <p:spPr>
          <a:xfrm>
            <a:off x="6694922" y="3221019"/>
            <a:ext cx="2582278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Python (with </a:t>
            </a:r>
            <a:r>
              <a:rPr lang="en-US" sz="1600" b="1" i="0" u="none" strike="noStrike" cap="none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pandas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600" b="1" i="0" u="none" strike="noStrike" cap="none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64" name="Google Shape;764;p40"/>
          <p:cNvGraphicFramePr/>
          <p:nvPr>
            <p:extLst>
              <p:ext uri="{D42A27DB-BD31-4B8C-83A1-F6EECF244321}">
                <p14:modId xmlns:p14="http://schemas.microsoft.com/office/powerpoint/2010/main" val="1375164399"/>
              </p:ext>
            </p:extLst>
          </p:nvPr>
        </p:nvGraphicFramePr>
        <p:xfrm>
          <a:off x="6694922" y="1514692"/>
          <a:ext cx="4520925" cy="147832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50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6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6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sng" strike="noStrike" cap="none" dirty="0" err="1"/>
                        <a:t>OrderNum</a:t>
                      </a:r>
                      <a:endParaRPr sz="1800" u="sng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sng" strike="noStrike" cap="none"/>
                        <a:t>ProdID</a:t>
                      </a:r>
                      <a:endParaRPr sz="1800" u="sng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Quantity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42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999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42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1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65" name="Google Shape;765;p40"/>
          <p:cNvSpPr txBox="1"/>
          <p:nvPr/>
        </p:nvSpPr>
        <p:spPr>
          <a:xfrm>
            <a:off x="6644464" y="1119140"/>
            <a:ext cx="118974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Example: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DCBEE-E077-A3D4-EA41-25AD329465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720"/>
          <a:stretch/>
        </p:blipFill>
        <p:spPr>
          <a:xfrm>
            <a:off x="5313266" y="3757646"/>
            <a:ext cx="5956693" cy="21531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42"/>
          <p:cNvSpPr txBox="1">
            <a:spLocks noGrp="1"/>
          </p:cNvSpPr>
          <p:nvPr>
            <p:ph type="title"/>
          </p:nvPr>
        </p:nvSpPr>
        <p:spPr>
          <a:xfrm>
            <a:off x="820411" y="-1639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MANIPULATING GRANULARITY: GROUP BY</a:t>
            </a:r>
            <a:endParaRPr/>
          </a:p>
        </p:txBody>
      </p:sp>
      <p:sp>
        <p:nvSpPr>
          <p:cNvPr id="858" name="Google Shape;858;p42"/>
          <p:cNvSpPr txBox="1"/>
          <p:nvPr/>
        </p:nvSpPr>
        <p:spPr>
          <a:xfrm>
            <a:off x="820411" y="1414118"/>
            <a:ext cx="59503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Key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42"/>
          <p:cNvSpPr txBox="1"/>
          <p:nvPr/>
        </p:nvSpPr>
        <p:spPr>
          <a:xfrm>
            <a:off x="1348771" y="1414118"/>
            <a:ext cx="7489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0" name="Google Shape;860;p42"/>
          <p:cNvGrpSpPr/>
          <p:nvPr/>
        </p:nvGrpSpPr>
        <p:grpSpPr>
          <a:xfrm>
            <a:off x="3598181" y="1753929"/>
            <a:ext cx="1036330" cy="407773"/>
            <a:chOff x="931566" y="1442351"/>
            <a:chExt cx="1036330" cy="407773"/>
          </a:xfrm>
        </p:grpSpPr>
        <p:sp>
          <p:nvSpPr>
            <p:cNvPr id="861" name="Google Shape;861;p42"/>
            <p:cNvSpPr/>
            <p:nvPr/>
          </p:nvSpPr>
          <p:spPr>
            <a:xfrm>
              <a:off x="931566" y="1442351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42"/>
            <p:cNvSpPr/>
            <p:nvPr/>
          </p:nvSpPr>
          <p:spPr>
            <a:xfrm>
              <a:off x="1474491" y="1442351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3" name="Google Shape;863;p42"/>
          <p:cNvGrpSpPr/>
          <p:nvPr/>
        </p:nvGrpSpPr>
        <p:grpSpPr>
          <a:xfrm>
            <a:off x="3598181" y="2233540"/>
            <a:ext cx="1036330" cy="407773"/>
            <a:chOff x="931566" y="3042551"/>
            <a:chExt cx="1036330" cy="407773"/>
          </a:xfrm>
        </p:grpSpPr>
        <p:sp>
          <p:nvSpPr>
            <p:cNvPr id="864" name="Google Shape;864;p42"/>
            <p:cNvSpPr/>
            <p:nvPr/>
          </p:nvSpPr>
          <p:spPr>
            <a:xfrm>
              <a:off x="931566" y="3042551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42"/>
            <p:cNvSpPr/>
            <p:nvPr/>
          </p:nvSpPr>
          <p:spPr>
            <a:xfrm>
              <a:off x="1474491" y="3042551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6" name="Google Shape;866;p42"/>
          <p:cNvGrpSpPr/>
          <p:nvPr/>
        </p:nvGrpSpPr>
        <p:grpSpPr>
          <a:xfrm>
            <a:off x="3598181" y="2713151"/>
            <a:ext cx="1036330" cy="407773"/>
            <a:chOff x="931566" y="3042551"/>
            <a:chExt cx="1036330" cy="407773"/>
          </a:xfrm>
        </p:grpSpPr>
        <p:sp>
          <p:nvSpPr>
            <p:cNvPr id="867" name="Google Shape;867;p42"/>
            <p:cNvSpPr/>
            <p:nvPr/>
          </p:nvSpPr>
          <p:spPr>
            <a:xfrm>
              <a:off x="931566" y="3042551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42"/>
            <p:cNvSpPr/>
            <p:nvPr/>
          </p:nvSpPr>
          <p:spPr>
            <a:xfrm>
              <a:off x="1474491" y="3042551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9" name="Google Shape;869;p42"/>
          <p:cNvGrpSpPr/>
          <p:nvPr/>
        </p:nvGrpSpPr>
        <p:grpSpPr>
          <a:xfrm>
            <a:off x="922041" y="1846263"/>
            <a:ext cx="1036330" cy="407773"/>
            <a:chOff x="922041" y="1846263"/>
            <a:chExt cx="1036330" cy="407773"/>
          </a:xfrm>
        </p:grpSpPr>
        <p:sp>
          <p:nvSpPr>
            <p:cNvPr id="870" name="Google Shape;870;p42"/>
            <p:cNvSpPr/>
            <p:nvPr/>
          </p:nvSpPr>
          <p:spPr>
            <a:xfrm>
              <a:off x="922041" y="18462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42"/>
            <p:cNvSpPr/>
            <p:nvPr/>
          </p:nvSpPr>
          <p:spPr>
            <a:xfrm>
              <a:off x="1464966" y="18462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2" name="Google Shape;872;p42"/>
          <p:cNvGrpSpPr/>
          <p:nvPr/>
        </p:nvGrpSpPr>
        <p:grpSpPr>
          <a:xfrm>
            <a:off x="922041" y="2379663"/>
            <a:ext cx="1036330" cy="407773"/>
            <a:chOff x="922041" y="2379663"/>
            <a:chExt cx="1036330" cy="407773"/>
          </a:xfrm>
        </p:grpSpPr>
        <p:sp>
          <p:nvSpPr>
            <p:cNvPr id="873" name="Google Shape;873;p42"/>
            <p:cNvSpPr/>
            <p:nvPr/>
          </p:nvSpPr>
          <p:spPr>
            <a:xfrm>
              <a:off x="922041" y="23796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42"/>
            <p:cNvSpPr/>
            <p:nvPr/>
          </p:nvSpPr>
          <p:spPr>
            <a:xfrm>
              <a:off x="1464966" y="23796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5" name="Google Shape;875;p42"/>
          <p:cNvGrpSpPr/>
          <p:nvPr/>
        </p:nvGrpSpPr>
        <p:grpSpPr>
          <a:xfrm>
            <a:off x="922041" y="2913063"/>
            <a:ext cx="1036330" cy="407773"/>
            <a:chOff x="922041" y="2913063"/>
            <a:chExt cx="1036330" cy="407773"/>
          </a:xfrm>
        </p:grpSpPr>
        <p:sp>
          <p:nvSpPr>
            <p:cNvPr id="876" name="Google Shape;876;p42"/>
            <p:cNvSpPr/>
            <p:nvPr/>
          </p:nvSpPr>
          <p:spPr>
            <a:xfrm>
              <a:off x="922041" y="29130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42"/>
            <p:cNvSpPr/>
            <p:nvPr/>
          </p:nvSpPr>
          <p:spPr>
            <a:xfrm>
              <a:off x="1464966" y="29130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8" name="Google Shape;878;p42"/>
          <p:cNvGrpSpPr/>
          <p:nvPr/>
        </p:nvGrpSpPr>
        <p:grpSpPr>
          <a:xfrm>
            <a:off x="922041" y="3446463"/>
            <a:ext cx="1036330" cy="407773"/>
            <a:chOff x="922041" y="3446463"/>
            <a:chExt cx="1036330" cy="407773"/>
          </a:xfrm>
        </p:grpSpPr>
        <p:sp>
          <p:nvSpPr>
            <p:cNvPr id="879" name="Google Shape;879;p42"/>
            <p:cNvSpPr/>
            <p:nvPr/>
          </p:nvSpPr>
          <p:spPr>
            <a:xfrm>
              <a:off x="922041" y="34464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42"/>
            <p:cNvSpPr/>
            <p:nvPr/>
          </p:nvSpPr>
          <p:spPr>
            <a:xfrm>
              <a:off x="1464966" y="34464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1" name="Google Shape;881;p42"/>
          <p:cNvGrpSpPr/>
          <p:nvPr/>
        </p:nvGrpSpPr>
        <p:grpSpPr>
          <a:xfrm>
            <a:off x="922041" y="3979863"/>
            <a:ext cx="1036330" cy="407773"/>
            <a:chOff x="922041" y="3979863"/>
            <a:chExt cx="1036330" cy="407773"/>
          </a:xfrm>
        </p:grpSpPr>
        <p:sp>
          <p:nvSpPr>
            <p:cNvPr id="882" name="Google Shape;882;p42"/>
            <p:cNvSpPr/>
            <p:nvPr/>
          </p:nvSpPr>
          <p:spPr>
            <a:xfrm>
              <a:off x="922041" y="39798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42"/>
            <p:cNvSpPr/>
            <p:nvPr/>
          </p:nvSpPr>
          <p:spPr>
            <a:xfrm>
              <a:off x="1464966" y="39798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4" name="Google Shape;884;p42"/>
          <p:cNvGrpSpPr/>
          <p:nvPr/>
        </p:nvGrpSpPr>
        <p:grpSpPr>
          <a:xfrm>
            <a:off x="922041" y="4513263"/>
            <a:ext cx="1036330" cy="407773"/>
            <a:chOff x="922041" y="4513263"/>
            <a:chExt cx="1036330" cy="407773"/>
          </a:xfrm>
        </p:grpSpPr>
        <p:sp>
          <p:nvSpPr>
            <p:cNvPr id="885" name="Google Shape;885;p42"/>
            <p:cNvSpPr/>
            <p:nvPr/>
          </p:nvSpPr>
          <p:spPr>
            <a:xfrm>
              <a:off x="922041" y="45132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42"/>
            <p:cNvSpPr/>
            <p:nvPr/>
          </p:nvSpPr>
          <p:spPr>
            <a:xfrm>
              <a:off x="1464966" y="45132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9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7" name="Google Shape;887;p42"/>
          <p:cNvGrpSpPr/>
          <p:nvPr/>
        </p:nvGrpSpPr>
        <p:grpSpPr>
          <a:xfrm>
            <a:off x="922041" y="5580063"/>
            <a:ext cx="1036330" cy="407773"/>
            <a:chOff x="922041" y="5580063"/>
            <a:chExt cx="1036330" cy="407773"/>
          </a:xfrm>
        </p:grpSpPr>
        <p:sp>
          <p:nvSpPr>
            <p:cNvPr id="888" name="Google Shape;888;p42"/>
            <p:cNvSpPr/>
            <p:nvPr/>
          </p:nvSpPr>
          <p:spPr>
            <a:xfrm>
              <a:off x="922041" y="55800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42"/>
            <p:cNvSpPr/>
            <p:nvPr/>
          </p:nvSpPr>
          <p:spPr>
            <a:xfrm>
              <a:off x="1464966" y="55800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0" name="Google Shape;890;p42"/>
          <p:cNvGrpSpPr/>
          <p:nvPr/>
        </p:nvGrpSpPr>
        <p:grpSpPr>
          <a:xfrm>
            <a:off x="922041" y="6113463"/>
            <a:ext cx="1036330" cy="407773"/>
            <a:chOff x="922041" y="6113463"/>
            <a:chExt cx="1036330" cy="407773"/>
          </a:xfrm>
        </p:grpSpPr>
        <p:sp>
          <p:nvSpPr>
            <p:cNvPr id="891" name="Google Shape;891;p42"/>
            <p:cNvSpPr/>
            <p:nvPr/>
          </p:nvSpPr>
          <p:spPr>
            <a:xfrm>
              <a:off x="922041" y="61134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42"/>
            <p:cNvSpPr/>
            <p:nvPr/>
          </p:nvSpPr>
          <p:spPr>
            <a:xfrm>
              <a:off x="1464966" y="61134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3" name="Google Shape;893;p42"/>
          <p:cNvGrpSpPr/>
          <p:nvPr/>
        </p:nvGrpSpPr>
        <p:grpSpPr>
          <a:xfrm>
            <a:off x="922041" y="5046663"/>
            <a:ext cx="1036330" cy="407773"/>
            <a:chOff x="922041" y="5046663"/>
            <a:chExt cx="1036330" cy="407773"/>
          </a:xfrm>
        </p:grpSpPr>
        <p:sp>
          <p:nvSpPr>
            <p:cNvPr id="894" name="Google Shape;894;p42"/>
            <p:cNvSpPr/>
            <p:nvPr/>
          </p:nvSpPr>
          <p:spPr>
            <a:xfrm>
              <a:off x="922041" y="50466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42"/>
            <p:cNvSpPr/>
            <p:nvPr/>
          </p:nvSpPr>
          <p:spPr>
            <a:xfrm>
              <a:off x="1464966" y="50466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6" name="Google Shape;896;p42"/>
          <p:cNvGrpSpPr/>
          <p:nvPr/>
        </p:nvGrpSpPr>
        <p:grpSpPr>
          <a:xfrm>
            <a:off x="3598181" y="3496577"/>
            <a:ext cx="1036330" cy="407773"/>
            <a:chOff x="922041" y="2379663"/>
            <a:chExt cx="1036330" cy="407773"/>
          </a:xfrm>
        </p:grpSpPr>
        <p:sp>
          <p:nvSpPr>
            <p:cNvPr id="897" name="Google Shape;897;p42"/>
            <p:cNvSpPr/>
            <p:nvPr/>
          </p:nvSpPr>
          <p:spPr>
            <a:xfrm>
              <a:off x="922041" y="23796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42"/>
            <p:cNvSpPr/>
            <p:nvPr/>
          </p:nvSpPr>
          <p:spPr>
            <a:xfrm>
              <a:off x="1464966" y="23796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9" name="Google Shape;899;p42"/>
          <p:cNvGrpSpPr/>
          <p:nvPr/>
        </p:nvGrpSpPr>
        <p:grpSpPr>
          <a:xfrm>
            <a:off x="3601516" y="5250549"/>
            <a:ext cx="1036330" cy="407773"/>
            <a:chOff x="922041" y="2913063"/>
            <a:chExt cx="1036330" cy="407773"/>
          </a:xfrm>
        </p:grpSpPr>
        <p:sp>
          <p:nvSpPr>
            <p:cNvPr id="900" name="Google Shape;900;p42"/>
            <p:cNvSpPr/>
            <p:nvPr/>
          </p:nvSpPr>
          <p:spPr>
            <a:xfrm>
              <a:off x="922041" y="29130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42"/>
            <p:cNvSpPr/>
            <p:nvPr/>
          </p:nvSpPr>
          <p:spPr>
            <a:xfrm>
              <a:off x="1464966" y="29130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2" name="Google Shape;902;p42"/>
          <p:cNvGrpSpPr/>
          <p:nvPr/>
        </p:nvGrpSpPr>
        <p:grpSpPr>
          <a:xfrm>
            <a:off x="3598181" y="3981850"/>
            <a:ext cx="1036330" cy="407773"/>
            <a:chOff x="922041" y="3979863"/>
            <a:chExt cx="1036330" cy="407773"/>
          </a:xfrm>
        </p:grpSpPr>
        <p:sp>
          <p:nvSpPr>
            <p:cNvPr id="903" name="Google Shape;903;p42"/>
            <p:cNvSpPr/>
            <p:nvPr/>
          </p:nvSpPr>
          <p:spPr>
            <a:xfrm>
              <a:off x="922041" y="39798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42"/>
            <p:cNvSpPr/>
            <p:nvPr/>
          </p:nvSpPr>
          <p:spPr>
            <a:xfrm>
              <a:off x="1464966" y="39798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5" name="Google Shape;905;p42"/>
          <p:cNvGrpSpPr/>
          <p:nvPr/>
        </p:nvGrpSpPr>
        <p:grpSpPr>
          <a:xfrm>
            <a:off x="3598181" y="5718204"/>
            <a:ext cx="1036330" cy="407773"/>
            <a:chOff x="922041" y="4513263"/>
            <a:chExt cx="1036330" cy="407773"/>
          </a:xfrm>
        </p:grpSpPr>
        <p:sp>
          <p:nvSpPr>
            <p:cNvPr id="906" name="Google Shape;906;p42"/>
            <p:cNvSpPr/>
            <p:nvPr/>
          </p:nvSpPr>
          <p:spPr>
            <a:xfrm>
              <a:off x="922041" y="45132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42"/>
            <p:cNvSpPr/>
            <p:nvPr/>
          </p:nvSpPr>
          <p:spPr>
            <a:xfrm>
              <a:off x="1464966" y="45132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9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8" name="Google Shape;908;p42"/>
          <p:cNvGrpSpPr/>
          <p:nvPr/>
        </p:nvGrpSpPr>
        <p:grpSpPr>
          <a:xfrm>
            <a:off x="3598181" y="4467123"/>
            <a:ext cx="1036330" cy="407773"/>
            <a:chOff x="922041" y="5580063"/>
            <a:chExt cx="1036330" cy="407773"/>
          </a:xfrm>
        </p:grpSpPr>
        <p:sp>
          <p:nvSpPr>
            <p:cNvPr id="909" name="Google Shape;909;p42"/>
            <p:cNvSpPr/>
            <p:nvPr/>
          </p:nvSpPr>
          <p:spPr>
            <a:xfrm>
              <a:off x="922041" y="55800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42"/>
            <p:cNvSpPr/>
            <p:nvPr/>
          </p:nvSpPr>
          <p:spPr>
            <a:xfrm>
              <a:off x="1464966" y="55800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1" name="Google Shape;911;p42"/>
          <p:cNvGrpSpPr/>
          <p:nvPr/>
        </p:nvGrpSpPr>
        <p:grpSpPr>
          <a:xfrm>
            <a:off x="3598181" y="6191722"/>
            <a:ext cx="1036330" cy="407773"/>
            <a:chOff x="922041" y="6113463"/>
            <a:chExt cx="1036330" cy="407773"/>
          </a:xfrm>
        </p:grpSpPr>
        <p:sp>
          <p:nvSpPr>
            <p:cNvPr id="912" name="Google Shape;912;p42"/>
            <p:cNvSpPr/>
            <p:nvPr/>
          </p:nvSpPr>
          <p:spPr>
            <a:xfrm>
              <a:off x="922041" y="611346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42"/>
            <p:cNvSpPr/>
            <p:nvPr/>
          </p:nvSpPr>
          <p:spPr>
            <a:xfrm>
              <a:off x="1464966" y="611346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14" name="Google Shape;914;p42"/>
          <p:cNvCxnSpPr/>
          <p:nvPr/>
        </p:nvCxnSpPr>
        <p:spPr>
          <a:xfrm>
            <a:off x="2222180" y="3973515"/>
            <a:ext cx="1109599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15" name="Google Shape;915;p42"/>
          <p:cNvSpPr txBox="1"/>
          <p:nvPr/>
        </p:nvSpPr>
        <p:spPr>
          <a:xfrm>
            <a:off x="2222180" y="3650349"/>
            <a:ext cx="11095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Split into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Groups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42"/>
          <p:cNvSpPr txBox="1"/>
          <p:nvPr/>
        </p:nvSpPr>
        <p:spPr>
          <a:xfrm>
            <a:off x="4902547" y="2141105"/>
            <a:ext cx="142859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Aggregate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Function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7" name="Google Shape;917;p42"/>
          <p:cNvCxnSpPr/>
          <p:nvPr/>
        </p:nvCxnSpPr>
        <p:spPr>
          <a:xfrm>
            <a:off x="4902547" y="2464271"/>
            <a:ext cx="1428596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18" name="Google Shape;918;p42"/>
          <p:cNvSpPr txBox="1"/>
          <p:nvPr/>
        </p:nvSpPr>
        <p:spPr>
          <a:xfrm>
            <a:off x="4902547" y="3854236"/>
            <a:ext cx="142859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Aggregate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Function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9" name="Google Shape;919;p42"/>
          <p:cNvCxnSpPr/>
          <p:nvPr/>
        </p:nvCxnSpPr>
        <p:spPr>
          <a:xfrm>
            <a:off x="4902547" y="4177402"/>
            <a:ext cx="1428596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20" name="Google Shape;920;p42"/>
          <p:cNvSpPr txBox="1"/>
          <p:nvPr/>
        </p:nvSpPr>
        <p:spPr>
          <a:xfrm>
            <a:off x="4942817" y="5613772"/>
            <a:ext cx="142859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Aggregate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Function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1" name="Google Shape;921;p42"/>
          <p:cNvCxnSpPr/>
          <p:nvPr/>
        </p:nvCxnSpPr>
        <p:spPr>
          <a:xfrm>
            <a:off x="4942817" y="5936938"/>
            <a:ext cx="1428596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22" name="Google Shape;922;p42"/>
          <p:cNvGrpSpPr/>
          <p:nvPr/>
        </p:nvGrpSpPr>
        <p:grpSpPr>
          <a:xfrm>
            <a:off x="6599179" y="2211406"/>
            <a:ext cx="1199792" cy="407773"/>
            <a:chOff x="931566" y="1442351"/>
            <a:chExt cx="1199792" cy="407773"/>
          </a:xfrm>
        </p:grpSpPr>
        <p:sp>
          <p:nvSpPr>
            <p:cNvPr id="923" name="Google Shape;923;p42"/>
            <p:cNvSpPr/>
            <p:nvPr/>
          </p:nvSpPr>
          <p:spPr>
            <a:xfrm>
              <a:off x="931566" y="1442351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42"/>
            <p:cNvSpPr/>
            <p:nvPr/>
          </p:nvSpPr>
          <p:spPr>
            <a:xfrm>
              <a:off x="1474491" y="1442351"/>
              <a:ext cx="656867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5" name="Google Shape;925;p42"/>
          <p:cNvGrpSpPr/>
          <p:nvPr/>
        </p:nvGrpSpPr>
        <p:grpSpPr>
          <a:xfrm>
            <a:off x="6599179" y="3888907"/>
            <a:ext cx="1199792" cy="407773"/>
            <a:chOff x="931566" y="1442351"/>
            <a:chExt cx="1199792" cy="407773"/>
          </a:xfrm>
        </p:grpSpPr>
        <p:sp>
          <p:nvSpPr>
            <p:cNvPr id="926" name="Google Shape;926;p42"/>
            <p:cNvSpPr/>
            <p:nvPr/>
          </p:nvSpPr>
          <p:spPr>
            <a:xfrm>
              <a:off x="931566" y="1442351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42"/>
            <p:cNvSpPr/>
            <p:nvPr/>
          </p:nvSpPr>
          <p:spPr>
            <a:xfrm>
              <a:off x="1474491" y="1442351"/>
              <a:ext cx="656867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12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8" name="Google Shape;928;p42"/>
          <p:cNvGrpSpPr/>
          <p:nvPr/>
        </p:nvGrpSpPr>
        <p:grpSpPr>
          <a:xfrm>
            <a:off x="9358145" y="4177401"/>
            <a:ext cx="1199792" cy="407773"/>
            <a:chOff x="931566" y="1442351"/>
            <a:chExt cx="1199792" cy="407773"/>
          </a:xfrm>
        </p:grpSpPr>
        <p:sp>
          <p:nvSpPr>
            <p:cNvPr id="929" name="Google Shape;929;p42"/>
            <p:cNvSpPr/>
            <p:nvPr/>
          </p:nvSpPr>
          <p:spPr>
            <a:xfrm>
              <a:off x="931566" y="1442351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42"/>
            <p:cNvSpPr/>
            <p:nvPr/>
          </p:nvSpPr>
          <p:spPr>
            <a:xfrm>
              <a:off x="1474491" y="1442351"/>
              <a:ext cx="656867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18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1" name="Google Shape;931;p42"/>
          <p:cNvGrpSpPr/>
          <p:nvPr/>
        </p:nvGrpSpPr>
        <p:grpSpPr>
          <a:xfrm>
            <a:off x="9358145" y="3242576"/>
            <a:ext cx="1199792" cy="407773"/>
            <a:chOff x="931566" y="1442351"/>
            <a:chExt cx="1199792" cy="407773"/>
          </a:xfrm>
        </p:grpSpPr>
        <p:sp>
          <p:nvSpPr>
            <p:cNvPr id="932" name="Google Shape;932;p42"/>
            <p:cNvSpPr/>
            <p:nvPr/>
          </p:nvSpPr>
          <p:spPr>
            <a:xfrm>
              <a:off x="931566" y="1442351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42"/>
            <p:cNvSpPr/>
            <p:nvPr/>
          </p:nvSpPr>
          <p:spPr>
            <a:xfrm>
              <a:off x="1474491" y="1442351"/>
              <a:ext cx="656867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4" name="Google Shape;934;p42"/>
          <p:cNvGrpSpPr/>
          <p:nvPr/>
        </p:nvGrpSpPr>
        <p:grpSpPr>
          <a:xfrm>
            <a:off x="9358145" y="3715093"/>
            <a:ext cx="1199792" cy="407773"/>
            <a:chOff x="931566" y="1442351"/>
            <a:chExt cx="1199792" cy="407773"/>
          </a:xfrm>
        </p:grpSpPr>
        <p:sp>
          <p:nvSpPr>
            <p:cNvPr id="935" name="Google Shape;935;p42"/>
            <p:cNvSpPr/>
            <p:nvPr/>
          </p:nvSpPr>
          <p:spPr>
            <a:xfrm>
              <a:off x="931566" y="1442351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42"/>
            <p:cNvSpPr/>
            <p:nvPr/>
          </p:nvSpPr>
          <p:spPr>
            <a:xfrm>
              <a:off x="1474491" y="1442351"/>
              <a:ext cx="656867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12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7" name="Google Shape;937;p42"/>
          <p:cNvGrpSpPr/>
          <p:nvPr/>
        </p:nvGrpSpPr>
        <p:grpSpPr>
          <a:xfrm>
            <a:off x="6599179" y="5733837"/>
            <a:ext cx="1199792" cy="407773"/>
            <a:chOff x="931566" y="1442351"/>
            <a:chExt cx="1199792" cy="407773"/>
          </a:xfrm>
        </p:grpSpPr>
        <p:sp>
          <p:nvSpPr>
            <p:cNvPr id="938" name="Google Shape;938;p42"/>
            <p:cNvSpPr/>
            <p:nvPr/>
          </p:nvSpPr>
          <p:spPr>
            <a:xfrm>
              <a:off x="931566" y="1442351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42"/>
            <p:cNvSpPr/>
            <p:nvPr/>
          </p:nvSpPr>
          <p:spPr>
            <a:xfrm>
              <a:off x="1474491" y="1442351"/>
              <a:ext cx="656867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18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40" name="Google Shape;940;p42"/>
          <p:cNvCxnSpPr/>
          <p:nvPr/>
        </p:nvCxnSpPr>
        <p:spPr>
          <a:xfrm>
            <a:off x="7929154" y="2351418"/>
            <a:ext cx="1346165" cy="138988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41" name="Google Shape;941;p42"/>
          <p:cNvCxnSpPr/>
          <p:nvPr/>
        </p:nvCxnSpPr>
        <p:spPr>
          <a:xfrm>
            <a:off x="7929154" y="3973515"/>
            <a:ext cx="1346165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42" name="Google Shape;942;p42"/>
          <p:cNvCxnSpPr/>
          <p:nvPr/>
        </p:nvCxnSpPr>
        <p:spPr>
          <a:xfrm rot="10800000" flipH="1">
            <a:off x="7929154" y="4199944"/>
            <a:ext cx="1346165" cy="157383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43" name="Google Shape;943;p42"/>
          <p:cNvSpPr txBox="1"/>
          <p:nvPr/>
        </p:nvSpPr>
        <p:spPr>
          <a:xfrm>
            <a:off x="8141199" y="3657600"/>
            <a:ext cx="1036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Merge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Results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0" name="Google Shape;620;p15"/>
          <p:cNvGraphicFramePr/>
          <p:nvPr/>
        </p:nvGraphicFramePr>
        <p:xfrm>
          <a:off x="1491175" y="4285437"/>
          <a:ext cx="8608400" cy="25233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30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02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0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21" name="Google Shape;621;p15"/>
          <p:cNvSpPr txBox="1">
            <a:spLocks noGrp="1"/>
          </p:cNvSpPr>
          <p:nvPr>
            <p:ph type="title"/>
          </p:nvPr>
        </p:nvSpPr>
        <p:spPr>
          <a:xfrm>
            <a:off x="330382" y="97245"/>
            <a:ext cx="10801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MANIPULATING GRANULARITY: GROUP BY </a:t>
            </a:r>
            <a:endParaRPr/>
          </a:p>
        </p:txBody>
      </p:sp>
      <p:sp>
        <p:nvSpPr>
          <p:cNvPr id="622" name="Google Shape;622;p15"/>
          <p:cNvSpPr txBox="1"/>
          <p:nvPr/>
        </p:nvSpPr>
        <p:spPr>
          <a:xfrm>
            <a:off x="5316973" y="1478208"/>
            <a:ext cx="3862636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Python (with </a:t>
            </a:r>
            <a:r>
              <a:rPr lang="en-US" sz="16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pandas</a:t>
            </a: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600" b="1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15"/>
          <p:cNvSpPr/>
          <p:nvPr/>
        </p:nvSpPr>
        <p:spPr>
          <a:xfrm>
            <a:off x="5316973" y="1920006"/>
            <a:ext cx="5374473" cy="1328023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pandas </a:t>
            </a:r>
            <a:r>
              <a:rPr lang="en-US" sz="1800" b="1" i="0" u="none" strike="noStrike" cap="none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purchases=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pd.read_csv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(“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Purchases.csv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”)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grps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purchases.groupby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(“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OrderNum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grps.sum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24" name="Google Shape;624;p15"/>
          <p:cNvGraphicFramePr/>
          <p:nvPr/>
        </p:nvGraphicFramePr>
        <p:xfrm>
          <a:off x="518733" y="1974215"/>
          <a:ext cx="4520925" cy="147832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50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6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6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sng" strike="noStrike" cap="none"/>
                        <a:t>OrderNum</a:t>
                      </a:r>
                      <a:endParaRPr sz="1800" u="sng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sng" strike="noStrike" cap="none"/>
                        <a:t>ProdID</a:t>
                      </a:r>
                      <a:endParaRPr sz="1800" u="sng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Quantity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42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999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42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25" name="Google Shape;625;p15"/>
          <p:cNvSpPr txBox="1"/>
          <p:nvPr/>
        </p:nvSpPr>
        <p:spPr>
          <a:xfrm>
            <a:off x="659411" y="1422808"/>
            <a:ext cx="118974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Example: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15"/>
          <p:cNvSpPr txBox="1"/>
          <p:nvPr/>
        </p:nvSpPr>
        <p:spPr>
          <a:xfrm>
            <a:off x="1529736" y="4836442"/>
            <a:ext cx="413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15"/>
          <p:cNvSpPr txBox="1"/>
          <p:nvPr/>
        </p:nvSpPr>
        <p:spPr>
          <a:xfrm>
            <a:off x="1523716" y="5907819"/>
            <a:ext cx="4174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15"/>
          <p:cNvSpPr txBox="1"/>
          <p:nvPr/>
        </p:nvSpPr>
        <p:spPr>
          <a:xfrm>
            <a:off x="5854883" y="4831179"/>
            <a:ext cx="4174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B.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15"/>
          <p:cNvSpPr txBox="1"/>
          <p:nvPr/>
        </p:nvSpPr>
        <p:spPr>
          <a:xfrm>
            <a:off x="5853996" y="5879683"/>
            <a:ext cx="4064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15"/>
          <p:cNvSpPr/>
          <p:nvPr/>
        </p:nvSpPr>
        <p:spPr>
          <a:xfrm>
            <a:off x="3349123" y="3859508"/>
            <a:ext cx="47638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Try to predict the output of the code above: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1" name="Google Shape;631;p15" descr="A picture containing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76740" y="5493293"/>
            <a:ext cx="2350462" cy="995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15" descr="Text&#10;&#10;Description automatically generated with medium confidence"/>
          <p:cNvPicPr preferRelativeResize="0"/>
          <p:nvPr/>
        </p:nvPicPr>
        <p:blipFill rotWithShape="1">
          <a:blip r:embed="rId4">
            <a:alphaModFix/>
          </a:blip>
          <a:srcRect b="8958"/>
          <a:stretch/>
        </p:blipFill>
        <p:spPr>
          <a:xfrm>
            <a:off x="6583678" y="4308891"/>
            <a:ext cx="3332911" cy="957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15" descr="A picture containing chart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12742" y="4353612"/>
            <a:ext cx="3456747" cy="1008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p15" descr="A picture containing table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27716" y="5411814"/>
            <a:ext cx="3537568" cy="1361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F3D6779-7D18-3780-22F2-F48720B374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0788" y="567898"/>
            <a:ext cx="300990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218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43"/>
          <p:cNvSpPr txBox="1">
            <a:spLocks noGrp="1"/>
          </p:cNvSpPr>
          <p:nvPr>
            <p:ph type="title"/>
          </p:nvPr>
        </p:nvSpPr>
        <p:spPr>
          <a:xfrm>
            <a:off x="330374" y="97250"/>
            <a:ext cx="11610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ckwell"/>
              <a:buNone/>
            </a:pPr>
            <a:r>
              <a:rPr lang="en-US"/>
              <a:t>MANIPULATING GRANULARITY: PIVOT </a:t>
            </a:r>
            <a:endParaRPr/>
          </a:p>
        </p:txBody>
      </p:sp>
      <p:sp>
        <p:nvSpPr>
          <p:cNvPr id="950" name="Google Shape;950;p43"/>
          <p:cNvSpPr txBox="1"/>
          <p:nvPr/>
        </p:nvSpPr>
        <p:spPr>
          <a:xfrm>
            <a:off x="519963" y="1218174"/>
            <a:ext cx="59503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Key</a:t>
            </a:r>
            <a:b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43"/>
          <p:cNvSpPr txBox="1"/>
          <p:nvPr/>
        </p:nvSpPr>
        <p:spPr>
          <a:xfrm>
            <a:off x="1611773" y="1495173"/>
            <a:ext cx="7489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2" name="Google Shape;952;p43"/>
          <p:cNvGrpSpPr/>
          <p:nvPr/>
        </p:nvGrpSpPr>
        <p:grpSpPr>
          <a:xfrm>
            <a:off x="570778" y="2418853"/>
            <a:ext cx="1662160" cy="407773"/>
            <a:chOff x="570778" y="2418853"/>
            <a:chExt cx="1662160" cy="407773"/>
          </a:xfrm>
        </p:grpSpPr>
        <p:sp>
          <p:nvSpPr>
            <p:cNvPr id="953" name="Google Shape;953;p43"/>
            <p:cNvSpPr/>
            <p:nvPr/>
          </p:nvSpPr>
          <p:spPr>
            <a:xfrm>
              <a:off x="570778" y="241885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43"/>
            <p:cNvSpPr/>
            <p:nvPr/>
          </p:nvSpPr>
          <p:spPr>
            <a:xfrm>
              <a:off x="1739533" y="241885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43"/>
            <p:cNvSpPr/>
            <p:nvPr/>
          </p:nvSpPr>
          <p:spPr>
            <a:xfrm>
              <a:off x="1142809" y="2418853"/>
              <a:ext cx="493405" cy="407773"/>
            </a:xfrm>
            <a:prstGeom prst="rect">
              <a:avLst/>
            </a:prstGeom>
            <a:solidFill>
              <a:schemeClr val="accent4"/>
            </a:solidFill>
            <a:ln w="12700" cap="flat" cmpd="sng">
              <a:solidFill>
                <a:srgbClr val="6C47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V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6" name="Google Shape;956;p43"/>
          <p:cNvGrpSpPr/>
          <p:nvPr/>
        </p:nvGrpSpPr>
        <p:grpSpPr>
          <a:xfrm>
            <a:off x="570778" y="2952253"/>
            <a:ext cx="1662160" cy="407773"/>
            <a:chOff x="570778" y="2952253"/>
            <a:chExt cx="1662160" cy="407773"/>
          </a:xfrm>
        </p:grpSpPr>
        <p:sp>
          <p:nvSpPr>
            <p:cNvPr id="957" name="Google Shape;957;p43"/>
            <p:cNvSpPr/>
            <p:nvPr/>
          </p:nvSpPr>
          <p:spPr>
            <a:xfrm>
              <a:off x="570778" y="295225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43"/>
            <p:cNvSpPr/>
            <p:nvPr/>
          </p:nvSpPr>
          <p:spPr>
            <a:xfrm>
              <a:off x="1739533" y="295225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43"/>
            <p:cNvSpPr/>
            <p:nvPr/>
          </p:nvSpPr>
          <p:spPr>
            <a:xfrm>
              <a:off x="1142809" y="2952253"/>
              <a:ext cx="493405" cy="407773"/>
            </a:xfrm>
            <a:prstGeom prst="rect">
              <a:avLst/>
            </a:prstGeom>
            <a:solidFill>
              <a:schemeClr val="accent4"/>
            </a:solidFill>
            <a:ln w="12700" cap="flat" cmpd="sng">
              <a:solidFill>
                <a:srgbClr val="6C47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U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0" name="Google Shape;960;p43"/>
          <p:cNvGrpSpPr/>
          <p:nvPr/>
        </p:nvGrpSpPr>
        <p:grpSpPr>
          <a:xfrm>
            <a:off x="570778" y="3485653"/>
            <a:ext cx="1662160" cy="407773"/>
            <a:chOff x="570778" y="3485653"/>
            <a:chExt cx="1662160" cy="407773"/>
          </a:xfrm>
        </p:grpSpPr>
        <p:sp>
          <p:nvSpPr>
            <p:cNvPr id="961" name="Google Shape;961;p43"/>
            <p:cNvSpPr/>
            <p:nvPr/>
          </p:nvSpPr>
          <p:spPr>
            <a:xfrm>
              <a:off x="570778" y="348565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43"/>
            <p:cNvSpPr/>
            <p:nvPr/>
          </p:nvSpPr>
          <p:spPr>
            <a:xfrm>
              <a:off x="1739533" y="348565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43"/>
            <p:cNvSpPr/>
            <p:nvPr/>
          </p:nvSpPr>
          <p:spPr>
            <a:xfrm>
              <a:off x="1142809" y="3485653"/>
              <a:ext cx="493405" cy="407773"/>
            </a:xfrm>
            <a:prstGeom prst="rect">
              <a:avLst/>
            </a:prstGeom>
            <a:solidFill>
              <a:schemeClr val="accent4"/>
            </a:solidFill>
            <a:ln w="12700" cap="flat" cmpd="sng">
              <a:solidFill>
                <a:srgbClr val="6C47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V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4" name="Google Shape;964;p43"/>
          <p:cNvGrpSpPr/>
          <p:nvPr/>
        </p:nvGrpSpPr>
        <p:grpSpPr>
          <a:xfrm>
            <a:off x="570778" y="4019053"/>
            <a:ext cx="1662160" cy="407773"/>
            <a:chOff x="570778" y="4019053"/>
            <a:chExt cx="1662160" cy="407773"/>
          </a:xfrm>
        </p:grpSpPr>
        <p:sp>
          <p:nvSpPr>
            <p:cNvPr id="965" name="Google Shape;965;p43"/>
            <p:cNvSpPr/>
            <p:nvPr/>
          </p:nvSpPr>
          <p:spPr>
            <a:xfrm>
              <a:off x="570778" y="401905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43"/>
            <p:cNvSpPr/>
            <p:nvPr/>
          </p:nvSpPr>
          <p:spPr>
            <a:xfrm>
              <a:off x="1739533" y="401905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43"/>
            <p:cNvSpPr/>
            <p:nvPr/>
          </p:nvSpPr>
          <p:spPr>
            <a:xfrm>
              <a:off x="1142809" y="4019053"/>
              <a:ext cx="493405" cy="407773"/>
            </a:xfrm>
            <a:prstGeom prst="rect">
              <a:avLst/>
            </a:prstGeom>
            <a:solidFill>
              <a:schemeClr val="accent4"/>
            </a:solidFill>
            <a:ln w="12700" cap="flat" cmpd="sng">
              <a:solidFill>
                <a:srgbClr val="6C47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U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8" name="Google Shape;968;p43"/>
          <p:cNvGrpSpPr/>
          <p:nvPr/>
        </p:nvGrpSpPr>
        <p:grpSpPr>
          <a:xfrm>
            <a:off x="570778" y="4552453"/>
            <a:ext cx="1662160" cy="407773"/>
            <a:chOff x="570778" y="4552453"/>
            <a:chExt cx="1662160" cy="407773"/>
          </a:xfrm>
        </p:grpSpPr>
        <p:sp>
          <p:nvSpPr>
            <p:cNvPr id="969" name="Google Shape;969;p43"/>
            <p:cNvSpPr/>
            <p:nvPr/>
          </p:nvSpPr>
          <p:spPr>
            <a:xfrm>
              <a:off x="570778" y="455245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43"/>
            <p:cNvSpPr/>
            <p:nvPr/>
          </p:nvSpPr>
          <p:spPr>
            <a:xfrm>
              <a:off x="1739533" y="455245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9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43"/>
            <p:cNvSpPr/>
            <p:nvPr/>
          </p:nvSpPr>
          <p:spPr>
            <a:xfrm>
              <a:off x="1142809" y="4552453"/>
              <a:ext cx="493405" cy="407773"/>
            </a:xfrm>
            <a:prstGeom prst="rect">
              <a:avLst/>
            </a:prstGeom>
            <a:solidFill>
              <a:schemeClr val="accent4"/>
            </a:solidFill>
            <a:ln w="12700" cap="flat" cmpd="sng">
              <a:solidFill>
                <a:srgbClr val="6C47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V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2" name="Google Shape;972;p43"/>
          <p:cNvGrpSpPr/>
          <p:nvPr/>
        </p:nvGrpSpPr>
        <p:grpSpPr>
          <a:xfrm>
            <a:off x="570778" y="5085853"/>
            <a:ext cx="1662160" cy="407773"/>
            <a:chOff x="570778" y="5085853"/>
            <a:chExt cx="1662160" cy="407773"/>
          </a:xfrm>
        </p:grpSpPr>
        <p:sp>
          <p:nvSpPr>
            <p:cNvPr id="973" name="Google Shape;973;p43"/>
            <p:cNvSpPr/>
            <p:nvPr/>
          </p:nvSpPr>
          <p:spPr>
            <a:xfrm>
              <a:off x="570778" y="508585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43"/>
            <p:cNvSpPr/>
            <p:nvPr/>
          </p:nvSpPr>
          <p:spPr>
            <a:xfrm>
              <a:off x="1739533" y="508585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43"/>
            <p:cNvSpPr/>
            <p:nvPr/>
          </p:nvSpPr>
          <p:spPr>
            <a:xfrm>
              <a:off x="1142809" y="5085853"/>
              <a:ext cx="493405" cy="407773"/>
            </a:xfrm>
            <a:prstGeom prst="rect">
              <a:avLst/>
            </a:prstGeom>
            <a:solidFill>
              <a:schemeClr val="accent4"/>
            </a:solidFill>
            <a:ln w="12700" cap="flat" cmpd="sng">
              <a:solidFill>
                <a:srgbClr val="6C47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U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6" name="Google Shape;976;p43"/>
          <p:cNvGrpSpPr/>
          <p:nvPr/>
        </p:nvGrpSpPr>
        <p:grpSpPr>
          <a:xfrm>
            <a:off x="570778" y="5619253"/>
            <a:ext cx="1662160" cy="407773"/>
            <a:chOff x="570778" y="5619253"/>
            <a:chExt cx="1662160" cy="407773"/>
          </a:xfrm>
        </p:grpSpPr>
        <p:sp>
          <p:nvSpPr>
            <p:cNvPr id="977" name="Google Shape;977;p43"/>
            <p:cNvSpPr/>
            <p:nvPr/>
          </p:nvSpPr>
          <p:spPr>
            <a:xfrm>
              <a:off x="570778" y="561925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43"/>
            <p:cNvSpPr/>
            <p:nvPr/>
          </p:nvSpPr>
          <p:spPr>
            <a:xfrm>
              <a:off x="1739533" y="561925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43"/>
            <p:cNvSpPr/>
            <p:nvPr/>
          </p:nvSpPr>
          <p:spPr>
            <a:xfrm>
              <a:off x="1142809" y="5619253"/>
              <a:ext cx="493405" cy="407773"/>
            </a:xfrm>
            <a:prstGeom prst="rect">
              <a:avLst/>
            </a:prstGeom>
            <a:solidFill>
              <a:schemeClr val="accent4"/>
            </a:solidFill>
            <a:ln w="12700" cap="flat" cmpd="sng">
              <a:solidFill>
                <a:srgbClr val="6C47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V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0" name="Google Shape;980;p43"/>
          <p:cNvGrpSpPr/>
          <p:nvPr/>
        </p:nvGrpSpPr>
        <p:grpSpPr>
          <a:xfrm>
            <a:off x="570778" y="6152653"/>
            <a:ext cx="1662160" cy="407773"/>
            <a:chOff x="570778" y="6152653"/>
            <a:chExt cx="1662160" cy="407773"/>
          </a:xfrm>
        </p:grpSpPr>
        <p:sp>
          <p:nvSpPr>
            <p:cNvPr id="981" name="Google Shape;981;p43"/>
            <p:cNvSpPr/>
            <p:nvPr/>
          </p:nvSpPr>
          <p:spPr>
            <a:xfrm>
              <a:off x="570778" y="615265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43"/>
            <p:cNvSpPr/>
            <p:nvPr/>
          </p:nvSpPr>
          <p:spPr>
            <a:xfrm>
              <a:off x="1739533" y="615265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43"/>
            <p:cNvSpPr/>
            <p:nvPr/>
          </p:nvSpPr>
          <p:spPr>
            <a:xfrm>
              <a:off x="1142809" y="6152653"/>
              <a:ext cx="493405" cy="407773"/>
            </a:xfrm>
            <a:prstGeom prst="rect">
              <a:avLst/>
            </a:prstGeom>
            <a:solidFill>
              <a:schemeClr val="accent4"/>
            </a:solidFill>
            <a:ln w="12700" cap="flat" cmpd="sng">
              <a:solidFill>
                <a:srgbClr val="6C47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U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4" name="Google Shape;984;p43"/>
          <p:cNvSpPr txBox="1"/>
          <p:nvPr/>
        </p:nvSpPr>
        <p:spPr>
          <a:xfrm>
            <a:off x="1091994" y="1218174"/>
            <a:ext cx="59503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Key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5" name="Google Shape;985;p43"/>
          <p:cNvGrpSpPr/>
          <p:nvPr/>
        </p:nvGrpSpPr>
        <p:grpSpPr>
          <a:xfrm>
            <a:off x="570778" y="1885453"/>
            <a:ext cx="1662160" cy="407773"/>
            <a:chOff x="570778" y="1885453"/>
            <a:chExt cx="1662160" cy="407773"/>
          </a:xfrm>
        </p:grpSpPr>
        <p:sp>
          <p:nvSpPr>
            <p:cNvPr id="986" name="Google Shape;986;p43"/>
            <p:cNvSpPr/>
            <p:nvPr/>
          </p:nvSpPr>
          <p:spPr>
            <a:xfrm>
              <a:off x="570778" y="188545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43"/>
            <p:cNvSpPr/>
            <p:nvPr/>
          </p:nvSpPr>
          <p:spPr>
            <a:xfrm>
              <a:off x="1739533" y="188545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43"/>
            <p:cNvSpPr/>
            <p:nvPr/>
          </p:nvSpPr>
          <p:spPr>
            <a:xfrm>
              <a:off x="1142809" y="1885453"/>
              <a:ext cx="493405" cy="407773"/>
            </a:xfrm>
            <a:prstGeom prst="rect">
              <a:avLst/>
            </a:prstGeom>
            <a:solidFill>
              <a:schemeClr val="accent4"/>
            </a:solidFill>
            <a:ln w="12700" cap="flat" cmpd="sng">
              <a:solidFill>
                <a:srgbClr val="6C47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U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9" name="Google Shape;989;p43"/>
          <p:cNvGrpSpPr/>
          <p:nvPr/>
        </p:nvGrpSpPr>
        <p:grpSpPr>
          <a:xfrm>
            <a:off x="570778" y="2418853"/>
            <a:ext cx="1662160" cy="407773"/>
            <a:chOff x="570778" y="2418853"/>
            <a:chExt cx="1662160" cy="407773"/>
          </a:xfrm>
        </p:grpSpPr>
        <p:sp>
          <p:nvSpPr>
            <p:cNvPr id="990" name="Google Shape;990;p43"/>
            <p:cNvSpPr/>
            <p:nvPr/>
          </p:nvSpPr>
          <p:spPr>
            <a:xfrm>
              <a:off x="570778" y="241885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43"/>
            <p:cNvSpPr/>
            <p:nvPr/>
          </p:nvSpPr>
          <p:spPr>
            <a:xfrm>
              <a:off x="1739533" y="241885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43"/>
            <p:cNvSpPr/>
            <p:nvPr/>
          </p:nvSpPr>
          <p:spPr>
            <a:xfrm>
              <a:off x="1142809" y="2418853"/>
              <a:ext cx="493405" cy="407773"/>
            </a:xfrm>
            <a:prstGeom prst="rect">
              <a:avLst/>
            </a:prstGeom>
            <a:solidFill>
              <a:schemeClr val="accent4"/>
            </a:solidFill>
            <a:ln w="12700" cap="flat" cmpd="sng">
              <a:solidFill>
                <a:srgbClr val="6C47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V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3" name="Google Shape;993;p43"/>
          <p:cNvGrpSpPr/>
          <p:nvPr/>
        </p:nvGrpSpPr>
        <p:grpSpPr>
          <a:xfrm>
            <a:off x="570778" y="2952253"/>
            <a:ext cx="1662160" cy="407773"/>
            <a:chOff x="570778" y="2952253"/>
            <a:chExt cx="1662160" cy="407773"/>
          </a:xfrm>
        </p:grpSpPr>
        <p:sp>
          <p:nvSpPr>
            <p:cNvPr id="994" name="Google Shape;994;p43"/>
            <p:cNvSpPr/>
            <p:nvPr/>
          </p:nvSpPr>
          <p:spPr>
            <a:xfrm>
              <a:off x="570778" y="295225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43"/>
            <p:cNvSpPr/>
            <p:nvPr/>
          </p:nvSpPr>
          <p:spPr>
            <a:xfrm>
              <a:off x="1739533" y="295225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43"/>
            <p:cNvSpPr/>
            <p:nvPr/>
          </p:nvSpPr>
          <p:spPr>
            <a:xfrm>
              <a:off x="1142809" y="2952253"/>
              <a:ext cx="493405" cy="407773"/>
            </a:xfrm>
            <a:prstGeom prst="rect">
              <a:avLst/>
            </a:prstGeom>
            <a:solidFill>
              <a:schemeClr val="accent4"/>
            </a:solidFill>
            <a:ln w="12700" cap="flat" cmpd="sng">
              <a:solidFill>
                <a:srgbClr val="6C47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U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7" name="Google Shape;997;p43"/>
          <p:cNvGrpSpPr/>
          <p:nvPr/>
        </p:nvGrpSpPr>
        <p:grpSpPr>
          <a:xfrm>
            <a:off x="570778" y="3485653"/>
            <a:ext cx="1662160" cy="407773"/>
            <a:chOff x="570778" y="3485653"/>
            <a:chExt cx="1662160" cy="407773"/>
          </a:xfrm>
        </p:grpSpPr>
        <p:sp>
          <p:nvSpPr>
            <p:cNvPr id="998" name="Google Shape;998;p43"/>
            <p:cNvSpPr/>
            <p:nvPr/>
          </p:nvSpPr>
          <p:spPr>
            <a:xfrm>
              <a:off x="570778" y="348565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43"/>
            <p:cNvSpPr/>
            <p:nvPr/>
          </p:nvSpPr>
          <p:spPr>
            <a:xfrm>
              <a:off x="1739533" y="348565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43"/>
            <p:cNvSpPr/>
            <p:nvPr/>
          </p:nvSpPr>
          <p:spPr>
            <a:xfrm>
              <a:off x="1142809" y="3485653"/>
              <a:ext cx="493405" cy="407773"/>
            </a:xfrm>
            <a:prstGeom prst="rect">
              <a:avLst/>
            </a:prstGeom>
            <a:solidFill>
              <a:schemeClr val="accent4"/>
            </a:solidFill>
            <a:ln w="12700" cap="flat" cmpd="sng">
              <a:solidFill>
                <a:srgbClr val="6C47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V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1" name="Google Shape;1001;p43"/>
          <p:cNvGrpSpPr/>
          <p:nvPr/>
        </p:nvGrpSpPr>
        <p:grpSpPr>
          <a:xfrm>
            <a:off x="570778" y="4019053"/>
            <a:ext cx="1662160" cy="407773"/>
            <a:chOff x="570778" y="4019053"/>
            <a:chExt cx="1662160" cy="407773"/>
          </a:xfrm>
        </p:grpSpPr>
        <p:sp>
          <p:nvSpPr>
            <p:cNvPr id="1002" name="Google Shape;1002;p43"/>
            <p:cNvSpPr/>
            <p:nvPr/>
          </p:nvSpPr>
          <p:spPr>
            <a:xfrm>
              <a:off x="570778" y="401905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43"/>
            <p:cNvSpPr/>
            <p:nvPr/>
          </p:nvSpPr>
          <p:spPr>
            <a:xfrm>
              <a:off x="1739533" y="401905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43"/>
            <p:cNvSpPr/>
            <p:nvPr/>
          </p:nvSpPr>
          <p:spPr>
            <a:xfrm>
              <a:off x="1142809" y="4019053"/>
              <a:ext cx="493405" cy="407773"/>
            </a:xfrm>
            <a:prstGeom prst="rect">
              <a:avLst/>
            </a:prstGeom>
            <a:solidFill>
              <a:schemeClr val="accent4"/>
            </a:solidFill>
            <a:ln w="12700" cap="flat" cmpd="sng">
              <a:solidFill>
                <a:srgbClr val="6C47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U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5" name="Google Shape;1005;p43"/>
          <p:cNvGrpSpPr/>
          <p:nvPr/>
        </p:nvGrpSpPr>
        <p:grpSpPr>
          <a:xfrm>
            <a:off x="570778" y="4552453"/>
            <a:ext cx="1662160" cy="407773"/>
            <a:chOff x="570778" y="4552453"/>
            <a:chExt cx="1662160" cy="407773"/>
          </a:xfrm>
        </p:grpSpPr>
        <p:sp>
          <p:nvSpPr>
            <p:cNvPr id="1006" name="Google Shape;1006;p43"/>
            <p:cNvSpPr/>
            <p:nvPr/>
          </p:nvSpPr>
          <p:spPr>
            <a:xfrm>
              <a:off x="570778" y="455245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43"/>
            <p:cNvSpPr/>
            <p:nvPr/>
          </p:nvSpPr>
          <p:spPr>
            <a:xfrm>
              <a:off x="1739533" y="455245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9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43"/>
            <p:cNvSpPr/>
            <p:nvPr/>
          </p:nvSpPr>
          <p:spPr>
            <a:xfrm>
              <a:off x="1142809" y="4552453"/>
              <a:ext cx="493405" cy="407773"/>
            </a:xfrm>
            <a:prstGeom prst="rect">
              <a:avLst/>
            </a:prstGeom>
            <a:solidFill>
              <a:schemeClr val="accent4"/>
            </a:solidFill>
            <a:ln w="12700" cap="flat" cmpd="sng">
              <a:solidFill>
                <a:srgbClr val="6C47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V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9" name="Google Shape;1009;p43"/>
          <p:cNvGrpSpPr/>
          <p:nvPr/>
        </p:nvGrpSpPr>
        <p:grpSpPr>
          <a:xfrm>
            <a:off x="570778" y="5085853"/>
            <a:ext cx="1662160" cy="407773"/>
            <a:chOff x="570778" y="5085853"/>
            <a:chExt cx="1662160" cy="407773"/>
          </a:xfrm>
        </p:grpSpPr>
        <p:sp>
          <p:nvSpPr>
            <p:cNvPr id="1010" name="Google Shape;1010;p43"/>
            <p:cNvSpPr/>
            <p:nvPr/>
          </p:nvSpPr>
          <p:spPr>
            <a:xfrm>
              <a:off x="570778" y="508585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43"/>
            <p:cNvSpPr/>
            <p:nvPr/>
          </p:nvSpPr>
          <p:spPr>
            <a:xfrm>
              <a:off x="1739533" y="508585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43"/>
            <p:cNvSpPr/>
            <p:nvPr/>
          </p:nvSpPr>
          <p:spPr>
            <a:xfrm>
              <a:off x="1142809" y="5085853"/>
              <a:ext cx="493405" cy="407773"/>
            </a:xfrm>
            <a:prstGeom prst="rect">
              <a:avLst/>
            </a:prstGeom>
            <a:solidFill>
              <a:schemeClr val="accent4"/>
            </a:solidFill>
            <a:ln w="12700" cap="flat" cmpd="sng">
              <a:solidFill>
                <a:srgbClr val="6C47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U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3" name="Google Shape;1013;p43"/>
          <p:cNvGrpSpPr/>
          <p:nvPr/>
        </p:nvGrpSpPr>
        <p:grpSpPr>
          <a:xfrm>
            <a:off x="570778" y="5619253"/>
            <a:ext cx="1662160" cy="407773"/>
            <a:chOff x="570778" y="5619253"/>
            <a:chExt cx="1662160" cy="407773"/>
          </a:xfrm>
        </p:grpSpPr>
        <p:sp>
          <p:nvSpPr>
            <p:cNvPr id="1014" name="Google Shape;1014;p43"/>
            <p:cNvSpPr/>
            <p:nvPr/>
          </p:nvSpPr>
          <p:spPr>
            <a:xfrm>
              <a:off x="570778" y="561925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43"/>
            <p:cNvSpPr/>
            <p:nvPr/>
          </p:nvSpPr>
          <p:spPr>
            <a:xfrm>
              <a:off x="1739533" y="561925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43"/>
            <p:cNvSpPr/>
            <p:nvPr/>
          </p:nvSpPr>
          <p:spPr>
            <a:xfrm>
              <a:off x="1142809" y="5619253"/>
              <a:ext cx="493405" cy="407773"/>
            </a:xfrm>
            <a:prstGeom prst="rect">
              <a:avLst/>
            </a:prstGeom>
            <a:solidFill>
              <a:schemeClr val="accent4"/>
            </a:solidFill>
            <a:ln w="12700" cap="flat" cmpd="sng">
              <a:solidFill>
                <a:srgbClr val="6C47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V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7" name="Google Shape;1017;p43"/>
          <p:cNvGrpSpPr/>
          <p:nvPr/>
        </p:nvGrpSpPr>
        <p:grpSpPr>
          <a:xfrm>
            <a:off x="570778" y="6152653"/>
            <a:ext cx="1662160" cy="407773"/>
            <a:chOff x="570778" y="6152653"/>
            <a:chExt cx="1662160" cy="407773"/>
          </a:xfrm>
        </p:grpSpPr>
        <p:sp>
          <p:nvSpPr>
            <p:cNvPr id="1018" name="Google Shape;1018;p43"/>
            <p:cNvSpPr/>
            <p:nvPr/>
          </p:nvSpPr>
          <p:spPr>
            <a:xfrm>
              <a:off x="570778" y="615265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43"/>
            <p:cNvSpPr/>
            <p:nvPr/>
          </p:nvSpPr>
          <p:spPr>
            <a:xfrm>
              <a:off x="1739533" y="615265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43"/>
            <p:cNvSpPr/>
            <p:nvPr/>
          </p:nvSpPr>
          <p:spPr>
            <a:xfrm>
              <a:off x="1142809" y="6152653"/>
              <a:ext cx="493405" cy="407773"/>
            </a:xfrm>
            <a:prstGeom prst="rect">
              <a:avLst/>
            </a:prstGeom>
            <a:solidFill>
              <a:schemeClr val="accent4"/>
            </a:solidFill>
            <a:ln w="12700" cap="flat" cmpd="sng">
              <a:solidFill>
                <a:srgbClr val="6C47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U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1" name="Google Shape;1021;p43"/>
          <p:cNvGrpSpPr/>
          <p:nvPr/>
        </p:nvGrpSpPr>
        <p:grpSpPr>
          <a:xfrm>
            <a:off x="570778" y="1885453"/>
            <a:ext cx="1662160" cy="407773"/>
            <a:chOff x="570778" y="1885453"/>
            <a:chExt cx="1662160" cy="407773"/>
          </a:xfrm>
        </p:grpSpPr>
        <p:sp>
          <p:nvSpPr>
            <p:cNvPr id="1022" name="Google Shape;1022;p43"/>
            <p:cNvSpPr/>
            <p:nvPr/>
          </p:nvSpPr>
          <p:spPr>
            <a:xfrm>
              <a:off x="570778" y="1885453"/>
              <a:ext cx="493405" cy="40777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43"/>
            <p:cNvSpPr/>
            <p:nvPr/>
          </p:nvSpPr>
          <p:spPr>
            <a:xfrm>
              <a:off x="1739533" y="1885453"/>
              <a:ext cx="493405" cy="407773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43"/>
            <p:cNvSpPr/>
            <p:nvPr/>
          </p:nvSpPr>
          <p:spPr>
            <a:xfrm>
              <a:off x="1142809" y="1885453"/>
              <a:ext cx="493405" cy="407773"/>
            </a:xfrm>
            <a:prstGeom prst="rect">
              <a:avLst/>
            </a:prstGeom>
            <a:solidFill>
              <a:schemeClr val="accent4"/>
            </a:solidFill>
            <a:ln w="12700" cap="flat" cmpd="sng">
              <a:solidFill>
                <a:srgbClr val="6C47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U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54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ACKNOWLEDGMENTS</a:t>
            </a:r>
            <a:endParaRPr/>
          </a:p>
        </p:txBody>
      </p:sp>
      <p:sp>
        <p:nvSpPr>
          <p:cNvPr id="600" name="Google Shape;600;p54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These slides use materials by Berkeley’s DS 100 team, Isabel Cruz, Jiawei Han, Micheline </a:t>
            </a:r>
            <a:r>
              <a:rPr lang="en-US" dirty="0" err="1"/>
              <a:t>Kamber</a:t>
            </a:r>
            <a:r>
              <a:rPr lang="en-US" dirty="0"/>
              <a:t>, Jian Pei, and Elena </a:t>
            </a:r>
            <a:r>
              <a:rPr lang="en-US" dirty="0" err="1"/>
              <a:t>Zheleva</a:t>
            </a: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3976</TotalTime>
  <Words>1751</Words>
  <Application>Microsoft Macintosh PowerPoint</Application>
  <PresentationFormat>宽屏</PresentationFormat>
  <Paragraphs>713</Paragraphs>
  <Slides>25</Slides>
  <Notes>25</Notes>
  <HiddenSlides>1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Noto Sans Symbols</vt:lpstr>
      <vt:lpstr>Arial</vt:lpstr>
      <vt:lpstr>Calibri</vt:lpstr>
      <vt:lpstr>Comic Sans MS</vt:lpstr>
      <vt:lpstr>Consolas</vt:lpstr>
      <vt:lpstr>Courier</vt:lpstr>
      <vt:lpstr>Gill Sans MT</vt:lpstr>
      <vt:lpstr>Helvetica Neue</vt:lpstr>
      <vt:lpstr>Rockwell</vt:lpstr>
      <vt:lpstr>Wingdings</vt:lpstr>
      <vt:lpstr>Wingdings 2</vt:lpstr>
      <vt:lpstr>Oriel</vt:lpstr>
      <vt:lpstr>data wrangling</vt:lpstr>
      <vt:lpstr>PARSING JSON IN PYTHON</vt:lpstr>
      <vt:lpstr>XML / HTML FILES</vt:lpstr>
      <vt:lpstr>XML (ANOTHER KIND OF NESTED DATA)</vt:lpstr>
      <vt:lpstr>PARSING XML/HTML IN PYTHON</vt:lpstr>
      <vt:lpstr>Now</vt:lpstr>
      <vt:lpstr>DATA WRANGLING</vt:lpstr>
      <vt:lpstr>TRANSFORMING DATA</vt:lpstr>
      <vt:lpstr>QUESTIONS TO ASK ABOUT STRUCTURE</vt:lpstr>
      <vt:lpstr>STRUCTURE: KEYS</vt:lpstr>
      <vt:lpstr>JOINING TWO TABLES</vt:lpstr>
      <vt:lpstr>JOINING TWO TABLES</vt:lpstr>
      <vt:lpstr>KINDS OF </vt:lpstr>
      <vt:lpstr>Quiz</vt:lpstr>
      <vt:lpstr>QUIZ</vt:lpstr>
      <vt:lpstr>DATA GRANULARITY</vt:lpstr>
      <vt:lpstr>QUESTIONS TO ASK ABOUT GRANULARITY</vt:lpstr>
      <vt:lpstr>MANIPULATING GRANULARITY: GROUP BY</vt:lpstr>
      <vt:lpstr>MANIPULATING GRANULARITY: GROUP BY</vt:lpstr>
      <vt:lpstr>MANIPULATING GRANULARITY: GROUP BY</vt:lpstr>
      <vt:lpstr>MANIPULATING GRANULARITY: GROUP BY</vt:lpstr>
      <vt:lpstr>MANIPULATING GRANULARITY: GROUP BY</vt:lpstr>
      <vt:lpstr>MANIPULATING GRANULARITY: GROUP BY </vt:lpstr>
      <vt:lpstr>MANIPULATING GRANULARITY: PIVOT </vt:lpstr>
      <vt:lpstr>ACKNOWLEDGMENTS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DATA SCIENCE</dc:title>
  <dc:subject/>
  <dc:creator>sathya@uic.edu</dc:creator>
  <cp:keywords/>
  <dc:description/>
  <cp:lastModifiedBy>yuting lu</cp:lastModifiedBy>
  <cp:revision>197</cp:revision>
  <dcterms:created xsi:type="dcterms:W3CDTF">2017-08-21T17:08:06Z</dcterms:created>
  <dcterms:modified xsi:type="dcterms:W3CDTF">2024-10-29T17:05:25Z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">
    <vt:lpwstr>Sathya Ravi</vt:lpwstr>
  </property>
</Properties>
</file>