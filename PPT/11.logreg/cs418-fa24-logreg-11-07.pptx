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0" r:id="rId1"/>
  </p:sldMasterIdLst>
  <p:notesMasterIdLst>
    <p:notesMasterId r:id="rId13"/>
  </p:notesMasterIdLst>
  <p:sldIdLst>
    <p:sldId id="276" r:id="rId2"/>
    <p:sldId id="523" r:id="rId3"/>
    <p:sldId id="524" r:id="rId4"/>
    <p:sldId id="525" r:id="rId5"/>
    <p:sldId id="526" r:id="rId6"/>
    <p:sldId id="527" r:id="rId7"/>
    <p:sldId id="528" r:id="rId8"/>
    <p:sldId id="529" r:id="rId9"/>
    <p:sldId id="530" r:id="rId10"/>
    <p:sldId id="282" r:id="rId11"/>
    <p:sldId id="286" r:id="rId12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D0099A61-60B1-E343-B0A1-10E31D92ED86}">
          <p14:sldIdLst>
            <p14:sldId id="276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282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6" roundtripDataSignature="AMtx7mgjr6sOdHEeufIgXygRCCpSkdg5S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E43D9A-B9CC-D204-4563-8196A434CD32}" name="Ravi, Sathya" initials="" userId="S::sathya@uic.edu::617e2e82-06a6-4137-a700-b460764285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8F00"/>
    <a:srgbClr val="FE8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9F83C-5B16-4E0F-93E5-201A7CBD518D}">
  <a:tblStyle styleId="{CA29F83C-5B16-4E0F-93E5-201A7CBD518D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7E8E7"/>
          </a:solidFill>
        </a:fill>
      </a:tcStyle>
    </a:wholeTbl>
    <a:band1H>
      <a:tcTxStyle b="off" i="off"/>
      <a:tcStyle>
        <a:tcBdr/>
        <a:fill>
          <a:solidFill>
            <a:srgbClr val="EFCE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FCE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7"/>
    <p:restoredTop sz="75631"/>
  </p:normalViewPr>
  <p:slideViewPr>
    <p:cSldViewPr snapToGrid="0">
      <p:cViewPr varScale="1">
        <p:scale>
          <a:sx n="81" d="100"/>
          <a:sy n="81" d="100"/>
        </p:scale>
        <p:origin x="1528" y="176"/>
      </p:cViewPr>
      <p:guideLst/>
    </p:cSldViewPr>
  </p:slideViewPr>
  <p:outlineViewPr>
    <p:cViewPr>
      <p:scale>
        <a:sx n="33" d="100"/>
        <a:sy n="33" d="100"/>
      </p:scale>
      <p:origin x="0" y="-140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38" Type="http://schemas.openxmlformats.org/officeDocument/2006/relationships/viewProps" Target="viewProps.xml"/><Relationship Id="rId14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37" Type="http://schemas.openxmlformats.org/officeDocument/2006/relationships/presProps" Target="presProps.xml"/><Relationship Id="rId2" Type="http://schemas.openxmlformats.org/officeDocument/2006/relationships/slide" Target="slides/slide1.xml"/><Relationship Id="rId14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36" Type="http://customschemas.google.com/relationships/presentationmetadata" Target="metadata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4c2a52beb4_0_6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44" name="Google Shape;544;g24c2a52beb4_0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5816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8320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>
          <a:extLst>
            <a:ext uri="{FF2B5EF4-FFF2-40B4-BE49-F238E27FC236}">
              <a16:creationId xmlns:a16="http://schemas.microsoft.com/office/drawing/2014/main" id="{F62E9664-C3DA-6294-E2E5-2E0AB97CE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0:notes">
            <a:extLst>
              <a:ext uri="{FF2B5EF4-FFF2-40B4-BE49-F238E27FC236}">
                <a16:creationId xmlns:a16="http://schemas.microsoft.com/office/drawing/2014/main" id="{FA807286-F23C-20FA-8B78-7604389D1B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 altLang="en-US" dirty="0"/>
              <a:t>线性代数概念：超平面将一个 </a:t>
            </a:r>
            <a:r>
              <a:rPr lang="en" altLang="zh-CN" b="1" dirty="0"/>
              <a:t>D</a:t>
            </a:r>
            <a:r>
              <a:rPr lang="en" altLang="zh-CN" dirty="0"/>
              <a:t> </a:t>
            </a:r>
            <a:r>
              <a:rPr lang="zh-CN" altLang="en-US"/>
              <a:t>维空间分成两个半空间。</a:t>
            </a:r>
            <a:br>
              <a:rPr lang="zh-CN" altLang="en-US"/>
            </a:br>
            <a:r>
              <a:rPr lang="zh-CN" altLang="en-US"/>
              <a:t>机器学习算法：寻找最能将正例和负例分开的超平面。</a:t>
            </a:r>
            <a:br>
              <a:rPr lang="zh-CN" altLang="en-US"/>
            </a:br>
            <a:r>
              <a:rPr lang="zh-CN" altLang="en-US"/>
              <a:t>用于预测新样本的类别。</a:t>
            </a:r>
            <a:endParaRPr dirty="0"/>
          </a:p>
        </p:txBody>
      </p:sp>
      <p:sp>
        <p:nvSpPr>
          <p:cNvPr id="603" name="Google Shape;603;p10:notes">
            <a:extLst>
              <a:ext uri="{FF2B5EF4-FFF2-40B4-BE49-F238E27FC236}">
                <a16:creationId xmlns:a16="http://schemas.microsoft.com/office/drawing/2014/main" id="{A8E56351-7109-F48B-12F2-380F2B724B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28920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27680" y="1183257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2421" y="3429000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4" name="Rectangle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9" name="Rectangle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7" name="Rectangle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1" name="Oval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3" name="Oval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4" name="Oval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6" name="Oval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5" name="Oval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3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90" y="494193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51616" y="3280744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Rectangle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9" name="Oval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0" name="Oval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1" name="Oval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2" name="Oval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3" name="Oval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0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792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5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4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3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Oval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1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3" name="Oval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74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8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92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9415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Oval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4c2a52beb4_0_654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00" cy="3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</a:pPr>
            <a:r>
              <a:rPr lang="en-US" sz="7000" dirty="0"/>
              <a:t>MACHINE LEARNING </a:t>
            </a:r>
            <a:endParaRPr sz="7000" dirty="0"/>
          </a:p>
        </p:txBody>
      </p:sp>
      <p:sp>
        <p:nvSpPr>
          <p:cNvPr id="547" name="Google Shape;547;g24c2a52beb4_0_654"/>
          <p:cNvSpPr txBox="1">
            <a:spLocks noGrp="1"/>
          </p:cNvSpPr>
          <p:nvPr>
            <p:ph type="body" idx="1"/>
          </p:nvPr>
        </p:nvSpPr>
        <p:spPr>
          <a:xfrm>
            <a:off x="2650683" y="4950783"/>
            <a:ext cx="9052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dirty="0"/>
              <a:t>LDS Ch 19: LOGISTIC REGRESSION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FD827A-A59A-5B02-D4C2-D97D671859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09600" y="274638"/>
                <a:ext cx="10661374" cy="1143000"/>
              </a:xfrm>
            </p:spPr>
            <p:txBody>
              <a:bodyPr/>
              <a:lstStyle/>
              <a:p>
                <a:r>
                  <a:rPr lang="en-US"/>
                  <a:t>Log Reg FOR BINARY PREDICTION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FD827A-A59A-5B02-D4C2-D97D671859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09600" y="274638"/>
                <a:ext cx="10661374" cy="1143000"/>
              </a:xfrm>
              <a:blipFill>
                <a:blip r:embed="rId3"/>
                <a:stretch>
                  <a:fillRect l="-1429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C3C54A-699B-4049-6580-1D459FB8A52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Q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: 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For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the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dataset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</a:rPr>
                      <m:t> 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,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which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of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the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following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two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likelihoods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should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be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maximized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FF0000"/>
                        </a:solidFill>
                      </a:rPr>
                      <m:t>?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 sz="2000">
                            <a:solidFill>
                              <a:srgbClr val="FF0000"/>
                            </a:solidFill>
                          </a:rPr>
                          <m:t> </m:t>
                        </m:r>
                      </m:e>
                    </m:nary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 sz="2000">
                            <a:solidFill>
                              <a:srgbClr val="FF0000"/>
                            </a:solidFill>
                          </a:rPr>
                          <m:t> </m:t>
                        </m:r>
                      </m:e>
                    </m:nary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r>
                  <a:rPr lang="en-US" sz="2000" dirty="0"/>
                  <a:t>In Binary log reg, the function to be maximized </a:t>
                </a:r>
                <a:r>
                  <a:rPr lang="en-US" sz="2000" dirty="0" err="1"/>
                  <a:t>wrt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for is given by,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 sz="2000"/>
                          <m:t> </m:t>
                        </m:r>
                      </m:e>
                    </m:nary>
                  </m:oMath>
                </a14:m>
                <a:br>
                  <a:rPr lang="en-US" sz="20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                             =</m:t>
                    </m:r>
                    <m:nary>
                      <m:naryPr>
                        <m:chr m:val="∏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=1: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func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func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nary>
                          <m:naryPr>
                            <m:chr m:val="∏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=1: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23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unc>
                                  <m:func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den>
                            </m:f>
                          </m:e>
                        </m:nary>
                      </m:e>
                    </m:nary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Q: What do we want to do with this: a. Maximize or b. Minimize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wrt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r>
                  <a:rPr lang="en-US" sz="2000" dirty="0"/>
                  <a:t>Fact: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000" dirty="0"/>
                  <a:t>, so we can minimize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000" dirty="0"/>
                  <a:t> also, they are both equivalent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C3C54A-699B-4049-6580-1D459FB8A5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4"/>
                <a:stretch>
                  <a:fillRect l="-128" t="-521" b="-2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781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0B25B-AF8F-36EE-F078-917BEDB1C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184296" cy="1143000"/>
          </a:xfrm>
        </p:spPr>
        <p:txBody>
          <a:bodyPr/>
          <a:lstStyle/>
          <a:p>
            <a:r>
              <a:rPr lang="en-US" dirty="0"/>
              <a:t>INCREASING FUNCTIONS DO NOT CHANGE MAXIMIZERS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DD9383-33DD-8000-DAC7-1BCE184813A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/>
                  <a:t>We want to maximize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800" dirty="0"/>
                  <a:t>. But the expression looks big and not in empirical form, i.e., no sum over data points</a:t>
                </a:r>
              </a:p>
              <a:p>
                <a:r>
                  <a:rPr lang="en-US" sz="2800" dirty="0"/>
                  <a:t>Consider another function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where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800" dirty="0"/>
                  <a:t> is some increasing function. Then, by Chain rule,</a:t>
                </a:r>
                <a:br>
                  <a:rPr lang="en-US" sz="28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800" dirty="0"/>
                  <a:t>Since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800" dirty="0"/>
                  <a:t> is increasing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800" dirty="0"/>
                  <a:t> for all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This means that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800" dirty="0"/>
                  <a:t> have same points at which gradients vanish!</a:t>
                </a:r>
              </a:p>
              <a:p>
                <a:r>
                  <a:rPr lang="en-US" sz="2800" dirty="0"/>
                  <a:t>Q: What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800" dirty="0"/>
                  <a:t> to choose? Hint: we want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800" dirty="0"/>
                  <a:t> to turn products in to sum..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DD9383-33DD-8000-DAC7-1BCE184813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0" t="-1563" r="-765" b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19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AF8F5-97B0-2FE5-FFCD-8716B6660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LOGISTIC REGRESSION LOSS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1C12B0-24A4-967B-9EF5-2611FDEEC39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 sz="2400"/>
                          <m:t> 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Choose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(⋅)</m:t>
                        </m:r>
                      </m:e>
                    </m:func>
                  </m:oMath>
                </a14:m>
                <a:endParaRPr lang="en-US" b="0" dirty="0"/>
              </a:p>
              <a:p>
                <a:r>
                  <a:rPr lang="en-US" dirty="0"/>
                  <a:t>Then, consider the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, that is,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=1: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func>
                                      <m:func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den>
                                </m:f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func>
                      </m:e>
                    </m:nary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=1: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func>
                                      <m:func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den>
                                </m:f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This is the loss function used in logistic regression and the overall optimization problem is, </a:t>
                </a: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So it also has a minimization form!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1C12B0-24A4-967B-9EF5-2611FDEEC3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83" t="-11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3259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4F95-6D01-0AAB-6D60-A5F324A1C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BINARY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529A5A-B17A-D7CA-B5B0-45F1EC3FD0A9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In logistic regression, the loss function to minimize is given by,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=1: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func>
                                      <m:func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den>
                                </m:f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func>
                      </m:e>
                    </m:nary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=1: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func>
                                      <m:func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den>
                                </m:f>
                              </m:e>
                            </m:d>
                          </m:e>
                        </m:func>
                      </m:e>
                    </m:nary>
                  </m:oMath>
                </a14:m>
                <a:br>
                  <a:rPr lang="en-US" dirty="0"/>
                </a:br>
                <a:endParaRPr lang="en-US" dirty="0"/>
              </a:p>
              <a:p>
                <a:r>
                  <a:rPr lang="en-US" sz="3200" dirty="0">
                    <a:solidFill>
                      <a:srgbClr val="0099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Good news</a:t>
                </a:r>
                <a:r>
                  <a:rPr lang="en-US" sz="32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"/>
                        <a:cs typeface="Times"/>
                        <a:sym typeface="Times"/>
                      </a:rPr>
                      <m:t>𝐿</m:t>
                    </m:r>
                    <m:r>
                      <a:rPr lang="en-US" sz="32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"/>
                        <a:cs typeface="Times"/>
                        <a:sym typeface="Times"/>
                      </a:rPr>
                      <m:t>(</m:t>
                    </m:r>
                    <m:r>
                      <a:rPr lang="en-US" sz="32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"/>
                        <a:cs typeface="Times"/>
                        <a:sym typeface="Times"/>
                      </a:rPr>
                      <m:t>𝜃</m:t>
                    </m:r>
                    <m:r>
                      <a:rPr lang="en-US" sz="32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"/>
                        <a:cs typeface="Times"/>
                        <a:sym typeface="Times"/>
                      </a:rPr>
                      <m:t>)</m:t>
                    </m:r>
                  </m:oMath>
                </a14:m>
                <a:r>
                  <a:rPr lang="en-US" sz="32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is convex function of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"/>
                        <a:cs typeface="Times"/>
                        <a:sym typeface="Times"/>
                      </a:rPr>
                      <m:t>𝜽</m:t>
                    </m:r>
                  </m:oMath>
                </a14:m>
                <a:r>
                  <a:rPr lang="en-US" sz="3200" b="1" dirty="0"/>
                  <a:t> →</a:t>
                </a:r>
                <a:r>
                  <a:rPr lang="en-US" sz="32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no locally optimal solutions</a:t>
                </a:r>
              </a:p>
              <a:p>
                <a:r>
                  <a:rPr lang="en-US" sz="3200" dirty="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Bad news</a:t>
                </a:r>
                <a:r>
                  <a:rPr lang="en-US" sz="32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: no closed-form solution to minimize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"/>
                        <a:cs typeface="Times"/>
                        <a:sym typeface="Times"/>
                      </a:rPr>
                      <m:t>𝐿</m:t>
                    </m:r>
                    <m:d>
                      <m:dPr>
                        <m:ctrlPr>
                          <a:rPr lang="en-US" sz="32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"/>
                            <a:cs typeface="Times"/>
                            <a:sym typeface="Times"/>
                          </a:rPr>
                        </m:ctrlPr>
                      </m:dPr>
                      <m:e>
                        <m:r>
                          <a:rPr lang="en-US" sz="32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"/>
                            <a:cs typeface="Times"/>
                            <a:sym typeface="Times"/>
                          </a:rPr>
                          <m:t>𝜃</m:t>
                        </m:r>
                      </m:e>
                    </m:d>
                  </m:oMath>
                </a14:m>
                <a:endParaRPr lang="en-US" sz="3200" b="0" dirty="0">
                  <a:solidFill>
                    <a:srgbClr val="000000"/>
                  </a:solidFill>
                  <a:latin typeface="Calibri"/>
                  <a:ea typeface="Times"/>
                  <a:cs typeface="Times"/>
                  <a:sym typeface="Times"/>
                </a:endParaRPr>
              </a:p>
              <a:p>
                <a:r>
                  <a:rPr lang="en-US" sz="3200" dirty="0">
                    <a:solidFill>
                      <a:srgbClr val="0099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Good news</a:t>
                </a:r>
                <a:r>
                  <a:rPr lang="en-US" sz="32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: convex functions (relatively) easy to minimize</a:t>
                </a:r>
                <a:endParaRPr lang="en-US" sz="3200" dirty="0"/>
              </a:p>
              <a:p>
                <a:endParaRPr lang="en-US" dirty="0"/>
              </a:p>
              <a:p>
                <a:endParaRPr lang="en-US" dirty="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529A5A-B17A-D7CA-B5B0-45F1EC3FD0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765" t="-9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9542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D4A3-0E4C-5B02-B34B-A98A8B6E6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F8E4C-70A1-5A09-F8CD-A25AD0BF176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Loss function for multiclass (i.e.,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can take more than 2 values, not binary) logistic regression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classes can be derived similarly</a:t>
                </a:r>
              </a:p>
              <a:p>
                <a:r>
                  <a:rPr lang="en-US" dirty="0"/>
                  <a:t>In this case, the loss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minimize becomes,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  <m:t>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𝑌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=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𝑐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|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where, </a:t>
                </a:r>
                <a:br>
                  <a:rPr lang="en-US" dirty="0"/>
                </a:br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otherwise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So,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one-hot (one label per data point as in our example before) encoded, then we get just one term per data point!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F8E4C-70A1-5A09-F8CD-A25AD0BF1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383" t="-1302" b="-17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6694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75286-D03E-79BA-5BDD-EDCC4CAEB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practice</a:t>
            </a:r>
          </a:p>
        </p:txBody>
      </p:sp>
      <p:pic>
        <p:nvPicPr>
          <p:cNvPr id="5" name="Content Placeholder 4" descr="A screenshot of a web page&#10;&#10;Description automatically generated">
            <a:extLst>
              <a:ext uri="{FF2B5EF4-FFF2-40B4-BE49-F238E27FC236}">
                <a16:creationId xmlns:a16="http://schemas.microsoft.com/office/drawing/2014/main" id="{745E0B77-5880-6C91-F883-834AFEB9D8B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205170" y="1600200"/>
            <a:ext cx="8765660" cy="4873625"/>
          </a:xfrm>
        </p:spPr>
      </p:pic>
    </p:spTree>
    <p:extLst>
      <p:ext uri="{BB962C8B-B14F-4D97-AF65-F5344CB8AC3E}">
        <p14:creationId xmlns:p14="http://schemas.microsoft.com/office/powerpoint/2010/main" val="4248070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AA408-3389-48B8-A65B-EEB7132D7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practice</a:t>
            </a:r>
          </a:p>
        </p:txBody>
      </p:sp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C600BA7A-4768-DB02-B37D-A25D5BC2448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205170" y="1600200"/>
            <a:ext cx="8765660" cy="4873625"/>
          </a:xfrm>
        </p:spPr>
      </p:pic>
    </p:spTree>
    <p:extLst>
      <p:ext uri="{BB962C8B-B14F-4D97-AF65-F5344CB8AC3E}">
        <p14:creationId xmlns:p14="http://schemas.microsoft.com/office/powerpoint/2010/main" val="170058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66536-F48B-AA9B-6321-EDE104A2A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A2E3-4A12-76BF-A2CB-6FF2DBFE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practice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79930-DC7E-80F8-D77C-880B42C8D6B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Multi-class dataset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7069FF0-FA91-2D08-EE6B-D6056902B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2028902"/>
            <a:ext cx="7772400" cy="432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908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04">
          <a:extLst>
            <a:ext uri="{FF2B5EF4-FFF2-40B4-BE49-F238E27FC236}">
              <a16:creationId xmlns:a16="http://schemas.microsoft.com/office/drawing/2014/main" id="{08B5B921-B345-4F5F-3EE5-C6B1B849E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0">
            <a:extLst>
              <a:ext uri="{FF2B5EF4-FFF2-40B4-BE49-F238E27FC236}">
                <a16:creationId xmlns:a16="http://schemas.microsoft.com/office/drawing/2014/main" id="{1BE1CC0D-6E8E-6A5D-A0D4-11329746D8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9848" y="1798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LINEAR ALGEBRA AND MACHINE LEARNING</a:t>
            </a:r>
            <a:endParaRPr dirty="0"/>
          </a:p>
        </p:txBody>
      </p:sp>
      <p:sp>
        <p:nvSpPr>
          <p:cNvPr id="606" name="Google Shape;606;p10">
            <a:extLst>
              <a:ext uri="{FF2B5EF4-FFF2-40B4-BE49-F238E27FC236}">
                <a16:creationId xmlns:a16="http://schemas.microsoft.com/office/drawing/2014/main" id="{C6873573-2B1B-DAA5-50E1-EFC1C137FC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525" y="1804106"/>
            <a:ext cx="706716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AI and machine learning rely on algorithms that learn to distinguish between classes of objects by using data examples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317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380"/>
              <a:buNone/>
            </a:pPr>
            <a:endParaRPr sz="2800" dirty="0"/>
          </a:p>
          <a:p>
            <a:pPr marL="182880" lvl="0" indent="-317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380"/>
              <a:buNone/>
            </a:pPr>
            <a:endParaRPr sz="28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>
                <a:solidFill>
                  <a:srgbClr val="C00000"/>
                </a:solidFill>
              </a:rPr>
              <a:t>Linear algebra concept</a:t>
            </a:r>
            <a:r>
              <a:rPr lang="en-US" dirty="0"/>
              <a:t>: hyperplanes separate a              D-dimensional space into two half-spaces 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>
                <a:solidFill>
                  <a:srgbClr val="0070C0"/>
                </a:solidFill>
              </a:rPr>
              <a:t>Machine learning algorithm</a:t>
            </a:r>
            <a:r>
              <a:rPr lang="en-US" dirty="0"/>
              <a:t>: find the hyperplane that separates positive from negative examples the best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 dirty="0"/>
              <a:t>Allows predicting the class of new examples</a:t>
            </a:r>
            <a:endParaRPr dirty="0"/>
          </a:p>
        </p:txBody>
      </p:sp>
      <p:cxnSp>
        <p:nvCxnSpPr>
          <p:cNvPr id="607" name="Google Shape;607;p10">
            <a:extLst>
              <a:ext uri="{FF2B5EF4-FFF2-40B4-BE49-F238E27FC236}">
                <a16:creationId xmlns:a16="http://schemas.microsoft.com/office/drawing/2014/main" id="{DA80EFD4-559D-36C0-D76F-2B217070BF29}"/>
              </a:ext>
            </a:extLst>
          </p:cNvPr>
          <p:cNvCxnSpPr/>
          <p:nvPr/>
        </p:nvCxnSpPr>
        <p:spPr>
          <a:xfrm>
            <a:off x="8621776" y="2199391"/>
            <a:ext cx="3894" cy="2911995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none" w="sm" len="sm"/>
          </a:ln>
        </p:spPr>
      </p:cxnSp>
      <p:cxnSp>
        <p:nvCxnSpPr>
          <p:cNvPr id="608" name="Google Shape;608;p10">
            <a:extLst>
              <a:ext uri="{FF2B5EF4-FFF2-40B4-BE49-F238E27FC236}">
                <a16:creationId xmlns:a16="http://schemas.microsoft.com/office/drawing/2014/main" id="{6554E570-589E-829F-AD0F-5A36AE7EC20C}"/>
              </a:ext>
            </a:extLst>
          </p:cNvPr>
          <p:cNvCxnSpPr/>
          <p:nvPr/>
        </p:nvCxnSpPr>
        <p:spPr>
          <a:xfrm flipH="1">
            <a:off x="8022166" y="4551580"/>
            <a:ext cx="3728156" cy="24884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none" w="sm" len="sm"/>
          </a:ln>
        </p:spPr>
      </p:cxnSp>
      <p:sp>
        <p:nvSpPr>
          <p:cNvPr id="609" name="Google Shape;609;p10">
            <a:extLst>
              <a:ext uri="{FF2B5EF4-FFF2-40B4-BE49-F238E27FC236}">
                <a16:creationId xmlns:a16="http://schemas.microsoft.com/office/drawing/2014/main" id="{D82FD216-F7A4-061C-64C4-04642F955D21}"/>
              </a:ext>
            </a:extLst>
          </p:cNvPr>
          <p:cNvSpPr/>
          <p:nvPr/>
        </p:nvSpPr>
        <p:spPr>
          <a:xfrm>
            <a:off x="11284557" y="4649721"/>
            <a:ext cx="562975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532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0">
            <a:extLst>
              <a:ext uri="{FF2B5EF4-FFF2-40B4-BE49-F238E27FC236}">
                <a16:creationId xmlns:a16="http://schemas.microsoft.com/office/drawing/2014/main" id="{44DA17AC-E1DA-1BBC-920E-49825041B50D}"/>
              </a:ext>
            </a:extLst>
          </p:cNvPr>
          <p:cNvSpPr/>
          <p:nvPr/>
        </p:nvSpPr>
        <p:spPr>
          <a:xfrm>
            <a:off x="7850560" y="2039398"/>
            <a:ext cx="792205" cy="69935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4613" r="-7688" b="-1140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1" name="Google Shape;611;p10">
            <a:extLst>
              <a:ext uri="{FF2B5EF4-FFF2-40B4-BE49-F238E27FC236}">
                <a16:creationId xmlns:a16="http://schemas.microsoft.com/office/drawing/2014/main" id="{3C07B58C-89B6-EDF9-AB22-4983CD323F4D}"/>
              </a:ext>
            </a:extLst>
          </p:cNvPr>
          <p:cNvCxnSpPr/>
          <p:nvPr/>
        </p:nvCxnSpPr>
        <p:spPr>
          <a:xfrm rot="10800000" flipH="1">
            <a:off x="8033703" y="2585279"/>
            <a:ext cx="3580554" cy="1903083"/>
          </a:xfrm>
          <a:prstGeom prst="straightConnector1">
            <a:avLst/>
          </a:prstGeom>
          <a:noFill/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2" name="Google Shape;612;p10">
            <a:extLst>
              <a:ext uri="{FF2B5EF4-FFF2-40B4-BE49-F238E27FC236}">
                <a16:creationId xmlns:a16="http://schemas.microsoft.com/office/drawing/2014/main" id="{C9543336-2A76-2FE2-A51E-5E2AD851F95D}"/>
              </a:ext>
            </a:extLst>
          </p:cNvPr>
          <p:cNvCxnSpPr/>
          <p:nvPr/>
        </p:nvCxnSpPr>
        <p:spPr>
          <a:xfrm rot="10800000">
            <a:off x="9363166" y="2946563"/>
            <a:ext cx="384048" cy="640080"/>
          </a:xfrm>
          <a:prstGeom prst="straightConnector1">
            <a:avLst/>
          </a:prstGeom>
          <a:noFill/>
          <a:ln w="53975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13" name="Google Shape;613;p10">
            <a:extLst>
              <a:ext uri="{FF2B5EF4-FFF2-40B4-BE49-F238E27FC236}">
                <a16:creationId xmlns:a16="http://schemas.microsoft.com/office/drawing/2014/main" id="{B6CA9491-6D0A-043E-BB68-E70550444794}"/>
              </a:ext>
            </a:extLst>
          </p:cNvPr>
          <p:cNvSpPr txBox="1"/>
          <p:nvPr/>
        </p:nvSpPr>
        <p:spPr>
          <a:xfrm>
            <a:off x="9076028" y="2833114"/>
            <a:ext cx="36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70C0"/>
                </a:solidFill>
                <a:latin typeface="Rockwell"/>
                <a:ea typeface="Rockwell"/>
                <a:cs typeface="Rockwell"/>
                <a:sym typeface="Rockwell"/>
              </a:rPr>
              <a:t>w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0">
            <a:extLst>
              <a:ext uri="{FF2B5EF4-FFF2-40B4-BE49-F238E27FC236}">
                <a16:creationId xmlns:a16="http://schemas.microsoft.com/office/drawing/2014/main" id="{8F36D1A2-E1A0-BD85-EBEB-B02915F71FBD}"/>
              </a:ext>
            </a:extLst>
          </p:cNvPr>
          <p:cNvSpPr/>
          <p:nvPr/>
        </p:nvSpPr>
        <p:spPr>
          <a:xfrm>
            <a:off x="8474791" y="5916888"/>
            <a:ext cx="2896242" cy="4616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t="-2665" r="-208" b="-1999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5" name="Google Shape;615;p10">
            <a:extLst>
              <a:ext uri="{FF2B5EF4-FFF2-40B4-BE49-F238E27FC236}">
                <a16:creationId xmlns:a16="http://schemas.microsoft.com/office/drawing/2014/main" id="{806ED082-7113-C0D5-70CC-69331287303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0255" y="2833114"/>
            <a:ext cx="4609800" cy="1327822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10">
            <a:extLst>
              <a:ext uri="{FF2B5EF4-FFF2-40B4-BE49-F238E27FC236}">
                <a16:creationId xmlns:a16="http://schemas.microsoft.com/office/drawing/2014/main" id="{DC15AA6D-4A4B-754C-8B2C-DD77EEAFCED5}"/>
              </a:ext>
            </a:extLst>
          </p:cNvPr>
          <p:cNvSpPr/>
          <p:nvPr/>
        </p:nvSpPr>
        <p:spPr>
          <a:xfrm>
            <a:off x="11031417" y="5037081"/>
            <a:ext cx="96853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fluffiness</a:t>
            </a:r>
            <a:endParaRPr sz="1600" b="1" i="0" u="none" strike="noStrike" cap="none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617" name="Google Shape;617;p10">
            <a:extLst>
              <a:ext uri="{FF2B5EF4-FFF2-40B4-BE49-F238E27FC236}">
                <a16:creationId xmlns:a16="http://schemas.microsoft.com/office/drawing/2014/main" id="{D034D0CD-9216-C51C-886F-211BB8AE8A9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7528" y="3970299"/>
            <a:ext cx="466318" cy="476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10">
            <a:extLst>
              <a:ext uri="{FF2B5EF4-FFF2-40B4-BE49-F238E27FC236}">
                <a16:creationId xmlns:a16="http://schemas.microsoft.com/office/drawing/2014/main" id="{70830892-7D8D-F936-58AC-189321474EF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76989" y="3624199"/>
            <a:ext cx="506662" cy="463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10">
            <a:extLst>
              <a:ext uri="{FF2B5EF4-FFF2-40B4-BE49-F238E27FC236}">
                <a16:creationId xmlns:a16="http://schemas.microsoft.com/office/drawing/2014/main" id="{BD09EAAB-EEBC-59B4-DBD9-6899A66E248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10268" y="4086274"/>
            <a:ext cx="443532" cy="40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10">
            <a:extLst>
              <a:ext uri="{FF2B5EF4-FFF2-40B4-BE49-F238E27FC236}">
                <a16:creationId xmlns:a16="http://schemas.microsoft.com/office/drawing/2014/main" id="{161E27C5-82B9-A5E5-20EA-05BA6744863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100407" y="3170568"/>
            <a:ext cx="438309" cy="38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10">
            <a:extLst>
              <a:ext uri="{FF2B5EF4-FFF2-40B4-BE49-F238E27FC236}">
                <a16:creationId xmlns:a16="http://schemas.microsoft.com/office/drawing/2014/main" id="{CF65FD51-D6C1-32BD-D9F3-80B682280886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78694" y="3281209"/>
            <a:ext cx="543905" cy="496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10">
            <a:extLst>
              <a:ext uri="{FF2B5EF4-FFF2-40B4-BE49-F238E27FC236}">
                <a16:creationId xmlns:a16="http://schemas.microsoft.com/office/drawing/2014/main" id="{BD8735D1-1124-59FF-FA33-BBE5C8F512D3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355033" y="2478440"/>
            <a:ext cx="491501" cy="447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10">
            <a:extLst>
              <a:ext uri="{FF2B5EF4-FFF2-40B4-BE49-F238E27FC236}">
                <a16:creationId xmlns:a16="http://schemas.microsoft.com/office/drawing/2014/main" id="{48E19452-4134-2C16-F749-443967C539D6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527528" y="2306759"/>
            <a:ext cx="458944" cy="428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10">
            <a:extLst>
              <a:ext uri="{FF2B5EF4-FFF2-40B4-BE49-F238E27FC236}">
                <a16:creationId xmlns:a16="http://schemas.microsoft.com/office/drawing/2014/main" id="{35A48E5C-D8DE-5931-DEBF-03D406551AA2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110373" y="5270057"/>
            <a:ext cx="636841" cy="553168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10">
            <a:extLst>
              <a:ext uri="{FF2B5EF4-FFF2-40B4-BE49-F238E27FC236}">
                <a16:creationId xmlns:a16="http://schemas.microsoft.com/office/drawing/2014/main" id="{D3262EF7-6920-128A-F042-4B593BE86394}"/>
              </a:ext>
            </a:extLst>
          </p:cNvPr>
          <p:cNvSpPr txBox="1"/>
          <p:nvPr/>
        </p:nvSpPr>
        <p:spPr>
          <a:xfrm>
            <a:off x="9757000" y="5221750"/>
            <a:ext cx="37702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9245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ACKNOWLEDGMENTS</a:t>
            </a:r>
            <a:endParaRPr dirty="0"/>
          </a:p>
        </p:txBody>
      </p:sp>
      <p:sp>
        <p:nvSpPr>
          <p:cNvPr id="471" name="Google Shape;471;p2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These slides use materials by the Brian </a:t>
            </a:r>
            <a:r>
              <a:rPr lang="en-US" dirty="0" err="1"/>
              <a:t>Ziebart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21583</TotalTime>
  <Words>561</Words>
  <Application>Microsoft Macintosh PowerPoint</Application>
  <PresentationFormat>宽屏</PresentationFormat>
  <Paragraphs>57</Paragraphs>
  <Slides>11</Slides>
  <Notes>5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Calibri</vt:lpstr>
      <vt:lpstr>Cambria Math</vt:lpstr>
      <vt:lpstr>Gill Sans MT</vt:lpstr>
      <vt:lpstr>Rockwell</vt:lpstr>
      <vt:lpstr>Times</vt:lpstr>
      <vt:lpstr>Wingdings</vt:lpstr>
      <vt:lpstr>Wingdings 2</vt:lpstr>
      <vt:lpstr>Oriel</vt:lpstr>
      <vt:lpstr>MACHINE LEARNING </vt:lpstr>
      <vt:lpstr>Log Reg FOR BINARY PREDICTION VARIABLES y</vt:lpstr>
      <vt:lpstr>INCREASING FUNCTIONS DO NOT CHANGE MAXIMIZERS</vt:lpstr>
      <vt:lpstr>LOGISTIC REGRESSION LOSS FUNCTION</vt:lpstr>
      <vt:lpstr>Summary OF BINARY LOGISTIC REGRESSION</vt:lpstr>
      <vt:lpstr>MULTICLASS LOGISTIC REGRESSION</vt:lpstr>
      <vt:lpstr>Logistic regression practice</vt:lpstr>
      <vt:lpstr>Logistic regression practice</vt:lpstr>
      <vt:lpstr>Logistic regression practice</vt:lpstr>
      <vt:lpstr>LINEAR ALGEBRA AND MACHINE LEARNING</vt:lpstr>
      <vt:lpstr>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DATA SCIENCE</dc:title>
  <dc:subject/>
  <dc:creator>sathya@uic.edu</dc:creator>
  <cp:keywords/>
  <dc:description/>
  <cp:lastModifiedBy>yuting lu</cp:lastModifiedBy>
  <cp:revision>709</cp:revision>
  <dcterms:created xsi:type="dcterms:W3CDTF">2017-08-21T17:08:06Z</dcterms:created>
  <dcterms:modified xsi:type="dcterms:W3CDTF">2024-11-26T20:07:15Z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Sathya Ravi</vt:lpwstr>
  </property>
</Properties>
</file>