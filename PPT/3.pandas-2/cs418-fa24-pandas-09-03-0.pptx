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60" r:id="rId1"/>
  </p:sldMasterIdLst>
  <p:notesMasterIdLst>
    <p:notesMasterId r:id="rId67"/>
  </p:notesMasterIdLst>
  <p:sldIdLst>
    <p:sldId id="256" r:id="rId2"/>
    <p:sldId id="342" r:id="rId3"/>
    <p:sldId id="274" r:id="rId4"/>
    <p:sldId id="319" r:id="rId5"/>
    <p:sldId id="320" r:id="rId6"/>
    <p:sldId id="322" r:id="rId7"/>
    <p:sldId id="323" r:id="rId8"/>
    <p:sldId id="324" r:id="rId9"/>
    <p:sldId id="325" r:id="rId10"/>
    <p:sldId id="327" r:id="rId11"/>
    <p:sldId id="329" r:id="rId12"/>
    <p:sldId id="331" r:id="rId13"/>
    <p:sldId id="330" r:id="rId14"/>
    <p:sldId id="332" r:id="rId15"/>
    <p:sldId id="333" r:id="rId16"/>
    <p:sldId id="334" r:id="rId17"/>
    <p:sldId id="292" r:id="rId18"/>
    <p:sldId id="293" r:id="rId19"/>
    <p:sldId id="335" r:id="rId20"/>
    <p:sldId id="336" r:id="rId21"/>
    <p:sldId id="337" r:id="rId22"/>
    <p:sldId id="338" r:id="rId23"/>
    <p:sldId id="258" r:id="rId24"/>
    <p:sldId id="260" r:id="rId25"/>
    <p:sldId id="261" r:id="rId26"/>
    <p:sldId id="290" r:id="rId27"/>
    <p:sldId id="262" r:id="rId28"/>
    <p:sldId id="263" r:id="rId29"/>
    <p:sldId id="264" r:id="rId30"/>
    <p:sldId id="265" r:id="rId31"/>
    <p:sldId id="266" r:id="rId32"/>
    <p:sldId id="267" r:id="rId33"/>
    <p:sldId id="268" r:id="rId34"/>
    <p:sldId id="269" r:id="rId35"/>
    <p:sldId id="270" r:id="rId36"/>
    <p:sldId id="271" r:id="rId37"/>
    <p:sldId id="272" r:id="rId38"/>
    <p:sldId id="273" r:id="rId39"/>
    <p:sldId id="339" r:id="rId40"/>
    <p:sldId id="275" r:id="rId41"/>
    <p:sldId id="277" r:id="rId42"/>
    <p:sldId id="278" r:id="rId43"/>
    <p:sldId id="279" r:id="rId44"/>
    <p:sldId id="280" r:id="rId45"/>
    <p:sldId id="281" r:id="rId46"/>
    <p:sldId id="282" r:id="rId47"/>
    <p:sldId id="283" r:id="rId48"/>
    <p:sldId id="284" r:id="rId49"/>
    <p:sldId id="285" r:id="rId50"/>
    <p:sldId id="286" r:id="rId51"/>
    <p:sldId id="287" r:id="rId52"/>
    <p:sldId id="288" r:id="rId53"/>
    <p:sldId id="289" r:id="rId54"/>
    <p:sldId id="291" r:id="rId55"/>
    <p:sldId id="340" r:id="rId56"/>
    <p:sldId id="341" r:id="rId57"/>
    <p:sldId id="294" r:id="rId58"/>
    <p:sldId id="295" r:id="rId59"/>
    <p:sldId id="296" r:id="rId60"/>
    <p:sldId id="297" r:id="rId61"/>
    <p:sldId id="298" r:id="rId62"/>
    <p:sldId id="299" r:id="rId63"/>
    <p:sldId id="300" r:id="rId64"/>
    <p:sldId id="301" r:id="rId65"/>
    <p:sldId id="302" r:id="rId66"/>
  </p:sldIdLst>
  <p:sldSz cx="12192000" cy="6858000"/>
  <p:notesSz cx="6858000" cy="9144000"/>
  <p:defaultTextStyle>
    <a:defPPr>
      <a:defRPr lang="en-GB"/>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85" roundtripDataSignature="AMtx7mgjr6sOdHEeufIgXygRCCpSkdg5Sg=="/>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1E43D9A-B9CC-D204-4563-8196A434CD32}" name="Ravi, Sathya" initials="" userId="S::sathya@uic.edu::617e2e82-06a6-4137-a700-b460764285c6"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A29F83C-5B16-4E0F-93E5-201A7CBD518D}">
  <a:tblStyle styleId="{CA29F83C-5B16-4E0F-93E5-201A7CBD518D}" styleName="Table_0">
    <a:wholeTbl>
      <a:tcTxStyle b="off" i="off">
        <a:font>
          <a:latin typeface="Rockwell"/>
          <a:ea typeface="Rockwell"/>
          <a:cs typeface="Rockwel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F7E8E7"/>
          </a:solidFill>
        </a:fill>
      </a:tcStyle>
    </a:wholeTbl>
    <a:band1H>
      <a:tcTxStyle b="off" i="off"/>
      <a:tcStyle>
        <a:tcBdr/>
        <a:fill>
          <a:solidFill>
            <a:srgbClr val="EFCECA"/>
          </a:solidFill>
        </a:fill>
      </a:tcStyle>
    </a:band1H>
    <a:band2H>
      <a:tcTxStyle b="off" i="off"/>
      <a:tcStyle>
        <a:tcBdr/>
      </a:tcStyle>
    </a:band2H>
    <a:band1V>
      <a:tcTxStyle b="off" i="off"/>
      <a:tcStyle>
        <a:tcBdr/>
        <a:fill>
          <a:solidFill>
            <a:srgbClr val="EFCECA"/>
          </a:solidFill>
        </a:fill>
      </a:tcStyle>
    </a:band1V>
    <a:band2V>
      <a:tcTxStyle b="off" i="off"/>
      <a:tcStyle>
        <a:tcBdr/>
      </a:tcStyle>
    </a:band2V>
    <a:lastCol>
      <a:tcTxStyle b="on" i="off">
        <a:font>
          <a:latin typeface="Rockwell"/>
          <a:ea typeface="Rockwell"/>
          <a:cs typeface="Rockwell"/>
        </a:font>
        <a:schemeClr val="lt1"/>
      </a:tcTxStyle>
      <a:tcStyle>
        <a:tcBdr/>
        <a:fill>
          <a:solidFill>
            <a:schemeClr val="accent1"/>
          </a:solidFill>
        </a:fill>
      </a:tcStyle>
    </a:lastCol>
    <a:firstCol>
      <a:tcTxStyle b="on" i="off">
        <a:font>
          <a:latin typeface="Rockwell"/>
          <a:ea typeface="Rockwell"/>
          <a:cs typeface="Rockwell"/>
        </a:font>
        <a:schemeClr val="lt1"/>
      </a:tcTxStyle>
      <a:tcStyle>
        <a:tcBdr/>
        <a:fill>
          <a:solidFill>
            <a:schemeClr val="accent1"/>
          </a:solidFill>
        </a:fill>
      </a:tcStyle>
    </a:firstCol>
    <a:lastRow>
      <a:tcTxStyle b="on" i="off">
        <a:font>
          <a:latin typeface="Rockwell"/>
          <a:ea typeface="Rockwell"/>
          <a:cs typeface="Rockwell"/>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b="off" i="off"/>
      <a:tcStyle>
        <a:tcBdr/>
      </a:tcStyle>
    </a:seCell>
    <a:swCell>
      <a:tcTxStyle b="off" i="off"/>
      <a:tcStyle>
        <a:tcBdr/>
      </a:tcStyle>
    </a:swCell>
    <a:firstRow>
      <a:tcTxStyle b="on" i="off">
        <a:font>
          <a:latin typeface="Rockwell"/>
          <a:ea typeface="Rockwell"/>
          <a:cs typeface="Rockwell"/>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8138"/>
    <p:restoredTop sz="83569"/>
  </p:normalViewPr>
  <p:slideViewPr>
    <p:cSldViewPr snapToGrid="0">
      <p:cViewPr varScale="1">
        <p:scale>
          <a:sx n="90" d="100"/>
          <a:sy n="90" d="100"/>
        </p:scale>
        <p:origin x="712" y="200"/>
      </p:cViewPr>
      <p:guideLst/>
    </p:cSldViewPr>
  </p:slideViewPr>
  <p:notesTextViewPr>
    <p:cViewPr>
      <p:scale>
        <a:sx n="1" d="1"/>
        <a:sy n="1" d="1"/>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8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87"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90" Type="http://schemas.microsoft.com/office/2018/10/relationships/authors" Target="author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8" Type="http://schemas.openxmlformats.org/officeDocument/2006/relationships/slide" Target="slides/slide7.xml"/><Relationship Id="rId51" Type="http://schemas.openxmlformats.org/officeDocument/2006/relationships/slide" Target="slides/slide50.xml"/><Relationship Id="rId85" Type="http://customschemas.google.com/relationships/presentationmetadata" Target="meta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88"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86"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6" name="Google Shape;106;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07" name="Google Shape;107;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9"/>
        <p:cNvGrpSpPr/>
        <p:nvPr/>
      </p:nvGrpSpPr>
      <p:grpSpPr>
        <a:xfrm>
          <a:off x="0" y="0"/>
          <a:ext cx="0" cy="0"/>
          <a:chOff x="0" y="0"/>
          <a:chExt cx="0" cy="0"/>
        </a:xfrm>
      </p:grpSpPr>
      <p:sp>
        <p:nvSpPr>
          <p:cNvPr id="430" name="Google Shape;430;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31" name="Google Shape;431;p3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endParaRPr/>
          </a:p>
        </p:txBody>
      </p:sp>
      <p:sp>
        <p:nvSpPr>
          <p:cNvPr id="432" name="Google Shape;432;p3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5"/>
        <p:cNvGrpSpPr/>
        <p:nvPr/>
      </p:nvGrpSpPr>
      <p:grpSpPr>
        <a:xfrm>
          <a:off x="0" y="0"/>
          <a:ext cx="0" cy="0"/>
          <a:chOff x="0" y="0"/>
          <a:chExt cx="0" cy="0"/>
        </a:xfrm>
      </p:grpSpPr>
      <p:sp>
        <p:nvSpPr>
          <p:cNvPr id="336" name="Google Shape;336;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7" name="Google Shape;337;p2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338" name="Google Shape;338;p2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2"/>
        <p:cNvGrpSpPr/>
        <p:nvPr/>
      </p:nvGrpSpPr>
      <p:grpSpPr>
        <a:xfrm>
          <a:off x="0" y="0"/>
          <a:ext cx="0" cy="0"/>
          <a:chOff x="0" y="0"/>
          <a:chExt cx="0" cy="0"/>
        </a:xfrm>
      </p:grpSpPr>
      <p:sp>
        <p:nvSpPr>
          <p:cNvPr id="353" name="Google Shape;353;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4" name="Google Shape;354;p2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355" name="Google Shape;355;p2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
        <p:cNvGrpSpPr/>
        <p:nvPr/>
      </p:nvGrpSpPr>
      <p:grpSpPr>
        <a:xfrm>
          <a:off x="0" y="0"/>
          <a:ext cx="0" cy="0"/>
          <a:chOff x="0" y="0"/>
          <a:chExt cx="0" cy="0"/>
        </a:xfrm>
      </p:grpSpPr>
      <p:sp>
        <p:nvSpPr>
          <p:cNvPr id="364" name="Google Shape;364;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65" name="Google Shape;365;p2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366" name="Google Shape;366;p2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4"/>
        <p:cNvGrpSpPr/>
        <p:nvPr/>
      </p:nvGrpSpPr>
      <p:grpSpPr>
        <a:xfrm>
          <a:off x="0" y="0"/>
          <a:ext cx="0" cy="0"/>
          <a:chOff x="0" y="0"/>
          <a:chExt cx="0" cy="0"/>
        </a:xfrm>
      </p:grpSpPr>
      <p:sp>
        <p:nvSpPr>
          <p:cNvPr id="385" name="Google Shape;385;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86" name="Google Shape;386;p2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387" name="Google Shape;387;p2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1"/>
        <p:cNvGrpSpPr/>
        <p:nvPr/>
      </p:nvGrpSpPr>
      <p:grpSpPr>
        <a:xfrm>
          <a:off x="0" y="0"/>
          <a:ext cx="0" cy="0"/>
          <a:chOff x="0" y="0"/>
          <a:chExt cx="0" cy="0"/>
        </a:xfrm>
      </p:grpSpPr>
      <p:sp>
        <p:nvSpPr>
          <p:cNvPr id="392" name="Google Shape;392;p2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93" name="Google Shape;393;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7"/>
        <p:cNvGrpSpPr/>
        <p:nvPr/>
      </p:nvGrpSpPr>
      <p:grpSpPr>
        <a:xfrm>
          <a:off x="0" y="0"/>
          <a:ext cx="0" cy="0"/>
          <a:chOff x="0" y="0"/>
          <a:chExt cx="0" cy="0"/>
        </a:xfrm>
      </p:grpSpPr>
      <p:sp>
        <p:nvSpPr>
          <p:cNvPr id="398" name="Google Shape;398;p2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99" name="Google Shape;399;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3"/>
        <p:cNvGrpSpPr/>
        <p:nvPr/>
      </p:nvGrpSpPr>
      <p:grpSpPr>
        <a:xfrm>
          <a:off x="0" y="0"/>
          <a:ext cx="0" cy="0"/>
          <a:chOff x="0" y="0"/>
          <a:chExt cx="0" cy="0"/>
        </a:xfrm>
      </p:grpSpPr>
      <p:sp>
        <p:nvSpPr>
          <p:cNvPr id="404" name="Google Shape;404;p2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05" name="Google Shape;405;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8"/>
        <p:cNvGrpSpPr/>
        <p:nvPr/>
      </p:nvGrpSpPr>
      <p:grpSpPr>
        <a:xfrm>
          <a:off x="0" y="0"/>
          <a:ext cx="0" cy="0"/>
          <a:chOff x="0" y="0"/>
          <a:chExt cx="0" cy="0"/>
        </a:xfrm>
      </p:grpSpPr>
      <p:sp>
        <p:nvSpPr>
          <p:cNvPr id="419" name="Google Shape;419;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20" name="Google Shape;420;p3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21" name="Google Shape;421;p3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4"/>
        <p:cNvGrpSpPr/>
        <p:nvPr/>
      </p:nvGrpSpPr>
      <p:grpSpPr>
        <a:xfrm>
          <a:off x="0" y="0"/>
          <a:ext cx="0" cy="0"/>
          <a:chOff x="0" y="0"/>
          <a:chExt cx="0" cy="0"/>
        </a:xfrm>
      </p:grpSpPr>
      <p:sp>
        <p:nvSpPr>
          <p:cNvPr id="435" name="Google Shape;435;p3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36" name="Google Shape;436;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0"/>
        <p:cNvGrpSpPr/>
        <p:nvPr/>
      </p:nvGrpSpPr>
      <p:grpSpPr>
        <a:xfrm>
          <a:off x="0" y="0"/>
          <a:ext cx="0" cy="0"/>
          <a:chOff x="0" y="0"/>
          <a:chExt cx="0" cy="0"/>
        </a:xfrm>
      </p:grpSpPr>
      <p:sp>
        <p:nvSpPr>
          <p:cNvPr id="451" name="Google Shape;451;p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2" name="Google Shape;452;p3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53" name="Google Shape;453;p3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3" name="Google Shape;443;p3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all 100% have one first born</a:t>
            </a:r>
            <a:endParaRPr/>
          </a:p>
          <a:p>
            <a:pPr marL="0" lvl="0" indent="0" algn="l" rtl="0">
              <a:lnSpc>
                <a:spcPct val="100000"/>
              </a:lnSpc>
              <a:spcBef>
                <a:spcPts val="0"/>
              </a:spcBef>
              <a:spcAft>
                <a:spcPts val="0"/>
              </a:spcAft>
              <a:buSzPts val="1400"/>
              <a:buNone/>
            </a:pPr>
            <a:endParaRPr/>
          </a:p>
        </p:txBody>
      </p:sp>
      <p:sp>
        <p:nvSpPr>
          <p:cNvPr id="444" name="Google Shape;444;p3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9"/>
        <p:cNvGrpSpPr/>
        <p:nvPr/>
      </p:nvGrpSpPr>
      <p:grpSpPr>
        <a:xfrm>
          <a:off x="0" y="0"/>
          <a:ext cx="0" cy="0"/>
          <a:chOff x="0" y="0"/>
          <a:chExt cx="0" cy="0"/>
        </a:xfrm>
      </p:grpSpPr>
      <p:sp>
        <p:nvSpPr>
          <p:cNvPr id="460" name="Google Shape;460;p3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61" name="Google Shape;461;p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5"/>
        <p:cNvGrpSpPr/>
        <p:nvPr/>
      </p:nvGrpSpPr>
      <p:grpSpPr>
        <a:xfrm>
          <a:off x="0" y="0"/>
          <a:ext cx="0" cy="0"/>
          <a:chOff x="0" y="0"/>
          <a:chExt cx="0" cy="0"/>
        </a:xfrm>
      </p:grpSpPr>
      <p:sp>
        <p:nvSpPr>
          <p:cNvPr id="466" name="Google Shape;466;p3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67" name="Google Shape;467;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2"/>
        <p:cNvGrpSpPr/>
        <p:nvPr/>
      </p:nvGrpSpPr>
      <p:grpSpPr>
        <a:xfrm>
          <a:off x="0" y="0"/>
          <a:ext cx="0" cy="0"/>
          <a:chOff x="0" y="0"/>
          <a:chExt cx="0" cy="0"/>
        </a:xfrm>
      </p:grpSpPr>
      <p:sp>
        <p:nvSpPr>
          <p:cNvPr id="473" name="Google Shape;473;p3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74" name="Google Shape;474;p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8"/>
        <p:cNvGrpSpPr/>
        <p:nvPr/>
      </p:nvGrpSpPr>
      <p:grpSpPr>
        <a:xfrm>
          <a:off x="0" y="0"/>
          <a:ext cx="0" cy="0"/>
          <a:chOff x="0" y="0"/>
          <a:chExt cx="0" cy="0"/>
        </a:xfrm>
      </p:grpSpPr>
      <p:sp>
        <p:nvSpPr>
          <p:cNvPr id="479" name="Google Shape;479;p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0" name="Google Shape;480;p3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81" name="Google Shape;481;p3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7"/>
        <p:cNvGrpSpPr/>
        <p:nvPr/>
      </p:nvGrpSpPr>
      <p:grpSpPr>
        <a:xfrm>
          <a:off x="0" y="0"/>
          <a:ext cx="0" cy="0"/>
          <a:chOff x="0" y="0"/>
          <a:chExt cx="0" cy="0"/>
        </a:xfrm>
      </p:grpSpPr>
      <p:sp>
        <p:nvSpPr>
          <p:cNvPr id="488" name="Google Shape;488;p4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89" name="Google Shape;489;p4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4"/>
        <p:cNvGrpSpPr/>
        <p:nvPr/>
      </p:nvGrpSpPr>
      <p:grpSpPr>
        <a:xfrm>
          <a:off x="0" y="0"/>
          <a:ext cx="0" cy="0"/>
          <a:chOff x="0" y="0"/>
          <a:chExt cx="0" cy="0"/>
        </a:xfrm>
      </p:grpSpPr>
      <p:sp>
        <p:nvSpPr>
          <p:cNvPr id="495" name="Google Shape;495;p4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96" name="Google Shape;496;p4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1" indent="0" algn="l" rtl="0">
              <a:lnSpc>
                <a:spcPct val="100000"/>
              </a:lnSpc>
              <a:spcBef>
                <a:spcPts val="0"/>
              </a:spcBef>
              <a:spcAft>
                <a:spcPts val="0"/>
              </a:spcAft>
              <a:buClr>
                <a:schemeClr val="dk1"/>
              </a:buClr>
              <a:buSzPts val="1200"/>
              <a:buFont typeface="Calibri"/>
              <a:buNone/>
            </a:pPr>
            <a:endParaRPr dirty="0"/>
          </a:p>
        </p:txBody>
      </p:sp>
      <p:sp>
        <p:nvSpPr>
          <p:cNvPr id="497" name="Google Shape;497;p4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3"/>
        <p:cNvGrpSpPr/>
        <p:nvPr/>
      </p:nvGrpSpPr>
      <p:grpSpPr>
        <a:xfrm>
          <a:off x="0" y="0"/>
          <a:ext cx="0" cy="0"/>
          <a:chOff x="0" y="0"/>
          <a:chExt cx="0" cy="0"/>
        </a:xfrm>
      </p:grpSpPr>
      <p:sp>
        <p:nvSpPr>
          <p:cNvPr id="504" name="Google Shape;504;p4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5" name="Google Shape;505;p4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06" name="Google Shape;506;p4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0"/>
        <p:cNvGrpSpPr/>
        <p:nvPr/>
      </p:nvGrpSpPr>
      <p:grpSpPr>
        <a:xfrm>
          <a:off x="0" y="0"/>
          <a:ext cx="0" cy="0"/>
          <a:chOff x="0" y="0"/>
          <a:chExt cx="0" cy="0"/>
        </a:xfrm>
      </p:grpSpPr>
      <p:sp>
        <p:nvSpPr>
          <p:cNvPr id="511" name="Google Shape;511;p4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12" name="Google Shape;512;p4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5"/>
        <p:cNvGrpSpPr/>
        <p:nvPr/>
      </p:nvGrpSpPr>
      <p:grpSpPr>
        <a:xfrm>
          <a:off x="0" y="0"/>
          <a:ext cx="0" cy="0"/>
          <a:chOff x="0" y="0"/>
          <a:chExt cx="0" cy="0"/>
        </a:xfrm>
      </p:grpSpPr>
      <p:sp>
        <p:nvSpPr>
          <p:cNvPr id="516" name="Google Shape;516;p4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17" name="Google Shape;517;p4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18" name="Google Shape;518;p4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7" name="Google Shape;127;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28" name="Google Shape;128;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4" name="Google Shape;144;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3" name="Google Shape;153;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4" name="Google Shape;154;p1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
              <a:t>25</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5"/>
        <p:cNvGrpSpPr/>
        <p:nvPr/>
      </p:nvGrpSpPr>
      <p:grpSpPr>
        <a:xfrm>
          <a:off x="0" y="0"/>
          <a:ext cx="0" cy="0"/>
          <a:chOff x="0" y="0"/>
          <a:chExt cx="0" cy="0"/>
        </a:xfrm>
      </p:grpSpPr>
      <p:sp>
        <p:nvSpPr>
          <p:cNvPr id="526" name="Google Shape;526;p4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27" name="Google Shape;527;p4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528" name="Google Shape;528;p4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
              <a:t>26</a:t>
            </a:fld>
            <a:endParaRPr/>
          </a:p>
        </p:txBody>
      </p:sp>
    </p:spTree>
    <p:extLst>
      <p:ext uri="{BB962C8B-B14F-4D97-AF65-F5344CB8AC3E}">
        <p14:creationId xmlns:p14="http://schemas.microsoft.com/office/powerpoint/2010/main" val="107405837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9" name="Google Shape;169;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7" name="Google Shape;187;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88" name="Google Shape;188;p1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
              <a:t>28</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6" name="Google Shape;196;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p1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6" name="Google Shape;206;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g278d6ac5ee2_0_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
              <a:t>“(Label) Location” and “integer location”</a:t>
            </a:r>
            <a:endParaRPr/>
          </a:p>
        </p:txBody>
      </p:sp>
      <p:sp>
        <p:nvSpPr>
          <p:cNvPr id="213" name="Google Shape;213;g278d6ac5ee2_0_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278d6ac5ee2_0_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9" name="Google Shape;219;g278d6ac5ee2_0_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
              <a:t>Documentation and ideas behind them are quite complex.</a:t>
            </a:r>
            <a:endParaRPr/>
          </a:p>
        </p:txBody>
      </p:sp>
      <p:sp>
        <p:nvSpPr>
          <p:cNvPr id="220" name="Google Shape;220;g278d6ac5ee2_0_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
              <a:t>32</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g278d6ac5ee2_0_1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6" name="Google Shape;226;g278d6ac5ee2_0_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g278d6ac5ee2_0_2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4" name="Google Shape;234;g278d6ac5ee2_0_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g278d6ac5ee2_0_2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2" name="Google Shape;242;g278d6ac5ee2_0_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g278d6ac5ee2_0_3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0" name="Google Shape;250;g278d6ac5ee2_0_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g278d6ac5ee2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0" name="Google Shape;260;g278d6ac5ee2_0_4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g278d6ac5ee2_0_5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0" name="Google Shape;270;g278d6ac5ee2_0_5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271" name="Google Shape;271;g278d6ac5ee2_0_5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
              <a:t>38</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p1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81" name="Google Shape;281;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7" name="Google Shape;287;p1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ltLang="zh-CN" dirty="0"/>
              <a:t>A</a:t>
            </a:r>
            <a:endParaRPr dirty="0"/>
          </a:p>
        </p:txBody>
      </p:sp>
      <p:sp>
        <p:nvSpPr>
          <p:cNvPr id="288" name="Google Shape;288;p1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
              <a:t>40</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9"/>
        <p:cNvGrpSpPr/>
        <p:nvPr/>
      </p:nvGrpSpPr>
      <p:grpSpPr>
        <a:xfrm>
          <a:off x="0" y="0"/>
          <a:ext cx="0" cy="0"/>
          <a:chOff x="0" y="0"/>
          <a:chExt cx="0" cy="0"/>
        </a:xfrm>
      </p:grpSpPr>
      <p:sp>
        <p:nvSpPr>
          <p:cNvPr id="310" name="Google Shape;310;p2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1" name="Google Shape;311;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7"/>
        <p:cNvGrpSpPr/>
        <p:nvPr/>
      </p:nvGrpSpPr>
      <p:grpSpPr>
        <a:xfrm>
          <a:off x="0" y="0"/>
          <a:ext cx="0" cy="0"/>
          <a:chOff x="0" y="0"/>
          <a:chExt cx="0" cy="0"/>
        </a:xfrm>
      </p:grpSpPr>
      <p:sp>
        <p:nvSpPr>
          <p:cNvPr id="318" name="Google Shape;318;p2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9" name="Google Shape;319;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3"/>
        <p:cNvGrpSpPr/>
        <p:nvPr/>
      </p:nvGrpSpPr>
      <p:grpSpPr>
        <a:xfrm>
          <a:off x="0" y="0"/>
          <a:ext cx="0" cy="0"/>
          <a:chOff x="0" y="0"/>
          <a:chExt cx="0" cy="0"/>
        </a:xfrm>
      </p:grpSpPr>
      <p:sp>
        <p:nvSpPr>
          <p:cNvPr id="324" name="Google Shape;324;p2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5" name="Google Shape;325;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5"/>
        <p:cNvGrpSpPr/>
        <p:nvPr/>
      </p:nvGrpSpPr>
      <p:grpSpPr>
        <a:xfrm>
          <a:off x="0" y="0"/>
          <a:ext cx="0" cy="0"/>
          <a:chOff x="0" y="0"/>
          <a:chExt cx="0" cy="0"/>
        </a:xfrm>
      </p:grpSpPr>
      <p:sp>
        <p:nvSpPr>
          <p:cNvPr id="356" name="Google Shape;356;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7" name="Google Shape;357;p2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dirty="0"/>
              <a:t>A</a:t>
            </a:r>
            <a:endParaRPr dirty="0"/>
          </a:p>
        </p:txBody>
      </p:sp>
      <p:sp>
        <p:nvSpPr>
          <p:cNvPr id="358" name="Google Shape;358;p2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
              <a:t>44</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1"/>
        <p:cNvGrpSpPr/>
        <p:nvPr/>
      </p:nvGrpSpPr>
      <p:grpSpPr>
        <a:xfrm>
          <a:off x="0" y="0"/>
          <a:ext cx="0" cy="0"/>
          <a:chOff x="0" y="0"/>
          <a:chExt cx="0" cy="0"/>
        </a:xfrm>
      </p:grpSpPr>
      <p:sp>
        <p:nvSpPr>
          <p:cNvPr id="392" name="Google Shape;392;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93" name="Google Shape;393;p2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dirty="0"/>
              <a:t>B</a:t>
            </a:r>
            <a:endParaRPr dirty="0"/>
          </a:p>
        </p:txBody>
      </p:sp>
      <p:sp>
        <p:nvSpPr>
          <p:cNvPr id="394" name="Google Shape;394;p2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
              <a:t>45</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7"/>
        <p:cNvGrpSpPr/>
        <p:nvPr/>
      </p:nvGrpSpPr>
      <p:grpSpPr>
        <a:xfrm>
          <a:off x="0" y="0"/>
          <a:ext cx="0" cy="0"/>
          <a:chOff x="0" y="0"/>
          <a:chExt cx="0" cy="0"/>
        </a:xfrm>
      </p:grpSpPr>
      <p:sp>
        <p:nvSpPr>
          <p:cNvPr id="428" name="Google Shape;428;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29" name="Google Shape;429;p2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dirty="0"/>
              <a:t>C</a:t>
            </a:r>
            <a:endParaRPr dirty="0"/>
          </a:p>
        </p:txBody>
      </p:sp>
      <p:sp>
        <p:nvSpPr>
          <p:cNvPr id="430" name="Google Shape;430;p2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
              <a:t>46</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3"/>
        <p:cNvGrpSpPr/>
        <p:nvPr/>
      </p:nvGrpSpPr>
      <p:grpSpPr>
        <a:xfrm>
          <a:off x="0" y="0"/>
          <a:ext cx="0" cy="0"/>
          <a:chOff x="0" y="0"/>
          <a:chExt cx="0" cy="0"/>
        </a:xfrm>
      </p:grpSpPr>
      <p:sp>
        <p:nvSpPr>
          <p:cNvPr id="464" name="Google Shape;464;p2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65" name="Google Shape;465;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9"/>
        <p:cNvGrpSpPr/>
        <p:nvPr/>
      </p:nvGrpSpPr>
      <p:grpSpPr>
        <a:xfrm>
          <a:off x="0" y="0"/>
          <a:ext cx="0" cy="0"/>
          <a:chOff x="0" y="0"/>
          <a:chExt cx="0" cy="0"/>
        </a:xfrm>
      </p:grpSpPr>
      <p:sp>
        <p:nvSpPr>
          <p:cNvPr id="470" name="Google Shape;470;p2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71" name="Google Shape;471;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8"/>
        <p:cNvGrpSpPr/>
        <p:nvPr/>
      </p:nvGrpSpPr>
      <p:grpSpPr>
        <a:xfrm>
          <a:off x="0" y="0"/>
          <a:ext cx="0" cy="0"/>
          <a:chOff x="0" y="0"/>
          <a:chExt cx="0" cy="0"/>
        </a:xfrm>
      </p:grpSpPr>
      <p:sp>
        <p:nvSpPr>
          <p:cNvPr id="479" name="Google Shape;479;p2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80" name="Google Shape;480;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2"/>
        <p:cNvGrpSpPr/>
        <p:nvPr/>
      </p:nvGrpSpPr>
      <p:grpSpPr>
        <a:xfrm>
          <a:off x="0" y="0"/>
          <a:ext cx="0" cy="0"/>
          <a:chOff x="0" y="0"/>
          <a:chExt cx="0" cy="0"/>
        </a:xfrm>
      </p:grpSpPr>
      <p:sp>
        <p:nvSpPr>
          <p:cNvPr id="493" name="Google Shape;493;p3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94" name="Google Shape;494;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0"/>
        <p:cNvGrpSpPr/>
        <p:nvPr/>
      </p:nvGrpSpPr>
      <p:grpSpPr>
        <a:xfrm>
          <a:off x="0" y="0"/>
          <a:ext cx="0" cy="0"/>
          <a:chOff x="0" y="0"/>
          <a:chExt cx="0" cy="0"/>
        </a:xfrm>
      </p:grpSpPr>
      <p:sp>
        <p:nvSpPr>
          <p:cNvPr id="501" name="Google Shape;501;p3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02" name="Google Shape;502;p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8"/>
        <p:cNvGrpSpPr/>
        <p:nvPr/>
      </p:nvGrpSpPr>
      <p:grpSpPr>
        <a:xfrm>
          <a:off x="0" y="0"/>
          <a:ext cx="0" cy="0"/>
          <a:chOff x="0" y="0"/>
          <a:chExt cx="0" cy="0"/>
        </a:xfrm>
      </p:grpSpPr>
      <p:sp>
        <p:nvSpPr>
          <p:cNvPr id="509" name="Google Shape;509;g1fcaa18c86e_1_1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10" name="Google Shape;510;g1fcaa18c86e_1_1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511" name="Google Shape;511;g1fcaa18c86e_1_1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
              <a:t>52</a:t>
            </a:fld>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8"/>
        <p:cNvGrpSpPr/>
        <p:nvPr/>
      </p:nvGrpSpPr>
      <p:grpSpPr>
        <a:xfrm>
          <a:off x="0" y="0"/>
          <a:ext cx="0" cy="0"/>
          <a:chOff x="0" y="0"/>
          <a:chExt cx="0" cy="0"/>
        </a:xfrm>
      </p:grpSpPr>
      <p:sp>
        <p:nvSpPr>
          <p:cNvPr id="519" name="Google Shape;519;p4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20" name="Google Shape;520;p4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21" name="Google Shape;521;p4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
              <a:t>53</a:t>
            </a:fld>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2"/>
        <p:cNvGrpSpPr/>
        <p:nvPr/>
      </p:nvGrpSpPr>
      <p:grpSpPr>
        <a:xfrm>
          <a:off x="0" y="0"/>
          <a:ext cx="0" cy="0"/>
          <a:chOff x="0" y="0"/>
          <a:chExt cx="0" cy="0"/>
        </a:xfrm>
      </p:grpSpPr>
      <p:sp>
        <p:nvSpPr>
          <p:cNvPr id="533" name="Google Shape;533;p4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34" name="Google Shape;534;p4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35" name="Google Shape;535;p4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
              <a:t>54</a:t>
            </a:fld>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1"/>
        <p:cNvGrpSpPr/>
        <p:nvPr/>
      </p:nvGrpSpPr>
      <p:grpSpPr>
        <a:xfrm>
          <a:off x="0" y="0"/>
          <a:ext cx="0" cy="0"/>
          <a:chOff x="0" y="0"/>
          <a:chExt cx="0" cy="0"/>
        </a:xfrm>
      </p:grpSpPr>
      <p:sp>
        <p:nvSpPr>
          <p:cNvPr id="542" name="Google Shape;542;p4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43" name="Google Shape;543;p4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544" name="Google Shape;544;p4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
              <a:t>55</a:t>
            </a:fld>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1"/>
        <p:cNvGrpSpPr/>
        <p:nvPr/>
      </p:nvGrpSpPr>
      <p:grpSpPr>
        <a:xfrm>
          <a:off x="0" y="0"/>
          <a:ext cx="0" cy="0"/>
          <a:chOff x="0" y="0"/>
          <a:chExt cx="0" cy="0"/>
        </a:xfrm>
      </p:grpSpPr>
      <p:sp>
        <p:nvSpPr>
          <p:cNvPr id="552" name="Google Shape;552;p4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53" name="Google Shape;553;p4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9"/>
        <p:cNvGrpSpPr/>
        <p:nvPr/>
      </p:nvGrpSpPr>
      <p:grpSpPr>
        <a:xfrm>
          <a:off x="0" y="0"/>
          <a:ext cx="0" cy="0"/>
          <a:chOff x="0" y="0"/>
          <a:chExt cx="0" cy="0"/>
        </a:xfrm>
      </p:grpSpPr>
      <p:sp>
        <p:nvSpPr>
          <p:cNvPr id="560" name="Google Shape;560;p4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61" name="Google Shape;561;p4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562" name="Google Shape;562;p4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
              <a:t>57</a:t>
            </a:fld>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8"/>
        <p:cNvGrpSpPr/>
        <p:nvPr/>
      </p:nvGrpSpPr>
      <p:grpSpPr>
        <a:xfrm>
          <a:off x="0" y="0"/>
          <a:ext cx="0" cy="0"/>
          <a:chOff x="0" y="0"/>
          <a:chExt cx="0" cy="0"/>
        </a:xfrm>
      </p:grpSpPr>
      <p:sp>
        <p:nvSpPr>
          <p:cNvPr id="569" name="Google Shape;569;p5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70" name="Google Shape;570;p5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71" name="Google Shape;571;p5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
              <a:t>58</a:t>
            </a:fld>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8"/>
        <p:cNvGrpSpPr/>
        <p:nvPr/>
      </p:nvGrpSpPr>
      <p:grpSpPr>
        <a:xfrm>
          <a:off x="0" y="0"/>
          <a:ext cx="0" cy="0"/>
          <a:chOff x="0" y="0"/>
          <a:chExt cx="0" cy="0"/>
        </a:xfrm>
      </p:grpSpPr>
      <p:sp>
        <p:nvSpPr>
          <p:cNvPr id="579" name="Google Shape;579;p4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80" name="Google Shape;580;p4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4"/>
        <p:cNvGrpSpPr/>
        <p:nvPr/>
      </p:nvGrpSpPr>
      <p:grpSpPr>
        <a:xfrm>
          <a:off x="0" y="0"/>
          <a:ext cx="0" cy="0"/>
          <a:chOff x="0" y="0"/>
          <a:chExt cx="0" cy="0"/>
        </a:xfrm>
      </p:grpSpPr>
      <p:sp>
        <p:nvSpPr>
          <p:cNvPr id="585" name="Google Shape;585;p4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86" name="Google Shape;586;p4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87" name="Google Shape;587;p4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
              <a:t>60</a:t>
            </a:fld>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8"/>
        <p:cNvGrpSpPr/>
        <p:nvPr/>
      </p:nvGrpSpPr>
      <p:grpSpPr>
        <a:xfrm>
          <a:off x="0" y="0"/>
          <a:ext cx="0" cy="0"/>
          <a:chOff x="0" y="0"/>
          <a:chExt cx="0" cy="0"/>
        </a:xfrm>
      </p:grpSpPr>
      <p:sp>
        <p:nvSpPr>
          <p:cNvPr id="599" name="Google Shape;599;p4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00" name="Google Shape;600;p4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01" name="Google Shape;601;p4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
              <a:t>61</a:t>
            </a:fld>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0"/>
        <p:cNvGrpSpPr/>
        <p:nvPr/>
      </p:nvGrpSpPr>
      <p:grpSpPr>
        <a:xfrm>
          <a:off x="0" y="0"/>
          <a:ext cx="0" cy="0"/>
          <a:chOff x="0" y="0"/>
          <a:chExt cx="0" cy="0"/>
        </a:xfrm>
      </p:grpSpPr>
      <p:sp>
        <p:nvSpPr>
          <p:cNvPr id="611" name="Google Shape;611;p5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12" name="Google Shape;612;p5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3"/>
        <p:cNvGrpSpPr/>
        <p:nvPr/>
      </p:nvGrpSpPr>
      <p:grpSpPr>
        <a:xfrm>
          <a:off x="0" y="0"/>
          <a:ext cx="0" cy="0"/>
          <a:chOff x="0" y="0"/>
          <a:chExt cx="0" cy="0"/>
        </a:xfrm>
      </p:grpSpPr>
      <p:sp>
        <p:nvSpPr>
          <p:cNvPr id="624" name="Google Shape;624;p5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25" name="Google Shape;625;p5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2"/>
        <p:cNvGrpSpPr/>
        <p:nvPr/>
      </p:nvGrpSpPr>
      <p:grpSpPr>
        <a:xfrm>
          <a:off x="0" y="0"/>
          <a:ext cx="0" cy="0"/>
          <a:chOff x="0" y="0"/>
          <a:chExt cx="0" cy="0"/>
        </a:xfrm>
      </p:grpSpPr>
      <p:sp>
        <p:nvSpPr>
          <p:cNvPr id="683" name="Google Shape;683;p5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84" name="Google Shape;684;p5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8"/>
        <p:cNvGrpSpPr/>
        <p:nvPr/>
      </p:nvGrpSpPr>
      <p:grpSpPr>
        <a:xfrm>
          <a:off x="0" y="0"/>
          <a:ext cx="0" cy="0"/>
          <a:chOff x="0" y="0"/>
          <a:chExt cx="0" cy="0"/>
        </a:xfrm>
      </p:grpSpPr>
      <p:sp>
        <p:nvSpPr>
          <p:cNvPr id="759" name="Google Shape;759;p4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60" name="Google Shape;760;p4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3027680" y="1183257"/>
            <a:ext cx="8229600" cy="1894362"/>
          </a:xfrm>
        </p:spPr>
        <p:txBody>
          <a:bodyPr/>
          <a:lstStyle>
            <a:lvl1pPr>
              <a:defRPr b="1"/>
            </a:lvl1pPr>
          </a:lstStyle>
          <a:p>
            <a:r>
              <a:rPr kumimoji="0" lang="en-US"/>
              <a:t>Click to edit Master title style</a:t>
            </a:r>
          </a:p>
        </p:txBody>
      </p:sp>
      <p:sp>
        <p:nvSpPr>
          <p:cNvPr id="9" name="Subtitle 8"/>
          <p:cNvSpPr>
            <a:spLocks noGrp="1"/>
          </p:cNvSpPr>
          <p:nvPr>
            <p:ph type="subTitle" idx="1"/>
          </p:nvPr>
        </p:nvSpPr>
        <p:spPr>
          <a:xfrm>
            <a:off x="3042421" y="3429000"/>
            <a:ext cx="8229600" cy="1371600"/>
          </a:xfrm>
        </p:spPr>
        <p:txBody>
          <a:bodyPr/>
          <a:lstStyle>
            <a:lvl1pPr marL="0" indent="0" algn="l">
              <a:buNone/>
              <a:defRPr sz="1800" b="1">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bwMode="auto">
          <a:xfrm rot="5400000">
            <a:off x="10733828" y="1110597"/>
            <a:ext cx="2286000" cy="508000"/>
          </a:xfrm>
        </p:spPr>
        <p:txBody>
          <a:bodyPr/>
          <a:lstStyle/>
          <a:p>
            <a:endParaRPr lang="en-US"/>
          </a:p>
        </p:txBody>
      </p:sp>
      <p:sp>
        <p:nvSpPr>
          <p:cNvPr id="17" name="Footer Placeholder 16"/>
          <p:cNvSpPr>
            <a:spLocks noGrp="1"/>
          </p:cNvSpPr>
          <p:nvPr>
            <p:ph type="ftr" sz="quarter" idx="11"/>
          </p:nvPr>
        </p:nvSpPr>
        <p:spPr bwMode="auto">
          <a:xfrm rot="5400000">
            <a:off x="10045959" y="4117661"/>
            <a:ext cx="3657600" cy="512064"/>
          </a:xfrm>
        </p:spPr>
        <p:txBody>
          <a:bodyPr/>
          <a:lstStyle/>
          <a:p>
            <a:endParaRPr lang="en-US"/>
          </a:p>
        </p:txBody>
      </p:sp>
      <p:sp>
        <p:nvSpPr>
          <p:cNvPr id="10" name="Rectangle 9"/>
          <p:cNvSpPr/>
          <p:nvPr/>
        </p:nvSpPr>
        <p:spPr bwMode="auto">
          <a:xfrm>
            <a:off x="508000" y="0"/>
            <a:ext cx="8128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a:p>
        </p:txBody>
      </p:sp>
      <p:sp>
        <p:nvSpPr>
          <p:cNvPr id="12" name="Rectangle 11"/>
          <p:cNvSpPr/>
          <p:nvPr/>
        </p:nvSpPr>
        <p:spPr bwMode="auto">
          <a:xfrm>
            <a:off x="368448" y="0"/>
            <a:ext cx="139552"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a:p>
        </p:txBody>
      </p:sp>
      <p:sp>
        <p:nvSpPr>
          <p:cNvPr id="14" name="Rectangle 13"/>
          <p:cNvSpPr/>
          <p:nvPr/>
        </p:nvSpPr>
        <p:spPr bwMode="auto">
          <a:xfrm>
            <a:off x="1320800" y="0"/>
            <a:ext cx="242496"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a:p>
        </p:txBody>
      </p:sp>
      <p:sp>
        <p:nvSpPr>
          <p:cNvPr id="19" name="Rectangle 18"/>
          <p:cNvSpPr/>
          <p:nvPr/>
        </p:nvSpPr>
        <p:spPr bwMode="auto">
          <a:xfrm>
            <a:off x="1521760" y="0"/>
            <a:ext cx="30704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a:p>
        </p:txBody>
      </p:sp>
      <p:sp>
        <p:nvSpPr>
          <p:cNvPr id="11" name="Straight Connector 10"/>
          <p:cNvSpPr>
            <a:spLocks noChangeShapeType="1"/>
          </p:cNvSpPr>
          <p:nvPr/>
        </p:nvSpPr>
        <p:spPr bwMode="auto">
          <a:xfrm>
            <a:off x="141792"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sz="1400"/>
          </a:p>
        </p:txBody>
      </p:sp>
      <p:sp>
        <p:nvSpPr>
          <p:cNvPr id="18" name="Straight Connector 17"/>
          <p:cNvSpPr>
            <a:spLocks noChangeShapeType="1"/>
          </p:cNvSpPr>
          <p:nvPr/>
        </p:nvSpPr>
        <p:spPr bwMode="auto">
          <a:xfrm>
            <a:off x="12192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sz="1400"/>
          </a:p>
        </p:txBody>
      </p:sp>
      <p:sp>
        <p:nvSpPr>
          <p:cNvPr id="20" name="Straight Connector 19"/>
          <p:cNvSpPr>
            <a:spLocks noChangeShapeType="1"/>
          </p:cNvSpPr>
          <p:nvPr/>
        </p:nvSpPr>
        <p:spPr bwMode="auto">
          <a:xfrm>
            <a:off x="1138816"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sz="1400"/>
          </a:p>
        </p:txBody>
      </p:sp>
      <p:sp>
        <p:nvSpPr>
          <p:cNvPr id="16" name="Straight Connector 15"/>
          <p:cNvSpPr>
            <a:spLocks noChangeShapeType="1"/>
          </p:cNvSpPr>
          <p:nvPr/>
        </p:nvSpPr>
        <p:spPr bwMode="auto">
          <a:xfrm>
            <a:off x="2302187"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sz="1400"/>
          </a:p>
        </p:txBody>
      </p:sp>
      <p:sp>
        <p:nvSpPr>
          <p:cNvPr id="15" name="Straight Connector 14"/>
          <p:cNvSpPr>
            <a:spLocks noChangeShapeType="1"/>
          </p:cNvSpPr>
          <p:nvPr/>
        </p:nvSpPr>
        <p:spPr bwMode="auto">
          <a:xfrm>
            <a:off x="14224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sz="1400"/>
          </a:p>
        </p:txBody>
      </p:sp>
      <p:sp>
        <p:nvSpPr>
          <p:cNvPr id="22" name="Straight Connector 21"/>
          <p:cNvSpPr>
            <a:spLocks noChangeShapeType="1"/>
          </p:cNvSpPr>
          <p:nvPr/>
        </p:nvSpPr>
        <p:spPr bwMode="auto">
          <a:xfrm>
            <a:off x="12151808"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sz="1400"/>
          </a:p>
        </p:txBody>
      </p:sp>
      <p:sp>
        <p:nvSpPr>
          <p:cNvPr id="27" name="Rectangle 26"/>
          <p:cNvSpPr/>
          <p:nvPr/>
        </p:nvSpPr>
        <p:spPr bwMode="auto">
          <a:xfrm>
            <a:off x="1625600" y="0"/>
            <a:ext cx="1016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dirty="0"/>
          </a:p>
        </p:txBody>
      </p:sp>
      <p:sp>
        <p:nvSpPr>
          <p:cNvPr id="21" name="Oval 20"/>
          <p:cNvSpPr/>
          <p:nvPr/>
        </p:nvSpPr>
        <p:spPr bwMode="auto">
          <a:xfrm>
            <a:off x="812800" y="3429000"/>
            <a:ext cx="172720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dirty="0"/>
          </a:p>
        </p:txBody>
      </p:sp>
      <p:sp>
        <p:nvSpPr>
          <p:cNvPr id="23" name="Oval 22"/>
          <p:cNvSpPr/>
          <p:nvPr/>
        </p:nvSpPr>
        <p:spPr bwMode="auto">
          <a:xfrm>
            <a:off x="1746176" y="4866752"/>
            <a:ext cx="855232"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dirty="0"/>
          </a:p>
        </p:txBody>
      </p:sp>
      <p:sp>
        <p:nvSpPr>
          <p:cNvPr id="24" name="Oval 23"/>
          <p:cNvSpPr/>
          <p:nvPr/>
        </p:nvSpPr>
        <p:spPr bwMode="auto">
          <a:xfrm>
            <a:off x="1454773" y="5500632"/>
            <a:ext cx="18288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dirty="0"/>
          </a:p>
        </p:txBody>
      </p:sp>
      <p:sp>
        <p:nvSpPr>
          <p:cNvPr id="26" name="Oval 25"/>
          <p:cNvSpPr/>
          <p:nvPr/>
        </p:nvSpPr>
        <p:spPr bwMode="auto">
          <a:xfrm>
            <a:off x="2218944" y="5788152"/>
            <a:ext cx="36576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dirty="0"/>
          </a:p>
        </p:txBody>
      </p:sp>
      <p:sp>
        <p:nvSpPr>
          <p:cNvPr id="25" name="Oval 24"/>
          <p:cNvSpPr/>
          <p:nvPr/>
        </p:nvSpPr>
        <p:spPr>
          <a:xfrm>
            <a:off x="2540000" y="4495800"/>
            <a:ext cx="48768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dirty="0"/>
          </a:p>
        </p:txBody>
      </p:sp>
      <p:sp>
        <p:nvSpPr>
          <p:cNvPr id="29" name="Slide Number Placeholder 28"/>
          <p:cNvSpPr>
            <a:spLocks noGrp="1"/>
          </p:cNvSpPr>
          <p:nvPr>
            <p:ph type="sldNum" sz="quarter" idx="12"/>
          </p:nvPr>
        </p:nvSpPr>
        <p:spPr bwMode="auto">
          <a:xfrm>
            <a:off x="1767392" y="4928702"/>
            <a:ext cx="812800" cy="517524"/>
          </a:xfrm>
        </p:spPr>
        <p:txBody>
          <a:bodyPr/>
          <a:lstStyle/>
          <a:p>
            <a:pPr marL="0" lvl="0" indent="0" algn="ct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097696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8" name="Content Placeholder 7"/>
          <p:cNvSpPr>
            <a:spLocks noGrp="1"/>
          </p:cNvSpPr>
          <p:nvPr>
            <p:ph sz="quarter" idx="1"/>
          </p:nvPr>
        </p:nvSpPr>
        <p:spPr>
          <a:xfrm>
            <a:off x="609600" y="1600200"/>
            <a:ext cx="9956800" cy="4873752"/>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4"/>
          </p:nvPr>
        </p:nvSpPr>
        <p:spPr/>
        <p:txBody>
          <a:bodyPr rtlCol="0"/>
          <a:lstStyle/>
          <a:p>
            <a:endParaRPr lang="en-US"/>
          </a:p>
        </p:txBody>
      </p:sp>
      <p:sp>
        <p:nvSpPr>
          <p:cNvPr id="9" name="Slide Number Placeholder 8"/>
          <p:cNvSpPr>
            <a:spLocks noGrp="1"/>
          </p:cNvSpPr>
          <p:nvPr>
            <p:ph type="sldNum" sz="quarter" idx="15"/>
          </p:nvPr>
        </p:nvSpPr>
        <p:spPr/>
        <p:txBody>
          <a:bodyPr rtlCol="0"/>
          <a:lstStyle/>
          <a:p>
            <a:pPr marL="0" lvl="0" indent="0" algn="ctr" rtl="0">
              <a:spcBef>
                <a:spcPts val="0"/>
              </a:spcBef>
              <a:spcAft>
                <a:spcPts val="0"/>
              </a:spcAft>
              <a:buNone/>
            </a:pPr>
            <a:fld id="{00000000-1234-1234-1234-123412341234}" type="slidenum">
              <a:rPr lang="en-US" smtClean="0"/>
              <a:t>‹#›</a:t>
            </a:fld>
            <a:endParaRPr lang="en-US"/>
          </a:p>
        </p:txBody>
      </p:sp>
      <p:sp>
        <p:nvSpPr>
          <p:cNvPr id="10" name="Footer Placeholder 9"/>
          <p:cNvSpPr>
            <a:spLocks noGrp="1"/>
          </p:cNvSpPr>
          <p:nvPr>
            <p:ph type="ftr" sz="quarter" idx="16"/>
          </p:nvPr>
        </p:nvSpPr>
        <p:spPr/>
        <p:txBody>
          <a:bodyPr rtlCol="0"/>
          <a:lstStyle/>
          <a:p>
            <a:endParaRPr lang="en-US"/>
          </a:p>
        </p:txBody>
      </p:sp>
    </p:spTree>
    <p:extLst>
      <p:ext uri="{BB962C8B-B14F-4D97-AF65-F5344CB8AC3E}">
        <p14:creationId xmlns:p14="http://schemas.microsoft.com/office/powerpoint/2010/main" val="6285396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101590" y="494193"/>
            <a:ext cx="8229600" cy="2053590"/>
          </a:xfrm>
        </p:spPr>
        <p:txBody>
          <a:bodyPr/>
          <a:lstStyle>
            <a:lvl1pPr algn="l">
              <a:buNone/>
              <a:defRPr sz="3000" b="1" cap="small" baseline="0"/>
            </a:lvl1pPr>
          </a:lstStyle>
          <a:p>
            <a:r>
              <a:rPr kumimoji="0" lang="en-US"/>
              <a:t>Click to edit Master title style</a:t>
            </a:r>
          </a:p>
        </p:txBody>
      </p:sp>
      <p:sp>
        <p:nvSpPr>
          <p:cNvPr id="3" name="Text Placeholder 2"/>
          <p:cNvSpPr>
            <a:spLocks noGrp="1"/>
          </p:cNvSpPr>
          <p:nvPr>
            <p:ph type="body" idx="1"/>
          </p:nvPr>
        </p:nvSpPr>
        <p:spPr>
          <a:xfrm>
            <a:off x="3051616" y="3280744"/>
            <a:ext cx="8229600" cy="1371600"/>
          </a:xfrm>
        </p:spPr>
        <p:txBody>
          <a:bodyPr anchor="t"/>
          <a:lstStyle>
            <a:lvl1pPr marL="0" indent="0">
              <a:buNone/>
              <a:defRPr sz="1800" b="1">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bwMode="auto">
          <a:xfrm rot="5400000">
            <a:off x="10732008" y="1106932"/>
            <a:ext cx="2286000" cy="508000"/>
          </a:xfrm>
        </p:spPr>
        <p:txBody>
          <a:bodyPr/>
          <a:lstStyle/>
          <a:p>
            <a:endParaRPr lang="en-US"/>
          </a:p>
        </p:txBody>
      </p:sp>
      <p:sp>
        <p:nvSpPr>
          <p:cNvPr id="5" name="Footer Placeholder 4"/>
          <p:cNvSpPr>
            <a:spLocks noGrp="1"/>
          </p:cNvSpPr>
          <p:nvPr>
            <p:ph type="ftr" sz="quarter" idx="11"/>
          </p:nvPr>
        </p:nvSpPr>
        <p:spPr bwMode="auto">
          <a:xfrm rot="5400000">
            <a:off x="10046208" y="4114800"/>
            <a:ext cx="3657600" cy="512064"/>
          </a:xfrm>
        </p:spPr>
        <p:txBody>
          <a:bodyPr/>
          <a:lstStyle/>
          <a:p>
            <a:endParaRPr lang="en-US"/>
          </a:p>
        </p:txBody>
      </p:sp>
      <p:sp>
        <p:nvSpPr>
          <p:cNvPr id="9" name="Rectangle 8"/>
          <p:cNvSpPr/>
          <p:nvPr/>
        </p:nvSpPr>
        <p:spPr bwMode="auto">
          <a:xfrm>
            <a:off x="508000" y="0"/>
            <a:ext cx="8128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a:p>
        </p:txBody>
      </p:sp>
      <p:sp>
        <p:nvSpPr>
          <p:cNvPr id="10" name="Rectangle 9"/>
          <p:cNvSpPr/>
          <p:nvPr/>
        </p:nvSpPr>
        <p:spPr bwMode="auto">
          <a:xfrm>
            <a:off x="368448" y="0"/>
            <a:ext cx="139552"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a:p>
        </p:txBody>
      </p:sp>
      <p:sp>
        <p:nvSpPr>
          <p:cNvPr id="11" name="Rectangle 10"/>
          <p:cNvSpPr/>
          <p:nvPr/>
        </p:nvSpPr>
        <p:spPr bwMode="auto">
          <a:xfrm>
            <a:off x="1320800" y="0"/>
            <a:ext cx="242496"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a:p>
        </p:txBody>
      </p:sp>
      <p:sp>
        <p:nvSpPr>
          <p:cNvPr id="12" name="Rectangle 11"/>
          <p:cNvSpPr/>
          <p:nvPr/>
        </p:nvSpPr>
        <p:spPr bwMode="auto">
          <a:xfrm>
            <a:off x="1521760" y="0"/>
            <a:ext cx="30704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a:p>
        </p:txBody>
      </p:sp>
      <p:sp>
        <p:nvSpPr>
          <p:cNvPr id="13" name="Straight Connector 12"/>
          <p:cNvSpPr>
            <a:spLocks noChangeShapeType="1"/>
          </p:cNvSpPr>
          <p:nvPr/>
        </p:nvSpPr>
        <p:spPr bwMode="auto">
          <a:xfrm>
            <a:off x="141792"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sz="1400"/>
          </a:p>
        </p:txBody>
      </p:sp>
      <p:sp>
        <p:nvSpPr>
          <p:cNvPr id="14" name="Straight Connector 13"/>
          <p:cNvSpPr>
            <a:spLocks noChangeShapeType="1"/>
          </p:cNvSpPr>
          <p:nvPr/>
        </p:nvSpPr>
        <p:spPr bwMode="auto">
          <a:xfrm>
            <a:off x="12192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sz="1400"/>
          </a:p>
        </p:txBody>
      </p:sp>
      <p:sp>
        <p:nvSpPr>
          <p:cNvPr id="15" name="Straight Connector 14"/>
          <p:cNvSpPr>
            <a:spLocks noChangeShapeType="1"/>
          </p:cNvSpPr>
          <p:nvPr/>
        </p:nvSpPr>
        <p:spPr bwMode="auto">
          <a:xfrm>
            <a:off x="1138816"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sz="1400"/>
          </a:p>
        </p:txBody>
      </p:sp>
      <p:sp>
        <p:nvSpPr>
          <p:cNvPr id="16" name="Straight Connector 15"/>
          <p:cNvSpPr>
            <a:spLocks noChangeShapeType="1"/>
          </p:cNvSpPr>
          <p:nvPr/>
        </p:nvSpPr>
        <p:spPr bwMode="auto">
          <a:xfrm>
            <a:off x="2302187"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sz="1400"/>
          </a:p>
        </p:txBody>
      </p:sp>
      <p:sp>
        <p:nvSpPr>
          <p:cNvPr id="17" name="Straight Connector 16"/>
          <p:cNvSpPr>
            <a:spLocks noChangeShapeType="1"/>
          </p:cNvSpPr>
          <p:nvPr/>
        </p:nvSpPr>
        <p:spPr bwMode="auto">
          <a:xfrm>
            <a:off x="14224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sz="1400"/>
          </a:p>
        </p:txBody>
      </p:sp>
      <p:sp>
        <p:nvSpPr>
          <p:cNvPr id="18" name="Rectangle 17"/>
          <p:cNvSpPr/>
          <p:nvPr/>
        </p:nvSpPr>
        <p:spPr bwMode="auto">
          <a:xfrm>
            <a:off x="1625600" y="0"/>
            <a:ext cx="1016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dirty="0"/>
          </a:p>
        </p:txBody>
      </p:sp>
      <p:sp>
        <p:nvSpPr>
          <p:cNvPr id="19" name="Oval 18"/>
          <p:cNvSpPr/>
          <p:nvPr/>
        </p:nvSpPr>
        <p:spPr bwMode="auto">
          <a:xfrm>
            <a:off x="812800" y="3429000"/>
            <a:ext cx="1727200" cy="129540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dirty="0"/>
          </a:p>
        </p:txBody>
      </p:sp>
      <p:sp>
        <p:nvSpPr>
          <p:cNvPr id="20" name="Oval 19"/>
          <p:cNvSpPr/>
          <p:nvPr/>
        </p:nvSpPr>
        <p:spPr bwMode="auto">
          <a:xfrm>
            <a:off x="1766272" y="4866752"/>
            <a:ext cx="855232"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dirty="0"/>
          </a:p>
        </p:txBody>
      </p:sp>
      <p:sp>
        <p:nvSpPr>
          <p:cNvPr id="21" name="Oval 20"/>
          <p:cNvSpPr/>
          <p:nvPr/>
        </p:nvSpPr>
        <p:spPr bwMode="auto">
          <a:xfrm>
            <a:off x="1454773" y="5500632"/>
            <a:ext cx="18288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dirty="0"/>
          </a:p>
        </p:txBody>
      </p:sp>
      <p:sp>
        <p:nvSpPr>
          <p:cNvPr id="22" name="Oval 21"/>
          <p:cNvSpPr/>
          <p:nvPr/>
        </p:nvSpPr>
        <p:spPr bwMode="auto">
          <a:xfrm>
            <a:off x="2218944" y="5791200"/>
            <a:ext cx="36576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dirty="0"/>
          </a:p>
        </p:txBody>
      </p:sp>
      <p:sp>
        <p:nvSpPr>
          <p:cNvPr id="23" name="Oval 22"/>
          <p:cNvSpPr/>
          <p:nvPr/>
        </p:nvSpPr>
        <p:spPr bwMode="auto">
          <a:xfrm>
            <a:off x="2505387" y="4479888"/>
            <a:ext cx="48768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dirty="0"/>
          </a:p>
        </p:txBody>
      </p:sp>
      <p:sp>
        <p:nvSpPr>
          <p:cNvPr id="26" name="Straight Connector 25"/>
          <p:cNvSpPr>
            <a:spLocks noChangeShapeType="1"/>
          </p:cNvSpPr>
          <p:nvPr/>
        </p:nvSpPr>
        <p:spPr bwMode="auto">
          <a:xfrm>
            <a:off x="12130592"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sz="1400"/>
          </a:p>
        </p:txBody>
      </p:sp>
      <p:sp>
        <p:nvSpPr>
          <p:cNvPr id="6" name="Slide Number Placeholder 5"/>
          <p:cNvSpPr>
            <a:spLocks noGrp="1"/>
          </p:cNvSpPr>
          <p:nvPr>
            <p:ph type="sldNum" sz="quarter" idx="12"/>
          </p:nvPr>
        </p:nvSpPr>
        <p:spPr bwMode="auto">
          <a:xfrm>
            <a:off x="1787488" y="4928702"/>
            <a:ext cx="812800" cy="517524"/>
          </a:xfrm>
        </p:spPr>
        <p:txBody>
          <a:bodyPr/>
          <a:lstStyle/>
          <a:p>
            <a:pPr marL="0" lvl="0" indent="0" algn="ctr" rtl="0">
              <a:spcBef>
                <a:spcPts val="0"/>
              </a:spcBef>
              <a:spcAft>
                <a:spcPts val="0"/>
              </a:spcAft>
              <a:buNone/>
            </a:pPr>
            <a:fld id="{00000000-1234-1234-1234-123412341234}" type="slidenum">
              <a:rPr lang="en-US" smtClean="0"/>
              <a:t>‹#›</a:t>
            </a:fld>
            <a:endParaRPr lang="en-US" dirty="0"/>
          </a:p>
        </p:txBody>
      </p:sp>
    </p:spTree>
    <p:extLst>
      <p:ext uri="{BB962C8B-B14F-4D97-AF65-F5344CB8AC3E}">
        <p14:creationId xmlns:p14="http://schemas.microsoft.com/office/powerpoint/2010/main" val="15605099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ctr" rtl="0">
              <a:spcBef>
                <a:spcPts val="0"/>
              </a:spcBef>
              <a:spcAft>
                <a:spcPts val="0"/>
              </a:spcAft>
              <a:buNone/>
            </a:pPr>
            <a:fld id="{00000000-1234-1234-1234-123412341234}" type="slidenum">
              <a:rPr lang="en-US" smtClean="0"/>
              <a:t>‹#›</a:t>
            </a:fld>
            <a:endParaRPr lang="en-US"/>
          </a:p>
        </p:txBody>
      </p:sp>
      <p:sp>
        <p:nvSpPr>
          <p:cNvPr id="9" name="Content Placeholder 8"/>
          <p:cNvSpPr>
            <a:spLocks noGrp="1"/>
          </p:cNvSpPr>
          <p:nvPr>
            <p:ph sz="quarter" idx="1"/>
          </p:nvPr>
        </p:nvSpPr>
        <p:spPr>
          <a:xfrm>
            <a:off x="609600" y="1600200"/>
            <a:ext cx="48768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5693664" y="1600200"/>
            <a:ext cx="48768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2579237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10058400" cy="1143000"/>
          </a:xfrm>
        </p:spPr>
        <p:txBody>
          <a:bodyPr anchor="b"/>
          <a:lstStyle>
            <a:lvl1pPr>
              <a:defRPr/>
            </a:lvl1pPr>
          </a:lstStyle>
          <a:p>
            <a:r>
              <a:rPr kumimoji="0" lang="en-US"/>
              <a:t>Click to edit Master title style</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pPr marL="0" lvl="0" indent="0" algn="ctr" rtl="0">
              <a:spcBef>
                <a:spcPts val="0"/>
              </a:spcBef>
              <a:spcAft>
                <a:spcPts val="0"/>
              </a:spcAft>
              <a:buNone/>
            </a:pPr>
            <a:fld id="{00000000-1234-1234-1234-123412341234}" type="slidenum">
              <a:rPr lang="en-US" smtClean="0"/>
              <a:t>‹#›</a:t>
            </a:fld>
            <a:endParaRPr lang="en-US"/>
          </a:p>
        </p:txBody>
      </p:sp>
      <p:sp>
        <p:nvSpPr>
          <p:cNvPr id="11" name="Content Placeholder 10"/>
          <p:cNvSpPr>
            <a:spLocks noGrp="1"/>
          </p:cNvSpPr>
          <p:nvPr>
            <p:ph sz="quarter" idx="2"/>
          </p:nvPr>
        </p:nvSpPr>
        <p:spPr>
          <a:xfrm>
            <a:off x="609600" y="2362200"/>
            <a:ext cx="4876800" cy="38862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5829300" y="2362200"/>
            <a:ext cx="4876800" cy="38862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2" name="Text Placeholder 11"/>
          <p:cNvSpPr>
            <a:spLocks noGrp="1"/>
          </p:cNvSpPr>
          <p:nvPr>
            <p:ph type="body" sz="quarter" idx="1"/>
          </p:nvPr>
        </p:nvSpPr>
        <p:spPr>
          <a:xfrm>
            <a:off x="609600" y="1569720"/>
            <a:ext cx="48768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a:t>Click to edit Master text styles</a:t>
            </a:r>
          </a:p>
        </p:txBody>
      </p:sp>
      <p:sp>
        <p:nvSpPr>
          <p:cNvPr id="14" name="Text Placeholder 13"/>
          <p:cNvSpPr>
            <a:spLocks noGrp="1"/>
          </p:cNvSpPr>
          <p:nvPr>
            <p:ph type="body" sz="quarter" idx="3"/>
          </p:nvPr>
        </p:nvSpPr>
        <p:spPr>
          <a:xfrm>
            <a:off x="5791200" y="1569720"/>
            <a:ext cx="48768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a:t>Click to edit Master text styles</a:t>
            </a:r>
          </a:p>
        </p:txBody>
      </p:sp>
    </p:spTree>
    <p:extLst>
      <p:ext uri="{BB962C8B-B14F-4D97-AF65-F5344CB8AC3E}">
        <p14:creationId xmlns:p14="http://schemas.microsoft.com/office/powerpoint/2010/main" val="40655431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6" name="Date Placeholder 5"/>
          <p:cNvSpPr>
            <a:spLocks noGrp="1"/>
          </p:cNvSpPr>
          <p:nvPr>
            <p:ph type="dt" sz="half" idx="10"/>
          </p:nvPr>
        </p:nvSpPr>
        <p:spPr/>
        <p:txBody>
          <a:bodyPr rtlCol="0"/>
          <a:lstStyle/>
          <a:p>
            <a:endParaRPr lang="en-US"/>
          </a:p>
        </p:txBody>
      </p:sp>
      <p:sp>
        <p:nvSpPr>
          <p:cNvPr id="7" name="Slide Number Placeholder 6"/>
          <p:cNvSpPr>
            <a:spLocks noGrp="1"/>
          </p:cNvSpPr>
          <p:nvPr>
            <p:ph type="sldNum" sz="quarter" idx="11"/>
          </p:nvPr>
        </p:nvSpPr>
        <p:spPr/>
        <p:txBody>
          <a:bodyPr rtlCol="0"/>
          <a:lstStyle/>
          <a:p>
            <a:pPr marL="0" lvl="0" indent="0" algn="ctr" rtl="0">
              <a:spcBef>
                <a:spcPts val="0"/>
              </a:spcBef>
              <a:spcAft>
                <a:spcPts val="0"/>
              </a:spcAft>
              <a:buNone/>
            </a:pPr>
            <a:fld id="{00000000-1234-1234-1234-123412341234}" type="slidenum">
              <a:rPr lang="en-US" smtClean="0"/>
              <a:t>‹#›</a:t>
            </a:fld>
            <a:endParaRPr lang="en-US"/>
          </a:p>
        </p:txBody>
      </p:sp>
      <p:sp>
        <p:nvSpPr>
          <p:cNvPr id="8" name="Footer Placeholder 7"/>
          <p:cNvSpPr>
            <a:spLocks noGrp="1"/>
          </p:cNvSpPr>
          <p:nvPr>
            <p:ph type="ftr" sz="quarter" idx="12"/>
          </p:nvPr>
        </p:nvSpPr>
        <p:spPr/>
        <p:txBody>
          <a:bodyPr rtlCol="0"/>
          <a:lstStyle/>
          <a:p>
            <a:endParaRPr lang="en-US"/>
          </a:p>
        </p:txBody>
      </p:sp>
    </p:spTree>
    <p:extLst>
      <p:ext uri="{BB962C8B-B14F-4D97-AF65-F5344CB8AC3E}">
        <p14:creationId xmlns:p14="http://schemas.microsoft.com/office/powerpoint/2010/main" val="16340412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pPr marL="0" lvl="0" indent="0" algn="ct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8076388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0" name="Straight Connector 9"/>
          <p:cNvSpPr>
            <a:spLocks noChangeShapeType="1"/>
          </p:cNvSpPr>
          <p:nvPr/>
        </p:nvSpPr>
        <p:spPr bwMode="auto">
          <a:xfrm>
            <a:off x="11684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sz="1400" dirty="0"/>
          </a:p>
        </p:txBody>
      </p:sp>
      <p:sp>
        <p:nvSpPr>
          <p:cNvPr id="2" name="Title 1"/>
          <p:cNvSpPr>
            <a:spLocks noGrp="1"/>
          </p:cNvSpPr>
          <p:nvPr>
            <p:ph type="title"/>
          </p:nvPr>
        </p:nvSpPr>
        <p:spPr>
          <a:xfrm rot="5400000">
            <a:off x="5547360" y="3124200"/>
            <a:ext cx="6309360" cy="609600"/>
          </a:xfrm>
        </p:spPr>
        <p:txBody>
          <a:bodyPr anchor="b"/>
          <a:lstStyle>
            <a:lvl1pPr algn="l">
              <a:buNone/>
              <a:defRPr sz="2000" b="1" cap="small" baseline="0"/>
            </a:lvl1pPr>
          </a:lstStyle>
          <a:p>
            <a:r>
              <a:rPr kumimoji="0" lang="en-US"/>
              <a:t>Click to edit Master title style</a:t>
            </a:r>
          </a:p>
        </p:txBody>
      </p:sp>
      <p:sp>
        <p:nvSpPr>
          <p:cNvPr id="3" name="Text Placeholder 2"/>
          <p:cNvSpPr>
            <a:spLocks noGrp="1"/>
          </p:cNvSpPr>
          <p:nvPr>
            <p:ph type="body" idx="2"/>
          </p:nvPr>
        </p:nvSpPr>
        <p:spPr>
          <a:xfrm>
            <a:off x="9083040" y="274320"/>
            <a:ext cx="2036064" cy="4983480"/>
          </a:xfrm>
        </p:spPr>
        <p:txBody>
          <a:bodyPr/>
          <a:lstStyle>
            <a:lvl1pPr marL="0" indent="0">
              <a:spcBef>
                <a:spcPts val="400"/>
              </a:spcBef>
              <a:spcAft>
                <a:spcPts val="1000"/>
              </a:spcAft>
              <a:buNone/>
              <a:defRPr sz="12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8" name="Straight Connector 7"/>
          <p:cNvSpPr>
            <a:spLocks noChangeShapeType="1"/>
          </p:cNvSpPr>
          <p:nvPr/>
        </p:nvSpPr>
        <p:spPr bwMode="auto">
          <a:xfrm>
            <a:off x="83312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sz="1400" dirty="0"/>
          </a:p>
        </p:txBody>
      </p:sp>
      <p:sp>
        <p:nvSpPr>
          <p:cNvPr id="9" name="Straight Connector 8"/>
          <p:cNvSpPr>
            <a:spLocks noChangeShapeType="1"/>
          </p:cNvSpPr>
          <p:nvPr/>
        </p:nvSpPr>
        <p:spPr bwMode="auto">
          <a:xfrm>
            <a:off x="8256395"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sz="1400" dirty="0"/>
          </a:p>
        </p:txBody>
      </p:sp>
      <p:sp>
        <p:nvSpPr>
          <p:cNvPr id="11" name="Straight Connector 10"/>
          <p:cNvSpPr>
            <a:spLocks noChangeShapeType="1"/>
          </p:cNvSpPr>
          <p:nvPr/>
        </p:nvSpPr>
        <p:spPr bwMode="auto">
          <a:xfrm>
            <a:off x="119888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sz="1400"/>
          </a:p>
        </p:txBody>
      </p:sp>
      <p:sp>
        <p:nvSpPr>
          <p:cNvPr id="12" name="Rectangle 11"/>
          <p:cNvSpPr/>
          <p:nvPr/>
        </p:nvSpPr>
        <p:spPr bwMode="auto">
          <a:xfrm>
            <a:off x="11785600" y="0"/>
            <a:ext cx="4064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a:p>
        </p:txBody>
      </p:sp>
      <p:sp>
        <p:nvSpPr>
          <p:cNvPr id="13" name="Straight Connector 12"/>
          <p:cNvSpPr>
            <a:spLocks noChangeShapeType="1"/>
          </p:cNvSpPr>
          <p:nvPr/>
        </p:nvSpPr>
        <p:spPr bwMode="auto">
          <a:xfrm>
            <a:off x="118872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sz="1400"/>
          </a:p>
        </p:txBody>
      </p:sp>
      <p:sp>
        <p:nvSpPr>
          <p:cNvPr id="14" name="Oval 13"/>
          <p:cNvSpPr/>
          <p:nvPr/>
        </p:nvSpPr>
        <p:spPr>
          <a:xfrm>
            <a:off x="10875264" y="5715000"/>
            <a:ext cx="73152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dirty="0"/>
          </a:p>
        </p:txBody>
      </p:sp>
      <p:sp>
        <p:nvSpPr>
          <p:cNvPr id="18" name="Content Placeholder 17"/>
          <p:cNvSpPr>
            <a:spLocks noGrp="1"/>
          </p:cNvSpPr>
          <p:nvPr>
            <p:ph sz="quarter" idx="1"/>
          </p:nvPr>
        </p:nvSpPr>
        <p:spPr>
          <a:xfrm>
            <a:off x="406400" y="274320"/>
            <a:ext cx="7518400" cy="6327648"/>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21" name="Date Placeholder 20"/>
          <p:cNvSpPr>
            <a:spLocks noGrp="1"/>
          </p:cNvSpPr>
          <p:nvPr>
            <p:ph type="dt" sz="half" idx="14"/>
          </p:nvPr>
        </p:nvSpPr>
        <p:spPr/>
        <p:txBody>
          <a:bodyPr rtlCol="0"/>
          <a:lstStyle/>
          <a:p>
            <a:endParaRPr lang="en-US"/>
          </a:p>
        </p:txBody>
      </p:sp>
      <p:sp>
        <p:nvSpPr>
          <p:cNvPr id="22" name="Slide Number Placeholder 21"/>
          <p:cNvSpPr>
            <a:spLocks noGrp="1"/>
          </p:cNvSpPr>
          <p:nvPr>
            <p:ph type="sldNum" sz="quarter" idx="15"/>
          </p:nvPr>
        </p:nvSpPr>
        <p:spPr/>
        <p:txBody>
          <a:bodyPr rtlCol="0"/>
          <a:lstStyle/>
          <a:p>
            <a:pPr marL="0" lvl="0" indent="0" algn="ctr" rtl="0">
              <a:spcBef>
                <a:spcPts val="0"/>
              </a:spcBef>
              <a:spcAft>
                <a:spcPts val="0"/>
              </a:spcAft>
              <a:buNone/>
            </a:pPr>
            <a:fld id="{00000000-1234-1234-1234-123412341234}" type="slidenum">
              <a:rPr lang="en-US" smtClean="0"/>
              <a:t>‹#›</a:t>
            </a:fld>
            <a:endParaRPr lang="en-US"/>
          </a:p>
        </p:txBody>
      </p:sp>
      <p:sp>
        <p:nvSpPr>
          <p:cNvPr id="23" name="Footer Placeholder 22"/>
          <p:cNvSpPr>
            <a:spLocks noGrp="1"/>
          </p:cNvSpPr>
          <p:nvPr>
            <p:ph type="ftr" sz="quarter" idx="16"/>
          </p:nvPr>
        </p:nvSpPr>
        <p:spPr/>
        <p:txBody>
          <a:bodyPr rtlCol="0"/>
          <a:lstStyle/>
          <a:p>
            <a:endParaRPr lang="en-US"/>
          </a:p>
        </p:txBody>
      </p:sp>
    </p:spTree>
    <p:extLst>
      <p:ext uri="{BB962C8B-B14F-4D97-AF65-F5344CB8AC3E}">
        <p14:creationId xmlns:p14="http://schemas.microsoft.com/office/powerpoint/2010/main" val="19627197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traight Connector 8"/>
          <p:cNvSpPr>
            <a:spLocks noChangeShapeType="1"/>
          </p:cNvSpPr>
          <p:nvPr/>
        </p:nvSpPr>
        <p:spPr bwMode="auto">
          <a:xfrm>
            <a:off x="116840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sz="1400"/>
          </a:p>
        </p:txBody>
      </p:sp>
      <p:sp>
        <p:nvSpPr>
          <p:cNvPr id="13" name="Oval 12"/>
          <p:cNvSpPr/>
          <p:nvPr/>
        </p:nvSpPr>
        <p:spPr>
          <a:xfrm>
            <a:off x="10875264" y="5715000"/>
            <a:ext cx="73152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dirty="0"/>
          </a:p>
        </p:txBody>
      </p:sp>
      <p:sp>
        <p:nvSpPr>
          <p:cNvPr id="2" name="Title 1"/>
          <p:cNvSpPr>
            <a:spLocks noGrp="1"/>
          </p:cNvSpPr>
          <p:nvPr>
            <p:ph type="title"/>
          </p:nvPr>
        </p:nvSpPr>
        <p:spPr>
          <a:xfrm rot="5400000">
            <a:off x="5518404" y="3124200"/>
            <a:ext cx="6309360" cy="609600"/>
          </a:xfrm>
        </p:spPr>
        <p:txBody>
          <a:bodyPr anchor="b"/>
          <a:lstStyle>
            <a:lvl1pPr algn="l">
              <a:buNone/>
              <a:defRPr sz="2000" b="1"/>
            </a:lvl1pPr>
          </a:lstStyle>
          <a:p>
            <a:r>
              <a:rPr kumimoji="0" lang="en-US"/>
              <a:t>Click to edit Master title style</a:t>
            </a:r>
          </a:p>
        </p:txBody>
      </p:sp>
      <p:sp>
        <p:nvSpPr>
          <p:cNvPr id="3" name="Picture Placeholder 2"/>
          <p:cNvSpPr>
            <a:spLocks noGrp="1"/>
          </p:cNvSpPr>
          <p:nvPr>
            <p:ph type="pic" idx="1"/>
          </p:nvPr>
        </p:nvSpPr>
        <p:spPr>
          <a:xfrm>
            <a:off x="0" y="0"/>
            <a:ext cx="822960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lstStyle>
            <a:lvl1pPr marL="0" indent="0">
              <a:buNone/>
              <a:defRPr sz="3200"/>
            </a:lvl1pPr>
          </a:lstStyle>
          <a:p>
            <a:pPr algn="ctr" eaLnBrk="1" latinLnBrk="0" hangingPunct="1">
              <a:buFontTx/>
              <a:buNone/>
            </a:pPr>
            <a:r>
              <a:rPr kumimoji="0" lang="en-US"/>
              <a:t>Click icon to add picture</a:t>
            </a:r>
            <a:endParaRPr kumimoji="0" lang="en-US" dirty="0"/>
          </a:p>
        </p:txBody>
      </p:sp>
      <p:sp>
        <p:nvSpPr>
          <p:cNvPr id="4" name="Text Placeholder 3"/>
          <p:cNvSpPr>
            <a:spLocks noGrp="1"/>
          </p:cNvSpPr>
          <p:nvPr>
            <p:ph type="body" sz="half" idx="2"/>
          </p:nvPr>
        </p:nvSpPr>
        <p:spPr>
          <a:xfrm>
            <a:off x="9021064" y="264795"/>
            <a:ext cx="2032000" cy="4956048"/>
          </a:xfrm>
        </p:spPr>
        <p:txBody>
          <a:bodyPr rot="0" spcFirstLastPara="0" vertOverflow="overflow" horzOverflow="overflow" vert="horz" wrap="square" lIns="91440" tIns="45720" rIns="91440" bIns="45720" numCol="1" spcCol="274320" rtlCol="0" fromWordArt="0" anchor="t" anchorCtr="0" forceAA="0" compatLnSpc="1">
            <a:normAutofit/>
          </a:bodyPr>
          <a:lstStyle>
            <a:lvl1pPr marL="0" indent="0">
              <a:spcBef>
                <a:spcPts val="100"/>
              </a:spcBef>
              <a:spcAft>
                <a:spcPts val="400"/>
              </a:spcAft>
              <a:buFontTx/>
              <a:buNone/>
              <a:defRPr sz="12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10" name="Straight Connector 9"/>
          <p:cNvSpPr>
            <a:spLocks noChangeShapeType="1"/>
          </p:cNvSpPr>
          <p:nvPr/>
        </p:nvSpPr>
        <p:spPr bwMode="auto">
          <a:xfrm>
            <a:off x="11988800" y="0"/>
            <a:ext cx="0" cy="6858000"/>
          </a:xfrm>
          <a:prstGeom prst="lin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anchor="t" compatLnSpc="1"/>
          <a:lstStyle/>
          <a:p>
            <a:endParaRPr kumimoji="0" lang="en-US" sz="1400"/>
          </a:p>
        </p:txBody>
      </p:sp>
      <p:sp>
        <p:nvSpPr>
          <p:cNvPr id="11" name="Rectangle 10"/>
          <p:cNvSpPr/>
          <p:nvPr/>
        </p:nvSpPr>
        <p:spPr bwMode="auto">
          <a:xfrm>
            <a:off x="11785600" y="0"/>
            <a:ext cx="406400" cy="68580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a:p>
        </p:txBody>
      </p:sp>
      <p:sp>
        <p:nvSpPr>
          <p:cNvPr id="12" name="Straight Connector 11"/>
          <p:cNvSpPr>
            <a:spLocks noChangeShapeType="1"/>
          </p:cNvSpPr>
          <p:nvPr/>
        </p:nvSpPr>
        <p:spPr bwMode="auto">
          <a:xfrm>
            <a:off x="118872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sz="1400"/>
          </a:p>
        </p:txBody>
      </p:sp>
      <p:sp>
        <p:nvSpPr>
          <p:cNvPr id="19" name="Straight Connector 18"/>
          <p:cNvSpPr>
            <a:spLocks noChangeShapeType="1"/>
          </p:cNvSpPr>
          <p:nvPr/>
        </p:nvSpPr>
        <p:spPr bwMode="auto">
          <a:xfrm>
            <a:off x="83312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sz="1400" dirty="0"/>
          </a:p>
        </p:txBody>
      </p:sp>
      <p:sp>
        <p:nvSpPr>
          <p:cNvPr id="20" name="Straight Connector 19"/>
          <p:cNvSpPr>
            <a:spLocks noChangeShapeType="1"/>
          </p:cNvSpPr>
          <p:nvPr/>
        </p:nvSpPr>
        <p:spPr bwMode="auto">
          <a:xfrm>
            <a:off x="8256395"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sz="1400" dirty="0"/>
          </a:p>
        </p:txBody>
      </p:sp>
      <p:sp>
        <p:nvSpPr>
          <p:cNvPr id="17" name="Date Placeholder 16"/>
          <p:cNvSpPr>
            <a:spLocks noGrp="1"/>
          </p:cNvSpPr>
          <p:nvPr>
            <p:ph type="dt" sz="half" idx="10"/>
          </p:nvPr>
        </p:nvSpPr>
        <p:spPr/>
        <p:txBody>
          <a:bodyPr rtlCol="0"/>
          <a:lstStyle/>
          <a:p>
            <a:endParaRPr lang="en-US"/>
          </a:p>
        </p:txBody>
      </p:sp>
      <p:sp>
        <p:nvSpPr>
          <p:cNvPr id="18" name="Slide Number Placeholder 17"/>
          <p:cNvSpPr>
            <a:spLocks noGrp="1"/>
          </p:cNvSpPr>
          <p:nvPr>
            <p:ph type="sldNum" sz="quarter" idx="11"/>
          </p:nvPr>
        </p:nvSpPr>
        <p:spPr/>
        <p:txBody>
          <a:bodyPr rtlCol="0"/>
          <a:lstStyle/>
          <a:p>
            <a:pPr marL="0" lvl="0" indent="0" algn="ctr" rtl="0">
              <a:spcBef>
                <a:spcPts val="0"/>
              </a:spcBef>
              <a:spcAft>
                <a:spcPts val="0"/>
              </a:spcAft>
              <a:buNone/>
            </a:pPr>
            <a:fld id="{00000000-1234-1234-1234-123412341234}" type="slidenum">
              <a:rPr lang="en-US" smtClean="0"/>
              <a:t>‹#›</a:t>
            </a:fld>
            <a:endParaRPr lang="en-US"/>
          </a:p>
        </p:txBody>
      </p:sp>
      <p:sp>
        <p:nvSpPr>
          <p:cNvPr id="21" name="Footer Placeholder 20"/>
          <p:cNvSpPr>
            <a:spLocks noGrp="1"/>
          </p:cNvSpPr>
          <p:nvPr>
            <p:ph type="ftr" sz="quarter" idx="12"/>
          </p:nvPr>
        </p:nvSpPr>
        <p:spPr/>
        <p:txBody>
          <a:bodyPr rtlCol="0"/>
          <a:lstStyle/>
          <a:p>
            <a:endParaRPr lang="en-US"/>
          </a:p>
        </p:txBody>
      </p:sp>
    </p:spTree>
    <p:extLst>
      <p:ext uri="{BB962C8B-B14F-4D97-AF65-F5344CB8AC3E}">
        <p14:creationId xmlns:p14="http://schemas.microsoft.com/office/powerpoint/2010/main" val="160137485"/>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ct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7747826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0"/>
            <a:ext cx="22352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ct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04469289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chart">
  <p:cSld name="Title and Char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a:t>Click to edit Master title style</a:t>
            </a:r>
          </a:p>
        </p:txBody>
      </p:sp>
      <p:sp>
        <p:nvSpPr>
          <p:cNvPr id="3" name="Chart Placeholder 2"/>
          <p:cNvSpPr>
            <a:spLocks noGrp="1"/>
          </p:cNvSpPr>
          <p:nvPr>
            <p:ph type="chart" idx="1"/>
          </p:nvPr>
        </p:nvSpPr>
        <p:spPr>
          <a:xfrm>
            <a:off x="609600" y="1600201"/>
            <a:ext cx="10972800" cy="4525963"/>
          </a:xfrm>
        </p:spPr>
        <p:txBody>
          <a:bodyPr/>
          <a:lstStyle/>
          <a:p>
            <a:r>
              <a:rPr lang="en-US"/>
              <a:t>Click icon to add chart</a:t>
            </a:r>
          </a:p>
        </p:txBody>
      </p:sp>
      <p:sp>
        <p:nvSpPr>
          <p:cNvPr id="4" name="Date Placeholder 3"/>
          <p:cNvSpPr>
            <a:spLocks noGrp="1"/>
          </p:cNvSpPr>
          <p:nvPr>
            <p:ph type="dt" sz="half" idx="10"/>
          </p:nvPr>
        </p:nvSpPr>
        <p:spPr>
          <a:xfrm>
            <a:off x="609600" y="6245225"/>
            <a:ext cx="2844800" cy="476250"/>
          </a:xfrm>
        </p:spPr>
        <p:txBody>
          <a:bodyPr/>
          <a:lstStyle>
            <a:lvl1pPr>
              <a:defRPr/>
            </a:lvl1pPr>
          </a:lstStyle>
          <a:p>
            <a:endParaRPr lang="en-US"/>
          </a:p>
        </p:txBody>
      </p:sp>
      <p:sp>
        <p:nvSpPr>
          <p:cNvPr id="5" name="Footer Placeholder 4"/>
          <p:cNvSpPr>
            <a:spLocks noGrp="1"/>
          </p:cNvSpPr>
          <p:nvPr>
            <p:ph type="ftr" sz="quarter" idx="11"/>
          </p:nvPr>
        </p:nvSpPr>
        <p:spPr>
          <a:xfrm>
            <a:off x="4165600" y="6245225"/>
            <a:ext cx="3860800" cy="476250"/>
          </a:xfrm>
        </p:spPr>
        <p:txBody>
          <a:bodyPr/>
          <a:lstStyle>
            <a:lvl1pPr>
              <a:defRPr/>
            </a:lvl1pPr>
          </a:lstStyle>
          <a:p>
            <a:endParaRPr lang="en-US"/>
          </a:p>
        </p:txBody>
      </p:sp>
      <p:sp>
        <p:nvSpPr>
          <p:cNvPr id="6" name="Slide Number Placeholder 5"/>
          <p:cNvSpPr>
            <a:spLocks noGrp="1"/>
          </p:cNvSpPr>
          <p:nvPr>
            <p:ph type="sldNum" sz="quarter" idx="12"/>
          </p:nvPr>
        </p:nvSpPr>
        <p:spPr>
          <a:xfrm>
            <a:off x="8737600" y="6245225"/>
            <a:ext cx="2844800" cy="476250"/>
          </a:xfrm>
        </p:spPr>
        <p:txBody>
          <a:bodyPr/>
          <a:lstStyle>
            <a:lvl1pPr>
              <a:defRPr/>
            </a:lvl1pPr>
          </a:lstStyle>
          <a:p>
            <a:pPr marL="0" lvl="0" indent="0" algn="ct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924694150"/>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16" name="Straight Connector 15"/>
          <p:cNvSpPr>
            <a:spLocks noChangeShapeType="1"/>
          </p:cNvSpPr>
          <p:nvPr/>
        </p:nvSpPr>
        <p:spPr bwMode="auto">
          <a:xfrm>
            <a:off x="11684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sz="1400" dirty="0"/>
          </a:p>
        </p:txBody>
      </p:sp>
      <p:sp>
        <p:nvSpPr>
          <p:cNvPr id="22" name="Title Placeholder 21"/>
          <p:cNvSpPr>
            <a:spLocks noGrp="1"/>
          </p:cNvSpPr>
          <p:nvPr>
            <p:ph type="title"/>
          </p:nvPr>
        </p:nvSpPr>
        <p:spPr>
          <a:xfrm>
            <a:off x="609600" y="274638"/>
            <a:ext cx="9956800" cy="1143000"/>
          </a:xfrm>
          <a:prstGeom prst="rect">
            <a:avLst/>
          </a:prstGeom>
        </p:spPr>
        <p:txBody>
          <a:bodyPr vert="horz" anchor="b">
            <a:normAutofit/>
          </a:bodyPr>
          <a:lstStyle/>
          <a:p>
            <a:r>
              <a:rPr kumimoji="0" lang="en-US"/>
              <a:t>Click to edit Master title style</a:t>
            </a:r>
          </a:p>
        </p:txBody>
      </p:sp>
      <p:sp>
        <p:nvSpPr>
          <p:cNvPr id="13" name="Text Placeholder 12"/>
          <p:cNvSpPr>
            <a:spLocks noGrp="1"/>
          </p:cNvSpPr>
          <p:nvPr>
            <p:ph type="body" idx="1"/>
          </p:nvPr>
        </p:nvSpPr>
        <p:spPr>
          <a:xfrm>
            <a:off x="609600" y="1600200"/>
            <a:ext cx="9956800" cy="4873752"/>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rot="5400000">
            <a:off x="10454640" y="1017843"/>
            <a:ext cx="2011680" cy="512064"/>
          </a:xfrm>
          <a:prstGeom prst="rect">
            <a:avLst/>
          </a:prstGeom>
        </p:spPr>
        <p:txBody>
          <a:bodyPr vert="horz" anchor="ctr" anchorCtr="0"/>
          <a:lstStyle>
            <a:lvl1pPr algn="r" eaLnBrk="1" latinLnBrk="0" hangingPunct="1">
              <a:defRPr kumimoji="0" sz="1200">
                <a:solidFill>
                  <a:schemeClr val="tx2"/>
                </a:solidFill>
              </a:defRPr>
            </a:lvl1pPr>
          </a:lstStyle>
          <a:p>
            <a:endParaRPr lang="en-US"/>
          </a:p>
        </p:txBody>
      </p:sp>
      <p:sp>
        <p:nvSpPr>
          <p:cNvPr id="3" name="Footer Placeholder 2"/>
          <p:cNvSpPr>
            <a:spLocks noGrp="1"/>
          </p:cNvSpPr>
          <p:nvPr>
            <p:ph type="ftr" sz="quarter" idx="3"/>
          </p:nvPr>
        </p:nvSpPr>
        <p:spPr>
          <a:xfrm rot="5400000">
            <a:off x="9853648" y="3676280"/>
            <a:ext cx="3200400" cy="487680"/>
          </a:xfrm>
          <a:prstGeom prst="rect">
            <a:avLst/>
          </a:prstGeom>
        </p:spPr>
        <p:txBody>
          <a:bodyPr vert="horz" anchor="ctr" anchorCtr="0"/>
          <a:lstStyle>
            <a:lvl1pPr algn="l" eaLnBrk="1" latinLnBrk="0" hangingPunct="1">
              <a:defRPr kumimoji="0" sz="1200">
                <a:solidFill>
                  <a:schemeClr val="tx2"/>
                </a:solidFill>
              </a:defRPr>
            </a:lvl1pPr>
          </a:lstStyle>
          <a:p>
            <a:endParaRPr lang="en-US"/>
          </a:p>
        </p:txBody>
      </p:sp>
      <p:sp>
        <p:nvSpPr>
          <p:cNvPr id="7" name="Straight Connector 6"/>
          <p:cNvSpPr>
            <a:spLocks noChangeShapeType="1"/>
          </p:cNvSpPr>
          <p:nvPr/>
        </p:nvSpPr>
        <p:spPr bwMode="auto">
          <a:xfrm>
            <a:off x="10160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sz="1400"/>
          </a:p>
        </p:txBody>
      </p:sp>
      <p:sp>
        <p:nvSpPr>
          <p:cNvPr id="9" name="Straight Connector 8"/>
          <p:cNvSpPr>
            <a:spLocks noChangeShapeType="1"/>
          </p:cNvSpPr>
          <p:nvPr/>
        </p:nvSpPr>
        <p:spPr bwMode="auto">
          <a:xfrm>
            <a:off x="119888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sz="1400"/>
          </a:p>
        </p:txBody>
      </p:sp>
      <p:sp>
        <p:nvSpPr>
          <p:cNvPr id="10" name="Rectangle 9"/>
          <p:cNvSpPr/>
          <p:nvPr/>
        </p:nvSpPr>
        <p:spPr bwMode="auto">
          <a:xfrm>
            <a:off x="11785600" y="0"/>
            <a:ext cx="4064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a:p>
        </p:txBody>
      </p:sp>
      <p:sp>
        <p:nvSpPr>
          <p:cNvPr id="11" name="Straight Connector 10"/>
          <p:cNvSpPr>
            <a:spLocks noChangeShapeType="1"/>
          </p:cNvSpPr>
          <p:nvPr/>
        </p:nvSpPr>
        <p:spPr bwMode="auto">
          <a:xfrm>
            <a:off x="118872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sz="1400"/>
          </a:p>
        </p:txBody>
      </p:sp>
      <p:sp>
        <p:nvSpPr>
          <p:cNvPr id="12" name="Oval 11"/>
          <p:cNvSpPr/>
          <p:nvPr/>
        </p:nvSpPr>
        <p:spPr>
          <a:xfrm>
            <a:off x="10875264" y="5715000"/>
            <a:ext cx="73152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dirty="0"/>
          </a:p>
        </p:txBody>
      </p:sp>
      <p:sp>
        <p:nvSpPr>
          <p:cNvPr id="23" name="Slide Number Placeholder 22"/>
          <p:cNvSpPr>
            <a:spLocks noGrp="1"/>
          </p:cNvSpPr>
          <p:nvPr>
            <p:ph type="sldNum" sz="quarter" idx="4"/>
          </p:nvPr>
        </p:nvSpPr>
        <p:spPr>
          <a:xfrm>
            <a:off x="10838688" y="5734050"/>
            <a:ext cx="812800" cy="521208"/>
          </a:xfrm>
          <a:prstGeom prst="rect">
            <a:avLst/>
          </a:prstGeom>
        </p:spPr>
        <p:txBody>
          <a:bodyPr vert="horz" anchor="ctr"/>
          <a:lstStyle>
            <a:lvl1pPr algn="ctr" eaLnBrk="1" latinLnBrk="0" hangingPunct="1">
              <a:defRPr kumimoji="0" sz="1400" b="1">
                <a:solidFill>
                  <a:srgbClr val="FFFFFF"/>
                </a:solidFill>
              </a:defRPr>
            </a:lvl1pPr>
          </a:lstStyle>
          <a:p>
            <a:pPr marL="0" lvl="0" indent="0" algn="ct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48702531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wipe(left)">
                                      <p:cBhvr>
                                        <p:cTn id="7"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Lst>
  </p:timing>
  <p:hf sldNum="0" hdr="0" ftr="0" dt="0"/>
  <p:txStyles>
    <p:titleStyle>
      <a:lvl1pPr algn="l" rtl="0" eaLnBrk="1" latinLnBrk="0" hangingPunct="1">
        <a:spcBef>
          <a:spcPct val="0"/>
        </a:spcBef>
        <a:buNone/>
        <a:defRPr kumimoji="0" sz="3000" b="0" kern="1200" cap="small" baseline="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help.uillinois.edu/TDClient/37/uic/KB/ArticleDet?ID=627"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jp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en.wikipedia.org/wiki/Michael_J._Sandel" TargetMode="External"/><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5.jpg"/><Relationship Id="rId4" Type="http://schemas.openxmlformats.org/officeDocument/2006/relationships/hyperlink" Target="http://www.youtube.com/watch?v=VcL66zx_6No" TargetMode="Externa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en.wikipedia.org/wiki/Michael_J._Sandel" TargetMode="External"/><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rss.onlinelibrary.wiley.com/doi/epdf/10.1111/j.1740-9713.2012.00576.x" TargetMode="External"/><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s://rss.onlinelibrary.wiley.com/doi/epdf/10.1111/j.1740-9713.2012.00576.x" TargetMode="External"/><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hyperlink" Target="https://pandas.pydata.org/" TargetMode="External"/><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3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hyperlink" Target="https://pandas.pydata.org/pandas-docs/stable/reference/api/pandas.DataFrame.iloc.html" TargetMode="External"/><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hyperlink" Target="https://pandas.pydata.org/pandas-docs/stable/user_guide/indexing.html" TargetMode="External"/></Relationships>
</file>

<file path=ppt/slides/_rels/slide3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3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3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3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6.xml"/><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3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7.xml"/><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3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8.xml"/><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28.png"/><Relationship Id="rId7" Type="http://schemas.openxmlformats.org/officeDocument/2006/relationships/image" Target="../media/image32.png"/><Relationship Id="rId2" Type="http://schemas.openxmlformats.org/officeDocument/2006/relationships/notesSlide" Target="../notesSlides/notesSlide40.xml"/><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4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33.png"/><Relationship Id="rId7" Type="http://schemas.openxmlformats.org/officeDocument/2006/relationships/image" Target="../media/image28.png"/><Relationship Id="rId2" Type="http://schemas.openxmlformats.org/officeDocument/2006/relationships/notesSlide" Target="../notesSlides/notesSlide43.xml"/><Relationship Id="rId1" Type="http://schemas.openxmlformats.org/officeDocument/2006/relationships/slideLayout" Target="../slideLayouts/slideLayout2.xml"/><Relationship Id="rId6" Type="http://schemas.openxmlformats.org/officeDocument/2006/relationships/image" Target="../media/image35.png"/><Relationship Id="rId5" Type="http://schemas.openxmlformats.org/officeDocument/2006/relationships/image" Target="../media/image32.png"/><Relationship Id="rId4" Type="http://schemas.openxmlformats.org/officeDocument/2006/relationships/image" Target="../media/image34.png"/></Relationships>
</file>

<file path=ppt/slides/_rels/slide44.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image" Target="../media/image36.png"/><Relationship Id="rId7" Type="http://schemas.openxmlformats.org/officeDocument/2006/relationships/image" Target="../media/image40.png"/><Relationship Id="rId2" Type="http://schemas.openxmlformats.org/officeDocument/2006/relationships/notesSlide" Target="../notesSlides/notesSlide44.xml"/><Relationship Id="rId1" Type="http://schemas.openxmlformats.org/officeDocument/2006/relationships/slideLayout" Target="../slideLayouts/slideLayout2.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45.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36.png"/><Relationship Id="rId7" Type="http://schemas.openxmlformats.org/officeDocument/2006/relationships/image" Target="../media/image42.png"/><Relationship Id="rId2" Type="http://schemas.openxmlformats.org/officeDocument/2006/relationships/notesSlide" Target="../notesSlides/notesSlide45.xml"/><Relationship Id="rId1" Type="http://schemas.openxmlformats.org/officeDocument/2006/relationships/slideLayout" Target="../slideLayouts/slideLayout2.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7.png"/></Relationships>
</file>

<file path=ppt/slides/_rels/slide46.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image" Target="../media/image36.png"/><Relationship Id="rId7" Type="http://schemas.openxmlformats.org/officeDocument/2006/relationships/image" Target="../media/image43.png"/><Relationship Id="rId2" Type="http://schemas.openxmlformats.org/officeDocument/2006/relationships/notesSlide" Target="../notesSlides/notesSlide46.xml"/><Relationship Id="rId1" Type="http://schemas.openxmlformats.org/officeDocument/2006/relationships/slideLayout" Target="../slideLayouts/slideLayout2.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7.png"/></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48.xml"/><Relationship Id="rId1" Type="http://schemas.openxmlformats.org/officeDocument/2006/relationships/slideLayout" Target="../slideLayouts/slideLayout2.xml"/><Relationship Id="rId5" Type="http://schemas.openxmlformats.org/officeDocument/2006/relationships/image" Target="../media/image47.png"/><Relationship Id="rId4" Type="http://schemas.openxmlformats.org/officeDocument/2006/relationships/image" Target="../media/image46.png"/></Relationships>
</file>

<file path=ppt/slides/_rels/slide49.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49.xml"/><Relationship Id="rId1" Type="http://schemas.openxmlformats.org/officeDocument/2006/relationships/slideLayout" Target="../slideLayouts/slideLayout2.xml"/><Relationship Id="rId4" Type="http://schemas.openxmlformats.org/officeDocument/2006/relationships/image" Target="../media/image49.png"/></Relationships>
</file>

<file path=ppt/slides/_rels/slide50.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50.xml"/><Relationship Id="rId1" Type="http://schemas.openxmlformats.org/officeDocument/2006/relationships/slideLayout" Target="../slideLayouts/slideLayout2.xml"/><Relationship Id="rId4" Type="http://schemas.openxmlformats.org/officeDocument/2006/relationships/image" Target="../media/image51.png"/></Relationships>
</file>

<file path=ppt/slides/_rels/slide51.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51.xml"/><Relationship Id="rId1" Type="http://schemas.openxmlformats.org/officeDocument/2006/relationships/slideLayout" Target="../slideLayouts/slideLayout2.xml"/><Relationship Id="rId4" Type="http://schemas.openxmlformats.org/officeDocument/2006/relationships/image" Target="../media/image53.png"/></Relationships>
</file>

<file path=ppt/slides/_rels/slide52.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52.xml"/><Relationship Id="rId1" Type="http://schemas.openxmlformats.org/officeDocument/2006/relationships/slideLayout" Target="../slideLayouts/slideLayout2.xml"/><Relationship Id="rId4" Type="http://schemas.openxmlformats.org/officeDocument/2006/relationships/image" Target="../media/image55.png"/></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54.xml"/><Relationship Id="rId1" Type="http://schemas.openxmlformats.org/officeDocument/2006/relationships/slideLayout" Target="../slideLayouts/slideLayout2.xml"/><Relationship Id="rId4" Type="http://schemas.openxmlformats.org/officeDocument/2006/relationships/image" Target="../media/image57.png"/></Relationships>
</file>

<file path=ppt/slides/_rels/slide55.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55.xml"/><Relationship Id="rId1" Type="http://schemas.openxmlformats.org/officeDocument/2006/relationships/slideLayout" Target="../slideLayouts/slideLayout2.xml"/><Relationship Id="rId4" Type="http://schemas.openxmlformats.org/officeDocument/2006/relationships/image" Target="../media/image59.png"/></Relationships>
</file>

<file path=ppt/slides/_rels/slide56.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56.xml"/><Relationship Id="rId1" Type="http://schemas.openxmlformats.org/officeDocument/2006/relationships/slideLayout" Target="../slideLayouts/slideLayout2.xml"/><Relationship Id="rId4" Type="http://schemas.openxmlformats.org/officeDocument/2006/relationships/image" Target="../media/image61.png"/></Relationships>
</file>

<file path=ppt/slides/_rels/slide57.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57.xml"/><Relationship Id="rId1" Type="http://schemas.openxmlformats.org/officeDocument/2006/relationships/slideLayout" Target="../slideLayouts/slideLayout2.xml"/><Relationship Id="rId4" Type="http://schemas.openxmlformats.org/officeDocument/2006/relationships/image" Target="../media/image63.png"/></Relationships>
</file>

<file path=ppt/slides/_rels/slide58.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58.xml"/><Relationship Id="rId1" Type="http://schemas.openxmlformats.org/officeDocument/2006/relationships/slideLayout" Target="../slideLayouts/slideLayout2.xml"/><Relationship Id="rId5" Type="http://schemas.openxmlformats.org/officeDocument/2006/relationships/image" Target="../media/image66.png"/><Relationship Id="rId4" Type="http://schemas.openxmlformats.org/officeDocument/2006/relationships/image" Target="../media/image65.png"/></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67.png"/><Relationship Id="rId7" Type="http://schemas.openxmlformats.org/officeDocument/2006/relationships/image" Target="../media/image71.png"/><Relationship Id="rId2" Type="http://schemas.openxmlformats.org/officeDocument/2006/relationships/notesSlide" Target="../notesSlides/notesSlide60.xml"/><Relationship Id="rId1" Type="http://schemas.openxmlformats.org/officeDocument/2006/relationships/slideLayout" Target="../slideLayouts/slideLayout2.xml"/><Relationship Id="rId6" Type="http://schemas.openxmlformats.org/officeDocument/2006/relationships/image" Target="../media/image70.png"/><Relationship Id="rId5" Type="http://schemas.openxmlformats.org/officeDocument/2006/relationships/image" Target="../media/image69.png"/><Relationship Id="rId4" Type="http://schemas.openxmlformats.org/officeDocument/2006/relationships/image" Target="../media/image68.png"/></Relationships>
</file>

<file path=ppt/slides/_rels/slide61.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61.xml"/><Relationship Id="rId1" Type="http://schemas.openxmlformats.org/officeDocument/2006/relationships/slideLayout" Target="../slideLayouts/slideLayout2.xml"/><Relationship Id="rId6" Type="http://schemas.openxmlformats.org/officeDocument/2006/relationships/image" Target="../media/image74.png"/><Relationship Id="rId5" Type="http://schemas.openxmlformats.org/officeDocument/2006/relationships/image" Target="../media/image73.png"/><Relationship Id="rId4" Type="http://schemas.openxmlformats.org/officeDocument/2006/relationships/image" Target="../media/image72.png"/></Relationships>
</file>

<file path=ppt/slides/_rels/slide62.xml.rels><?xml version="1.0" encoding="UTF-8" standalone="yes"?>
<Relationships xmlns="http://schemas.openxmlformats.org/package/2006/relationships"><Relationship Id="rId3" Type="http://schemas.openxmlformats.org/officeDocument/2006/relationships/image" Target="../media/image68.png"/><Relationship Id="rId7" Type="http://schemas.openxmlformats.org/officeDocument/2006/relationships/image" Target="../media/image75.png"/><Relationship Id="rId2" Type="http://schemas.openxmlformats.org/officeDocument/2006/relationships/notesSlide" Target="../notesSlides/notesSlide62.xml"/><Relationship Id="rId1" Type="http://schemas.openxmlformats.org/officeDocument/2006/relationships/slideLayout" Target="../slideLayouts/slideLayout2.xml"/><Relationship Id="rId6" Type="http://schemas.openxmlformats.org/officeDocument/2006/relationships/image" Target="../media/image74.png"/><Relationship Id="rId5" Type="http://schemas.openxmlformats.org/officeDocument/2006/relationships/image" Target="../media/image73.png"/><Relationship Id="rId4" Type="http://schemas.openxmlformats.org/officeDocument/2006/relationships/image" Target="../media/image72.png"/></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1"/>
          <p:cNvSpPr txBox="1">
            <a:spLocks noGrp="1"/>
          </p:cNvSpPr>
          <p:nvPr>
            <p:ph type="ctrTitle"/>
          </p:nvPr>
        </p:nvSpPr>
        <p:spPr>
          <a:xfrm>
            <a:off x="3027680" y="1183257"/>
            <a:ext cx="8565230" cy="1894362"/>
          </a:xfrm>
          <a:prstGeom prst="rect">
            <a:avLst/>
          </a:prstGeom>
          <a:noFill/>
          <a:ln>
            <a:noFill/>
          </a:ln>
        </p:spPr>
        <p:txBody>
          <a:bodyPr spcFirstLastPara="1" wrap="square" lIns="91425" tIns="45700" rIns="91425" bIns="45700" anchor="ctr" anchorCtr="0">
            <a:noAutofit/>
          </a:bodyPr>
          <a:lstStyle/>
          <a:p>
            <a:pPr marL="0" lvl="0" indent="0" algn="l" rtl="0">
              <a:lnSpc>
                <a:spcPct val="80000"/>
              </a:lnSpc>
              <a:spcBef>
                <a:spcPts val="0"/>
              </a:spcBef>
              <a:spcAft>
                <a:spcPts val="0"/>
              </a:spcAft>
              <a:buSzPts val="6000"/>
              <a:buFont typeface="Rockwell"/>
              <a:buNone/>
            </a:pPr>
            <a:r>
              <a:rPr lang="en-US" sz="6000" dirty="0"/>
              <a:t>Data lifecycle (</a:t>
            </a:r>
            <a:r>
              <a:rPr lang="en-US" sz="6000" dirty="0" err="1"/>
              <a:t>cntd</a:t>
            </a:r>
            <a:r>
              <a:rPr lang="en-US" sz="6000" dirty="0"/>
              <a:t>) and Pandas</a:t>
            </a:r>
            <a:endParaRPr lang="en-US" dirty="0"/>
          </a:p>
        </p:txBody>
      </p:sp>
      <p:sp>
        <p:nvSpPr>
          <p:cNvPr id="110" name="Google Shape;110;p1"/>
          <p:cNvSpPr txBox="1">
            <a:spLocks noGrp="1"/>
          </p:cNvSpPr>
          <p:nvPr>
            <p:ph type="subTitle" idx="1"/>
          </p:nvPr>
        </p:nvSpPr>
        <p:spPr>
          <a:xfrm>
            <a:off x="3027680" y="3429000"/>
            <a:ext cx="7891272" cy="1056213"/>
          </a:xfrm>
          <a:prstGeom prst="rect">
            <a:avLst/>
          </a:prstGeom>
          <a:noFill/>
          <a:ln>
            <a:noFill/>
          </a:ln>
        </p:spPr>
        <p:txBody>
          <a:bodyPr spcFirstLastPara="1" wrap="square" lIns="91425" tIns="45700" rIns="91425" bIns="45700" anchor="t" anchorCtr="0">
            <a:normAutofit fontScale="92500" lnSpcReduction="10000"/>
          </a:bodyPr>
          <a:lstStyle/>
          <a:p>
            <a:pPr marL="0" lvl="0" indent="0" algn="l" rtl="0">
              <a:lnSpc>
                <a:spcPct val="90000"/>
              </a:lnSpc>
              <a:spcBef>
                <a:spcPts val="0"/>
              </a:spcBef>
              <a:spcAft>
                <a:spcPts val="0"/>
              </a:spcAft>
              <a:buSzPct val="85000"/>
              <a:buNone/>
            </a:pPr>
            <a:r>
              <a:rPr lang="en-US" dirty="0"/>
              <a:t>CS 418 Introduction to Data Science</a:t>
            </a:r>
            <a:endParaRPr dirty="0"/>
          </a:p>
          <a:p>
            <a:pPr marL="0" lvl="0" indent="0" algn="l" rtl="0">
              <a:lnSpc>
                <a:spcPct val="90000"/>
              </a:lnSpc>
              <a:spcBef>
                <a:spcPts val="1200"/>
              </a:spcBef>
              <a:spcAft>
                <a:spcPts val="0"/>
              </a:spcAft>
              <a:buSzPct val="85000"/>
              <a:buNone/>
            </a:pPr>
            <a:r>
              <a:rPr lang="en-US" dirty="0"/>
              <a:t>Prof. Sathya Ravi</a:t>
            </a:r>
            <a:endParaRPr dirty="0"/>
          </a:p>
          <a:p>
            <a:pPr marL="0" lvl="0" indent="0" algn="l" rtl="0">
              <a:lnSpc>
                <a:spcPct val="90000"/>
              </a:lnSpc>
              <a:spcBef>
                <a:spcPts val="1200"/>
              </a:spcBef>
              <a:spcAft>
                <a:spcPts val="0"/>
              </a:spcAft>
              <a:buSzPct val="85000"/>
              <a:buNone/>
            </a:pPr>
            <a:r>
              <a:rPr lang="en-US" dirty="0"/>
              <a:t>September 03, 2024</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33"/>
        <p:cNvGrpSpPr/>
        <p:nvPr/>
      </p:nvGrpSpPr>
      <p:grpSpPr>
        <a:xfrm>
          <a:off x="0" y="0"/>
          <a:ext cx="0" cy="0"/>
          <a:chOff x="0" y="0"/>
          <a:chExt cx="0" cy="0"/>
        </a:xfrm>
      </p:grpSpPr>
      <p:sp>
        <p:nvSpPr>
          <p:cNvPr id="434" name="Google Shape;434;p37"/>
          <p:cNvSpPr txBox="1">
            <a:spLocks noGrp="1"/>
          </p:cNvSpPr>
          <p:nvPr>
            <p:ph type="title"/>
          </p:nvPr>
        </p:nvSpPr>
        <p:spPr>
          <a:xfrm>
            <a:off x="1069848" y="82847"/>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dirty="0"/>
              <a:t>ANNOUNCEMENTS</a:t>
            </a:r>
            <a:endParaRPr dirty="0"/>
          </a:p>
        </p:txBody>
      </p:sp>
      <p:sp>
        <p:nvSpPr>
          <p:cNvPr id="435" name="Google Shape;435;p37"/>
          <p:cNvSpPr txBox="1">
            <a:spLocks noGrp="1"/>
          </p:cNvSpPr>
          <p:nvPr>
            <p:ph sz="quarter" idx="1"/>
          </p:nvPr>
        </p:nvSpPr>
        <p:spPr>
          <a:xfrm>
            <a:off x="617902" y="1692191"/>
            <a:ext cx="11122153" cy="4227148"/>
          </a:xfrm>
          <a:prstGeom prst="rect">
            <a:avLst/>
          </a:prstGeom>
          <a:noFill/>
          <a:ln>
            <a:noFill/>
          </a:ln>
        </p:spPr>
        <p:txBody>
          <a:bodyPr spcFirstLastPara="1" wrap="square" lIns="91425" tIns="45700" rIns="91425" bIns="45700" anchor="t" anchorCtr="0">
            <a:normAutofit/>
          </a:bodyPr>
          <a:lstStyle/>
          <a:p>
            <a:pPr lvl="0" algn="l" rtl="0">
              <a:lnSpc>
                <a:spcPct val="90000"/>
              </a:lnSpc>
              <a:spcBef>
                <a:spcPts val="0"/>
              </a:spcBef>
              <a:spcAft>
                <a:spcPts val="0"/>
              </a:spcAft>
              <a:buSzPts val="2100"/>
              <a:buFont typeface="Wingdings" pitchFamily="2" charset="2"/>
              <a:buChar char="q"/>
            </a:pPr>
            <a:r>
              <a:rPr lang="en-US" sz="2400" dirty="0"/>
              <a:t>Quiz 0 background surve</a:t>
            </a:r>
            <a:r>
              <a:rPr lang="en-US" dirty="0"/>
              <a:t>y – last day to fill the form. Link to setup your UIC Google Account: </a:t>
            </a:r>
            <a:r>
              <a:rPr lang="en-US" dirty="0">
                <a:hlinkClick r:id="rId3"/>
              </a:rPr>
              <a:t>https://help.uillinois.edu/TDClient/37/uic/KB/ArticleDet?ID=627</a:t>
            </a:r>
            <a:endParaRPr lang="en-US" dirty="0"/>
          </a:p>
          <a:p>
            <a:pPr marL="182880" lvl="0" indent="-182880" algn="l" rtl="0">
              <a:lnSpc>
                <a:spcPct val="90000"/>
              </a:lnSpc>
              <a:spcBef>
                <a:spcPts val="0"/>
              </a:spcBef>
              <a:spcAft>
                <a:spcPts val="0"/>
              </a:spcAft>
              <a:buSzPts val="2100"/>
              <a:buChar char="▪"/>
            </a:pPr>
            <a:endParaRPr lang="en-US" dirty="0"/>
          </a:p>
          <a:p>
            <a:pPr>
              <a:lnSpc>
                <a:spcPct val="90000"/>
              </a:lnSpc>
              <a:spcBef>
                <a:spcPts val="0"/>
              </a:spcBef>
              <a:buSzPts val="2100"/>
              <a:buFont typeface="Wingdings" pitchFamily="2" charset="2"/>
              <a:buChar char="q"/>
            </a:pPr>
            <a:r>
              <a:rPr lang="en-US" dirty="0"/>
              <a:t>Should have setup Python with </a:t>
            </a:r>
            <a:r>
              <a:rPr lang="en-US" dirty="0" err="1"/>
              <a:t>jupyter</a:t>
            </a:r>
            <a:r>
              <a:rPr lang="en-US" dirty="0"/>
              <a:t> notebook, pandas, matplotlib, and </a:t>
            </a:r>
            <a:r>
              <a:rPr lang="en-US" dirty="0" err="1"/>
              <a:t>numpy</a:t>
            </a:r>
            <a:r>
              <a:rPr lang="en-US" dirty="0"/>
              <a:t> packages</a:t>
            </a:r>
          </a:p>
          <a:p>
            <a:pPr>
              <a:lnSpc>
                <a:spcPct val="90000"/>
              </a:lnSpc>
              <a:spcBef>
                <a:spcPts val="0"/>
              </a:spcBef>
              <a:buSzPts val="2100"/>
              <a:buFont typeface="Wingdings" pitchFamily="2" charset="2"/>
              <a:buChar char="q"/>
            </a:pPr>
            <a:endParaRPr lang="en-US" dirty="0"/>
          </a:p>
          <a:p>
            <a:pPr>
              <a:lnSpc>
                <a:spcPct val="90000"/>
              </a:lnSpc>
              <a:spcBef>
                <a:spcPts val="0"/>
              </a:spcBef>
              <a:buSzPts val="2100"/>
              <a:buFont typeface="Wingdings" pitchFamily="2" charset="2"/>
              <a:buChar char="q"/>
            </a:pPr>
            <a:r>
              <a:rPr lang="en-US" dirty="0"/>
              <a:t>Homework 1 out – due on 09/19 (Thu). Please get started as soon as possible – at least make sure you are able to run the practice part in the notebook.</a:t>
            </a:r>
          </a:p>
          <a:p>
            <a:pPr>
              <a:lnSpc>
                <a:spcPct val="90000"/>
              </a:lnSpc>
              <a:spcBef>
                <a:spcPts val="0"/>
              </a:spcBef>
              <a:buSzPts val="2100"/>
              <a:buFont typeface="Wingdings" pitchFamily="2" charset="2"/>
              <a:buChar char="q"/>
            </a:pPr>
            <a:endParaRPr lang="en-US" dirty="0"/>
          </a:p>
          <a:p>
            <a:pPr>
              <a:lnSpc>
                <a:spcPct val="90000"/>
              </a:lnSpc>
              <a:spcBef>
                <a:spcPts val="0"/>
              </a:spcBef>
              <a:buSzPts val="2100"/>
              <a:buFont typeface="Wingdings" pitchFamily="2" charset="2"/>
              <a:buChar char="q"/>
            </a:pPr>
            <a:r>
              <a:rPr lang="en-US" dirty="0"/>
              <a:t>We will be using </a:t>
            </a:r>
            <a:r>
              <a:rPr lang="en-US" dirty="0" err="1"/>
              <a:t>Autograder</a:t>
            </a:r>
            <a:r>
              <a:rPr lang="en-US" dirty="0"/>
              <a:t>, but it is not setup yet but will be soon (by Thu), I will send a Piazza post once it is setup. There are some basic pen-paper questions on probability also which does not require Python but you may use if you wish to verify</a:t>
            </a:r>
          </a:p>
          <a:p>
            <a:pPr lvl="1">
              <a:lnSpc>
                <a:spcPct val="90000"/>
              </a:lnSpc>
              <a:spcBef>
                <a:spcPts val="0"/>
              </a:spcBef>
              <a:buSzPts val="2100"/>
              <a:buFont typeface="Wingdings" pitchFamily="2" charset="2"/>
              <a:buChar char="v"/>
            </a:pPr>
            <a:endParaRPr lang="en-US" dirty="0"/>
          </a:p>
        </p:txBody>
      </p:sp>
      <p:pic>
        <p:nvPicPr>
          <p:cNvPr id="436" name="Google Shape;436;p37"/>
          <p:cNvPicPr preferRelativeResize="0"/>
          <p:nvPr/>
        </p:nvPicPr>
        <p:blipFill rotWithShape="1">
          <a:blip r:embed="rId4">
            <a:alphaModFix/>
          </a:blip>
          <a:srcRect/>
          <a:stretch/>
        </p:blipFill>
        <p:spPr>
          <a:xfrm>
            <a:off x="8881241" y="386237"/>
            <a:ext cx="1878565" cy="1104847"/>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39"/>
        <p:cNvGrpSpPr/>
        <p:nvPr/>
      </p:nvGrpSpPr>
      <p:grpSpPr>
        <a:xfrm>
          <a:off x="0" y="0"/>
          <a:ext cx="0" cy="0"/>
          <a:chOff x="0" y="0"/>
          <a:chExt cx="0" cy="0"/>
        </a:xfrm>
      </p:grpSpPr>
      <p:sp>
        <p:nvSpPr>
          <p:cNvPr id="340" name="Google Shape;340;p20"/>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LITERARY DIGEST, 1936</a:t>
            </a:r>
            <a:endParaRPr/>
          </a:p>
        </p:txBody>
      </p:sp>
      <p:sp>
        <p:nvSpPr>
          <p:cNvPr id="341" name="Google Shape;341;p20"/>
          <p:cNvSpPr txBox="1">
            <a:spLocks noGrp="1"/>
          </p:cNvSpPr>
          <p:nvPr>
            <p:ph sz="quarter" idx="1"/>
          </p:nvPr>
        </p:nvSpPr>
        <p:spPr>
          <a:xfrm>
            <a:off x="760131" y="2093976"/>
            <a:ext cx="6333842" cy="4050792"/>
          </a:xfrm>
          <a:prstGeom prst="rect">
            <a:avLst/>
          </a:prstGeom>
          <a:noFill/>
          <a:ln>
            <a:noFill/>
          </a:ln>
        </p:spPr>
        <p:txBody>
          <a:bodyPr spcFirstLastPara="1" wrap="square" lIns="91425" tIns="45700" rIns="91425" bIns="45700" anchor="t" anchorCtr="0">
            <a:normAutofit fontScale="92500"/>
          </a:bodyPr>
          <a:lstStyle/>
          <a:p>
            <a:pPr marL="182880" lvl="0" indent="-182880" algn="l" rtl="0">
              <a:lnSpc>
                <a:spcPct val="90000"/>
              </a:lnSpc>
              <a:spcBef>
                <a:spcPts val="0"/>
              </a:spcBef>
              <a:spcAft>
                <a:spcPts val="0"/>
              </a:spcAft>
              <a:buSzPts val="1700"/>
              <a:buChar char="▪"/>
            </a:pPr>
            <a:r>
              <a:rPr lang="en-US"/>
              <a:t>The Literary Digest (popular magazine) polled and predicted correct candidate to win Presidential race in 1916, 1920, 1924, 1928, and 1932.</a:t>
            </a:r>
            <a:endParaRPr/>
          </a:p>
          <a:p>
            <a:pPr marL="182880" lvl="0" indent="-182880" algn="l" rtl="0">
              <a:lnSpc>
                <a:spcPct val="90000"/>
              </a:lnSpc>
              <a:spcBef>
                <a:spcPts val="1200"/>
              </a:spcBef>
              <a:spcAft>
                <a:spcPts val="0"/>
              </a:spcAft>
              <a:buSzPts val="1700"/>
              <a:buChar char="▪"/>
            </a:pPr>
            <a:r>
              <a:rPr lang="en-US">
                <a:solidFill>
                  <a:schemeClr val="dk1"/>
                </a:solidFill>
              </a:rPr>
              <a:t>In 1936:</a:t>
            </a:r>
            <a:endParaRPr/>
          </a:p>
          <a:p>
            <a:pPr marL="609585" lvl="0" indent="-474120" algn="l" rtl="0">
              <a:lnSpc>
                <a:spcPct val="90000"/>
              </a:lnSpc>
              <a:spcBef>
                <a:spcPts val="800"/>
              </a:spcBef>
              <a:spcAft>
                <a:spcPts val="0"/>
              </a:spcAft>
              <a:buClr>
                <a:schemeClr val="dk1"/>
              </a:buClr>
              <a:buSzPts val="2000"/>
              <a:buFont typeface="Calibri"/>
              <a:buChar char="●"/>
            </a:pPr>
            <a:r>
              <a:rPr lang="en-US">
                <a:solidFill>
                  <a:schemeClr val="dk1"/>
                </a:solidFill>
              </a:rPr>
              <a:t>~40 million voters expected (target population)</a:t>
            </a:r>
            <a:endParaRPr/>
          </a:p>
          <a:p>
            <a:pPr marL="609585" lvl="0" indent="-474120" algn="l" rtl="0">
              <a:lnSpc>
                <a:spcPct val="90000"/>
              </a:lnSpc>
              <a:spcBef>
                <a:spcPts val="1200"/>
              </a:spcBef>
              <a:spcAft>
                <a:spcPts val="0"/>
              </a:spcAft>
              <a:buClr>
                <a:schemeClr val="dk1"/>
              </a:buClr>
              <a:buSzPts val="2000"/>
              <a:buFont typeface="Calibri"/>
              <a:buChar char="●"/>
            </a:pPr>
            <a:r>
              <a:rPr lang="en-US">
                <a:solidFill>
                  <a:schemeClr val="dk1"/>
                </a:solidFill>
              </a:rPr>
              <a:t>Literary Digest sent out 10 million mock ballots (access frame), received back 2.4 million (sample)! </a:t>
            </a:r>
            <a:endParaRPr/>
          </a:p>
          <a:p>
            <a:pPr marL="609585" lvl="0" indent="-474120" algn="l" rtl="0">
              <a:lnSpc>
                <a:spcPct val="90000"/>
              </a:lnSpc>
              <a:spcBef>
                <a:spcPts val="1200"/>
              </a:spcBef>
              <a:spcAft>
                <a:spcPts val="0"/>
              </a:spcAft>
              <a:buClr>
                <a:schemeClr val="dk1"/>
              </a:buClr>
              <a:buSzPts val="2000"/>
              <a:buFont typeface="Calibri"/>
              <a:buChar char="●"/>
            </a:pPr>
            <a:r>
              <a:rPr lang="en-US">
                <a:solidFill>
                  <a:schemeClr val="dk1"/>
                </a:solidFill>
              </a:rPr>
              <a:t>Prediction: </a:t>
            </a:r>
            <a:r>
              <a:rPr lang="en-US" b="1">
                <a:solidFill>
                  <a:schemeClr val="dk1"/>
                </a:solidFill>
              </a:rPr>
              <a:t>Landon 57%</a:t>
            </a:r>
            <a:r>
              <a:rPr lang="en-US">
                <a:solidFill>
                  <a:schemeClr val="dk1"/>
                </a:solidFill>
              </a:rPr>
              <a:t>, Roosevelt 43%</a:t>
            </a:r>
            <a:endParaRPr/>
          </a:p>
          <a:p>
            <a:pPr marL="609585" lvl="0" indent="-474120" algn="l" rtl="0">
              <a:lnSpc>
                <a:spcPct val="90000"/>
              </a:lnSpc>
              <a:spcBef>
                <a:spcPts val="1200"/>
              </a:spcBef>
              <a:spcAft>
                <a:spcPts val="0"/>
              </a:spcAft>
              <a:buClr>
                <a:schemeClr val="dk1"/>
              </a:buClr>
              <a:buSzPts val="2000"/>
              <a:buFont typeface="Calibri"/>
              <a:buChar char="●"/>
            </a:pPr>
            <a:r>
              <a:rPr lang="en-US">
                <a:solidFill>
                  <a:schemeClr val="dk1"/>
                </a:solidFill>
              </a:rPr>
              <a:t>Actual result: Landon 38%, </a:t>
            </a:r>
            <a:r>
              <a:rPr lang="en-US" b="1">
                <a:solidFill>
                  <a:schemeClr val="dk1"/>
                </a:solidFill>
              </a:rPr>
              <a:t>Roosevelt 62%</a:t>
            </a:r>
            <a:r>
              <a:rPr lang="en-US">
                <a:solidFill>
                  <a:schemeClr val="dk1"/>
                </a:solidFill>
              </a:rPr>
              <a:t>.</a:t>
            </a:r>
            <a:endParaRPr/>
          </a:p>
          <a:p>
            <a:pPr marL="182880" lvl="0" indent="-74928" algn="l" rtl="0">
              <a:lnSpc>
                <a:spcPct val="90000"/>
              </a:lnSpc>
              <a:spcBef>
                <a:spcPts val="1200"/>
              </a:spcBef>
              <a:spcAft>
                <a:spcPts val="0"/>
              </a:spcAft>
              <a:buSzPts val="1700"/>
              <a:buNone/>
            </a:pPr>
            <a:endParaRPr/>
          </a:p>
        </p:txBody>
      </p:sp>
      <p:pic>
        <p:nvPicPr>
          <p:cNvPr id="342" name="Google Shape;342;p20"/>
          <p:cNvPicPr preferRelativeResize="0"/>
          <p:nvPr/>
        </p:nvPicPr>
        <p:blipFill rotWithShape="1">
          <a:blip r:embed="rId3">
            <a:alphaModFix/>
          </a:blip>
          <a:srcRect/>
          <a:stretch/>
        </p:blipFill>
        <p:spPr>
          <a:xfrm>
            <a:off x="7182462" y="2093976"/>
            <a:ext cx="4747661" cy="349272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56"/>
        <p:cNvGrpSpPr/>
        <p:nvPr/>
      </p:nvGrpSpPr>
      <p:grpSpPr>
        <a:xfrm>
          <a:off x="0" y="0"/>
          <a:ext cx="0" cy="0"/>
          <a:chOff x="0" y="0"/>
          <a:chExt cx="0" cy="0"/>
        </a:xfrm>
      </p:grpSpPr>
      <p:sp>
        <p:nvSpPr>
          <p:cNvPr id="357" name="Google Shape;357;p22"/>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LITERARY DIGEST, 1936: WHAT HAPPENED?</a:t>
            </a:r>
            <a:endParaRPr/>
          </a:p>
        </p:txBody>
      </p:sp>
      <p:sp>
        <p:nvSpPr>
          <p:cNvPr id="358" name="Google Shape;358;p22"/>
          <p:cNvSpPr txBox="1">
            <a:spLocks noGrp="1"/>
          </p:cNvSpPr>
          <p:nvPr>
            <p:ph sz="quarter" idx="1"/>
          </p:nvPr>
        </p:nvSpPr>
        <p:spPr>
          <a:xfrm>
            <a:off x="1069848" y="2121408"/>
            <a:ext cx="5271958" cy="4050792"/>
          </a:xfrm>
          <a:prstGeom prst="rect">
            <a:avLst/>
          </a:prstGeom>
          <a:noFill/>
          <a:ln>
            <a:noFill/>
          </a:ln>
        </p:spPr>
        <p:txBody>
          <a:bodyPr spcFirstLastPara="1" wrap="square" lIns="91425" tIns="45700" rIns="91425" bIns="45700" anchor="t" anchorCtr="0">
            <a:normAutofit fontScale="92500"/>
          </a:bodyPr>
          <a:lstStyle/>
          <a:p>
            <a:pPr marL="0" lvl="0" indent="0" algn="l" rtl="0">
              <a:lnSpc>
                <a:spcPct val="90000"/>
              </a:lnSpc>
              <a:spcBef>
                <a:spcPts val="0"/>
              </a:spcBef>
              <a:spcAft>
                <a:spcPts val="0"/>
              </a:spcAft>
              <a:buSzPts val="1700"/>
              <a:buNone/>
            </a:pPr>
            <a:r>
              <a:rPr lang="en-US"/>
              <a:t>A </a:t>
            </a:r>
            <a:r>
              <a:rPr lang="en-US" u="sng">
                <a:solidFill>
                  <a:schemeClr val="hlink"/>
                </a:solidFill>
              </a:rPr>
              <a:t>1988 study</a:t>
            </a:r>
            <a:r>
              <a:rPr lang="en-US"/>
              <a:t>* showed there were two major flaws:</a:t>
            </a:r>
            <a:endParaRPr/>
          </a:p>
          <a:p>
            <a:pPr marL="182880" lvl="0" indent="-182880" algn="l" rtl="0">
              <a:lnSpc>
                <a:spcPct val="90000"/>
              </a:lnSpc>
              <a:spcBef>
                <a:spcPts val="1200"/>
              </a:spcBef>
              <a:spcAft>
                <a:spcPts val="0"/>
              </a:spcAft>
              <a:buSzPts val="1700"/>
              <a:buChar char="▪"/>
            </a:pPr>
            <a:r>
              <a:rPr lang="en-US"/>
              <a:t>The 10 million voters who received mock ballots were not representative of the electorate (coverage and selection bias)</a:t>
            </a:r>
            <a:endParaRPr/>
          </a:p>
          <a:p>
            <a:pPr marL="457200" lvl="1" indent="-182880" algn="l" rtl="0">
              <a:lnSpc>
                <a:spcPct val="90000"/>
              </a:lnSpc>
              <a:spcBef>
                <a:spcPts val="400"/>
              </a:spcBef>
              <a:spcAft>
                <a:spcPts val="0"/>
              </a:spcAft>
              <a:buSzPts val="1530"/>
              <a:buChar char="▪"/>
            </a:pPr>
            <a:r>
              <a:rPr lang="en-US"/>
              <a:t>Drawn from wealthier voters</a:t>
            </a:r>
            <a:endParaRPr/>
          </a:p>
          <a:p>
            <a:pPr marL="182880" lvl="0" indent="-182880" algn="l" rtl="0">
              <a:lnSpc>
                <a:spcPct val="90000"/>
              </a:lnSpc>
              <a:spcBef>
                <a:spcPts val="200"/>
              </a:spcBef>
              <a:spcAft>
                <a:spcPts val="0"/>
              </a:spcAft>
              <a:buSzPts val="1700"/>
              <a:buChar char="▪"/>
            </a:pPr>
            <a:r>
              <a:rPr lang="en-US"/>
              <a:t>The 2.4 million who responded were not representative of those who received mock ballots (non-response bias)</a:t>
            </a:r>
            <a:endParaRPr/>
          </a:p>
          <a:p>
            <a:pPr marL="457200" lvl="1" indent="-182880" algn="l" rtl="0">
              <a:lnSpc>
                <a:spcPct val="90000"/>
              </a:lnSpc>
              <a:spcBef>
                <a:spcPts val="400"/>
              </a:spcBef>
              <a:spcAft>
                <a:spcPts val="0"/>
              </a:spcAft>
              <a:buSzPts val="1530"/>
              <a:buChar char="▪"/>
            </a:pPr>
            <a:r>
              <a:rPr lang="en-US"/>
              <a:t>More passionate voters more likely to respond</a:t>
            </a:r>
            <a:endParaRPr/>
          </a:p>
        </p:txBody>
      </p:sp>
      <p:pic>
        <p:nvPicPr>
          <p:cNvPr id="359" name="Google Shape;359;p22"/>
          <p:cNvPicPr preferRelativeResize="0"/>
          <p:nvPr/>
        </p:nvPicPr>
        <p:blipFill rotWithShape="1">
          <a:blip r:embed="rId3">
            <a:alphaModFix/>
          </a:blip>
          <a:srcRect/>
          <a:stretch/>
        </p:blipFill>
        <p:spPr>
          <a:xfrm>
            <a:off x="6696994" y="1991207"/>
            <a:ext cx="5190333" cy="3485467"/>
          </a:xfrm>
          <a:prstGeom prst="rect">
            <a:avLst/>
          </a:prstGeom>
          <a:noFill/>
          <a:ln>
            <a:noFill/>
          </a:ln>
        </p:spPr>
      </p:pic>
      <p:sp>
        <p:nvSpPr>
          <p:cNvPr id="360" name="Google Shape;360;p22"/>
          <p:cNvSpPr/>
          <p:nvPr/>
        </p:nvSpPr>
        <p:spPr>
          <a:xfrm>
            <a:off x="1069848" y="6480198"/>
            <a:ext cx="8514735"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chemeClr val="dk1"/>
                </a:solidFill>
                <a:latin typeface="Rockwell"/>
                <a:ea typeface="Rockwell"/>
                <a:cs typeface="Rockwell"/>
                <a:sym typeface="Rockwell"/>
              </a:rPr>
              <a:t>*Source: https://www.jstor.org/stable/2749114?seq=1#page_scan_tab_contents</a:t>
            </a:r>
            <a:endParaRPr sz="1400" b="0" i="0" u="none" strike="noStrike" cap="none">
              <a:solidFill>
                <a:srgbClr val="000000"/>
              </a:solidFill>
              <a:latin typeface="Arial"/>
              <a:ea typeface="Arial"/>
              <a:cs typeface="Arial"/>
              <a:sym typeface="Arial"/>
            </a:endParaRPr>
          </a:p>
        </p:txBody>
      </p:sp>
      <p:sp>
        <p:nvSpPr>
          <p:cNvPr id="361" name="Google Shape;361;p22"/>
          <p:cNvSpPr txBox="1"/>
          <p:nvPr/>
        </p:nvSpPr>
        <p:spPr>
          <a:xfrm>
            <a:off x="1069848" y="5864403"/>
            <a:ext cx="11707800" cy="866700"/>
          </a:xfrm>
          <a:prstGeom prst="rect">
            <a:avLst/>
          </a:prstGeom>
          <a:noFill/>
          <a:ln>
            <a:noFill/>
          </a:ln>
        </p:spPr>
        <p:txBody>
          <a:bodyPr spcFirstLastPara="1" wrap="square" lIns="121900" tIns="121900" rIns="121900" bIns="121900" anchor="t" anchorCtr="0">
            <a:noAutofit/>
          </a:bodyPr>
          <a:lstStyle/>
          <a:p>
            <a:pPr marL="0" marR="0" lvl="0" indent="0" algn="l" rtl="0">
              <a:lnSpc>
                <a:spcPct val="90000"/>
              </a:lnSpc>
              <a:spcBef>
                <a:spcPts val="1200"/>
              </a:spcBef>
              <a:spcAft>
                <a:spcPts val="0"/>
              </a:spcAft>
              <a:buClr>
                <a:srgbClr val="9E3611"/>
              </a:buClr>
              <a:buSzPts val="1700"/>
              <a:buFont typeface="Noto Sans Symbols"/>
              <a:buNone/>
            </a:pPr>
            <a:r>
              <a:rPr lang="en-US" sz="2000" b="0" i="0" u="none" strike="noStrike" cap="none">
                <a:solidFill>
                  <a:srgbClr val="FF0000"/>
                </a:solidFill>
                <a:latin typeface="Rockwell"/>
                <a:ea typeface="Rockwell"/>
                <a:cs typeface="Rockwell"/>
                <a:sym typeface="Rockwell"/>
              </a:rPr>
              <a:t>The fundamental problem: Poor data provenance. Big data ≠ good data.</a:t>
            </a:r>
            <a:endParaRPr sz="1400" b="0" i="0" u="none" strike="noStrike" cap="none">
              <a:solidFill>
                <a:srgbClr val="000000"/>
              </a:solidFill>
              <a:latin typeface="Arial"/>
              <a:ea typeface="Arial"/>
              <a:cs typeface="Arial"/>
              <a:sym typeface="Arial"/>
            </a:endParaRPr>
          </a:p>
        </p:txBody>
      </p:sp>
      <p:sp>
        <p:nvSpPr>
          <p:cNvPr id="362" name="Google Shape;362;p22"/>
          <p:cNvSpPr txBox="1"/>
          <p:nvPr/>
        </p:nvSpPr>
        <p:spPr>
          <a:xfrm>
            <a:off x="6696994" y="5454472"/>
            <a:ext cx="5665200" cy="660300"/>
          </a:xfrm>
          <a:prstGeom prst="rect">
            <a:avLst/>
          </a:prstGeom>
          <a:noFill/>
          <a:ln>
            <a:noFill/>
          </a:ln>
        </p:spPr>
        <p:txBody>
          <a:bodyPr spcFirstLastPara="1" wrap="square" lIns="121900" tIns="121900" rIns="121900" bIns="1219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Rockwell"/>
                <a:ea typeface="Rockwell"/>
                <a:cs typeface="Rockwell"/>
                <a:sym typeface="Rockwell"/>
              </a:rPr>
              <a:t>The other side was a pocket mirror.</a:t>
            </a:r>
            <a:endParaRPr sz="2400" b="0" i="0" u="none" strike="noStrike" cap="none">
              <a:solidFill>
                <a:schemeClr val="dk1"/>
              </a:solidFill>
              <a:latin typeface="Rockwell"/>
              <a:ea typeface="Rockwell"/>
              <a:cs typeface="Rockwell"/>
              <a:sym typeface="Rockwe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61"/>
                                        </p:tgtEl>
                                        <p:attrNameLst>
                                          <p:attrName>style.visibility</p:attrName>
                                        </p:attrNameLst>
                                      </p:cBhvr>
                                      <p:to>
                                        <p:strVal val="visible"/>
                                      </p:to>
                                    </p:set>
                                    <p:animEffect transition="in" filter="fade">
                                      <p:cBhvr>
                                        <p:cTn id="7" dur="1"/>
                                        <p:tgtEl>
                                          <p:spTgt spid="361"/>
                                        </p:tgtEl>
                                      </p:cBhvr>
                                    </p:animEffect>
                                  </p:childTnLst>
                                </p:cTn>
                              </p:par>
                              <p:par>
                                <p:cTn id="8" presetID="1" presetClass="entr" presetSubtype="0" fill="hold" nodeType="withEffect">
                                  <p:stCondLst>
                                    <p:cond delay="0"/>
                                  </p:stCondLst>
                                  <p:childTnLst>
                                    <p:set>
                                      <p:cBhvr>
                                        <p:cTn id="9" dur="1" fill="hold">
                                          <p:stCondLst>
                                            <p:cond delay="0"/>
                                          </p:stCondLst>
                                        </p:cTn>
                                        <p:tgtEl>
                                          <p:spTgt spid="361">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67"/>
        <p:cNvGrpSpPr/>
        <p:nvPr/>
      </p:nvGrpSpPr>
      <p:grpSpPr>
        <a:xfrm>
          <a:off x="0" y="0"/>
          <a:ext cx="0" cy="0"/>
          <a:chOff x="0" y="0"/>
          <a:chExt cx="0" cy="0"/>
        </a:xfrm>
      </p:grpSpPr>
      <p:sp>
        <p:nvSpPr>
          <p:cNvPr id="368" name="Google Shape;368;p23"/>
          <p:cNvSpPr txBox="1">
            <a:spLocks noGrp="1"/>
          </p:cNvSpPr>
          <p:nvPr>
            <p:ph type="title"/>
          </p:nvPr>
        </p:nvSpPr>
        <p:spPr>
          <a:xfrm>
            <a:off x="1069850" y="484626"/>
            <a:ext cx="10058400" cy="14766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ct val="100000"/>
              <a:buFont typeface="Rockwell"/>
              <a:buNone/>
            </a:pPr>
            <a:r>
              <a:rPr lang="en-US"/>
              <a:t>BIG DATA CANNOT REASONABLY COMPENSATE FOR SAMPLE BIAS</a:t>
            </a:r>
            <a:endParaRPr/>
          </a:p>
        </p:txBody>
      </p:sp>
      <p:sp>
        <p:nvSpPr>
          <p:cNvPr id="369" name="Google Shape;369;p23"/>
          <p:cNvSpPr txBox="1">
            <a:spLocks noGrp="1"/>
          </p:cNvSpPr>
          <p:nvPr>
            <p:ph sz="quarter" idx="1"/>
          </p:nvPr>
        </p:nvSpPr>
        <p:spPr>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SzPts val="1700"/>
              <a:buNone/>
            </a:pPr>
            <a:r>
              <a:rPr lang="en-US"/>
              <a:t>Meng 2014, “I Got More Data, My Model is More Refined, but My Estimator is Getting Worse! Am I Just Dumb?” *</a:t>
            </a:r>
            <a:endParaRPr/>
          </a:p>
          <a:p>
            <a:pPr marL="0" lvl="0" indent="0" algn="l" rtl="0">
              <a:lnSpc>
                <a:spcPct val="90000"/>
              </a:lnSpc>
              <a:spcBef>
                <a:spcPts val="1200"/>
              </a:spcBef>
              <a:spcAft>
                <a:spcPts val="0"/>
              </a:spcAft>
              <a:buSzPts val="1700"/>
              <a:buNone/>
            </a:pPr>
            <a:endParaRPr/>
          </a:p>
          <a:p>
            <a:pPr marL="0" lvl="0" indent="0" algn="l" rtl="0">
              <a:lnSpc>
                <a:spcPct val="90000"/>
              </a:lnSpc>
              <a:spcBef>
                <a:spcPts val="1200"/>
              </a:spcBef>
              <a:spcAft>
                <a:spcPts val="0"/>
              </a:spcAft>
              <a:buSzPts val="1700"/>
              <a:buNone/>
            </a:pPr>
            <a:r>
              <a:rPr lang="en-US"/>
              <a:t>Meng observed that given two choices:</a:t>
            </a:r>
            <a:endParaRPr/>
          </a:p>
          <a:p>
            <a:pPr marL="182880" lvl="0" indent="-182880" algn="l" rtl="0">
              <a:lnSpc>
                <a:spcPct val="90000"/>
              </a:lnSpc>
              <a:spcBef>
                <a:spcPts val="1200"/>
              </a:spcBef>
              <a:spcAft>
                <a:spcPts val="0"/>
              </a:spcAft>
              <a:buSzPts val="1700"/>
              <a:buChar char="▪"/>
            </a:pPr>
            <a:r>
              <a:rPr lang="en-US"/>
              <a:t>A simple random sample (SRS) of 100 individuals.</a:t>
            </a:r>
            <a:endParaRPr/>
          </a:p>
          <a:p>
            <a:pPr marL="182880" lvl="0" indent="-182880" algn="l" rtl="0">
              <a:lnSpc>
                <a:spcPct val="90000"/>
              </a:lnSpc>
              <a:spcBef>
                <a:spcPts val="0"/>
              </a:spcBef>
              <a:spcAft>
                <a:spcPts val="0"/>
              </a:spcAft>
              <a:buSzPts val="1700"/>
              <a:buChar char="▪"/>
            </a:pPr>
            <a:r>
              <a:rPr lang="en-US"/>
              <a:t>An administrative dataset (AD) with a mild correlation between the thing you’re looking for and the probability of its being recorded</a:t>
            </a:r>
            <a:endParaRPr/>
          </a:p>
          <a:p>
            <a:pPr marL="457200" lvl="1" indent="-182880" algn="l" rtl="0">
              <a:lnSpc>
                <a:spcPct val="90000"/>
              </a:lnSpc>
              <a:spcBef>
                <a:spcPts val="0"/>
              </a:spcBef>
              <a:spcAft>
                <a:spcPts val="0"/>
              </a:spcAft>
              <a:buSzPts val="1530"/>
              <a:buChar char="▪"/>
            </a:pPr>
            <a:r>
              <a:rPr lang="en-US"/>
              <a:t>E.g., people in dataset more likely to vote for Landon than people not in dataset</a:t>
            </a:r>
            <a:endParaRPr/>
          </a:p>
          <a:p>
            <a:pPr marL="0" lvl="0" indent="0" algn="l" rtl="0">
              <a:lnSpc>
                <a:spcPct val="90000"/>
              </a:lnSpc>
              <a:spcBef>
                <a:spcPts val="1400"/>
              </a:spcBef>
              <a:spcAft>
                <a:spcPts val="0"/>
              </a:spcAft>
              <a:buSzPts val="1700"/>
              <a:buNone/>
            </a:pPr>
            <a:endParaRPr/>
          </a:p>
          <a:p>
            <a:pPr marL="0" lvl="0" indent="0" algn="l" rtl="0">
              <a:lnSpc>
                <a:spcPct val="90000"/>
              </a:lnSpc>
              <a:spcBef>
                <a:spcPts val="1200"/>
              </a:spcBef>
              <a:spcAft>
                <a:spcPts val="0"/>
              </a:spcAft>
              <a:buSzPts val="1700"/>
              <a:buNone/>
            </a:pPr>
            <a:r>
              <a:rPr lang="en-US"/>
              <a:t>The SRS can outperform ADs that include even 90% of the total population!</a:t>
            </a:r>
            <a:endParaRPr/>
          </a:p>
        </p:txBody>
      </p:sp>
      <p:sp>
        <p:nvSpPr>
          <p:cNvPr id="370" name="Google Shape;370;p23"/>
          <p:cNvSpPr/>
          <p:nvPr/>
        </p:nvSpPr>
        <p:spPr>
          <a:xfrm>
            <a:off x="1069848" y="6550223"/>
            <a:ext cx="4679614"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chemeClr val="dk1"/>
                </a:solidFill>
                <a:latin typeface="Rockwell"/>
                <a:ea typeface="Rockwell"/>
                <a:cs typeface="Rockwell"/>
                <a:sym typeface="Rockwell"/>
              </a:rPr>
              <a:t>*Source: https://dash.harvard.edu/handle/1/10886849</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88"/>
        <p:cNvGrpSpPr/>
        <p:nvPr/>
      </p:nvGrpSpPr>
      <p:grpSpPr>
        <a:xfrm>
          <a:off x="0" y="0"/>
          <a:ext cx="0" cy="0"/>
          <a:chOff x="0" y="0"/>
          <a:chExt cx="0" cy="0"/>
        </a:xfrm>
      </p:grpSpPr>
      <p:sp>
        <p:nvSpPr>
          <p:cNvPr id="389" name="Google Shape;389;p25"/>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DATASET TERMINOLOGY</a:t>
            </a:r>
            <a:endParaRPr/>
          </a:p>
        </p:txBody>
      </p:sp>
      <p:sp>
        <p:nvSpPr>
          <p:cNvPr id="390" name="Google Shape;390;p25"/>
          <p:cNvSpPr txBox="1">
            <a:spLocks noGrp="1"/>
          </p:cNvSpPr>
          <p:nvPr>
            <p:ph sz="quarter" idx="1"/>
          </p:nvPr>
        </p:nvSpPr>
        <p:spPr>
          <a:xfrm>
            <a:off x="1069848" y="2121407"/>
            <a:ext cx="10227418" cy="4338387"/>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SzPts val="1870"/>
              <a:buNone/>
            </a:pPr>
            <a:r>
              <a:rPr lang="en-US" sz="2200"/>
              <a:t>Does the data form a </a:t>
            </a:r>
            <a:r>
              <a:rPr lang="en-US" sz="2200" b="1"/>
              <a:t>census</a:t>
            </a:r>
            <a:r>
              <a:rPr lang="en-US" sz="2200"/>
              <a:t>, defined as information on </a:t>
            </a:r>
            <a:r>
              <a:rPr lang="en-US" sz="2200" b="1" u="sng"/>
              <a:t>all</a:t>
            </a:r>
            <a:r>
              <a:rPr lang="en-US" sz="2200"/>
              <a:t> subjects or is it a subset a.k.a. a sample?</a:t>
            </a:r>
            <a:endParaRPr sz="2200"/>
          </a:p>
          <a:p>
            <a:pPr marL="0" lvl="0" indent="0" algn="l" rtl="0">
              <a:lnSpc>
                <a:spcPct val="90000"/>
              </a:lnSpc>
              <a:spcBef>
                <a:spcPts val="1200"/>
              </a:spcBef>
              <a:spcAft>
                <a:spcPts val="0"/>
              </a:spcAft>
              <a:buSzPts val="1870"/>
              <a:buNone/>
            </a:pPr>
            <a:r>
              <a:rPr lang="en-US" sz="2200"/>
              <a:t>Terms:</a:t>
            </a:r>
            <a:endParaRPr/>
          </a:p>
          <a:p>
            <a:pPr marL="182880" lvl="0" indent="-182880" algn="l" rtl="0">
              <a:lnSpc>
                <a:spcPct val="90000"/>
              </a:lnSpc>
              <a:spcBef>
                <a:spcPts val="1200"/>
              </a:spcBef>
              <a:spcAft>
                <a:spcPts val="0"/>
              </a:spcAft>
              <a:buSzPts val="1870"/>
              <a:buChar char="▪"/>
            </a:pPr>
            <a:r>
              <a:rPr lang="en-US" sz="2200" b="1"/>
              <a:t>Census</a:t>
            </a:r>
            <a:r>
              <a:rPr lang="en-US" sz="2200"/>
              <a:t>: Information on </a:t>
            </a:r>
            <a:r>
              <a:rPr lang="en-US" sz="2200" b="1" u="sng"/>
              <a:t>all</a:t>
            </a:r>
            <a:r>
              <a:rPr lang="en-US" sz="2200"/>
              <a:t> subjects.</a:t>
            </a:r>
            <a:endParaRPr/>
          </a:p>
          <a:p>
            <a:pPr marL="182880" lvl="0" indent="-182880" algn="l" rtl="0">
              <a:lnSpc>
                <a:spcPct val="90000"/>
              </a:lnSpc>
              <a:spcBef>
                <a:spcPts val="0"/>
              </a:spcBef>
              <a:spcAft>
                <a:spcPts val="0"/>
              </a:spcAft>
              <a:buSzPts val="1870"/>
              <a:buChar char="▪"/>
            </a:pPr>
            <a:r>
              <a:rPr lang="en-US" sz="2200" b="1"/>
              <a:t>Subset</a:t>
            </a:r>
            <a:r>
              <a:rPr lang="en-US" sz="2200"/>
              <a:t> or </a:t>
            </a:r>
            <a:r>
              <a:rPr lang="en-US" sz="2200" b="1"/>
              <a:t>sample</a:t>
            </a:r>
            <a:r>
              <a:rPr lang="en-US" sz="2200"/>
              <a:t>: Information on some subjects. The subset of subjects included in a sample can depend on many factors:</a:t>
            </a:r>
            <a:endParaRPr/>
          </a:p>
          <a:p>
            <a:pPr marL="457200" lvl="1" indent="-182880" algn="l" rtl="0">
              <a:lnSpc>
                <a:spcPct val="90000"/>
              </a:lnSpc>
              <a:spcBef>
                <a:spcPts val="400"/>
              </a:spcBef>
              <a:spcAft>
                <a:spcPts val="0"/>
              </a:spcAft>
              <a:buSzPts val="1700"/>
              <a:buChar char="▪"/>
            </a:pPr>
            <a:r>
              <a:rPr lang="en-US" sz="2000" b="1">
                <a:solidFill>
                  <a:srgbClr val="FF0000"/>
                </a:solidFill>
              </a:rPr>
              <a:t>Self-selected sample</a:t>
            </a:r>
            <a:r>
              <a:rPr lang="en-US" sz="2000"/>
              <a:t>: Subset is whoever chooses to answer</a:t>
            </a:r>
            <a:endParaRPr/>
          </a:p>
          <a:p>
            <a:pPr marL="457200" lvl="1" indent="-182880" algn="l" rtl="0">
              <a:lnSpc>
                <a:spcPct val="90000"/>
              </a:lnSpc>
              <a:spcBef>
                <a:spcPts val="600"/>
              </a:spcBef>
              <a:spcAft>
                <a:spcPts val="0"/>
              </a:spcAft>
              <a:buSzPts val="1700"/>
              <a:buChar char="▪"/>
            </a:pPr>
            <a:r>
              <a:rPr lang="en-US" sz="2000" b="1">
                <a:solidFill>
                  <a:srgbClr val="7030A0"/>
                </a:solidFill>
              </a:rPr>
              <a:t>Convenience sample</a:t>
            </a:r>
            <a:r>
              <a:rPr lang="en-US" sz="2000" b="1"/>
              <a:t>:</a:t>
            </a:r>
            <a:r>
              <a:rPr lang="en-US" sz="2000"/>
              <a:t> Subset is whomever is convenient for researcher.</a:t>
            </a:r>
            <a:endParaRPr/>
          </a:p>
          <a:p>
            <a:pPr marL="457200" lvl="1" indent="-182880" algn="l" rtl="0">
              <a:lnSpc>
                <a:spcPct val="90000"/>
              </a:lnSpc>
              <a:spcBef>
                <a:spcPts val="600"/>
              </a:spcBef>
              <a:spcAft>
                <a:spcPts val="0"/>
              </a:spcAft>
              <a:buSzPts val="1700"/>
              <a:buChar char="▪"/>
            </a:pPr>
            <a:r>
              <a:rPr lang="en-US" sz="2000" b="1">
                <a:solidFill>
                  <a:srgbClr val="0070C0"/>
                </a:solidFill>
              </a:rPr>
              <a:t>Judgment sample</a:t>
            </a:r>
            <a:r>
              <a:rPr lang="en-US" sz="2000" b="1"/>
              <a:t>: </a:t>
            </a:r>
            <a:r>
              <a:rPr lang="en-US" sz="2000"/>
              <a:t>Subset is whomever researcher deliberately selects.</a:t>
            </a:r>
            <a:endParaRPr/>
          </a:p>
          <a:p>
            <a:pPr marL="457200" lvl="1" indent="-182880" algn="l" rtl="0">
              <a:lnSpc>
                <a:spcPct val="90000"/>
              </a:lnSpc>
              <a:spcBef>
                <a:spcPts val="600"/>
              </a:spcBef>
              <a:spcAft>
                <a:spcPts val="0"/>
              </a:spcAft>
              <a:buSzPts val="1700"/>
              <a:buChar char="▪"/>
            </a:pPr>
            <a:r>
              <a:rPr lang="en-US" sz="2000" b="1">
                <a:solidFill>
                  <a:srgbClr val="00B050"/>
                </a:solidFill>
              </a:rPr>
              <a:t>Probability sample</a:t>
            </a:r>
            <a:r>
              <a:rPr lang="en-US" sz="2000"/>
              <a:t>: Subset involves some probabilistic selection.</a:t>
            </a:r>
            <a:endParaRPr/>
          </a:p>
          <a:p>
            <a:pPr marL="182880" lvl="0" indent="-182880" algn="l" rtl="0">
              <a:lnSpc>
                <a:spcPct val="90000"/>
              </a:lnSpc>
              <a:spcBef>
                <a:spcPts val="200"/>
              </a:spcBef>
              <a:spcAft>
                <a:spcPts val="0"/>
              </a:spcAft>
              <a:buSzPts val="1870"/>
              <a:buChar char="▪"/>
            </a:pPr>
            <a:r>
              <a:rPr lang="en-US" sz="2200" b="1"/>
              <a:t>Administrative dataset</a:t>
            </a:r>
            <a:r>
              <a:rPr lang="en-US" sz="2200"/>
              <a:t>: A dataset collected as part of administrative work (e.g. social security names, restaurant safety ratings, etc.)</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94"/>
        <p:cNvGrpSpPr/>
        <p:nvPr/>
      </p:nvGrpSpPr>
      <p:grpSpPr>
        <a:xfrm>
          <a:off x="0" y="0"/>
          <a:ext cx="0" cy="0"/>
          <a:chOff x="0" y="0"/>
          <a:chExt cx="0" cy="0"/>
        </a:xfrm>
      </p:grpSpPr>
      <p:sp>
        <p:nvSpPr>
          <p:cNvPr id="395" name="Google Shape;395;p26"/>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dirty="0"/>
              <a:t>PROBABILITY SAMPLING</a:t>
            </a:r>
            <a:endParaRPr dirty="0"/>
          </a:p>
        </p:txBody>
      </p:sp>
      <p:sp>
        <p:nvSpPr>
          <p:cNvPr id="396" name="Google Shape;396;p26"/>
          <p:cNvSpPr txBox="1">
            <a:spLocks noGrp="1"/>
          </p:cNvSpPr>
          <p:nvPr>
            <p:ph sz="quarter" idx="1"/>
          </p:nvPr>
        </p:nvSpPr>
        <p:spPr>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SzPts val="2040"/>
              <a:buNone/>
            </a:pPr>
            <a:r>
              <a:rPr lang="en-US" sz="2400" dirty="0"/>
              <a:t>When collecting data, probability sampling is a powerful tool</a:t>
            </a:r>
            <a:endParaRPr sz="2400" dirty="0"/>
          </a:p>
          <a:p>
            <a:pPr marL="0" lvl="0" indent="0" algn="l" rtl="0">
              <a:lnSpc>
                <a:spcPct val="90000"/>
              </a:lnSpc>
              <a:spcBef>
                <a:spcPts val="1200"/>
              </a:spcBef>
              <a:spcAft>
                <a:spcPts val="0"/>
              </a:spcAft>
              <a:buSzPts val="2040"/>
              <a:buNone/>
            </a:pPr>
            <a:endParaRPr sz="2400" dirty="0"/>
          </a:p>
          <a:p>
            <a:pPr marL="182880" lvl="0" indent="-182880" algn="l" rtl="0">
              <a:lnSpc>
                <a:spcPct val="90000"/>
              </a:lnSpc>
              <a:spcBef>
                <a:spcPts val="1200"/>
              </a:spcBef>
              <a:spcAft>
                <a:spcPts val="0"/>
              </a:spcAft>
              <a:buSzPts val="2040"/>
              <a:buChar char="▪"/>
            </a:pPr>
            <a:r>
              <a:rPr lang="en-US" dirty="0"/>
              <a:t>We will provide an o</a:t>
            </a:r>
            <a:r>
              <a:rPr lang="en-US" sz="2400" dirty="0"/>
              <a:t>verview of sampling techniques</a:t>
            </a:r>
            <a:endParaRPr dirty="0"/>
          </a:p>
          <a:p>
            <a:pPr marL="457200" lvl="1" indent="-182880" algn="l" rtl="0">
              <a:lnSpc>
                <a:spcPct val="90000"/>
              </a:lnSpc>
              <a:spcBef>
                <a:spcPts val="400"/>
              </a:spcBef>
              <a:spcAft>
                <a:spcPts val="0"/>
              </a:spcAft>
              <a:buSzPts val="2040"/>
              <a:buChar char="▪"/>
            </a:pPr>
            <a:r>
              <a:rPr lang="en-US" sz="2400" dirty="0"/>
              <a:t>We will just focus on sampling techniques for data collection</a:t>
            </a:r>
            <a:endParaRPr dirty="0"/>
          </a:p>
          <a:p>
            <a:pPr marL="457200" lvl="1" indent="-182880" algn="l" rtl="0">
              <a:lnSpc>
                <a:spcPct val="90000"/>
              </a:lnSpc>
              <a:spcBef>
                <a:spcPts val="400"/>
              </a:spcBef>
              <a:spcAft>
                <a:spcPts val="0"/>
              </a:spcAft>
              <a:buSzPts val="2040"/>
              <a:buChar char="▪"/>
            </a:pPr>
            <a:r>
              <a:rPr lang="en-US" sz="2400" dirty="0"/>
              <a:t>Won’t discuss advanced/proof techniques</a:t>
            </a:r>
          </a:p>
          <a:p>
            <a:pPr marL="457200" lvl="1" indent="-53340" algn="l" rtl="0">
              <a:lnSpc>
                <a:spcPct val="90000"/>
              </a:lnSpc>
              <a:spcBef>
                <a:spcPts val="600"/>
              </a:spcBef>
              <a:spcAft>
                <a:spcPts val="0"/>
              </a:spcAft>
              <a:buSzPts val="2040"/>
              <a:buNone/>
            </a:pPr>
            <a:endParaRPr sz="2400" dirty="0"/>
          </a:p>
          <a:p>
            <a:pPr marL="182880" lvl="0" indent="-182880" algn="l" rtl="0">
              <a:lnSpc>
                <a:spcPct val="90000"/>
              </a:lnSpc>
              <a:spcBef>
                <a:spcPts val="200"/>
              </a:spcBef>
              <a:spcAft>
                <a:spcPts val="0"/>
              </a:spcAft>
              <a:buSzPts val="2040"/>
              <a:buChar char="▪"/>
            </a:pPr>
            <a:r>
              <a:rPr lang="en-US" sz="2400" dirty="0"/>
              <a:t>However, let’s take a quick sneak peek at a few popular ways to sample</a:t>
            </a:r>
            <a:endParaRP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00"/>
        <p:cNvGrpSpPr/>
        <p:nvPr/>
      </p:nvGrpSpPr>
      <p:grpSpPr>
        <a:xfrm>
          <a:off x="0" y="0"/>
          <a:ext cx="0" cy="0"/>
          <a:chOff x="0" y="0"/>
          <a:chExt cx="0" cy="0"/>
        </a:xfrm>
      </p:grpSpPr>
      <p:sp>
        <p:nvSpPr>
          <p:cNvPr id="401" name="Google Shape;401;p27"/>
          <p:cNvSpPr txBox="1">
            <a:spLocks noGrp="1"/>
          </p:cNvSpPr>
          <p:nvPr>
            <p:ph type="title"/>
          </p:nvPr>
        </p:nvSpPr>
        <p:spPr>
          <a:xfrm>
            <a:off x="1069850" y="484625"/>
            <a:ext cx="10494000" cy="16095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dirty="0"/>
              <a:t>PROBABILITY SAMPLING: </a:t>
            </a:r>
            <a:br>
              <a:rPr lang="en-US" dirty="0"/>
            </a:br>
            <a:r>
              <a:rPr lang="en-US" dirty="0"/>
              <a:t>SIMPLE RANDOM SAMPLE (SRS)</a:t>
            </a:r>
            <a:endParaRPr dirty="0"/>
          </a:p>
        </p:txBody>
      </p:sp>
      <p:sp>
        <p:nvSpPr>
          <p:cNvPr id="402" name="Google Shape;402;p27"/>
          <p:cNvSpPr txBox="1">
            <a:spLocks noGrp="1"/>
          </p:cNvSpPr>
          <p:nvPr>
            <p:ph sz="quarter" idx="1"/>
          </p:nvPr>
        </p:nvSpPr>
        <p:spPr>
          <a:xfrm>
            <a:off x="746498" y="2021467"/>
            <a:ext cx="10817352" cy="4308889"/>
          </a:xfrm>
          <a:prstGeom prst="rect">
            <a:avLst/>
          </a:prstGeom>
          <a:noFill/>
          <a:ln>
            <a:noFill/>
          </a:ln>
        </p:spPr>
        <p:txBody>
          <a:bodyPr spcFirstLastPara="1" wrap="square" lIns="91425" tIns="45700" rIns="91425" bIns="45700" anchor="t" anchorCtr="0">
            <a:normAutofit fontScale="77500" lnSpcReduction="20000"/>
          </a:bodyPr>
          <a:lstStyle/>
          <a:p>
            <a:pPr marL="0" lvl="0" indent="0" algn="l" rtl="0">
              <a:lnSpc>
                <a:spcPct val="90000"/>
              </a:lnSpc>
              <a:spcBef>
                <a:spcPts val="0"/>
              </a:spcBef>
              <a:spcAft>
                <a:spcPts val="0"/>
              </a:spcAft>
              <a:buSzPts val="1700"/>
              <a:buNone/>
            </a:pPr>
            <a:r>
              <a:rPr lang="en-US" sz="2800" dirty="0"/>
              <a:t>A Simple Random Sample is a “sample drawn from a population at random without replacement.”</a:t>
            </a:r>
          </a:p>
          <a:p>
            <a:pPr marL="0" lvl="0" indent="0" algn="l" rtl="0">
              <a:lnSpc>
                <a:spcPct val="90000"/>
              </a:lnSpc>
              <a:spcBef>
                <a:spcPts val="0"/>
              </a:spcBef>
              <a:spcAft>
                <a:spcPts val="0"/>
              </a:spcAft>
              <a:buSzPts val="1700"/>
              <a:buNone/>
            </a:pPr>
            <a:endParaRPr lang="en-US" sz="2800" dirty="0"/>
          </a:p>
          <a:p>
            <a:pPr marL="0" lvl="0" indent="0" algn="l" rtl="0">
              <a:lnSpc>
                <a:spcPct val="90000"/>
              </a:lnSpc>
              <a:spcBef>
                <a:spcPts val="0"/>
              </a:spcBef>
              <a:spcAft>
                <a:spcPts val="0"/>
              </a:spcAft>
              <a:buSzPts val="1700"/>
              <a:buNone/>
            </a:pPr>
            <a:r>
              <a:rPr lang="en-US" sz="2800" dirty="0"/>
              <a:t>Chapter 3 in LDS has many nice examples, including election polls, so please read them</a:t>
            </a:r>
            <a:endParaRPr sz="2800" dirty="0"/>
          </a:p>
          <a:p>
            <a:pPr marL="0" lvl="0" indent="0" algn="l" rtl="0">
              <a:lnSpc>
                <a:spcPct val="90000"/>
              </a:lnSpc>
              <a:spcBef>
                <a:spcPts val="1200"/>
              </a:spcBef>
              <a:spcAft>
                <a:spcPts val="0"/>
              </a:spcAft>
              <a:buSzPts val="1700"/>
              <a:buNone/>
            </a:pPr>
            <a:endParaRPr dirty="0"/>
          </a:p>
          <a:p>
            <a:pPr marL="0" lvl="0" indent="0" algn="l" rtl="0">
              <a:lnSpc>
                <a:spcPct val="90000"/>
              </a:lnSpc>
              <a:spcBef>
                <a:spcPts val="1200"/>
              </a:spcBef>
              <a:spcAft>
                <a:spcPts val="0"/>
              </a:spcAft>
              <a:buSzPts val="1700"/>
              <a:buNone/>
            </a:pPr>
            <a:r>
              <a:rPr lang="en-US" dirty="0"/>
              <a:t>Example: Suppose we have 6 people named A, B, C, D, E, and F and we want to sample 2 of them.</a:t>
            </a:r>
            <a:endParaRPr dirty="0"/>
          </a:p>
          <a:p>
            <a:pPr marL="0" lvl="0" indent="0" algn="l" rtl="0">
              <a:lnSpc>
                <a:spcPct val="90000"/>
              </a:lnSpc>
              <a:spcBef>
                <a:spcPts val="1200"/>
              </a:spcBef>
              <a:spcAft>
                <a:spcPts val="0"/>
              </a:spcAft>
              <a:buSzPts val="1700"/>
              <a:buNone/>
            </a:pPr>
            <a:endParaRPr dirty="0"/>
          </a:p>
          <a:p>
            <a:pPr marL="0" lvl="0" indent="0" algn="l" rtl="0">
              <a:lnSpc>
                <a:spcPct val="90000"/>
              </a:lnSpc>
              <a:spcBef>
                <a:spcPts val="1200"/>
              </a:spcBef>
              <a:spcAft>
                <a:spcPts val="0"/>
              </a:spcAft>
              <a:buSzPts val="1700"/>
              <a:buNone/>
            </a:pPr>
            <a:r>
              <a:rPr lang="en-US" dirty="0"/>
              <a:t>15 possible samples of size 2 are: AB, AC, AD, AE, AF, BC, BD, BE, BF, CD, CE, CF, DE, DF, EF</a:t>
            </a:r>
            <a:endParaRPr dirty="0"/>
          </a:p>
          <a:p>
            <a:pPr marL="0" lvl="0" indent="0" algn="l" rtl="0">
              <a:lnSpc>
                <a:spcPct val="90000"/>
              </a:lnSpc>
              <a:spcBef>
                <a:spcPts val="1200"/>
              </a:spcBef>
              <a:spcAft>
                <a:spcPts val="0"/>
              </a:spcAft>
              <a:buSzPts val="1700"/>
              <a:buNone/>
            </a:pPr>
            <a:endParaRPr dirty="0"/>
          </a:p>
          <a:p>
            <a:pPr marL="0" lvl="0" indent="0" algn="l" rtl="0">
              <a:lnSpc>
                <a:spcPct val="90000"/>
              </a:lnSpc>
              <a:spcBef>
                <a:spcPts val="1200"/>
              </a:spcBef>
              <a:spcAft>
                <a:spcPts val="0"/>
              </a:spcAft>
              <a:buSzPts val="1700"/>
              <a:buNone/>
            </a:pPr>
            <a:r>
              <a:rPr lang="en-US" dirty="0"/>
              <a:t>If we have an SRS:</a:t>
            </a:r>
            <a:endParaRPr dirty="0"/>
          </a:p>
          <a:p>
            <a:pPr marL="182880" lvl="0" indent="-182880" algn="l" rtl="0">
              <a:lnSpc>
                <a:spcPct val="90000"/>
              </a:lnSpc>
              <a:spcBef>
                <a:spcPts val="1200"/>
              </a:spcBef>
              <a:spcAft>
                <a:spcPts val="0"/>
              </a:spcAft>
              <a:buSzPts val="1700"/>
              <a:buChar char="▪"/>
            </a:pPr>
            <a:r>
              <a:rPr lang="en-US" dirty="0"/>
              <a:t>P(AB)=P(AC)=...P(EF) = 1/15</a:t>
            </a:r>
          </a:p>
          <a:p>
            <a:pPr marL="182880" lvl="0" indent="-182880" algn="l" rtl="0">
              <a:lnSpc>
                <a:spcPct val="90000"/>
              </a:lnSpc>
              <a:spcBef>
                <a:spcPts val="1200"/>
              </a:spcBef>
              <a:spcAft>
                <a:spcPts val="0"/>
              </a:spcAft>
              <a:buSzPts val="1700"/>
              <a:buChar char="▪"/>
            </a:pPr>
            <a:endParaRPr dirty="0"/>
          </a:p>
          <a:p>
            <a:pPr marL="182880" lvl="0" indent="-182880" algn="l" rtl="0">
              <a:lnSpc>
                <a:spcPct val="90000"/>
              </a:lnSpc>
              <a:spcBef>
                <a:spcPts val="0"/>
              </a:spcBef>
              <a:spcAft>
                <a:spcPts val="0"/>
              </a:spcAft>
              <a:buSzPts val="1700"/>
              <a:buChar char="▪"/>
            </a:pPr>
            <a:r>
              <a:rPr lang="en-US" dirty="0"/>
              <a:t>P(A) = 5/15 = 1/3</a:t>
            </a:r>
            <a:endParaRPr dirty="0"/>
          </a:p>
        </p:txBody>
      </p:sp>
      <p:sp>
        <p:nvSpPr>
          <p:cNvPr id="2" name="Folded Corner 1">
            <a:extLst>
              <a:ext uri="{FF2B5EF4-FFF2-40B4-BE49-F238E27FC236}">
                <a16:creationId xmlns:a16="http://schemas.microsoft.com/office/drawing/2014/main" id="{C235F0F5-A4F3-44A3-CC9F-B287E6E5582C}"/>
              </a:ext>
            </a:extLst>
          </p:cNvPr>
          <p:cNvSpPr/>
          <p:nvPr/>
        </p:nvSpPr>
        <p:spPr>
          <a:xfrm>
            <a:off x="3427269" y="5069368"/>
            <a:ext cx="1132688" cy="647249"/>
          </a:xfrm>
          <a:prstGeom prst="foldedCorne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Folded Corner 2">
            <a:extLst>
              <a:ext uri="{FF2B5EF4-FFF2-40B4-BE49-F238E27FC236}">
                <a16:creationId xmlns:a16="http://schemas.microsoft.com/office/drawing/2014/main" id="{139B265D-9383-BC77-AF4F-505528ADFC76}"/>
              </a:ext>
            </a:extLst>
          </p:cNvPr>
          <p:cNvSpPr/>
          <p:nvPr/>
        </p:nvSpPr>
        <p:spPr>
          <a:xfrm>
            <a:off x="1743304" y="5716617"/>
            <a:ext cx="1543903" cy="383125"/>
          </a:xfrm>
          <a:prstGeom prst="foldedCorne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5" presetClass="exit" presetSubtype="0" repeatCount="0" fill="hold" grpId="0" nodeType="clickEffect">
                                  <p:stCondLst>
                                    <p:cond delay="0"/>
                                  </p:stCondLst>
                                  <p:childTnLst>
                                    <p:anim calcmode="lin" valueType="num">
                                      <p:cBhvr>
                                        <p:cTn id="6" dur="1000"/>
                                        <p:tgtEl>
                                          <p:spTgt spid="2"/>
                                        </p:tgtEl>
                                        <p:attrNameLst>
                                          <p:attrName>ppt_w</p:attrName>
                                        </p:attrNameLst>
                                      </p:cBhvr>
                                      <p:tavLst>
                                        <p:tav tm="0">
                                          <p:val>
                                            <p:strVal val="ppt_w"/>
                                          </p:val>
                                        </p:tav>
                                        <p:tav tm="100000">
                                          <p:val>
                                            <p:fltVal val="0"/>
                                          </p:val>
                                        </p:tav>
                                      </p:tavLst>
                                    </p:anim>
                                    <p:anim calcmode="lin" valueType="num">
                                      <p:cBhvr>
                                        <p:cTn id="7" dur="1000"/>
                                        <p:tgtEl>
                                          <p:spTgt spid="2"/>
                                        </p:tgtEl>
                                        <p:attrNameLst>
                                          <p:attrName>ppt_h</p:attrName>
                                        </p:attrNameLst>
                                      </p:cBhvr>
                                      <p:tavLst>
                                        <p:tav tm="0">
                                          <p:val>
                                            <p:strVal val="ppt_h"/>
                                          </p:val>
                                        </p:tav>
                                        <p:tav tm="100000">
                                          <p:val>
                                            <p:fltVal val="0"/>
                                          </p:val>
                                        </p:tav>
                                      </p:tavLst>
                                    </p:anim>
                                    <p:anim calcmode="lin" valueType="num">
                                      <p:cBhvr>
                                        <p:cTn id="8" dur="1000"/>
                                        <p:tgtEl>
                                          <p:spTgt spid="2"/>
                                        </p:tgtEl>
                                        <p:attrNameLst>
                                          <p:attrName>ppt_x</p:attrName>
                                        </p:attrNameLst>
                                      </p:cBhvr>
                                      <p:tavLst>
                                        <p:tav tm="0">
                                          <p:val>
                                            <p:strVal val="ppt_x"/>
                                          </p:val>
                                        </p:tav>
                                        <p:tav tm="5000">
                                          <p:val>
                                            <p:strVal val="ppt_x+-0.0500*(ppt_x*0.9511+(1-ppt_y)*0.3090)"/>
                                          </p:val>
                                        </p:tav>
                                        <p:tav tm="10000">
                                          <p:val>
                                            <p:strVal val="ppt_x+-0.1000*(ppt_x*0.8090+(1-ppt_y)*0.5878)"/>
                                          </p:val>
                                        </p:tav>
                                        <p:tav tm="15000">
                                          <p:val>
                                            <p:strVal val="ppt_x+-0.1500*(ppt_x*0.5878+(1-ppt_y)*0.8090)"/>
                                          </p:val>
                                        </p:tav>
                                        <p:tav tm="20000">
                                          <p:val>
                                            <p:strVal val="ppt_x+-0.2000*(ppt_x*0.3090+(1-ppt_y)*0.9511)"/>
                                          </p:val>
                                        </p:tav>
                                        <p:tav tm="25000">
                                          <p:val>
                                            <p:strVal val="ppt_x+-0.2500*(ppt_x*-0.0000+(1-ppt_y)*1.0000)"/>
                                          </p:val>
                                        </p:tav>
                                        <p:tav tm="30000">
                                          <p:val>
                                            <p:strVal val="ppt_x+-0.3000*(ppt_x*-0.3090+(1-ppt_y)*0.9511)"/>
                                          </p:val>
                                        </p:tav>
                                        <p:tav tm="35000">
                                          <p:val>
                                            <p:strVal val="ppt_x+-0.3500*(ppt_x*-0.5878+(1-ppt_y)*0.8090)"/>
                                          </p:val>
                                        </p:tav>
                                        <p:tav tm="40000">
                                          <p:val>
                                            <p:strVal val="ppt_x+-0.4000*(ppt_x*-0.8090+(1-ppt_y)*0.5878)"/>
                                          </p:val>
                                        </p:tav>
                                        <p:tav tm="45000">
                                          <p:val>
                                            <p:strVal val="ppt_x+-0.4500*(ppt_x*-0.9511+(1-ppt_y)*0.3090)"/>
                                          </p:val>
                                        </p:tav>
                                        <p:tav tm="50000">
                                          <p:val>
                                            <p:strVal val="ppt_x+-0.5000*(ppt_x*-1.0000+(1-ppt_y)*-0.0000)"/>
                                          </p:val>
                                        </p:tav>
                                        <p:tav tm="55000">
                                          <p:val>
                                            <p:strVal val="ppt_x+-0.5500*(ppt_x*-0.9511+(1-ppt_y)*-0.3090)"/>
                                          </p:val>
                                        </p:tav>
                                        <p:tav tm="60000">
                                          <p:val>
                                            <p:strVal val="ppt_x+-0.6000*(ppt_x*-0.8090+(1-ppt_y)*-0.5878)"/>
                                          </p:val>
                                        </p:tav>
                                        <p:tav tm="65000">
                                          <p:val>
                                            <p:strVal val="ppt_x+-0.6500*(ppt_x*-0.5878+(1-ppt_y)*-0.8090)"/>
                                          </p:val>
                                        </p:tav>
                                        <p:tav tm="70000">
                                          <p:val>
                                            <p:strVal val="ppt_x+-0.7000*(ppt_x*-0.3090+(1-ppt_y)*-0.9511)"/>
                                          </p:val>
                                        </p:tav>
                                        <p:tav tm="75000">
                                          <p:val>
                                            <p:strVal val="ppt_x+-0.7500*(ppt_x*0.0000+(1-ppt_y)*-1.0000)"/>
                                          </p:val>
                                        </p:tav>
                                        <p:tav tm="80000">
                                          <p:val>
                                            <p:strVal val="ppt_x+-0.8000*(ppt_x*0.3090+(1-ppt_y)*-0.9511)"/>
                                          </p:val>
                                        </p:tav>
                                        <p:tav tm="85000">
                                          <p:val>
                                            <p:strVal val="ppt_x+-0.8500*(ppt_x*0.5878+(1-ppt_y)*-0.8090)"/>
                                          </p:val>
                                        </p:tav>
                                        <p:tav tm="90000">
                                          <p:val>
                                            <p:strVal val="ppt_x+-0.9000*(ppt_x*0.8090+(1-ppt_y)*-0.5878)"/>
                                          </p:val>
                                        </p:tav>
                                        <p:tav tm="95000">
                                          <p:val>
                                            <p:strVal val="ppt_x+-0.9500*(ppt_x*0.9511+(1-ppt_y)*-0.3090)"/>
                                          </p:val>
                                        </p:tav>
                                        <p:tav tm="100000">
                                          <p:val>
                                            <p:strVal val="ppt_x+-1.0000*(ppt_x*1.0000+(1-ppt_y)*0.0000)"/>
                                          </p:val>
                                        </p:tav>
                                      </p:tavLst>
                                    </p:anim>
                                    <p:anim calcmode="lin" valueType="num">
                                      <p:cBhvr>
                                        <p:cTn id="9" dur="1000"/>
                                        <p:tgtEl>
                                          <p:spTgt spid="2"/>
                                        </p:tgtEl>
                                        <p:attrNameLst>
                                          <p:attrName>ppt_y</p:attrName>
                                        </p:attrNameLst>
                                      </p:cBhvr>
                                      <p:tavLst>
                                        <p:tav tm="0">
                                          <p:val>
                                            <p:strVal val="ppt_y"/>
                                          </p:val>
                                        </p:tav>
                                        <p:tav tm="5000">
                                          <p:val>
                                            <p:strVal val="ppt_y+-0.0500*(ppt_x*0.3090-(1-ppt_y)*0.9511)"/>
                                          </p:val>
                                        </p:tav>
                                        <p:tav tm="10000">
                                          <p:val>
                                            <p:strVal val="ppt_y+-0.1000*(ppt_x*0.5878-(1-ppt_y)*0.8090)"/>
                                          </p:val>
                                        </p:tav>
                                        <p:tav tm="15000">
                                          <p:val>
                                            <p:strVal val="ppt_y+-0.1500*(ppt_x*0.8090-(1-ppt_y)*0.5878)"/>
                                          </p:val>
                                        </p:tav>
                                        <p:tav tm="20000">
                                          <p:val>
                                            <p:strVal val="ppt_y+-0.2000*(ppt_x*0.9511-(1-ppt_y)*0.3090)"/>
                                          </p:val>
                                        </p:tav>
                                        <p:tav tm="25000">
                                          <p:val>
                                            <p:strVal val="ppt_y+-0.2500*(ppt_x*1.0000-(1-ppt_y)*-0.0000)"/>
                                          </p:val>
                                        </p:tav>
                                        <p:tav tm="30000">
                                          <p:val>
                                            <p:strVal val="ppt_y+-0.3000*(ppt_x*0.9511-(1-ppt_y)*-0.3090)"/>
                                          </p:val>
                                        </p:tav>
                                        <p:tav tm="35000">
                                          <p:val>
                                            <p:strVal val="ppt_y+-0.3500*(ppt_x*0.8090-(1-ppt_y)*-0.5878)"/>
                                          </p:val>
                                        </p:tav>
                                        <p:tav tm="40000">
                                          <p:val>
                                            <p:strVal val="ppt_y+-0.4000*(ppt_x*0.5878-(1-ppt_y)*-0.8090)"/>
                                          </p:val>
                                        </p:tav>
                                        <p:tav tm="45000">
                                          <p:val>
                                            <p:strVal val="ppt_y+-0.4500*(ppt_x*0.3090-(1-ppt_y)*-0.9511)"/>
                                          </p:val>
                                        </p:tav>
                                        <p:tav tm="50000">
                                          <p:val>
                                            <p:strVal val="ppt_y+-0.5000*(ppt_x*-0.0000-(1-ppt_y)*-1.0000)"/>
                                          </p:val>
                                        </p:tav>
                                        <p:tav tm="55000">
                                          <p:val>
                                            <p:strVal val="ppt_y+-0.5500*(ppt_x*-0.3090-(1-ppt_y)*-0.9511)"/>
                                          </p:val>
                                        </p:tav>
                                        <p:tav tm="60000">
                                          <p:val>
                                            <p:strVal val="ppt_y+-0.6000*(ppt_x*-0.5878-(1-ppt_y)*-0.8090)"/>
                                          </p:val>
                                        </p:tav>
                                        <p:tav tm="65000">
                                          <p:val>
                                            <p:strVal val="ppt_y+-0.6500*(ppt_x*-0.8090-(1-ppt_y)*-0.5878)"/>
                                          </p:val>
                                        </p:tav>
                                        <p:tav tm="70000">
                                          <p:val>
                                            <p:strVal val="ppt_y+-0.7000*(ppt_x*-0.9511-(1-ppt_y)*-0.3090)"/>
                                          </p:val>
                                        </p:tav>
                                        <p:tav tm="75000">
                                          <p:val>
                                            <p:strVal val="ppt_y+-0.7500*(ppt_x*-1.0000-(1-ppt_y)*0.0000)"/>
                                          </p:val>
                                        </p:tav>
                                        <p:tav tm="80000">
                                          <p:val>
                                            <p:strVal val="ppt_y+-0.8000*(ppt_x*-0.9511-(1-ppt_y)*0.3090)"/>
                                          </p:val>
                                        </p:tav>
                                        <p:tav tm="85000">
                                          <p:val>
                                            <p:strVal val="ppt_y+-0.8500*(ppt_x*-0.8090-(1-ppt_y)*0.5878)"/>
                                          </p:val>
                                        </p:tav>
                                        <p:tav tm="90000">
                                          <p:val>
                                            <p:strVal val="ppt_y+-0.9000*(ppt_x*-0.5878-(1-ppt_y)*0.8090)"/>
                                          </p:val>
                                        </p:tav>
                                        <p:tav tm="95000">
                                          <p:val>
                                            <p:strVal val="ppt_y+-0.9500*(ppt_x*-0.3090-(1-ppt_y)*0.9511)"/>
                                          </p:val>
                                        </p:tav>
                                        <p:tav tm="100000">
                                          <p:val>
                                            <p:strVal val="ppt_y+-1.0000*(ppt_x*0.0000-(1-ppt_y)*1.0000)"/>
                                          </p:val>
                                        </p:tav>
                                      </p:tavLst>
                                    </p:anim>
                                    <p:set>
                                      <p:cBhvr>
                                        <p:cTn id="10" dur="1" fill="hold">
                                          <p:stCondLst>
                                            <p:cond delay="999"/>
                                          </p:stCondLst>
                                        </p:cTn>
                                        <p:tgtEl>
                                          <p:spTgt spid="2"/>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5" presetClass="exit" presetSubtype="0" fill="hold" grpId="0" nodeType="clickEffect">
                                  <p:stCondLst>
                                    <p:cond delay="0"/>
                                  </p:stCondLst>
                                  <p:childTnLst>
                                    <p:anim calcmode="lin" valueType="num">
                                      <p:cBhvr>
                                        <p:cTn id="14" dur="1000"/>
                                        <p:tgtEl>
                                          <p:spTgt spid="3"/>
                                        </p:tgtEl>
                                        <p:attrNameLst>
                                          <p:attrName>ppt_w</p:attrName>
                                        </p:attrNameLst>
                                      </p:cBhvr>
                                      <p:tavLst>
                                        <p:tav tm="0">
                                          <p:val>
                                            <p:strVal val="ppt_w"/>
                                          </p:val>
                                        </p:tav>
                                        <p:tav tm="100000">
                                          <p:val>
                                            <p:fltVal val="0"/>
                                          </p:val>
                                        </p:tav>
                                      </p:tavLst>
                                    </p:anim>
                                    <p:anim calcmode="lin" valueType="num">
                                      <p:cBhvr>
                                        <p:cTn id="15" dur="1000"/>
                                        <p:tgtEl>
                                          <p:spTgt spid="3"/>
                                        </p:tgtEl>
                                        <p:attrNameLst>
                                          <p:attrName>ppt_h</p:attrName>
                                        </p:attrNameLst>
                                      </p:cBhvr>
                                      <p:tavLst>
                                        <p:tav tm="0">
                                          <p:val>
                                            <p:strVal val="ppt_h"/>
                                          </p:val>
                                        </p:tav>
                                        <p:tav tm="100000">
                                          <p:val>
                                            <p:fltVal val="0"/>
                                          </p:val>
                                        </p:tav>
                                      </p:tavLst>
                                    </p:anim>
                                    <p:anim calcmode="lin" valueType="num">
                                      <p:cBhvr>
                                        <p:cTn id="16" dur="1000"/>
                                        <p:tgtEl>
                                          <p:spTgt spid="3"/>
                                        </p:tgtEl>
                                        <p:attrNameLst>
                                          <p:attrName>ppt_x</p:attrName>
                                        </p:attrNameLst>
                                      </p:cBhvr>
                                      <p:tavLst>
                                        <p:tav tm="0">
                                          <p:val>
                                            <p:strVal val="ppt_x"/>
                                          </p:val>
                                        </p:tav>
                                        <p:tav tm="5000">
                                          <p:val>
                                            <p:strVal val="ppt_x+-0.0500*(ppt_x*0.9511+(1-ppt_y)*0.3090)"/>
                                          </p:val>
                                        </p:tav>
                                        <p:tav tm="10000">
                                          <p:val>
                                            <p:strVal val="ppt_x+-0.1000*(ppt_x*0.8090+(1-ppt_y)*0.5878)"/>
                                          </p:val>
                                        </p:tav>
                                        <p:tav tm="15000">
                                          <p:val>
                                            <p:strVal val="ppt_x+-0.1500*(ppt_x*0.5878+(1-ppt_y)*0.8090)"/>
                                          </p:val>
                                        </p:tav>
                                        <p:tav tm="20000">
                                          <p:val>
                                            <p:strVal val="ppt_x+-0.2000*(ppt_x*0.3090+(1-ppt_y)*0.9511)"/>
                                          </p:val>
                                        </p:tav>
                                        <p:tav tm="25000">
                                          <p:val>
                                            <p:strVal val="ppt_x+-0.2500*(ppt_x*-0.0000+(1-ppt_y)*1.0000)"/>
                                          </p:val>
                                        </p:tav>
                                        <p:tav tm="30000">
                                          <p:val>
                                            <p:strVal val="ppt_x+-0.3000*(ppt_x*-0.3090+(1-ppt_y)*0.9511)"/>
                                          </p:val>
                                        </p:tav>
                                        <p:tav tm="35000">
                                          <p:val>
                                            <p:strVal val="ppt_x+-0.3500*(ppt_x*-0.5878+(1-ppt_y)*0.8090)"/>
                                          </p:val>
                                        </p:tav>
                                        <p:tav tm="40000">
                                          <p:val>
                                            <p:strVal val="ppt_x+-0.4000*(ppt_x*-0.8090+(1-ppt_y)*0.5878)"/>
                                          </p:val>
                                        </p:tav>
                                        <p:tav tm="45000">
                                          <p:val>
                                            <p:strVal val="ppt_x+-0.4500*(ppt_x*-0.9511+(1-ppt_y)*0.3090)"/>
                                          </p:val>
                                        </p:tav>
                                        <p:tav tm="50000">
                                          <p:val>
                                            <p:strVal val="ppt_x+-0.5000*(ppt_x*-1.0000+(1-ppt_y)*-0.0000)"/>
                                          </p:val>
                                        </p:tav>
                                        <p:tav tm="55000">
                                          <p:val>
                                            <p:strVal val="ppt_x+-0.5500*(ppt_x*-0.9511+(1-ppt_y)*-0.3090)"/>
                                          </p:val>
                                        </p:tav>
                                        <p:tav tm="60000">
                                          <p:val>
                                            <p:strVal val="ppt_x+-0.6000*(ppt_x*-0.8090+(1-ppt_y)*-0.5878)"/>
                                          </p:val>
                                        </p:tav>
                                        <p:tav tm="65000">
                                          <p:val>
                                            <p:strVal val="ppt_x+-0.6500*(ppt_x*-0.5878+(1-ppt_y)*-0.8090)"/>
                                          </p:val>
                                        </p:tav>
                                        <p:tav tm="70000">
                                          <p:val>
                                            <p:strVal val="ppt_x+-0.7000*(ppt_x*-0.3090+(1-ppt_y)*-0.9511)"/>
                                          </p:val>
                                        </p:tav>
                                        <p:tav tm="75000">
                                          <p:val>
                                            <p:strVal val="ppt_x+-0.7500*(ppt_x*0.0000+(1-ppt_y)*-1.0000)"/>
                                          </p:val>
                                        </p:tav>
                                        <p:tav tm="80000">
                                          <p:val>
                                            <p:strVal val="ppt_x+-0.8000*(ppt_x*0.3090+(1-ppt_y)*-0.9511)"/>
                                          </p:val>
                                        </p:tav>
                                        <p:tav tm="85000">
                                          <p:val>
                                            <p:strVal val="ppt_x+-0.8500*(ppt_x*0.5878+(1-ppt_y)*-0.8090)"/>
                                          </p:val>
                                        </p:tav>
                                        <p:tav tm="90000">
                                          <p:val>
                                            <p:strVal val="ppt_x+-0.9000*(ppt_x*0.8090+(1-ppt_y)*-0.5878)"/>
                                          </p:val>
                                        </p:tav>
                                        <p:tav tm="95000">
                                          <p:val>
                                            <p:strVal val="ppt_x+-0.9500*(ppt_x*0.9511+(1-ppt_y)*-0.3090)"/>
                                          </p:val>
                                        </p:tav>
                                        <p:tav tm="100000">
                                          <p:val>
                                            <p:strVal val="ppt_x+-1.0000*(ppt_x*1.0000+(1-ppt_y)*0.0000)"/>
                                          </p:val>
                                        </p:tav>
                                      </p:tavLst>
                                    </p:anim>
                                    <p:anim calcmode="lin" valueType="num">
                                      <p:cBhvr>
                                        <p:cTn id="17" dur="1000"/>
                                        <p:tgtEl>
                                          <p:spTgt spid="3"/>
                                        </p:tgtEl>
                                        <p:attrNameLst>
                                          <p:attrName>ppt_y</p:attrName>
                                        </p:attrNameLst>
                                      </p:cBhvr>
                                      <p:tavLst>
                                        <p:tav tm="0">
                                          <p:val>
                                            <p:strVal val="ppt_y"/>
                                          </p:val>
                                        </p:tav>
                                        <p:tav tm="5000">
                                          <p:val>
                                            <p:strVal val="ppt_y+-0.0500*(ppt_x*0.3090-(1-ppt_y)*0.9511)"/>
                                          </p:val>
                                        </p:tav>
                                        <p:tav tm="10000">
                                          <p:val>
                                            <p:strVal val="ppt_y+-0.1000*(ppt_x*0.5878-(1-ppt_y)*0.8090)"/>
                                          </p:val>
                                        </p:tav>
                                        <p:tav tm="15000">
                                          <p:val>
                                            <p:strVal val="ppt_y+-0.1500*(ppt_x*0.8090-(1-ppt_y)*0.5878)"/>
                                          </p:val>
                                        </p:tav>
                                        <p:tav tm="20000">
                                          <p:val>
                                            <p:strVal val="ppt_y+-0.2000*(ppt_x*0.9511-(1-ppt_y)*0.3090)"/>
                                          </p:val>
                                        </p:tav>
                                        <p:tav tm="25000">
                                          <p:val>
                                            <p:strVal val="ppt_y+-0.2500*(ppt_x*1.0000-(1-ppt_y)*-0.0000)"/>
                                          </p:val>
                                        </p:tav>
                                        <p:tav tm="30000">
                                          <p:val>
                                            <p:strVal val="ppt_y+-0.3000*(ppt_x*0.9511-(1-ppt_y)*-0.3090)"/>
                                          </p:val>
                                        </p:tav>
                                        <p:tav tm="35000">
                                          <p:val>
                                            <p:strVal val="ppt_y+-0.3500*(ppt_x*0.8090-(1-ppt_y)*-0.5878)"/>
                                          </p:val>
                                        </p:tav>
                                        <p:tav tm="40000">
                                          <p:val>
                                            <p:strVal val="ppt_y+-0.4000*(ppt_x*0.5878-(1-ppt_y)*-0.8090)"/>
                                          </p:val>
                                        </p:tav>
                                        <p:tav tm="45000">
                                          <p:val>
                                            <p:strVal val="ppt_y+-0.4500*(ppt_x*0.3090-(1-ppt_y)*-0.9511)"/>
                                          </p:val>
                                        </p:tav>
                                        <p:tav tm="50000">
                                          <p:val>
                                            <p:strVal val="ppt_y+-0.5000*(ppt_x*-0.0000-(1-ppt_y)*-1.0000)"/>
                                          </p:val>
                                        </p:tav>
                                        <p:tav tm="55000">
                                          <p:val>
                                            <p:strVal val="ppt_y+-0.5500*(ppt_x*-0.3090-(1-ppt_y)*-0.9511)"/>
                                          </p:val>
                                        </p:tav>
                                        <p:tav tm="60000">
                                          <p:val>
                                            <p:strVal val="ppt_y+-0.6000*(ppt_x*-0.5878-(1-ppt_y)*-0.8090)"/>
                                          </p:val>
                                        </p:tav>
                                        <p:tav tm="65000">
                                          <p:val>
                                            <p:strVal val="ppt_y+-0.6500*(ppt_x*-0.8090-(1-ppt_y)*-0.5878)"/>
                                          </p:val>
                                        </p:tav>
                                        <p:tav tm="70000">
                                          <p:val>
                                            <p:strVal val="ppt_y+-0.7000*(ppt_x*-0.9511-(1-ppt_y)*-0.3090)"/>
                                          </p:val>
                                        </p:tav>
                                        <p:tav tm="75000">
                                          <p:val>
                                            <p:strVal val="ppt_y+-0.7500*(ppt_x*-1.0000-(1-ppt_y)*0.0000)"/>
                                          </p:val>
                                        </p:tav>
                                        <p:tav tm="80000">
                                          <p:val>
                                            <p:strVal val="ppt_y+-0.8000*(ppt_x*-0.9511-(1-ppt_y)*0.3090)"/>
                                          </p:val>
                                        </p:tav>
                                        <p:tav tm="85000">
                                          <p:val>
                                            <p:strVal val="ppt_y+-0.8500*(ppt_x*-0.8090-(1-ppt_y)*0.5878)"/>
                                          </p:val>
                                        </p:tav>
                                        <p:tav tm="90000">
                                          <p:val>
                                            <p:strVal val="ppt_y+-0.9000*(ppt_x*-0.5878-(1-ppt_y)*0.8090)"/>
                                          </p:val>
                                        </p:tav>
                                        <p:tav tm="95000">
                                          <p:val>
                                            <p:strVal val="ppt_y+-0.9500*(ppt_x*-0.3090-(1-ppt_y)*0.9511)"/>
                                          </p:val>
                                        </p:tav>
                                        <p:tav tm="100000">
                                          <p:val>
                                            <p:strVal val="ppt_y+-1.0000*(ppt_x*0.0000-(1-ppt_y)*1.0000)"/>
                                          </p:val>
                                        </p:tav>
                                      </p:tavLst>
                                    </p:anim>
                                    <p:set>
                                      <p:cBhvr>
                                        <p:cTn id="18" dur="1" fill="hold">
                                          <p:stCondLst>
                                            <p:cond delay="999"/>
                                          </p:stCondLst>
                                        </p:cTn>
                                        <p:tgtEl>
                                          <p:spTgt spid="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06"/>
        <p:cNvGrpSpPr/>
        <p:nvPr/>
      </p:nvGrpSpPr>
      <p:grpSpPr>
        <a:xfrm>
          <a:off x="0" y="0"/>
          <a:ext cx="0" cy="0"/>
          <a:chOff x="0" y="0"/>
          <a:chExt cx="0" cy="0"/>
        </a:xfrm>
      </p:grpSpPr>
      <p:sp>
        <p:nvSpPr>
          <p:cNvPr id="407" name="Google Shape;407;p28"/>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dirty="0"/>
              <a:t>PROBABILITY SAMPLING: </a:t>
            </a:r>
            <a:br>
              <a:rPr lang="en-US" dirty="0"/>
            </a:br>
            <a:r>
              <a:rPr lang="en-US" dirty="0"/>
              <a:t>CLUSTER SAMPLING</a:t>
            </a:r>
            <a:endParaRPr dirty="0"/>
          </a:p>
        </p:txBody>
      </p:sp>
      <p:sp>
        <p:nvSpPr>
          <p:cNvPr id="408" name="Google Shape;408;p28"/>
          <p:cNvSpPr txBox="1">
            <a:spLocks noGrp="1"/>
          </p:cNvSpPr>
          <p:nvPr>
            <p:ph sz="quarter" idx="1"/>
          </p:nvPr>
        </p:nvSpPr>
        <p:spPr>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SzPts val="1700"/>
              <a:buNone/>
            </a:pPr>
            <a:r>
              <a:rPr lang="en-US" dirty="0"/>
              <a:t>An alternate approach is to divide population into clusters (or groups). We then use SRS to choose clusters instead of individuals. Example cluster: Everyone in a town.</a:t>
            </a:r>
            <a:endParaRPr dirty="0"/>
          </a:p>
          <a:p>
            <a:pPr marL="0" lvl="0" indent="0" algn="l" rtl="0">
              <a:lnSpc>
                <a:spcPct val="90000"/>
              </a:lnSpc>
              <a:spcBef>
                <a:spcPts val="1200"/>
              </a:spcBef>
              <a:spcAft>
                <a:spcPts val="0"/>
              </a:spcAft>
              <a:buSzPts val="1700"/>
              <a:buNone/>
            </a:pPr>
            <a:endParaRPr dirty="0"/>
          </a:p>
          <a:p>
            <a:pPr marL="0" lvl="0" indent="0" algn="l" rtl="0">
              <a:lnSpc>
                <a:spcPct val="90000"/>
              </a:lnSpc>
              <a:spcBef>
                <a:spcPts val="1200"/>
              </a:spcBef>
              <a:spcAft>
                <a:spcPts val="0"/>
              </a:spcAft>
              <a:buSzPts val="1700"/>
              <a:buNone/>
            </a:pPr>
            <a:r>
              <a:rPr lang="en-US" dirty="0"/>
              <a:t>Suppose we again have 6 people and want to sample 2 of them.</a:t>
            </a:r>
            <a:endParaRPr dirty="0"/>
          </a:p>
          <a:p>
            <a:pPr marL="182880" lvl="0" indent="-182880" algn="l" rtl="0">
              <a:lnSpc>
                <a:spcPct val="90000"/>
              </a:lnSpc>
              <a:spcBef>
                <a:spcPts val="1200"/>
              </a:spcBef>
              <a:spcAft>
                <a:spcPts val="0"/>
              </a:spcAft>
              <a:buSzPts val="1700"/>
              <a:buChar char="▪"/>
            </a:pPr>
            <a:r>
              <a:rPr lang="en-US" dirty="0"/>
              <a:t>First we create clusters. I’ve chosen (A, B), (C, D), and (E, F) arbitrarily.</a:t>
            </a:r>
            <a:endParaRPr dirty="0"/>
          </a:p>
          <a:p>
            <a:pPr marL="182880" lvl="0" indent="-182880" algn="l" rtl="0">
              <a:lnSpc>
                <a:spcPct val="90000"/>
              </a:lnSpc>
              <a:spcBef>
                <a:spcPts val="0"/>
              </a:spcBef>
              <a:spcAft>
                <a:spcPts val="0"/>
              </a:spcAft>
              <a:buSzPts val="1700"/>
              <a:buChar char="▪"/>
            </a:pPr>
            <a:r>
              <a:rPr lang="en-US" dirty="0"/>
              <a:t>Then we use SRS to pick one cluster, e.g. (A, B).</a:t>
            </a:r>
            <a:endParaRPr dirty="0"/>
          </a:p>
          <a:p>
            <a:pPr marL="182880" lvl="0" indent="-74928" algn="l" rtl="0">
              <a:lnSpc>
                <a:spcPct val="90000"/>
              </a:lnSpc>
              <a:spcBef>
                <a:spcPts val="1200"/>
              </a:spcBef>
              <a:spcAft>
                <a:spcPts val="0"/>
              </a:spcAft>
              <a:buSzPts val="1700"/>
              <a:buNone/>
            </a:pPr>
            <a:endParaRPr dirty="0"/>
          </a:p>
        </p:txBody>
      </p:sp>
      <p:graphicFrame>
        <p:nvGraphicFramePr>
          <p:cNvPr id="409" name="Google Shape;409;p28"/>
          <p:cNvGraphicFramePr/>
          <p:nvPr/>
        </p:nvGraphicFramePr>
        <p:xfrm>
          <a:off x="7241459" y="4176300"/>
          <a:ext cx="4704750" cy="2499200"/>
        </p:xfrm>
        <a:graphic>
          <a:graphicData uri="http://schemas.openxmlformats.org/drawingml/2006/table">
            <a:tbl>
              <a:tblPr>
                <a:noFill/>
              </a:tblPr>
              <a:tblGrid>
                <a:gridCol w="1568250">
                  <a:extLst>
                    <a:ext uri="{9D8B030D-6E8A-4147-A177-3AD203B41FA5}">
                      <a16:colId xmlns:a16="http://schemas.microsoft.com/office/drawing/2014/main" val="20000"/>
                    </a:ext>
                  </a:extLst>
                </a:gridCol>
                <a:gridCol w="1568250">
                  <a:extLst>
                    <a:ext uri="{9D8B030D-6E8A-4147-A177-3AD203B41FA5}">
                      <a16:colId xmlns:a16="http://schemas.microsoft.com/office/drawing/2014/main" val="20001"/>
                    </a:ext>
                  </a:extLst>
                </a:gridCol>
                <a:gridCol w="1568250">
                  <a:extLst>
                    <a:ext uri="{9D8B030D-6E8A-4147-A177-3AD203B41FA5}">
                      <a16:colId xmlns:a16="http://schemas.microsoft.com/office/drawing/2014/main" val="20002"/>
                    </a:ext>
                  </a:extLst>
                </a:gridCol>
              </a:tblGrid>
              <a:tr h="401500">
                <a:tc>
                  <a:txBody>
                    <a:bodyPr/>
                    <a:lstStyle/>
                    <a:p>
                      <a:pPr marL="0" marR="0" lvl="0" indent="0" algn="l" rtl="0">
                        <a:lnSpc>
                          <a:spcPct val="100000"/>
                        </a:lnSpc>
                        <a:spcBef>
                          <a:spcPts val="0"/>
                        </a:spcBef>
                        <a:spcAft>
                          <a:spcPts val="0"/>
                        </a:spcAft>
                        <a:buClr>
                          <a:schemeClr val="dk1"/>
                        </a:buClr>
                        <a:buSzPts val="2000"/>
                        <a:buFont typeface="Rockwell"/>
                        <a:buNone/>
                      </a:pPr>
                      <a:endParaRPr sz="2000" u="none" strike="noStrike" cap="none"/>
                    </a:p>
                  </a:txBody>
                  <a:tcPr marL="121900" marR="121900" marT="121900" marB="1219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chemeClr val="dk1"/>
                        </a:buClr>
                        <a:buSzPts val="2000"/>
                        <a:buFont typeface="Rockwell"/>
                        <a:buNone/>
                      </a:pPr>
                      <a:r>
                        <a:rPr lang="en-US" sz="2000" u="none" strike="noStrike" cap="none"/>
                        <a:t>SRS</a:t>
                      </a:r>
                      <a:endParaRPr sz="2000" u="none" strike="noStrike" cap="none"/>
                    </a:p>
                  </a:txBody>
                  <a:tcPr marL="121900" marR="121900" marT="121900" marB="1219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chemeClr val="dk1"/>
                        </a:buClr>
                        <a:buSzPts val="2000"/>
                        <a:buFont typeface="Rockwell"/>
                        <a:buNone/>
                      </a:pPr>
                      <a:r>
                        <a:rPr lang="en-US" sz="2000" u="none" strike="noStrike" cap="none"/>
                        <a:t>Cluster Sampling</a:t>
                      </a:r>
                      <a:endParaRPr sz="2000" u="none" strike="noStrike" cap="none"/>
                    </a:p>
                  </a:txBody>
                  <a:tcPr marL="121900" marR="121900" marT="121900" marB="1219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0">
                <a:tc>
                  <a:txBody>
                    <a:bodyPr/>
                    <a:lstStyle/>
                    <a:p>
                      <a:pPr marL="0" marR="0" lvl="0" indent="0" algn="l" rtl="0">
                        <a:lnSpc>
                          <a:spcPct val="100000"/>
                        </a:lnSpc>
                        <a:spcBef>
                          <a:spcPts val="0"/>
                        </a:spcBef>
                        <a:spcAft>
                          <a:spcPts val="0"/>
                        </a:spcAft>
                        <a:buClr>
                          <a:schemeClr val="dk1"/>
                        </a:buClr>
                        <a:buSzPts val="2000"/>
                        <a:buFont typeface="Rockwell"/>
                        <a:buNone/>
                      </a:pPr>
                      <a:r>
                        <a:rPr lang="en-US" sz="2000" u="none" strike="noStrike" cap="none"/>
                        <a:t>P(AB)</a:t>
                      </a:r>
                      <a:endParaRPr sz="2000" u="none" strike="noStrike" cap="none"/>
                    </a:p>
                  </a:txBody>
                  <a:tcPr marL="121900" marR="121900" marT="121900" marB="1219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chemeClr val="dk1"/>
                        </a:buClr>
                        <a:buSzPts val="2000"/>
                        <a:buFont typeface="Rockwell"/>
                        <a:buNone/>
                      </a:pPr>
                      <a:r>
                        <a:rPr lang="en-US" sz="2000" u="none" strike="noStrike" cap="none"/>
                        <a:t>1/15</a:t>
                      </a:r>
                      <a:endParaRPr sz="2000" u="none" strike="noStrike" cap="none"/>
                    </a:p>
                  </a:txBody>
                  <a:tcPr marL="121900" marR="121900" marT="121900" marB="1219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FEFEF"/>
                    </a:solidFill>
                  </a:tcPr>
                </a:tc>
                <a:tc>
                  <a:txBody>
                    <a:bodyPr/>
                    <a:lstStyle/>
                    <a:p>
                      <a:pPr marL="0" marR="0" lvl="0" indent="0" algn="l" rtl="0">
                        <a:lnSpc>
                          <a:spcPct val="100000"/>
                        </a:lnSpc>
                        <a:spcBef>
                          <a:spcPts val="0"/>
                        </a:spcBef>
                        <a:spcAft>
                          <a:spcPts val="0"/>
                        </a:spcAft>
                        <a:buClr>
                          <a:schemeClr val="dk1"/>
                        </a:buClr>
                        <a:buSzPts val="2000"/>
                        <a:buFont typeface="Rockwell"/>
                        <a:buNone/>
                      </a:pPr>
                      <a:r>
                        <a:rPr lang="en-US" sz="2000" u="none" strike="noStrike" cap="none"/>
                        <a:t>???</a:t>
                      </a:r>
                      <a:endParaRPr sz="2000" u="none" strike="noStrike" cap="none"/>
                    </a:p>
                  </a:txBody>
                  <a:tcPr marL="121900" marR="121900" marT="121900" marB="1219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0">
                <a:tc>
                  <a:txBody>
                    <a:bodyPr/>
                    <a:lstStyle/>
                    <a:p>
                      <a:pPr marL="0" marR="0" lvl="0" indent="0" algn="l" rtl="0">
                        <a:lnSpc>
                          <a:spcPct val="100000"/>
                        </a:lnSpc>
                        <a:spcBef>
                          <a:spcPts val="0"/>
                        </a:spcBef>
                        <a:spcAft>
                          <a:spcPts val="0"/>
                        </a:spcAft>
                        <a:buClr>
                          <a:schemeClr val="dk1"/>
                        </a:buClr>
                        <a:buSzPts val="2000"/>
                        <a:buFont typeface="Rockwell"/>
                        <a:buNone/>
                      </a:pPr>
                      <a:r>
                        <a:rPr lang="en-US" sz="2000" u="none" strike="noStrike" cap="none"/>
                        <a:t>P(AE)</a:t>
                      </a:r>
                      <a:endParaRPr sz="2000" u="none" strike="noStrike" cap="none"/>
                    </a:p>
                  </a:txBody>
                  <a:tcPr marL="121900" marR="121900" marT="121900" marB="1219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chemeClr val="dk1"/>
                        </a:buClr>
                        <a:buSzPts val="2000"/>
                        <a:buFont typeface="Rockwell"/>
                        <a:buNone/>
                      </a:pPr>
                      <a:r>
                        <a:rPr lang="en-US" sz="2000" u="none" strike="noStrike" cap="none"/>
                        <a:t>1/15</a:t>
                      </a:r>
                      <a:endParaRPr sz="2000" u="none" strike="noStrike" cap="none"/>
                    </a:p>
                  </a:txBody>
                  <a:tcPr marL="121900" marR="121900" marT="121900" marB="1219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FEFEF"/>
                    </a:solidFill>
                  </a:tcPr>
                </a:tc>
                <a:tc>
                  <a:txBody>
                    <a:bodyPr/>
                    <a:lstStyle/>
                    <a:p>
                      <a:pPr marL="0" marR="0" lvl="0" indent="0" algn="l" rtl="0">
                        <a:lnSpc>
                          <a:spcPct val="100000"/>
                        </a:lnSpc>
                        <a:spcBef>
                          <a:spcPts val="0"/>
                        </a:spcBef>
                        <a:spcAft>
                          <a:spcPts val="0"/>
                        </a:spcAft>
                        <a:buClr>
                          <a:schemeClr val="dk1"/>
                        </a:buClr>
                        <a:buSzPts val="2000"/>
                        <a:buFont typeface="Rockwell"/>
                        <a:buNone/>
                      </a:pPr>
                      <a:r>
                        <a:rPr lang="en-US" sz="2000" u="none" strike="noStrike" cap="none"/>
                        <a:t>???</a:t>
                      </a:r>
                      <a:endParaRPr sz="2000" u="none" strike="noStrike" cap="none"/>
                    </a:p>
                  </a:txBody>
                  <a:tcPr marL="121900" marR="121900" marT="121900" marB="1219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0">
                <a:tc>
                  <a:txBody>
                    <a:bodyPr/>
                    <a:lstStyle/>
                    <a:p>
                      <a:pPr marL="0" marR="0" lvl="0" indent="0" algn="l" rtl="0">
                        <a:lnSpc>
                          <a:spcPct val="100000"/>
                        </a:lnSpc>
                        <a:spcBef>
                          <a:spcPts val="0"/>
                        </a:spcBef>
                        <a:spcAft>
                          <a:spcPts val="0"/>
                        </a:spcAft>
                        <a:buClr>
                          <a:schemeClr val="dk1"/>
                        </a:buClr>
                        <a:buSzPts val="2000"/>
                        <a:buFont typeface="Rockwell"/>
                        <a:buNone/>
                      </a:pPr>
                      <a:r>
                        <a:rPr lang="en-US" sz="2000" u="none" strike="noStrike" cap="none"/>
                        <a:t>P(A)</a:t>
                      </a:r>
                      <a:endParaRPr sz="2000" u="none" strike="noStrike" cap="none"/>
                    </a:p>
                  </a:txBody>
                  <a:tcPr marL="121900" marR="121900" marT="121900" marB="1219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chemeClr val="dk1"/>
                        </a:buClr>
                        <a:buSzPts val="2000"/>
                        <a:buFont typeface="Rockwell"/>
                        <a:buNone/>
                      </a:pPr>
                      <a:r>
                        <a:rPr lang="en-US" sz="2000" u="none" strike="noStrike" cap="none"/>
                        <a:t>1/3</a:t>
                      </a:r>
                      <a:endParaRPr sz="2000" u="none" strike="noStrike" cap="none"/>
                    </a:p>
                  </a:txBody>
                  <a:tcPr marL="121900" marR="121900" marT="121900" marB="1219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FEFEF"/>
                    </a:solidFill>
                  </a:tcPr>
                </a:tc>
                <a:tc>
                  <a:txBody>
                    <a:bodyPr/>
                    <a:lstStyle/>
                    <a:p>
                      <a:pPr marL="0" marR="0" lvl="0" indent="0" algn="l" rtl="0">
                        <a:lnSpc>
                          <a:spcPct val="100000"/>
                        </a:lnSpc>
                        <a:spcBef>
                          <a:spcPts val="0"/>
                        </a:spcBef>
                        <a:spcAft>
                          <a:spcPts val="0"/>
                        </a:spcAft>
                        <a:buClr>
                          <a:schemeClr val="dk1"/>
                        </a:buClr>
                        <a:buSzPts val="2000"/>
                        <a:buFont typeface="Rockwell"/>
                        <a:buNone/>
                      </a:pPr>
                      <a:r>
                        <a:rPr lang="en-US" sz="2000" u="none" strike="noStrike" cap="none"/>
                        <a:t>???</a:t>
                      </a:r>
                      <a:endParaRPr sz="2000" u="none" strike="noStrike" cap="none"/>
                    </a:p>
                  </a:txBody>
                  <a:tcPr marL="121900" marR="121900" marT="121900" marB="1219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09"/>
                                        </p:tgtEl>
                                        <p:attrNameLst>
                                          <p:attrName>style.visibility</p:attrName>
                                        </p:attrNameLst>
                                      </p:cBhvr>
                                      <p:to>
                                        <p:strVal val="visible"/>
                                      </p:to>
                                    </p:set>
                                    <p:animEffect transition="in" filter="fade">
                                      <p:cBhvr>
                                        <p:cTn id="7" dur="1"/>
                                        <p:tgtEl>
                                          <p:spTgt spid="4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22"/>
        <p:cNvGrpSpPr/>
        <p:nvPr/>
      </p:nvGrpSpPr>
      <p:grpSpPr>
        <a:xfrm>
          <a:off x="0" y="0"/>
          <a:ext cx="0" cy="0"/>
          <a:chOff x="0" y="0"/>
          <a:chExt cx="0" cy="0"/>
        </a:xfrm>
      </p:grpSpPr>
      <p:sp>
        <p:nvSpPr>
          <p:cNvPr id="423" name="Google Shape;423;p30"/>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dirty="0"/>
              <a:t>PROBABILITY SAMPLING: </a:t>
            </a:r>
            <a:br>
              <a:rPr lang="en-US" dirty="0"/>
            </a:br>
            <a:r>
              <a:rPr lang="en-US" dirty="0"/>
              <a:t>STRATIFIED SAMPLING</a:t>
            </a:r>
            <a:endParaRPr dirty="0"/>
          </a:p>
        </p:txBody>
      </p:sp>
      <p:sp>
        <p:nvSpPr>
          <p:cNvPr id="424" name="Google Shape;424;p30"/>
          <p:cNvSpPr txBox="1">
            <a:spLocks noGrp="1"/>
          </p:cNvSpPr>
          <p:nvPr>
            <p:ph sz="quarter" idx="1"/>
          </p:nvPr>
        </p:nvSpPr>
        <p:spPr>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SzPts val="1700"/>
              <a:buNone/>
            </a:pPr>
            <a:r>
              <a:rPr lang="en-US" dirty="0"/>
              <a:t>Yet another approach is to divide population into strata based on some characteristic (e.g., Graduate, Undergraduate). Then create one SRS per strata. </a:t>
            </a:r>
            <a:endParaRPr dirty="0"/>
          </a:p>
          <a:p>
            <a:pPr marL="0" lvl="0" indent="0" algn="l" rtl="0">
              <a:lnSpc>
                <a:spcPct val="90000"/>
              </a:lnSpc>
              <a:spcBef>
                <a:spcPts val="1200"/>
              </a:spcBef>
              <a:spcAft>
                <a:spcPts val="0"/>
              </a:spcAft>
              <a:buSzPts val="1700"/>
              <a:buNone/>
            </a:pPr>
            <a:endParaRPr dirty="0"/>
          </a:p>
          <a:p>
            <a:pPr marL="0" lvl="0" indent="0" algn="l" rtl="0">
              <a:lnSpc>
                <a:spcPct val="90000"/>
              </a:lnSpc>
              <a:spcBef>
                <a:spcPts val="1200"/>
              </a:spcBef>
              <a:spcAft>
                <a:spcPts val="0"/>
              </a:spcAft>
              <a:buSzPts val="1700"/>
              <a:buNone/>
            </a:pPr>
            <a:r>
              <a:rPr lang="en-US" dirty="0"/>
              <a:t>Suppose we again have 6 people and want to sample 2 of them.</a:t>
            </a:r>
            <a:endParaRPr dirty="0"/>
          </a:p>
          <a:p>
            <a:pPr marL="182880" lvl="0" indent="-182880" algn="l" rtl="0">
              <a:lnSpc>
                <a:spcPct val="90000"/>
              </a:lnSpc>
              <a:spcBef>
                <a:spcPts val="1200"/>
              </a:spcBef>
              <a:spcAft>
                <a:spcPts val="0"/>
              </a:spcAft>
              <a:buSzPts val="1700"/>
              <a:buChar char="▪"/>
            </a:pPr>
            <a:r>
              <a:rPr lang="en-US" dirty="0"/>
              <a:t>First we create strata. Say </a:t>
            </a:r>
            <a:r>
              <a:rPr lang="en-US" dirty="0" err="1"/>
              <a:t>stratas</a:t>
            </a:r>
            <a:r>
              <a:rPr lang="en-US" dirty="0"/>
              <a:t> are given as {A, B, C, D} and {E, F}</a:t>
            </a:r>
            <a:endParaRPr dirty="0"/>
          </a:p>
          <a:p>
            <a:pPr marL="182880" lvl="0" indent="-182880" algn="l" rtl="0">
              <a:lnSpc>
                <a:spcPct val="90000"/>
              </a:lnSpc>
              <a:spcBef>
                <a:spcPts val="0"/>
              </a:spcBef>
              <a:spcAft>
                <a:spcPts val="0"/>
              </a:spcAft>
              <a:buSzPts val="1700"/>
              <a:buChar char="▪"/>
            </a:pPr>
            <a:r>
              <a:rPr lang="en-US" dirty="0"/>
              <a:t>Use SRS to pick one person from each strata.</a:t>
            </a:r>
            <a:endParaRPr dirty="0"/>
          </a:p>
          <a:p>
            <a:pPr marL="0" lvl="0" indent="0" algn="l" rtl="0">
              <a:lnSpc>
                <a:spcPct val="90000"/>
              </a:lnSpc>
              <a:spcBef>
                <a:spcPts val="1200"/>
              </a:spcBef>
              <a:spcAft>
                <a:spcPts val="0"/>
              </a:spcAft>
              <a:buSzPts val="1700"/>
              <a:buNone/>
            </a:pPr>
            <a:endParaRPr dirty="0"/>
          </a:p>
          <a:p>
            <a:pPr marL="0" lvl="0" indent="0" algn="l" rtl="0">
              <a:lnSpc>
                <a:spcPct val="90000"/>
              </a:lnSpc>
              <a:spcBef>
                <a:spcPts val="1200"/>
              </a:spcBef>
              <a:spcAft>
                <a:spcPts val="0"/>
              </a:spcAft>
              <a:buSzPts val="1700"/>
              <a:buNone/>
            </a:pPr>
            <a:endParaRPr dirty="0"/>
          </a:p>
          <a:p>
            <a:pPr marL="182880" lvl="0" indent="-74928" algn="l" rtl="0">
              <a:lnSpc>
                <a:spcPct val="90000"/>
              </a:lnSpc>
              <a:spcBef>
                <a:spcPts val="1200"/>
              </a:spcBef>
              <a:spcAft>
                <a:spcPts val="0"/>
              </a:spcAft>
              <a:buSzPts val="1700"/>
              <a:buNone/>
            </a:pPr>
            <a:endParaRPr dirty="0"/>
          </a:p>
        </p:txBody>
      </p:sp>
      <p:graphicFrame>
        <p:nvGraphicFramePr>
          <p:cNvPr id="425" name="Google Shape;425;p30"/>
          <p:cNvGraphicFramePr/>
          <p:nvPr/>
        </p:nvGraphicFramePr>
        <p:xfrm>
          <a:off x="6843253" y="4176300"/>
          <a:ext cx="5065025" cy="2499200"/>
        </p:xfrm>
        <a:graphic>
          <a:graphicData uri="http://schemas.openxmlformats.org/drawingml/2006/table">
            <a:tbl>
              <a:tblPr>
                <a:noFill/>
              </a:tblPr>
              <a:tblGrid>
                <a:gridCol w="1031500">
                  <a:extLst>
                    <a:ext uri="{9D8B030D-6E8A-4147-A177-3AD203B41FA5}">
                      <a16:colId xmlns:a16="http://schemas.microsoft.com/office/drawing/2014/main" val="20000"/>
                    </a:ext>
                  </a:extLst>
                </a:gridCol>
                <a:gridCol w="966775">
                  <a:extLst>
                    <a:ext uri="{9D8B030D-6E8A-4147-A177-3AD203B41FA5}">
                      <a16:colId xmlns:a16="http://schemas.microsoft.com/office/drawing/2014/main" val="20001"/>
                    </a:ext>
                  </a:extLst>
                </a:gridCol>
                <a:gridCol w="1524525">
                  <a:extLst>
                    <a:ext uri="{9D8B030D-6E8A-4147-A177-3AD203B41FA5}">
                      <a16:colId xmlns:a16="http://schemas.microsoft.com/office/drawing/2014/main" val="20002"/>
                    </a:ext>
                  </a:extLst>
                </a:gridCol>
                <a:gridCol w="1542225">
                  <a:extLst>
                    <a:ext uri="{9D8B030D-6E8A-4147-A177-3AD203B41FA5}">
                      <a16:colId xmlns:a16="http://schemas.microsoft.com/office/drawing/2014/main" val="20003"/>
                    </a:ext>
                  </a:extLst>
                </a:gridCol>
              </a:tblGrid>
              <a:tr h="639750">
                <a:tc>
                  <a:txBody>
                    <a:bodyPr/>
                    <a:lstStyle/>
                    <a:p>
                      <a:pPr marL="0" marR="0" lvl="0" indent="0" algn="l" rtl="0">
                        <a:lnSpc>
                          <a:spcPct val="100000"/>
                        </a:lnSpc>
                        <a:spcBef>
                          <a:spcPts val="0"/>
                        </a:spcBef>
                        <a:spcAft>
                          <a:spcPts val="0"/>
                        </a:spcAft>
                        <a:buClr>
                          <a:schemeClr val="dk1"/>
                        </a:buClr>
                        <a:buSzPts val="2000"/>
                        <a:buFont typeface="Rockwell"/>
                        <a:buNone/>
                      </a:pPr>
                      <a:endParaRPr sz="2000" u="none" strike="noStrike" cap="none"/>
                    </a:p>
                  </a:txBody>
                  <a:tcPr marL="121900" marR="121900" marT="121900" marB="1219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chemeClr val="dk1"/>
                        </a:buClr>
                        <a:buSzPts val="2000"/>
                        <a:buFont typeface="Rockwell"/>
                        <a:buNone/>
                      </a:pPr>
                      <a:r>
                        <a:rPr lang="en-US" sz="2000" u="none" strike="noStrike" cap="none"/>
                        <a:t>SRS</a:t>
                      </a:r>
                      <a:endParaRPr sz="2000" u="none" strike="noStrike" cap="none"/>
                    </a:p>
                  </a:txBody>
                  <a:tcPr marL="121900" marR="121900" marT="121900" marB="1219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chemeClr val="dk1"/>
                        </a:buClr>
                        <a:buSzPts val="2000"/>
                        <a:buFont typeface="Rockwell"/>
                        <a:buNone/>
                      </a:pPr>
                      <a:r>
                        <a:rPr lang="en-US" sz="2000" u="none" strike="noStrike" cap="none"/>
                        <a:t>Cluster Sampling</a:t>
                      </a:r>
                      <a:endParaRPr sz="2000" u="none" strike="noStrike" cap="none"/>
                    </a:p>
                  </a:txBody>
                  <a:tcPr marL="121900" marR="121900" marT="121900" marB="1219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chemeClr val="dk1"/>
                        </a:buClr>
                        <a:buSzPts val="2000"/>
                        <a:buFont typeface="Rockwell"/>
                        <a:buNone/>
                      </a:pPr>
                      <a:r>
                        <a:rPr lang="en-US" sz="2000" u="none" strike="noStrike" cap="none"/>
                        <a:t>Stratified Sampling</a:t>
                      </a:r>
                      <a:endParaRPr sz="2000" u="none" strike="noStrike" cap="none"/>
                    </a:p>
                  </a:txBody>
                  <a:tcPr marL="121900" marR="121900" marT="121900" marB="1219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290775">
                <a:tc>
                  <a:txBody>
                    <a:bodyPr/>
                    <a:lstStyle/>
                    <a:p>
                      <a:pPr marL="0" marR="0" lvl="0" indent="0" algn="l" rtl="0">
                        <a:lnSpc>
                          <a:spcPct val="100000"/>
                        </a:lnSpc>
                        <a:spcBef>
                          <a:spcPts val="0"/>
                        </a:spcBef>
                        <a:spcAft>
                          <a:spcPts val="0"/>
                        </a:spcAft>
                        <a:buClr>
                          <a:schemeClr val="dk1"/>
                        </a:buClr>
                        <a:buSzPts val="2000"/>
                        <a:buFont typeface="Rockwell"/>
                        <a:buNone/>
                      </a:pPr>
                      <a:r>
                        <a:rPr lang="en-US" sz="2000" u="none" strike="noStrike" cap="none"/>
                        <a:t>P(AB)</a:t>
                      </a:r>
                      <a:endParaRPr sz="2000" u="none" strike="noStrike" cap="none"/>
                    </a:p>
                  </a:txBody>
                  <a:tcPr marL="121900" marR="121900" marT="121900" marB="1219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chemeClr val="dk1"/>
                        </a:buClr>
                        <a:buSzPts val="2000"/>
                        <a:buFont typeface="Rockwell"/>
                        <a:buNone/>
                      </a:pPr>
                      <a:r>
                        <a:rPr lang="en-US" sz="2000" u="none" strike="noStrike" cap="none"/>
                        <a:t>1/15</a:t>
                      </a:r>
                      <a:endParaRPr sz="2000" u="none" strike="noStrike" cap="none"/>
                    </a:p>
                  </a:txBody>
                  <a:tcPr marL="121900" marR="121900" marT="121900" marB="1219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FEFEF"/>
                    </a:solidFill>
                  </a:tcPr>
                </a:tc>
                <a:tc>
                  <a:txBody>
                    <a:bodyPr/>
                    <a:lstStyle/>
                    <a:p>
                      <a:pPr marL="0" marR="0" lvl="0" indent="0" algn="l" rtl="0">
                        <a:lnSpc>
                          <a:spcPct val="100000"/>
                        </a:lnSpc>
                        <a:spcBef>
                          <a:spcPts val="0"/>
                        </a:spcBef>
                        <a:spcAft>
                          <a:spcPts val="0"/>
                        </a:spcAft>
                        <a:buClr>
                          <a:schemeClr val="dk1"/>
                        </a:buClr>
                        <a:buSzPts val="2000"/>
                        <a:buFont typeface="Rockwell"/>
                        <a:buNone/>
                      </a:pPr>
                      <a:r>
                        <a:rPr lang="en-US" sz="2000" u="none" strike="noStrike" cap="none"/>
                        <a:t>1/3</a:t>
                      </a:r>
                      <a:endParaRPr sz="2000" u="none" strike="noStrike" cap="none"/>
                    </a:p>
                  </a:txBody>
                  <a:tcPr marL="121900" marR="121900" marT="121900" marB="1219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FEFEF"/>
                    </a:solidFill>
                  </a:tcPr>
                </a:tc>
                <a:tc>
                  <a:txBody>
                    <a:bodyPr/>
                    <a:lstStyle/>
                    <a:p>
                      <a:pPr marL="0" marR="0" lvl="0" indent="0" algn="l" rtl="0">
                        <a:lnSpc>
                          <a:spcPct val="100000"/>
                        </a:lnSpc>
                        <a:spcBef>
                          <a:spcPts val="0"/>
                        </a:spcBef>
                        <a:spcAft>
                          <a:spcPts val="0"/>
                        </a:spcAft>
                        <a:buClr>
                          <a:schemeClr val="dk1"/>
                        </a:buClr>
                        <a:buSzPts val="2000"/>
                        <a:buFont typeface="Rockwell"/>
                        <a:buNone/>
                      </a:pPr>
                      <a:r>
                        <a:rPr lang="en-US" sz="2000" u="none" strike="noStrike" cap="none"/>
                        <a:t>???</a:t>
                      </a:r>
                      <a:endParaRPr sz="2000" u="none" strike="noStrike" cap="none"/>
                    </a:p>
                  </a:txBody>
                  <a:tcPr marL="121900" marR="121900" marT="121900" marB="1219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290775">
                <a:tc>
                  <a:txBody>
                    <a:bodyPr/>
                    <a:lstStyle/>
                    <a:p>
                      <a:pPr marL="0" marR="0" lvl="0" indent="0" algn="l" rtl="0">
                        <a:lnSpc>
                          <a:spcPct val="100000"/>
                        </a:lnSpc>
                        <a:spcBef>
                          <a:spcPts val="0"/>
                        </a:spcBef>
                        <a:spcAft>
                          <a:spcPts val="0"/>
                        </a:spcAft>
                        <a:buClr>
                          <a:schemeClr val="dk1"/>
                        </a:buClr>
                        <a:buSzPts val="2000"/>
                        <a:buFont typeface="Rockwell"/>
                        <a:buNone/>
                      </a:pPr>
                      <a:r>
                        <a:rPr lang="en-US" sz="2000" u="none" strike="noStrike" cap="none"/>
                        <a:t>P(AE)</a:t>
                      </a:r>
                      <a:endParaRPr sz="2000" u="none" strike="noStrike" cap="none"/>
                    </a:p>
                  </a:txBody>
                  <a:tcPr marL="121900" marR="121900" marT="121900" marB="1219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chemeClr val="dk1"/>
                        </a:buClr>
                        <a:buSzPts val="2000"/>
                        <a:buFont typeface="Rockwell"/>
                        <a:buNone/>
                      </a:pPr>
                      <a:r>
                        <a:rPr lang="en-US" sz="2000" u="none" strike="noStrike" cap="none"/>
                        <a:t>1/15</a:t>
                      </a:r>
                      <a:endParaRPr sz="2000" u="none" strike="noStrike" cap="none"/>
                    </a:p>
                  </a:txBody>
                  <a:tcPr marL="121900" marR="121900" marT="121900" marB="1219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FEFEF"/>
                    </a:solidFill>
                  </a:tcPr>
                </a:tc>
                <a:tc>
                  <a:txBody>
                    <a:bodyPr/>
                    <a:lstStyle/>
                    <a:p>
                      <a:pPr marL="0" marR="0" lvl="0" indent="0" algn="l" rtl="0">
                        <a:lnSpc>
                          <a:spcPct val="100000"/>
                        </a:lnSpc>
                        <a:spcBef>
                          <a:spcPts val="0"/>
                        </a:spcBef>
                        <a:spcAft>
                          <a:spcPts val="0"/>
                        </a:spcAft>
                        <a:buClr>
                          <a:schemeClr val="dk1"/>
                        </a:buClr>
                        <a:buSzPts val="2000"/>
                        <a:buFont typeface="Rockwell"/>
                        <a:buNone/>
                      </a:pPr>
                      <a:r>
                        <a:rPr lang="en-US" sz="2000" u="none" strike="noStrike" cap="none"/>
                        <a:t>0</a:t>
                      </a:r>
                      <a:endParaRPr sz="2000" u="none" strike="noStrike" cap="none"/>
                    </a:p>
                  </a:txBody>
                  <a:tcPr marL="121900" marR="121900" marT="121900" marB="1219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FEFEF"/>
                    </a:solidFill>
                  </a:tcPr>
                </a:tc>
                <a:tc>
                  <a:txBody>
                    <a:bodyPr/>
                    <a:lstStyle/>
                    <a:p>
                      <a:pPr marL="0" marR="0" lvl="0" indent="0" algn="l" rtl="0">
                        <a:lnSpc>
                          <a:spcPct val="100000"/>
                        </a:lnSpc>
                        <a:spcBef>
                          <a:spcPts val="0"/>
                        </a:spcBef>
                        <a:spcAft>
                          <a:spcPts val="0"/>
                        </a:spcAft>
                        <a:buClr>
                          <a:schemeClr val="dk1"/>
                        </a:buClr>
                        <a:buSzPts val="2000"/>
                        <a:buFont typeface="Rockwell"/>
                        <a:buNone/>
                      </a:pPr>
                      <a:r>
                        <a:rPr lang="en-US" sz="2000" u="none" strike="noStrike" cap="none"/>
                        <a:t>???</a:t>
                      </a:r>
                      <a:endParaRPr sz="2000" u="none" strike="noStrike" cap="none"/>
                    </a:p>
                  </a:txBody>
                  <a:tcPr marL="121900" marR="121900" marT="121900" marB="1219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290775">
                <a:tc>
                  <a:txBody>
                    <a:bodyPr/>
                    <a:lstStyle/>
                    <a:p>
                      <a:pPr marL="0" marR="0" lvl="0" indent="0" algn="l" rtl="0">
                        <a:lnSpc>
                          <a:spcPct val="100000"/>
                        </a:lnSpc>
                        <a:spcBef>
                          <a:spcPts val="0"/>
                        </a:spcBef>
                        <a:spcAft>
                          <a:spcPts val="0"/>
                        </a:spcAft>
                        <a:buClr>
                          <a:schemeClr val="dk1"/>
                        </a:buClr>
                        <a:buSzPts val="2000"/>
                        <a:buFont typeface="Rockwell"/>
                        <a:buNone/>
                      </a:pPr>
                      <a:r>
                        <a:rPr lang="en-US" sz="2000" u="none" strike="noStrike" cap="none"/>
                        <a:t>P(A)</a:t>
                      </a:r>
                      <a:endParaRPr sz="2000" u="none" strike="noStrike" cap="none"/>
                    </a:p>
                  </a:txBody>
                  <a:tcPr marL="121900" marR="121900" marT="121900" marB="1219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chemeClr val="dk1"/>
                        </a:buClr>
                        <a:buSzPts val="2000"/>
                        <a:buFont typeface="Rockwell"/>
                        <a:buNone/>
                      </a:pPr>
                      <a:r>
                        <a:rPr lang="en-US" sz="2000" u="none" strike="noStrike" cap="none"/>
                        <a:t>1/3</a:t>
                      </a:r>
                      <a:endParaRPr sz="2000" u="none" strike="noStrike" cap="none"/>
                    </a:p>
                  </a:txBody>
                  <a:tcPr marL="121900" marR="121900" marT="121900" marB="1219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FEFEF"/>
                    </a:solidFill>
                  </a:tcPr>
                </a:tc>
                <a:tc>
                  <a:txBody>
                    <a:bodyPr/>
                    <a:lstStyle/>
                    <a:p>
                      <a:pPr marL="0" marR="0" lvl="0" indent="0" algn="l" rtl="0">
                        <a:lnSpc>
                          <a:spcPct val="100000"/>
                        </a:lnSpc>
                        <a:spcBef>
                          <a:spcPts val="0"/>
                        </a:spcBef>
                        <a:spcAft>
                          <a:spcPts val="0"/>
                        </a:spcAft>
                        <a:buClr>
                          <a:schemeClr val="dk1"/>
                        </a:buClr>
                        <a:buSzPts val="2000"/>
                        <a:buFont typeface="Rockwell"/>
                        <a:buNone/>
                      </a:pPr>
                      <a:r>
                        <a:rPr lang="en-US" sz="2000" u="none" strike="noStrike" cap="none"/>
                        <a:t>1/3</a:t>
                      </a:r>
                      <a:endParaRPr sz="2000" u="none" strike="noStrike" cap="none"/>
                    </a:p>
                  </a:txBody>
                  <a:tcPr marL="121900" marR="121900" marT="121900" marB="1219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FEFEF"/>
                    </a:solidFill>
                  </a:tcPr>
                </a:tc>
                <a:tc>
                  <a:txBody>
                    <a:bodyPr/>
                    <a:lstStyle/>
                    <a:p>
                      <a:pPr marL="0" marR="0" lvl="0" indent="0" algn="l" rtl="0">
                        <a:lnSpc>
                          <a:spcPct val="100000"/>
                        </a:lnSpc>
                        <a:spcBef>
                          <a:spcPts val="0"/>
                        </a:spcBef>
                        <a:spcAft>
                          <a:spcPts val="0"/>
                        </a:spcAft>
                        <a:buClr>
                          <a:schemeClr val="dk1"/>
                        </a:buClr>
                        <a:buSzPts val="2000"/>
                        <a:buFont typeface="Rockwell"/>
                        <a:buNone/>
                      </a:pPr>
                      <a:r>
                        <a:rPr lang="en-US" sz="2000" u="none" strike="noStrike" cap="none"/>
                        <a:t>???</a:t>
                      </a:r>
                      <a:endParaRPr sz="2000" u="none" strike="noStrike" cap="none"/>
                    </a:p>
                  </a:txBody>
                  <a:tcPr marL="121900" marR="121900" marT="121900" marB="1219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25"/>
                                        </p:tgtEl>
                                        <p:attrNameLst>
                                          <p:attrName>style.visibility</p:attrName>
                                        </p:attrNameLst>
                                      </p:cBhvr>
                                      <p:to>
                                        <p:strVal val="visible"/>
                                      </p:to>
                                    </p:set>
                                    <p:animEffect transition="in" filter="fade">
                                      <p:cBhvr>
                                        <p:cTn id="7" dur="1"/>
                                        <p:tgtEl>
                                          <p:spTgt spid="4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37"/>
        <p:cNvGrpSpPr/>
        <p:nvPr/>
      </p:nvGrpSpPr>
      <p:grpSpPr>
        <a:xfrm>
          <a:off x="0" y="0"/>
          <a:ext cx="0" cy="0"/>
          <a:chOff x="0" y="0"/>
          <a:chExt cx="0" cy="0"/>
        </a:xfrm>
      </p:grpSpPr>
      <p:sp>
        <p:nvSpPr>
          <p:cNvPr id="438" name="Google Shape;438;p33"/>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ARE FIRST BORNS MORE LIKELY TO ATTEND HARVARD?</a:t>
            </a:r>
            <a:endParaRPr/>
          </a:p>
        </p:txBody>
      </p:sp>
      <p:sp>
        <p:nvSpPr>
          <p:cNvPr id="439" name="Google Shape;439;p33"/>
          <p:cNvSpPr txBox="1">
            <a:spLocks noGrp="1"/>
          </p:cNvSpPr>
          <p:nvPr>
            <p:ph sz="quarter" idx="1"/>
          </p:nvPr>
        </p:nvSpPr>
        <p:spPr>
          <a:xfrm>
            <a:off x="1069848" y="2121408"/>
            <a:ext cx="4313313" cy="4572000"/>
          </a:xfrm>
          <a:prstGeom prst="rect">
            <a:avLst/>
          </a:prstGeom>
          <a:noFill/>
          <a:ln>
            <a:noFill/>
          </a:ln>
        </p:spPr>
        <p:txBody>
          <a:bodyPr spcFirstLastPara="1" wrap="square" lIns="91425" tIns="45700" rIns="91425" bIns="45700" anchor="t" anchorCtr="0">
            <a:normAutofit fontScale="92500" lnSpcReduction="20000"/>
          </a:bodyPr>
          <a:lstStyle/>
          <a:p>
            <a:pPr marL="0" lvl="0" indent="0" algn="l" rtl="0">
              <a:lnSpc>
                <a:spcPct val="90000"/>
              </a:lnSpc>
              <a:spcBef>
                <a:spcPts val="0"/>
              </a:spcBef>
              <a:spcAft>
                <a:spcPts val="0"/>
              </a:spcAft>
              <a:buSzPts val="1700"/>
              <a:buNone/>
            </a:pPr>
            <a:r>
              <a:rPr lang="en-US" dirty="0"/>
              <a:t>Harvard Philosopher </a:t>
            </a:r>
            <a:r>
              <a:rPr lang="en-US" u="sng" dirty="0">
                <a:solidFill>
                  <a:schemeClr val="hlink"/>
                </a:solidFill>
                <a:hlinkClick r:id="rId3"/>
              </a:rPr>
              <a:t>Michael Sandel</a:t>
            </a:r>
            <a:r>
              <a:rPr lang="en-US" dirty="0"/>
              <a:t> (among others) argues that birth order has a significant impact on work ethic and therefore life outcomes.</a:t>
            </a:r>
            <a:endParaRPr dirty="0"/>
          </a:p>
          <a:p>
            <a:pPr marL="0" lvl="0" indent="0" algn="l" rtl="0">
              <a:lnSpc>
                <a:spcPct val="90000"/>
              </a:lnSpc>
              <a:spcBef>
                <a:spcPts val="1200"/>
              </a:spcBef>
              <a:spcAft>
                <a:spcPts val="0"/>
              </a:spcAft>
              <a:buSzPts val="1700"/>
              <a:buNone/>
            </a:pPr>
            <a:endParaRPr dirty="0"/>
          </a:p>
          <a:p>
            <a:pPr marL="0" lvl="0" indent="0" algn="l" rtl="0">
              <a:lnSpc>
                <a:spcPct val="90000"/>
              </a:lnSpc>
              <a:spcBef>
                <a:spcPts val="1200"/>
              </a:spcBef>
              <a:spcAft>
                <a:spcPts val="0"/>
              </a:spcAft>
              <a:buSzPts val="1700"/>
              <a:buNone/>
            </a:pPr>
            <a:r>
              <a:rPr lang="en-US" dirty="0"/>
              <a:t>Asked in class what fraction of students were first born, and found that 75-80% were consistently first born! </a:t>
            </a:r>
            <a:r>
              <a:rPr lang="en-US" dirty="0">
                <a:solidFill>
                  <a:srgbClr val="FF0000"/>
                </a:solidFill>
              </a:rPr>
              <a:t>P(F | H) = 75 to 80%</a:t>
            </a:r>
            <a:endParaRPr dirty="0"/>
          </a:p>
          <a:p>
            <a:pPr marL="0" lvl="0" indent="0" algn="l" rtl="0">
              <a:lnSpc>
                <a:spcPct val="90000"/>
              </a:lnSpc>
              <a:spcBef>
                <a:spcPts val="1200"/>
              </a:spcBef>
              <a:spcAft>
                <a:spcPts val="0"/>
              </a:spcAft>
              <a:buSzPts val="1700"/>
              <a:buNone/>
            </a:pPr>
            <a:r>
              <a:rPr lang="en-US" dirty="0"/>
              <a:t>F – first born (yes/no)                       H – attend Harvard (yes/no)</a:t>
            </a:r>
            <a:endParaRPr dirty="0"/>
          </a:p>
          <a:p>
            <a:pPr marL="0" lvl="0" indent="0" algn="l" rtl="0">
              <a:lnSpc>
                <a:spcPct val="90000"/>
              </a:lnSpc>
              <a:spcBef>
                <a:spcPts val="1200"/>
              </a:spcBef>
              <a:spcAft>
                <a:spcPts val="0"/>
              </a:spcAft>
              <a:buSzPts val="1700"/>
              <a:buNone/>
            </a:pPr>
            <a:endParaRPr dirty="0"/>
          </a:p>
          <a:p>
            <a:pPr marL="0" lvl="0" indent="0" algn="l" rtl="0">
              <a:lnSpc>
                <a:spcPct val="90000"/>
              </a:lnSpc>
              <a:spcBef>
                <a:spcPts val="1200"/>
              </a:spcBef>
              <a:spcAft>
                <a:spcPts val="0"/>
              </a:spcAft>
              <a:buSzPts val="1700"/>
              <a:buNone/>
            </a:pPr>
            <a:r>
              <a:rPr lang="en-US" dirty="0"/>
              <a:t>What’s going on?</a:t>
            </a:r>
            <a:endParaRPr dirty="0"/>
          </a:p>
        </p:txBody>
      </p:sp>
      <p:pic>
        <p:nvPicPr>
          <p:cNvPr id="440" name="Google Shape;440;p33" descr="To register for the 2015 course, visit https://www.edx.org/course/justice-harvardx-er22-1x-0. &#10;&#10;ART ONE: WHATS A FAIR START?&#10;Is it just to tax the rich to help the poor? John Rawls says we should answer this question by asking what principles you would choose to govern the distribution of income and wealth if you did not know who you were, whether you grew up in privilege or in poverty. Wouldnt you want an equal distribution of wealth, or one that maximally benefits whomever happens to be the least advantaged? After all, that might be you. Rawls argues that even meritocracy—a distributive system that rewards effort—doesnt go far enough in leveling the playing field because those who are naturally gifted will always get ahead. Furthermore, says Rawls, the naturally gifted cant claim much credit because their success often depends on factors as arbitrary as birth order. Sandel makes Rawlss point when he asks the students who were first born in their family to raise their hands.&#10;&#10;PART TWO: WHAT DO WE DESERVE?&#10;&#10;Professor Sandel recaps how income, wealth, and opportunities in life should be distributed, according to the three different theories raised so far in class. He summarizes libertarianism, the meritocratic system, and John Rawlss egalitarian theory. Sandel then launches a discussion of the fairness of pay differentials in modern society. He compares the salary of former Supreme Court Justice Sandra Day OConnor ($200,000) with the salary of televisions Judge Judy ($25 million). Sandel asks, is this fair? According to John Rawls, it is not. Rawls argues that an individuals personal success is often a function of morally arbitrary facts—luck, genes, and family circumstances—for which he or she can claim no credit. Those at the bottom are no less worthy simply because they werent born with the talents a particular society rewards, Rawls argues, and the only just way to deal with societys inequalities is for the naturally advantaged to share their wealth with those less fortunate." title="Justice: What's The Right Thing To Do? Episode 08: &quot;WHATS A FAIR START?&quot;">
            <a:hlinkClick r:id="rId4"/>
          </p:cNvPr>
          <p:cNvPicPr preferRelativeResize="0"/>
          <p:nvPr/>
        </p:nvPicPr>
        <p:blipFill rotWithShape="1">
          <a:blip r:embed="rId5">
            <a:alphaModFix/>
          </a:blip>
          <a:srcRect/>
          <a:stretch/>
        </p:blipFill>
        <p:spPr>
          <a:xfrm>
            <a:off x="5825613" y="2121408"/>
            <a:ext cx="6096000" cy="45720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54"/>
        <p:cNvGrpSpPr/>
        <p:nvPr/>
      </p:nvGrpSpPr>
      <p:grpSpPr>
        <a:xfrm>
          <a:off x="0" y="0"/>
          <a:ext cx="0" cy="0"/>
          <a:chOff x="0" y="0"/>
          <a:chExt cx="0" cy="0"/>
        </a:xfrm>
      </p:grpSpPr>
      <p:sp>
        <p:nvSpPr>
          <p:cNvPr id="455" name="Google Shape;455;p35"/>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STATS REVIEW</a:t>
            </a:r>
            <a:endParaRPr/>
          </a:p>
        </p:txBody>
      </p:sp>
      <p:sp>
        <p:nvSpPr>
          <p:cNvPr id="456" name="Google Shape;456;p35"/>
          <p:cNvSpPr txBox="1">
            <a:spLocks noGrp="1"/>
          </p:cNvSpPr>
          <p:nvPr>
            <p:ph sz="quarter" idx="1"/>
          </p:nvPr>
        </p:nvSpPr>
        <p:spPr>
          <a:prstGeom prst="rect">
            <a:avLst/>
          </a:prstGeom>
          <a:noFill/>
          <a:ln>
            <a:noFill/>
          </a:ln>
        </p:spPr>
        <p:txBody>
          <a:bodyPr spcFirstLastPara="1" wrap="square" lIns="91425" tIns="45700" rIns="91425" bIns="45700" anchor="t" anchorCtr="0">
            <a:normAutofit/>
          </a:bodyPr>
          <a:lstStyle/>
          <a:p>
            <a:pPr marL="182880" lvl="0" indent="-182880" algn="l" rtl="0">
              <a:lnSpc>
                <a:spcPct val="90000"/>
              </a:lnSpc>
              <a:spcBef>
                <a:spcPts val="0"/>
              </a:spcBef>
              <a:spcAft>
                <a:spcPts val="0"/>
              </a:spcAft>
              <a:buSzPts val="1700"/>
              <a:buChar char="▪"/>
            </a:pPr>
            <a:r>
              <a:rPr lang="en-US" dirty="0">
                <a:solidFill>
                  <a:srgbClr val="00B050"/>
                </a:solidFill>
              </a:rPr>
              <a:t>Random variable</a:t>
            </a:r>
            <a:r>
              <a:rPr lang="en-US" dirty="0"/>
              <a:t>: function that maps event outcomes X to real values P(X)</a:t>
            </a:r>
            <a:endParaRPr dirty="0"/>
          </a:p>
          <a:p>
            <a:pPr marL="457200" lvl="1" indent="-182880" algn="l" rtl="0">
              <a:lnSpc>
                <a:spcPct val="90000"/>
              </a:lnSpc>
              <a:spcBef>
                <a:spcPts val="400"/>
              </a:spcBef>
              <a:spcAft>
                <a:spcPts val="0"/>
              </a:spcAft>
              <a:buSzPts val="1530"/>
              <a:buChar char="▪"/>
            </a:pPr>
            <a:r>
              <a:rPr lang="en-US" dirty="0"/>
              <a:t>E.g.,  number of children a mother has</a:t>
            </a:r>
            <a:endParaRPr dirty="0"/>
          </a:p>
          <a:p>
            <a:pPr marL="457200" lvl="1" indent="-85725" algn="l" rtl="0">
              <a:lnSpc>
                <a:spcPct val="90000"/>
              </a:lnSpc>
              <a:spcBef>
                <a:spcPts val="600"/>
              </a:spcBef>
              <a:spcAft>
                <a:spcPts val="0"/>
              </a:spcAft>
              <a:buSzPts val="1530"/>
              <a:buNone/>
            </a:pPr>
            <a:endParaRPr dirty="0"/>
          </a:p>
          <a:p>
            <a:pPr marL="182880" lvl="0" indent="-182880" algn="l" rtl="0">
              <a:lnSpc>
                <a:spcPct val="90000"/>
              </a:lnSpc>
              <a:spcBef>
                <a:spcPts val="1400"/>
              </a:spcBef>
              <a:spcAft>
                <a:spcPts val="0"/>
              </a:spcAft>
              <a:buSzPts val="1700"/>
              <a:buChar char="▪"/>
            </a:pPr>
            <a:r>
              <a:rPr lang="en-US" dirty="0">
                <a:solidFill>
                  <a:srgbClr val="7030A0"/>
                </a:solidFill>
              </a:rPr>
              <a:t>Types of random variables</a:t>
            </a:r>
            <a:r>
              <a:rPr lang="en-US" dirty="0"/>
              <a:t>:</a:t>
            </a:r>
            <a:endParaRPr dirty="0"/>
          </a:p>
          <a:p>
            <a:pPr marL="457200" lvl="1" indent="-182880" algn="l" rtl="0">
              <a:lnSpc>
                <a:spcPct val="90000"/>
              </a:lnSpc>
              <a:spcBef>
                <a:spcPts val="400"/>
              </a:spcBef>
              <a:spcAft>
                <a:spcPts val="0"/>
              </a:spcAft>
              <a:buSzPts val="1530"/>
              <a:buChar char="▪"/>
            </a:pPr>
            <a:r>
              <a:rPr lang="en-US" dirty="0"/>
              <a:t>Categorical/nominal/discrete, e.g., first-born {</a:t>
            </a:r>
            <a:r>
              <a:rPr lang="en-US" dirty="0" err="1"/>
              <a:t>yes,no</a:t>
            </a:r>
            <a:r>
              <a:rPr lang="en-US" dirty="0"/>
              <a:t>}</a:t>
            </a:r>
            <a:endParaRPr dirty="0"/>
          </a:p>
          <a:p>
            <a:pPr marL="457200" lvl="1" indent="-182880" algn="l" rtl="0">
              <a:lnSpc>
                <a:spcPct val="90000"/>
              </a:lnSpc>
              <a:spcBef>
                <a:spcPts val="600"/>
              </a:spcBef>
              <a:spcAft>
                <a:spcPts val="0"/>
              </a:spcAft>
              <a:buSzPts val="1530"/>
              <a:buChar char="▪"/>
            </a:pPr>
            <a:r>
              <a:rPr lang="en-US" dirty="0"/>
              <a:t>Real numbers, e.g., grade on midterm</a:t>
            </a:r>
            <a:endParaRPr dirty="0"/>
          </a:p>
          <a:p>
            <a:pPr marL="182880" lvl="0" indent="-74928" algn="l" rtl="0">
              <a:lnSpc>
                <a:spcPct val="90000"/>
              </a:lnSpc>
              <a:spcBef>
                <a:spcPts val="1400"/>
              </a:spcBef>
              <a:spcAft>
                <a:spcPts val="0"/>
              </a:spcAft>
              <a:buSzPts val="1700"/>
              <a:buNone/>
            </a:pPr>
            <a:endParaRPr dirty="0"/>
          </a:p>
          <a:p>
            <a:pPr marL="182880" lvl="0" indent="-182880" algn="l" rtl="0">
              <a:lnSpc>
                <a:spcPct val="90000"/>
              </a:lnSpc>
              <a:spcBef>
                <a:spcPts val="1200"/>
              </a:spcBef>
              <a:spcAft>
                <a:spcPts val="0"/>
              </a:spcAft>
              <a:buSzPts val="1700"/>
              <a:buChar char="▪"/>
            </a:pPr>
            <a:r>
              <a:rPr lang="en-US" dirty="0">
                <a:solidFill>
                  <a:srgbClr val="FF0000"/>
                </a:solidFill>
              </a:rPr>
              <a:t>Expected value of a categorical random variable</a:t>
            </a:r>
            <a:r>
              <a:rPr lang="en-US" dirty="0"/>
              <a:t>: a predicted value of a variable, calculated as the sum of all possible values X each multiplied by the probability of its occurrence P(X).</a:t>
            </a:r>
            <a:endParaRPr dirty="0"/>
          </a:p>
          <a:p>
            <a:pPr marL="457200" lvl="1" indent="-182880" algn="l" rtl="0">
              <a:lnSpc>
                <a:spcPct val="90000"/>
              </a:lnSpc>
              <a:spcBef>
                <a:spcPts val="400"/>
              </a:spcBef>
              <a:spcAft>
                <a:spcPts val="0"/>
              </a:spcAft>
              <a:buSzPts val="1530"/>
              <a:buChar char="▪"/>
            </a:pPr>
            <a:r>
              <a:rPr lang="en-US" dirty="0"/>
              <a:t>E.g. Fertility rate, the average number of children mothers with college age children have</a:t>
            </a:r>
            <a:endParaRPr dirty="0"/>
          </a:p>
        </p:txBody>
      </p:sp>
      <p:graphicFrame>
        <p:nvGraphicFramePr>
          <p:cNvPr id="457" name="Google Shape;457;p35"/>
          <p:cNvGraphicFramePr/>
          <p:nvPr/>
        </p:nvGraphicFramePr>
        <p:xfrm>
          <a:off x="7544390" y="2683884"/>
          <a:ext cx="4298625" cy="1462920"/>
        </p:xfrm>
        <a:graphic>
          <a:graphicData uri="http://schemas.openxmlformats.org/drawingml/2006/table">
            <a:tbl>
              <a:tblPr>
                <a:noFill/>
              </a:tblPr>
              <a:tblGrid>
                <a:gridCol w="859725">
                  <a:extLst>
                    <a:ext uri="{9D8B030D-6E8A-4147-A177-3AD203B41FA5}">
                      <a16:colId xmlns:a16="http://schemas.microsoft.com/office/drawing/2014/main" val="20000"/>
                    </a:ext>
                  </a:extLst>
                </a:gridCol>
                <a:gridCol w="859725">
                  <a:extLst>
                    <a:ext uri="{9D8B030D-6E8A-4147-A177-3AD203B41FA5}">
                      <a16:colId xmlns:a16="http://schemas.microsoft.com/office/drawing/2014/main" val="20001"/>
                    </a:ext>
                  </a:extLst>
                </a:gridCol>
                <a:gridCol w="859725">
                  <a:extLst>
                    <a:ext uri="{9D8B030D-6E8A-4147-A177-3AD203B41FA5}">
                      <a16:colId xmlns:a16="http://schemas.microsoft.com/office/drawing/2014/main" val="20002"/>
                    </a:ext>
                  </a:extLst>
                </a:gridCol>
                <a:gridCol w="859725">
                  <a:extLst>
                    <a:ext uri="{9D8B030D-6E8A-4147-A177-3AD203B41FA5}">
                      <a16:colId xmlns:a16="http://schemas.microsoft.com/office/drawing/2014/main" val="20003"/>
                    </a:ext>
                  </a:extLst>
                </a:gridCol>
                <a:gridCol w="859725">
                  <a:extLst>
                    <a:ext uri="{9D8B030D-6E8A-4147-A177-3AD203B41FA5}">
                      <a16:colId xmlns:a16="http://schemas.microsoft.com/office/drawing/2014/main" val="20004"/>
                    </a:ext>
                  </a:extLst>
                </a:gridCol>
              </a:tblGrid>
              <a:tr h="0">
                <a:tc>
                  <a:txBody>
                    <a:bodyPr/>
                    <a:lstStyle/>
                    <a:p>
                      <a:pPr marL="0" marR="0" lvl="0" indent="0" algn="ctr" rtl="0">
                        <a:lnSpc>
                          <a:spcPct val="100000"/>
                        </a:lnSpc>
                        <a:spcBef>
                          <a:spcPts val="0"/>
                        </a:spcBef>
                        <a:spcAft>
                          <a:spcPts val="0"/>
                        </a:spcAft>
                        <a:buClr>
                          <a:schemeClr val="dk1"/>
                        </a:buClr>
                        <a:buSzPts val="1600"/>
                        <a:buFont typeface="Rockwell"/>
                        <a:buNone/>
                      </a:pPr>
                      <a:endParaRPr sz="1600" u="none" strike="noStrike" cap="none"/>
                    </a:p>
                  </a:txBody>
                  <a:tcPr marL="121900" marR="121900" marT="121900" marB="121900">
                    <a:solidFill>
                      <a:srgbClr val="CCCCCC"/>
                    </a:solidFill>
                  </a:tcPr>
                </a:tc>
                <a:tc gridSpan="4">
                  <a:txBody>
                    <a:bodyPr/>
                    <a:lstStyle/>
                    <a:p>
                      <a:pPr marL="0" marR="0" lvl="0" indent="0" algn="ctr" rtl="0">
                        <a:lnSpc>
                          <a:spcPct val="100000"/>
                        </a:lnSpc>
                        <a:spcBef>
                          <a:spcPts val="0"/>
                        </a:spcBef>
                        <a:spcAft>
                          <a:spcPts val="0"/>
                        </a:spcAft>
                        <a:buClr>
                          <a:schemeClr val="dk1"/>
                        </a:buClr>
                        <a:buSzPts val="1600"/>
                        <a:buFont typeface="Rockwell"/>
                        <a:buNone/>
                      </a:pPr>
                      <a:r>
                        <a:rPr lang="en-US" sz="1600" u="none" strike="noStrike" cap="none"/>
                        <a:t>Number of Children</a:t>
                      </a:r>
                      <a:endParaRPr sz="1600" u="none" strike="noStrike" cap="none"/>
                    </a:p>
                  </a:txBody>
                  <a:tcPr marL="121900" marR="121900" marT="121900" marB="121900">
                    <a:solidFill>
                      <a:srgbClr val="CCCCCC"/>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0">
                <a:tc>
                  <a:txBody>
                    <a:bodyPr/>
                    <a:lstStyle/>
                    <a:p>
                      <a:pPr marL="0" marR="0" lvl="0" indent="0" algn="ctr" rtl="0">
                        <a:lnSpc>
                          <a:spcPct val="100000"/>
                        </a:lnSpc>
                        <a:spcBef>
                          <a:spcPts val="0"/>
                        </a:spcBef>
                        <a:spcAft>
                          <a:spcPts val="0"/>
                        </a:spcAft>
                        <a:buClr>
                          <a:schemeClr val="dk1"/>
                        </a:buClr>
                        <a:buSzPts val="1600"/>
                        <a:buFont typeface="Rockwell"/>
                        <a:buNone/>
                      </a:pPr>
                      <a:r>
                        <a:rPr lang="en-US" sz="1600" u="none" strike="noStrike" cap="none"/>
                        <a:t>X</a:t>
                      </a:r>
                      <a:endParaRPr sz="1600" u="none" strike="noStrike" cap="none"/>
                    </a:p>
                  </a:txBody>
                  <a:tcPr marL="121900" marR="121900" marT="121900" marB="121900">
                    <a:solidFill>
                      <a:srgbClr val="EFEFEF"/>
                    </a:solidFill>
                  </a:tcPr>
                </a:tc>
                <a:tc>
                  <a:txBody>
                    <a:bodyPr/>
                    <a:lstStyle/>
                    <a:p>
                      <a:pPr marL="0" marR="0" lvl="0" indent="0" algn="ctr" rtl="0">
                        <a:lnSpc>
                          <a:spcPct val="100000"/>
                        </a:lnSpc>
                        <a:spcBef>
                          <a:spcPts val="0"/>
                        </a:spcBef>
                        <a:spcAft>
                          <a:spcPts val="0"/>
                        </a:spcAft>
                        <a:buClr>
                          <a:schemeClr val="dk1"/>
                        </a:buClr>
                        <a:buSzPts val="1600"/>
                        <a:buFont typeface="Rockwell"/>
                        <a:buNone/>
                      </a:pPr>
                      <a:r>
                        <a:rPr lang="en-US" sz="1600" u="none" strike="noStrike" cap="none"/>
                        <a:t>1</a:t>
                      </a:r>
                      <a:endParaRPr sz="1600" u="none" strike="noStrike" cap="none"/>
                    </a:p>
                  </a:txBody>
                  <a:tcPr marL="121900" marR="121900" marT="121900" marB="121900">
                    <a:solidFill>
                      <a:srgbClr val="EFEFEF"/>
                    </a:solidFill>
                  </a:tcPr>
                </a:tc>
                <a:tc>
                  <a:txBody>
                    <a:bodyPr/>
                    <a:lstStyle/>
                    <a:p>
                      <a:pPr marL="0" marR="0" lvl="0" indent="0" algn="ctr" rtl="0">
                        <a:lnSpc>
                          <a:spcPct val="100000"/>
                        </a:lnSpc>
                        <a:spcBef>
                          <a:spcPts val="0"/>
                        </a:spcBef>
                        <a:spcAft>
                          <a:spcPts val="0"/>
                        </a:spcAft>
                        <a:buClr>
                          <a:schemeClr val="dk1"/>
                        </a:buClr>
                        <a:buSzPts val="1600"/>
                        <a:buFont typeface="Rockwell"/>
                        <a:buNone/>
                      </a:pPr>
                      <a:r>
                        <a:rPr lang="en-US" sz="1600" u="none" strike="noStrike" cap="none"/>
                        <a:t>2</a:t>
                      </a:r>
                      <a:endParaRPr sz="1600" u="none" strike="noStrike" cap="none"/>
                    </a:p>
                  </a:txBody>
                  <a:tcPr marL="121900" marR="121900" marT="121900" marB="121900">
                    <a:solidFill>
                      <a:srgbClr val="EFEFEF"/>
                    </a:solidFill>
                  </a:tcPr>
                </a:tc>
                <a:tc>
                  <a:txBody>
                    <a:bodyPr/>
                    <a:lstStyle/>
                    <a:p>
                      <a:pPr marL="0" marR="0" lvl="0" indent="0" algn="ctr" rtl="0">
                        <a:lnSpc>
                          <a:spcPct val="100000"/>
                        </a:lnSpc>
                        <a:spcBef>
                          <a:spcPts val="0"/>
                        </a:spcBef>
                        <a:spcAft>
                          <a:spcPts val="0"/>
                        </a:spcAft>
                        <a:buClr>
                          <a:schemeClr val="dk1"/>
                        </a:buClr>
                        <a:buSzPts val="1600"/>
                        <a:buFont typeface="Rockwell"/>
                        <a:buNone/>
                      </a:pPr>
                      <a:r>
                        <a:rPr lang="en-US" sz="1600" u="none" strike="noStrike" cap="none"/>
                        <a:t>3</a:t>
                      </a:r>
                      <a:endParaRPr sz="1600" u="none" strike="noStrike" cap="none"/>
                    </a:p>
                  </a:txBody>
                  <a:tcPr marL="121900" marR="121900" marT="121900" marB="121900">
                    <a:solidFill>
                      <a:srgbClr val="EFEFEF"/>
                    </a:solidFill>
                  </a:tcPr>
                </a:tc>
                <a:tc>
                  <a:txBody>
                    <a:bodyPr/>
                    <a:lstStyle/>
                    <a:p>
                      <a:pPr marL="0" marR="0" lvl="0" indent="0" algn="ctr" rtl="0">
                        <a:lnSpc>
                          <a:spcPct val="100000"/>
                        </a:lnSpc>
                        <a:spcBef>
                          <a:spcPts val="0"/>
                        </a:spcBef>
                        <a:spcAft>
                          <a:spcPts val="0"/>
                        </a:spcAft>
                        <a:buClr>
                          <a:schemeClr val="dk1"/>
                        </a:buClr>
                        <a:buSzPts val="1600"/>
                        <a:buFont typeface="Rockwell"/>
                        <a:buNone/>
                      </a:pPr>
                      <a:r>
                        <a:rPr lang="en-US" sz="1600" u="none" strike="noStrike" cap="none"/>
                        <a:t>4</a:t>
                      </a:r>
                      <a:endParaRPr sz="1600" u="none" strike="noStrike" cap="none"/>
                    </a:p>
                  </a:txBody>
                  <a:tcPr marL="121900" marR="121900" marT="121900" marB="121900">
                    <a:solidFill>
                      <a:srgbClr val="EFEFEF"/>
                    </a:solidFill>
                  </a:tcPr>
                </a:tc>
                <a:extLst>
                  <a:ext uri="{0D108BD9-81ED-4DB2-BD59-A6C34878D82A}">
                    <a16:rowId xmlns:a16="http://schemas.microsoft.com/office/drawing/2014/main" val="10001"/>
                  </a:ext>
                </a:extLst>
              </a:tr>
              <a:tr h="0">
                <a:tc>
                  <a:txBody>
                    <a:bodyPr/>
                    <a:lstStyle/>
                    <a:p>
                      <a:pPr marL="0" marR="0" lvl="0" indent="0" algn="ctr" rtl="0">
                        <a:lnSpc>
                          <a:spcPct val="100000"/>
                        </a:lnSpc>
                        <a:spcBef>
                          <a:spcPts val="0"/>
                        </a:spcBef>
                        <a:spcAft>
                          <a:spcPts val="0"/>
                        </a:spcAft>
                        <a:buClr>
                          <a:schemeClr val="dk1"/>
                        </a:buClr>
                        <a:buSzPts val="1600"/>
                        <a:buFont typeface="Rockwell"/>
                        <a:buNone/>
                      </a:pPr>
                      <a:r>
                        <a:rPr lang="en-US" sz="1600" u="none" strike="noStrike" cap="none"/>
                        <a:t>P(X)</a:t>
                      </a:r>
                      <a:endParaRPr sz="1600" u="none" strike="noStrike" cap="none"/>
                    </a:p>
                  </a:txBody>
                  <a:tcPr marL="121900" marR="121900" marT="121900" marB="121900"/>
                </a:tc>
                <a:tc>
                  <a:txBody>
                    <a:bodyPr/>
                    <a:lstStyle/>
                    <a:p>
                      <a:pPr marL="0" marR="0" lvl="0" indent="0" algn="ctr" rtl="0">
                        <a:lnSpc>
                          <a:spcPct val="100000"/>
                        </a:lnSpc>
                        <a:spcBef>
                          <a:spcPts val="0"/>
                        </a:spcBef>
                        <a:spcAft>
                          <a:spcPts val="0"/>
                        </a:spcAft>
                        <a:buClr>
                          <a:schemeClr val="dk1"/>
                        </a:buClr>
                        <a:buSzPts val="1600"/>
                        <a:buFont typeface="Rockwell"/>
                        <a:buNone/>
                      </a:pPr>
                      <a:r>
                        <a:rPr lang="en-US" sz="1600" u="none" strike="noStrike" cap="none"/>
                        <a:t>21%</a:t>
                      </a:r>
                      <a:endParaRPr sz="1600" u="none" strike="noStrike" cap="none"/>
                    </a:p>
                  </a:txBody>
                  <a:tcPr marL="121900" marR="121900" marT="121900" marB="121900"/>
                </a:tc>
                <a:tc>
                  <a:txBody>
                    <a:bodyPr/>
                    <a:lstStyle/>
                    <a:p>
                      <a:pPr marL="0" marR="0" lvl="0" indent="0" algn="ctr" rtl="0">
                        <a:lnSpc>
                          <a:spcPct val="100000"/>
                        </a:lnSpc>
                        <a:spcBef>
                          <a:spcPts val="0"/>
                        </a:spcBef>
                        <a:spcAft>
                          <a:spcPts val="0"/>
                        </a:spcAft>
                        <a:buClr>
                          <a:schemeClr val="dk1"/>
                        </a:buClr>
                        <a:buSzPts val="1600"/>
                        <a:buFont typeface="Rockwell"/>
                        <a:buNone/>
                      </a:pPr>
                      <a:r>
                        <a:rPr lang="en-US" sz="1600" u="none" strike="noStrike" cap="none"/>
                        <a:t>43%</a:t>
                      </a:r>
                      <a:endParaRPr sz="1600" u="none" strike="noStrike" cap="none"/>
                    </a:p>
                  </a:txBody>
                  <a:tcPr marL="121900" marR="121900" marT="121900" marB="121900"/>
                </a:tc>
                <a:tc>
                  <a:txBody>
                    <a:bodyPr/>
                    <a:lstStyle/>
                    <a:p>
                      <a:pPr marL="0" marR="0" lvl="0" indent="0" algn="ctr" rtl="0">
                        <a:lnSpc>
                          <a:spcPct val="100000"/>
                        </a:lnSpc>
                        <a:spcBef>
                          <a:spcPts val="0"/>
                        </a:spcBef>
                        <a:spcAft>
                          <a:spcPts val="0"/>
                        </a:spcAft>
                        <a:buClr>
                          <a:schemeClr val="dk1"/>
                        </a:buClr>
                        <a:buSzPts val="1600"/>
                        <a:buFont typeface="Rockwell"/>
                        <a:buNone/>
                      </a:pPr>
                      <a:r>
                        <a:rPr lang="en-US" sz="1600" u="none" strike="noStrike" cap="none"/>
                        <a:t>23%</a:t>
                      </a:r>
                      <a:endParaRPr sz="1600" u="none" strike="noStrike" cap="none"/>
                    </a:p>
                  </a:txBody>
                  <a:tcPr marL="121900" marR="121900" marT="121900" marB="121900"/>
                </a:tc>
                <a:tc>
                  <a:txBody>
                    <a:bodyPr/>
                    <a:lstStyle/>
                    <a:p>
                      <a:pPr marL="0" marR="0" lvl="0" indent="0" algn="ctr" rtl="0">
                        <a:lnSpc>
                          <a:spcPct val="100000"/>
                        </a:lnSpc>
                        <a:spcBef>
                          <a:spcPts val="0"/>
                        </a:spcBef>
                        <a:spcAft>
                          <a:spcPts val="0"/>
                        </a:spcAft>
                        <a:buClr>
                          <a:schemeClr val="dk1"/>
                        </a:buClr>
                        <a:buSzPts val="1600"/>
                        <a:buFont typeface="Rockwell"/>
                        <a:buNone/>
                      </a:pPr>
                      <a:r>
                        <a:rPr lang="en-US" sz="1600" u="none" strike="noStrike" cap="none"/>
                        <a:t>13%</a:t>
                      </a:r>
                      <a:endParaRPr sz="1600" u="none" strike="noStrike" cap="none"/>
                    </a:p>
                  </a:txBody>
                  <a:tcPr marL="121900" marR="121900" marT="121900" marB="121900"/>
                </a:tc>
                <a:extLst>
                  <a:ext uri="{0D108BD9-81ED-4DB2-BD59-A6C34878D82A}">
                    <a16:rowId xmlns:a16="http://schemas.microsoft.com/office/drawing/2014/main" val="10002"/>
                  </a:ext>
                </a:extLst>
              </a:tr>
            </a:tbl>
          </a:graphicData>
        </a:graphic>
      </p:graphicFrame>
      <p:sp>
        <p:nvSpPr>
          <p:cNvPr id="458" name="Google Shape;458;p35"/>
          <p:cNvSpPr/>
          <p:nvPr/>
        </p:nvSpPr>
        <p:spPr>
          <a:xfrm>
            <a:off x="3544291" y="6014966"/>
            <a:ext cx="5660524"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Rockwell"/>
                <a:ea typeface="Rockwell"/>
                <a:cs typeface="Rockwell"/>
                <a:sym typeface="Rockwell"/>
              </a:rPr>
              <a:t>E(X) = 1*21% + 2*43% + 3*23% + 4*13% = 2.28  </a:t>
            </a:r>
            <a:endParaRPr sz="1400" b="0" i="0" u="none" strike="noStrike" cap="none">
              <a:solidFill>
                <a:srgbClr val="000000"/>
              </a:solidFill>
              <a:latin typeface="Arial"/>
              <a:ea typeface="Arial"/>
              <a:cs typeface="Arial"/>
              <a:sym typeface="Arial"/>
            </a:endParaRPr>
          </a:p>
        </p:txBody>
      </p:sp>
      <p:sp>
        <p:nvSpPr>
          <p:cNvPr id="2" name="Folded Corner 1">
            <a:extLst>
              <a:ext uri="{FF2B5EF4-FFF2-40B4-BE49-F238E27FC236}">
                <a16:creationId xmlns:a16="http://schemas.microsoft.com/office/drawing/2014/main" id="{1C11F602-E226-B283-9C16-E9D5FA4D3728}"/>
              </a:ext>
            </a:extLst>
          </p:cNvPr>
          <p:cNvSpPr/>
          <p:nvPr/>
        </p:nvSpPr>
        <p:spPr>
          <a:xfrm>
            <a:off x="4330263" y="6019328"/>
            <a:ext cx="4477406" cy="360608"/>
          </a:xfrm>
          <a:prstGeom prst="foldedCorne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5" presetClass="exit" presetSubtype="0" fill="hold" grpId="0" nodeType="clickEffect">
                                  <p:stCondLst>
                                    <p:cond delay="0"/>
                                  </p:stCondLst>
                                  <p:childTnLst>
                                    <p:anim calcmode="lin" valueType="num">
                                      <p:cBhvr>
                                        <p:cTn id="6" dur="1000"/>
                                        <p:tgtEl>
                                          <p:spTgt spid="2"/>
                                        </p:tgtEl>
                                        <p:attrNameLst>
                                          <p:attrName>ppt_w</p:attrName>
                                        </p:attrNameLst>
                                      </p:cBhvr>
                                      <p:tavLst>
                                        <p:tav tm="0">
                                          <p:val>
                                            <p:strVal val="ppt_w"/>
                                          </p:val>
                                        </p:tav>
                                        <p:tav tm="100000">
                                          <p:val>
                                            <p:fltVal val="0"/>
                                          </p:val>
                                        </p:tav>
                                      </p:tavLst>
                                    </p:anim>
                                    <p:anim calcmode="lin" valueType="num">
                                      <p:cBhvr>
                                        <p:cTn id="7" dur="1000"/>
                                        <p:tgtEl>
                                          <p:spTgt spid="2"/>
                                        </p:tgtEl>
                                        <p:attrNameLst>
                                          <p:attrName>ppt_h</p:attrName>
                                        </p:attrNameLst>
                                      </p:cBhvr>
                                      <p:tavLst>
                                        <p:tav tm="0">
                                          <p:val>
                                            <p:strVal val="ppt_h"/>
                                          </p:val>
                                        </p:tav>
                                        <p:tav tm="100000">
                                          <p:val>
                                            <p:fltVal val="0"/>
                                          </p:val>
                                        </p:tav>
                                      </p:tavLst>
                                    </p:anim>
                                    <p:anim calcmode="lin" valueType="num">
                                      <p:cBhvr>
                                        <p:cTn id="8" dur="1000"/>
                                        <p:tgtEl>
                                          <p:spTgt spid="2"/>
                                        </p:tgtEl>
                                        <p:attrNameLst>
                                          <p:attrName>ppt_x</p:attrName>
                                        </p:attrNameLst>
                                      </p:cBhvr>
                                      <p:tavLst>
                                        <p:tav tm="0">
                                          <p:val>
                                            <p:strVal val="ppt_x"/>
                                          </p:val>
                                        </p:tav>
                                        <p:tav tm="5000">
                                          <p:val>
                                            <p:strVal val="ppt_x+-0.0500*(ppt_x*0.9511+(1-ppt_y)*0.3090)"/>
                                          </p:val>
                                        </p:tav>
                                        <p:tav tm="10000">
                                          <p:val>
                                            <p:strVal val="ppt_x+-0.1000*(ppt_x*0.8090+(1-ppt_y)*0.5878)"/>
                                          </p:val>
                                        </p:tav>
                                        <p:tav tm="15000">
                                          <p:val>
                                            <p:strVal val="ppt_x+-0.1500*(ppt_x*0.5878+(1-ppt_y)*0.8090)"/>
                                          </p:val>
                                        </p:tav>
                                        <p:tav tm="20000">
                                          <p:val>
                                            <p:strVal val="ppt_x+-0.2000*(ppt_x*0.3090+(1-ppt_y)*0.9511)"/>
                                          </p:val>
                                        </p:tav>
                                        <p:tav tm="25000">
                                          <p:val>
                                            <p:strVal val="ppt_x+-0.2500*(ppt_x*-0.0000+(1-ppt_y)*1.0000)"/>
                                          </p:val>
                                        </p:tav>
                                        <p:tav tm="30000">
                                          <p:val>
                                            <p:strVal val="ppt_x+-0.3000*(ppt_x*-0.3090+(1-ppt_y)*0.9511)"/>
                                          </p:val>
                                        </p:tav>
                                        <p:tav tm="35000">
                                          <p:val>
                                            <p:strVal val="ppt_x+-0.3500*(ppt_x*-0.5878+(1-ppt_y)*0.8090)"/>
                                          </p:val>
                                        </p:tav>
                                        <p:tav tm="40000">
                                          <p:val>
                                            <p:strVal val="ppt_x+-0.4000*(ppt_x*-0.8090+(1-ppt_y)*0.5878)"/>
                                          </p:val>
                                        </p:tav>
                                        <p:tav tm="45000">
                                          <p:val>
                                            <p:strVal val="ppt_x+-0.4500*(ppt_x*-0.9511+(1-ppt_y)*0.3090)"/>
                                          </p:val>
                                        </p:tav>
                                        <p:tav tm="50000">
                                          <p:val>
                                            <p:strVal val="ppt_x+-0.5000*(ppt_x*-1.0000+(1-ppt_y)*-0.0000)"/>
                                          </p:val>
                                        </p:tav>
                                        <p:tav tm="55000">
                                          <p:val>
                                            <p:strVal val="ppt_x+-0.5500*(ppt_x*-0.9511+(1-ppt_y)*-0.3090)"/>
                                          </p:val>
                                        </p:tav>
                                        <p:tav tm="60000">
                                          <p:val>
                                            <p:strVal val="ppt_x+-0.6000*(ppt_x*-0.8090+(1-ppt_y)*-0.5878)"/>
                                          </p:val>
                                        </p:tav>
                                        <p:tav tm="65000">
                                          <p:val>
                                            <p:strVal val="ppt_x+-0.6500*(ppt_x*-0.5878+(1-ppt_y)*-0.8090)"/>
                                          </p:val>
                                        </p:tav>
                                        <p:tav tm="70000">
                                          <p:val>
                                            <p:strVal val="ppt_x+-0.7000*(ppt_x*-0.3090+(1-ppt_y)*-0.9511)"/>
                                          </p:val>
                                        </p:tav>
                                        <p:tav tm="75000">
                                          <p:val>
                                            <p:strVal val="ppt_x+-0.7500*(ppt_x*0.0000+(1-ppt_y)*-1.0000)"/>
                                          </p:val>
                                        </p:tav>
                                        <p:tav tm="80000">
                                          <p:val>
                                            <p:strVal val="ppt_x+-0.8000*(ppt_x*0.3090+(1-ppt_y)*-0.9511)"/>
                                          </p:val>
                                        </p:tav>
                                        <p:tav tm="85000">
                                          <p:val>
                                            <p:strVal val="ppt_x+-0.8500*(ppt_x*0.5878+(1-ppt_y)*-0.8090)"/>
                                          </p:val>
                                        </p:tav>
                                        <p:tav tm="90000">
                                          <p:val>
                                            <p:strVal val="ppt_x+-0.9000*(ppt_x*0.8090+(1-ppt_y)*-0.5878)"/>
                                          </p:val>
                                        </p:tav>
                                        <p:tav tm="95000">
                                          <p:val>
                                            <p:strVal val="ppt_x+-0.9500*(ppt_x*0.9511+(1-ppt_y)*-0.3090)"/>
                                          </p:val>
                                        </p:tav>
                                        <p:tav tm="100000">
                                          <p:val>
                                            <p:strVal val="ppt_x+-1.0000*(ppt_x*1.0000+(1-ppt_y)*0.0000)"/>
                                          </p:val>
                                        </p:tav>
                                      </p:tavLst>
                                    </p:anim>
                                    <p:anim calcmode="lin" valueType="num">
                                      <p:cBhvr>
                                        <p:cTn id="9" dur="1000"/>
                                        <p:tgtEl>
                                          <p:spTgt spid="2"/>
                                        </p:tgtEl>
                                        <p:attrNameLst>
                                          <p:attrName>ppt_y</p:attrName>
                                        </p:attrNameLst>
                                      </p:cBhvr>
                                      <p:tavLst>
                                        <p:tav tm="0">
                                          <p:val>
                                            <p:strVal val="ppt_y"/>
                                          </p:val>
                                        </p:tav>
                                        <p:tav tm="5000">
                                          <p:val>
                                            <p:strVal val="ppt_y+-0.0500*(ppt_x*0.3090-(1-ppt_y)*0.9511)"/>
                                          </p:val>
                                        </p:tav>
                                        <p:tav tm="10000">
                                          <p:val>
                                            <p:strVal val="ppt_y+-0.1000*(ppt_x*0.5878-(1-ppt_y)*0.8090)"/>
                                          </p:val>
                                        </p:tav>
                                        <p:tav tm="15000">
                                          <p:val>
                                            <p:strVal val="ppt_y+-0.1500*(ppt_x*0.8090-(1-ppt_y)*0.5878)"/>
                                          </p:val>
                                        </p:tav>
                                        <p:tav tm="20000">
                                          <p:val>
                                            <p:strVal val="ppt_y+-0.2000*(ppt_x*0.9511-(1-ppt_y)*0.3090)"/>
                                          </p:val>
                                        </p:tav>
                                        <p:tav tm="25000">
                                          <p:val>
                                            <p:strVal val="ppt_y+-0.2500*(ppt_x*1.0000-(1-ppt_y)*-0.0000)"/>
                                          </p:val>
                                        </p:tav>
                                        <p:tav tm="30000">
                                          <p:val>
                                            <p:strVal val="ppt_y+-0.3000*(ppt_x*0.9511-(1-ppt_y)*-0.3090)"/>
                                          </p:val>
                                        </p:tav>
                                        <p:tav tm="35000">
                                          <p:val>
                                            <p:strVal val="ppt_y+-0.3500*(ppt_x*0.8090-(1-ppt_y)*-0.5878)"/>
                                          </p:val>
                                        </p:tav>
                                        <p:tav tm="40000">
                                          <p:val>
                                            <p:strVal val="ppt_y+-0.4000*(ppt_x*0.5878-(1-ppt_y)*-0.8090)"/>
                                          </p:val>
                                        </p:tav>
                                        <p:tav tm="45000">
                                          <p:val>
                                            <p:strVal val="ppt_y+-0.4500*(ppt_x*0.3090-(1-ppt_y)*-0.9511)"/>
                                          </p:val>
                                        </p:tav>
                                        <p:tav tm="50000">
                                          <p:val>
                                            <p:strVal val="ppt_y+-0.5000*(ppt_x*-0.0000-(1-ppt_y)*-1.0000)"/>
                                          </p:val>
                                        </p:tav>
                                        <p:tav tm="55000">
                                          <p:val>
                                            <p:strVal val="ppt_y+-0.5500*(ppt_x*-0.3090-(1-ppt_y)*-0.9511)"/>
                                          </p:val>
                                        </p:tav>
                                        <p:tav tm="60000">
                                          <p:val>
                                            <p:strVal val="ppt_y+-0.6000*(ppt_x*-0.5878-(1-ppt_y)*-0.8090)"/>
                                          </p:val>
                                        </p:tav>
                                        <p:tav tm="65000">
                                          <p:val>
                                            <p:strVal val="ppt_y+-0.6500*(ppt_x*-0.8090-(1-ppt_y)*-0.5878)"/>
                                          </p:val>
                                        </p:tav>
                                        <p:tav tm="70000">
                                          <p:val>
                                            <p:strVal val="ppt_y+-0.7000*(ppt_x*-0.9511-(1-ppt_y)*-0.3090)"/>
                                          </p:val>
                                        </p:tav>
                                        <p:tav tm="75000">
                                          <p:val>
                                            <p:strVal val="ppt_y+-0.7500*(ppt_x*-1.0000-(1-ppt_y)*0.0000)"/>
                                          </p:val>
                                        </p:tav>
                                        <p:tav tm="80000">
                                          <p:val>
                                            <p:strVal val="ppt_y+-0.8000*(ppt_x*-0.9511-(1-ppt_y)*0.3090)"/>
                                          </p:val>
                                        </p:tav>
                                        <p:tav tm="85000">
                                          <p:val>
                                            <p:strVal val="ppt_y+-0.8500*(ppt_x*-0.8090-(1-ppt_y)*0.5878)"/>
                                          </p:val>
                                        </p:tav>
                                        <p:tav tm="90000">
                                          <p:val>
                                            <p:strVal val="ppt_y+-0.9000*(ppt_x*-0.5878-(1-ppt_y)*0.8090)"/>
                                          </p:val>
                                        </p:tav>
                                        <p:tav tm="95000">
                                          <p:val>
                                            <p:strVal val="ppt_y+-0.9500*(ppt_x*-0.3090-(1-ppt_y)*0.9511)"/>
                                          </p:val>
                                        </p:tav>
                                        <p:tav tm="100000">
                                          <p:val>
                                            <p:strVal val="ppt_y+-1.0000*(ppt_x*0.0000-(1-ppt_y)*1.0000)"/>
                                          </p:val>
                                        </p:tav>
                                      </p:tavLst>
                                    </p:anim>
                                    <p:set>
                                      <p:cBhvr>
                                        <p:cTn id="10" dur="1" fill="hold">
                                          <p:stCondLst>
                                            <p:cond delay="999"/>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3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dirty="0"/>
              <a:t>ARE FIRST BORNS MORE LIKELY TO ATTEND HARVARD?</a:t>
            </a:r>
            <a:endParaRPr dirty="0"/>
          </a:p>
        </p:txBody>
      </p:sp>
      <p:sp>
        <p:nvSpPr>
          <p:cNvPr id="447" name="Google Shape;447;p34"/>
          <p:cNvSpPr txBox="1">
            <a:spLocks noGrp="1"/>
          </p:cNvSpPr>
          <p:nvPr>
            <p:ph sz="quarter" idx="1"/>
          </p:nvPr>
        </p:nvSpPr>
        <p:spPr>
          <a:xfrm>
            <a:off x="1069848" y="2121408"/>
            <a:ext cx="4313313" cy="4572000"/>
          </a:xfrm>
          <a:prstGeom prst="rect">
            <a:avLst/>
          </a:prstGeom>
          <a:noFill/>
          <a:ln>
            <a:noFill/>
          </a:ln>
        </p:spPr>
        <p:txBody>
          <a:bodyPr spcFirstLastPara="1" wrap="square" lIns="91425" tIns="45700" rIns="91425" bIns="45700" anchor="t" anchorCtr="0">
            <a:normAutofit fontScale="92500" lnSpcReduction="20000"/>
          </a:bodyPr>
          <a:lstStyle/>
          <a:p>
            <a:pPr marL="0" lvl="0" indent="0" algn="l" rtl="0">
              <a:lnSpc>
                <a:spcPct val="90000"/>
              </a:lnSpc>
              <a:spcBef>
                <a:spcPts val="0"/>
              </a:spcBef>
              <a:spcAft>
                <a:spcPts val="0"/>
              </a:spcAft>
              <a:buSzPts val="1700"/>
              <a:buNone/>
            </a:pPr>
            <a:r>
              <a:rPr lang="en-US" dirty="0"/>
              <a:t>Harvard Philosopher </a:t>
            </a:r>
            <a:r>
              <a:rPr lang="en-US" u="sng" dirty="0">
                <a:solidFill>
                  <a:schemeClr val="hlink"/>
                </a:solidFill>
                <a:hlinkClick r:id="rId3"/>
              </a:rPr>
              <a:t>Michael Sandel</a:t>
            </a:r>
            <a:r>
              <a:rPr lang="en-US" dirty="0"/>
              <a:t> (among others) argues that birth order has a significant impact on work ethic and therefore life outcomes.</a:t>
            </a:r>
            <a:endParaRPr dirty="0"/>
          </a:p>
          <a:p>
            <a:pPr marL="0" lvl="0" indent="0" algn="l" rtl="0">
              <a:lnSpc>
                <a:spcPct val="90000"/>
              </a:lnSpc>
              <a:spcBef>
                <a:spcPts val="1200"/>
              </a:spcBef>
              <a:spcAft>
                <a:spcPts val="0"/>
              </a:spcAft>
              <a:buSzPts val="1700"/>
              <a:buNone/>
            </a:pPr>
            <a:endParaRPr dirty="0"/>
          </a:p>
          <a:p>
            <a:pPr marL="0" lvl="0" indent="0" algn="l" rtl="0">
              <a:lnSpc>
                <a:spcPct val="90000"/>
              </a:lnSpc>
              <a:spcBef>
                <a:spcPts val="1200"/>
              </a:spcBef>
              <a:spcAft>
                <a:spcPts val="0"/>
              </a:spcAft>
              <a:buSzPts val="1700"/>
              <a:buNone/>
            </a:pPr>
            <a:r>
              <a:rPr lang="en-US" dirty="0"/>
              <a:t>Asked in class what fraction of students were first born, and found that 75-80% were consistently first born! </a:t>
            </a:r>
            <a:r>
              <a:rPr lang="en-US" dirty="0">
                <a:solidFill>
                  <a:srgbClr val="FF0000"/>
                </a:solidFill>
              </a:rPr>
              <a:t>P(F | H) = 75 to 80%</a:t>
            </a:r>
            <a:endParaRPr dirty="0"/>
          </a:p>
          <a:p>
            <a:pPr marL="0" lvl="0" indent="0" algn="l" rtl="0">
              <a:lnSpc>
                <a:spcPct val="90000"/>
              </a:lnSpc>
              <a:spcBef>
                <a:spcPts val="1200"/>
              </a:spcBef>
              <a:spcAft>
                <a:spcPts val="0"/>
              </a:spcAft>
              <a:buSzPts val="1700"/>
              <a:buNone/>
            </a:pPr>
            <a:r>
              <a:rPr lang="en-US" dirty="0"/>
              <a:t>F – first born (yes/no)                       H – attend Harvard (yes/no)</a:t>
            </a:r>
            <a:endParaRPr dirty="0"/>
          </a:p>
          <a:p>
            <a:pPr marL="0" lvl="0" indent="0" algn="l" rtl="0">
              <a:lnSpc>
                <a:spcPct val="90000"/>
              </a:lnSpc>
              <a:spcBef>
                <a:spcPts val="1200"/>
              </a:spcBef>
              <a:spcAft>
                <a:spcPts val="0"/>
              </a:spcAft>
              <a:buSzPts val="1700"/>
              <a:buNone/>
            </a:pPr>
            <a:endParaRPr dirty="0"/>
          </a:p>
          <a:p>
            <a:pPr marL="0" lvl="0" indent="0" algn="l" rtl="0">
              <a:lnSpc>
                <a:spcPct val="90000"/>
              </a:lnSpc>
              <a:spcBef>
                <a:spcPts val="1200"/>
              </a:spcBef>
              <a:spcAft>
                <a:spcPts val="0"/>
              </a:spcAft>
              <a:buSzPts val="1700"/>
              <a:buNone/>
            </a:pPr>
            <a:r>
              <a:rPr lang="en-US" dirty="0"/>
              <a:t>What’s going on?</a:t>
            </a:r>
            <a:endParaRPr dirty="0"/>
          </a:p>
        </p:txBody>
      </p:sp>
      <p:sp>
        <p:nvSpPr>
          <p:cNvPr id="448" name="Google Shape;448;p34"/>
          <p:cNvSpPr txBox="1"/>
          <p:nvPr/>
        </p:nvSpPr>
        <p:spPr>
          <a:xfrm>
            <a:off x="5380478" y="1803659"/>
            <a:ext cx="6138862" cy="5537200"/>
          </a:xfrm>
          <a:prstGeom prst="rect">
            <a:avLst/>
          </a:prstGeom>
          <a:noFill/>
          <a:ln>
            <a:noFill/>
          </a:ln>
        </p:spPr>
        <p:txBody>
          <a:bodyPr spcFirstLastPara="1" wrap="square" lIns="121900" tIns="121900" rIns="121900" bIns="121900" anchor="t" anchorCtr="0">
            <a:noAutofit/>
          </a:bodyPr>
          <a:lstStyle/>
          <a:p>
            <a:pPr marL="0" marR="0" lvl="0" indent="0" algn="l" rtl="0">
              <a:lnSpc>
                <a:spcPct val="90000"/>
              </a:lnSpc>
              <a:spcBef>
                <a:spcPts val="1200"/>
              </a:spcBef>
              <a:spcAft>
                <a:spcPts val="0"/>
              </a:spcAft>
              <a:buClr>
                <a:srgbClr val="9E3611"/>
              </a:buClr>
              <a:buSzPts val="1700"/>
              <a:buFont typeface="Noto Sans Symbols"/>
              <a:buNone/>
            </a:pPr>
            <a:r>
              <a:rPr lang="en-US" sz="2000" b="0" i="0" u="none" strike="noStrike" cap="none" dirty="0">
                <a:solidFill>
                  <a:schemeClr val="dk1"/>
                </a:solidFill>
                <a:latin typeface="Rockwell"/>
                <a:ea typeface="Rockwell"/>
                <a:cs typeface="Rockwell"/>
                <a:sym typeface="Rockwell"/>
              </a:rPr>
              <a:t>Obvious question, what fraction of children are first born?</a:t>
            </a:r>
            <a:endParaRPr sz="1400" b="0" i="0" u="none" strike="noStrike" cap="none" dirty="0">
              <a:solidFill>
                <a:srgbClr val="000000"/>
              </a:solidFill>
              <a:latin typeface="Arial"/>
              <a:ea typeface="Arial"/>
              <a:cs typeface="Arial"/>
              <a:sym typeface="Arial"/>
            </a:endParaRPr>
          </a:p>
          <a:p>
            <a:pPr marL="0" marR="0" lvl="0" indent="0" algn="l" rtl="0">
              <a:lnSpc>
                <a:spcPct val="90000"/>
              </a:lnSpc>
              <a:spcBef>
                <a:spcPts val="1200"/>
              </a:spcBef>
              <a:spcAft>
                <a:spcPts val="0"/>
              </a:spcAft>
              <a:buClr>
                <a:srgbClr val="9E3611"/>
              </a:buClr>
              <a:buSzPts val="1700"/>
              <a:buFont typeface="Noto Sans Symbols"/>
              <a:buNone/>
            </a:pPr>
            <a:endParaRPr sz="2000" b="0" i="0" u="none" strike="noStrike" cap="none" dirty="0">
              <a:solidFill>
                <a:schemeClr val="dk1"/>
              </a:solidFill>
              <a:latin typeface="Rockwell"/>
              <a:ea typeface="Rockwell"/>
              <a:cs typeface="Rockwell"/>
              <a:sym typeface="Rockwell"/>
            </a:endParaRPr>
          </a:p>
          <a:p>
            <a:pPr marL="0" marR="0" lvl="0" indent="0" algn="l" rtl="0">
              <a:lnSpc>
                <a:spcPct val="90000"/>
              </a:lnSpc>
              <a:spcBef>
                <a:spcPts val="1200"/>
              </a:spcBef>
              <a:spcAft>
                <a:spcPts val="0"/>
              </a:spcAft>
              <a:buClr>
                <a:srgbClr val="9E3611"/>
              </a:buClr>
              <a:buSzPts val="1700"/>
              <a:buFont typeface="Noto Sans Symbols"/>
              <a:buNone/>
            </a:pPr>
            <a:r>
              <a:rPr lang="en-US" sz="2000" b="0" i="0" u="none" strike="noStrike" cap="none" dirty="0">
                <a:solidFill>
                  <a:schemeClr val="dk1"/>
                </a:solidFill>
                <a:latin typeface="Rockwell"/>
                <a:ea typeface="Rockwell"/>
                <a:cs typeface="Rockwell"/>
                <a:sym typeface="Rockwell"/>
              </a:rPr>
              <a:t>US Census Data for mothers with college age children is:</a:t>
            </a:r>
            <a:endParaRPr sz="1400" b="0" i="0" u="none" strike="noStrike" cap="none" dirty="0">
              <a:solidFill>
                <a:srgbClr val="000000"/>
              </a:solidFill>
              <a:latin typeface="Arial"/>
              <a:ea typeface="Arial"/>
              <a:cs typeface="Arial"/>
              <a:sym typeface="Arial"/>
            </a:endParaRPr>
          </a:p>
          <a:p>
            <a:pPr marL="0" marR="0" lvl="0" indent="0" algn="l" rtl="0">
              <a:lnSpc>
                <a:spcPct val="90000"/>
              </a:lnSpc>
              <a:spcBef>
                <a:spcPts val="1200"/>
              </a:spcBef>
              <a:spcAft>
                <a:spcPts val="0"/>
              </a:spcAft>
              <a:buClr>
                <a:srgbClr val="9E3611"/>
              </a:buClr>
              <a:buSzPts val="1700"/>
              <a:buFont typeface="Noto Sans Symbols"/>
              <a:buNone/>
            </a:pPr>
            <a:endParaRPr sz="2000" b="0" i="0" u="none" strike="noStrike" cap="none" dirty="0">
              <a:solidFill>
                <a:schemeClr val="dk1"/>
              </a:solidFill>
              <a:latin typeface="Rockwell"/>
              <a:ea typeface="Rockwell"/>
              <a:cs typeface="Rockwell"/>
              <a:sym typeface="Rockwell"/>
            </a:endParaRPr>
          </a:p>
          <a:p>
            <a:pPr marL="0" marR="0" lvl="0" indent="0" algn="l" rtl="0">
              <a:lnSpc>
                <a:spcPct val="90000"/>
              </a:lnSpc>
              <a:spcBef>
                <a:spcPts val="1200"/>
              </a:spcBef>
              <a:spcAft>
                <a:spcPts val="0"/>
              </a:spcAft>
              <a:buClr>
                <a:srgbClr val="9E3611"/>
              </a:buClr>
              <a:buSzPts val="1700"/>
              <a:buFont typeface="Noto Sans Symbols"/>
              <a:buNone/>
            </a:pPr>
            <a:endParaRPr sz="2000" b="0" i="0" u="none" strike="noStrike" cap="none" dirty="0">
              <a:solidFill>
                <a:schemeClr val="dk1"/>
              </a:solidFill>
              <a:latin typeface="Rockwell"/>
              <a:ea typeface="Rockwell"/>
              <a:cs typeface="Rockwell"/>
              <a:sym typeface="Rockwell"/>
            </a:endParaRPr>
          </a:p>
          <a:p>
            <a:pPr marL="0" marR="0" lvl="0" indent="0" algn="l" rtl="0">
              <a:lnSpc>
                <a:spcPct val="90000"/>
              </a:lnSpc>
              <a:spcBef>
                <a:spcPts val="1200"/>
              </a:spcBef>
              <a:spcAft>
                <a:spcPts val="0"/>
              </a:spcAft>
              <a:buClr>
                <a:srgbClr val="9E3611"/>
              </a:buClr>
              <a:buSzPts val="1700"/>
              <a:buFont typeface="Noto Sans Symbols"/>
              <a:buNone/>
            </a:pPr>
            <a:endParaRPr sz="2000" b="0" i="0" u="none" strike="noStrike" cap="none" dirty="0">
              <a:solidFill>
                <a:schemeClr val="dk1"/>
              </a:solidFill>
              <a:latin typeface="Rockwell"/>
              <a:ea typeface="Rockwell"/>
              <a:cs typeface="Rockwell"/>
              <a:sym typeface="Rockwell"/>
            </a:endParaRPr>
          </a:p>
          <a:p>
            <a:pPr marL="0" marR="0" lvl="0" indent="0" algn="l" rtl="0">
              <a:lnSpc>
                <a:spcPct val="90000"/>
              </a:lnSpc>
              <a:spcBef>
                <a:spcPts val="1200"/>
              </a:spcBef>
              <a:spcAft>
                <a:spcPts val="0"/>
              </a:spcAft>
              <a:buClr>
                <a:srgbClr val="9E3611"/>
              </a:buClr>
              <a:buSzPts val="1700"/>
              <a:buFont typeface="Noto Sans Symbols"/>
              <a:buNone/>
            </a:pPr>
            <a:endParaRPr sz="2000" b="0" i="0" u="none" strike="noStrike" cap="none" dirty="0">
              <a:solidFill>
                <a:schemeClr val="dk1"/>
              </a:solidFill>
              <a:latin typeface="Rockwell"/>
              <a:ea typeface="Rockwell"/>
              <a:cs typeface="Rockwell"/>
              <a:sym typeface="Rockwell"/>
            </a:endParaRPr>
          </a:p>
          <a:p>
            <a:pPr marL="0" marR="0" lvl="0" indent="0" algn="l" rtl="0">
              <a:lnSpc>
                <a:spcPct val="90000"/>
              </a:lnSpc>
              <a:spcBef>
                <a:spcPts val="1200"/>
              </a:spcBef>
              <a:spcAft>
                <a:spcPts val="0"/>
              </a:spcAft>
              <a:buClr>
                <a:srgbClr val="9E3611"/>
              </a:buClr>
              <a:buSzPts val="1700"/>
              <a:buFont typeface="Noto Sans Symbols"/>
              <a:buNone/>
            </a:pPr>
            <a:r>
              <a:rPr lang="en-US" sz="2000" b="0" i="0" u="none" strike="noStrike" cap="none" dirty="0">
                <a:solidFill>
                  <a:schemeClr val="dk1"/>
                </a:solidFill>
                <a:latin typeface="Rockwell"/>
                <a:ea typeface="Rockwell"/>
                <a:cs typeface="Rockwell"/>
                <a:sym typeface="Rockwell"/>
              </a:rPr>
              <a:t>Percent first born: </a:t>
            </a:r>
            <a:endParaRPr sz="1400" b="0" i="0" u="none" strike="noStrike" cap="none" dirty="0">
              <a:solidFill>
                <a:srgbClr val="000000"/>
              </a:solidFill>
              <a:latin typeface="Arial"/>
              <a:ea typeface="Arial"/>
              <a:cs typeface="Arial"/>
              <a:sym typeface="Arial"/>
            </a:endParaRPr>
          </a:p>
          <a:p>
            <a:pPr marL="182880" marR="0" lvl="0" indent="-182880" algn="l" rtl="0">
              <a:lnSpc>
                <a:spcPct val="90000"/>
              </a:lnSpc>
              <a:spcBef>
                <a:spcPts val="1200"/>
              </a:spcBef>
              <a:spcAft>
                <a:spcPts val="0"/>
              </a:spcAft>
              <a:buClr>
                <a:srgbClr val="9E3611"/>
              </a:buClr>
              <a:buSzPts val="1700"/>
              <a:buFont typeface="Noto Sans Symbols"/>
              <a:buChar char="▪"/>
            </a:pPr>
            <a:r>
              <a:rPr lang="en-US" sz="2000" b="0" i="0" u="none" strike="noStrike" cap="none" dirty="0">
                <a:solidFill>
                  <a:schemeClr val="dk1"/>
                </a:solidFill>
                <a:latin typeface="Rockwell"/>
                <a:ea typeface="Rockwell"/>
                <a:cs typeface="Rockwell"/>
                <a:sym typeface="Rockwell"/>
              </a:rPr>
              <a:t>P(F)=100/(21 + 43*2 + 23*3 + 13*4)=44%</a:t>
            </a:r>
            <a:endParaRPr sz="1400" b="0" i="0" u="none" strike="noStrike" cap="none" dirty="0">
              <a:solidFill>
                <a:srgbClr val="000000"/>
              </a:solidFill>
              <a:latin typeface="Arial"/>
              <a:ea typeface="Arial"/>
              <a:cs typeface="Arial"/>
              <a:sym typeface="Arial"/>
            </a:endParaRPr>
          </a:p>
          <a:p>
            <a:pPr marL="0" marR="0" lvl="0" indent="0" algn="l" rtl="0">
              <a:lnSpc>
                <a:spcPct val="90000"/>
              </a:lnSpc>
              <a:spcBef>
                <a:spcPts val="1200"/>
              </a:spcBef>
              <a:spcAft>
                <a:spcPts val="0"/>
              </a:spcAft>
              <a:buClr>
                <a:srgbClr val="9E3611"/>
              </a:buClr>
              <a:buSzPts val="1700"/>
              <a:buFont typeface="Noto Sans Symbols"/>
              <a:buNone/>
            </a:pPr>
            <a:endParaRPr sz="2000" b="0" i="0" u="none" strike="noStrike" cap="none" dirty="0">
              <a:solidFill>
                <a:schemeClr val="dk1"/>
              </a:solidFill>
              <a:latin typeface="Rockwell"/>
              <a:ea typeface="Rockwell"/>
              <a:cs typeface="Rockwell"/>
              <a:sym typeface="Rockwell"/>
            </a:endParaRPr>
          </a:p>
        </p:txBody>
      </p:sp>
      <p:graphicFrame>
        <p:nvGraphicFramePr>
          <p:cNvPr id="449" name="Google Shape;449;p34"/>
          <p:cNvGraphicFramePr/>
          <p:nvPr/>
        </p:nvGraphicFramePr>
        <p:xfrm>
          <a:off x="6230118" y="3878011"/>
          <a:ext cx="5220100" cy="1645800"/>
        </p:xfrm>
        <a:graphic>
          <a:graphicData uri="http://schemas.openxmlformats.org/drawingml/2006/table">
            <a:tbl>
              <a:tblPr>
                <a:noFill/>
              </a:tblPr>
              <a:tblGrid>
                <a:gridCol w="1305025">
                  <a:extLst>
                    <a:ext uri="{9D8B030D-6E8A-4147-A177-3AD203B41FA5}">
                      <a16:colId xmlns:a16="http://schemas.microsoft.com/office/drawing/2014/main" val="20000"/>
                    </a:ext>
                  </a:extLst>
                </a:gridCol>
                <a:gridCol w="1305025">
                  <a:extLst>
                    <a:ext uri="{9D8B030D-6E8A-4147-A177-3AD203B41FA5}">
                      <a16:colId xmlns:a16="http://schemas.microsoft.com/office/drawing/2014/main" val="20001"/>
                    </a:ext>
                  </a:extLst>
                </a:gridCol>
                <a:gridCol w="1305025">
                  <a:extLst>
                    <a:ext uri="{9D8B030D-6E8A-4147-A177-3AD203B41FA5}">
                      <a16:colId xmlns:a16="http://schemas.microsoft.com/office/drawing/2014/main" val="20002"/>
                    </a:ext>
                  </a:extLst>
                </a:gridCol>
                <a:gridCol w="1305025">
                  <a:extLst>
                    <a:ext uri="{9D8B030D-6E8A-4147-A177-3AD203B41FA5}">
                      <a16:colId xmlns:a16="http://schemas.microsoft.com/office/drawing/2014/main" val="20003"/>
                    </a:ext>
                  </a:extLst>
                </a:gridCol>
              </a:tblGrid>
              <a:tr h="0">
                <a:tc gridSpan="4">
                  <a:txBody>
                    <a:bodyPr/>
                    <a:lstStyle/>
                    <a:p>
                      <a:pPr marL="0" marR="0" lvl="0" indent="0" algn="ctr" rtl="0">
                        <a:lnSpc>
                          <a:spcPct val="100000"/>
                        </a:lnSpc>
                        <a:spcBef>
                          <a:spcPts val="0"/>
                        </a:spcBef>
                        <a:spcAft>
                          <a:spcPts val="0"/>
                        </a:spcAft>
                        <a:buClr>
                          <a:schemeClr val="dk1"/>
                        </a:buClr>
                        <a:buSzPts val="2000"/>
                        <a:buFont typeface="Rockwell"/>
                        <a:buNone/>
                      </a:pPr>
                      <a:r>
                        <a:rPr lang="en-US" sz="2000" u="none" strike="noStrike" cap="none"/>
                        <a:t>Number of Children</a:t>
                      </a:r>
                      <a:endParaRPr sz="2000" u="none" strike="noStrike" cap="none"/>
                    </a:p>
                  </a:txBody>
                  <a:tcPr marL="121900" marR="121900" marT="121900" marB="121900">
                    <a:solidFill>
                      <a:srgbClr val="CCCCCC"/>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0">
                <a:tc>
                  <a:txBody>
                    <a:bodyPr/>
                    <a:lstStyle/>
                    <a:p>
                      <a:pPr marL="0" marR="0" lvl="0" indent="0" algn="ctr" rtl="0">
                        <a:lnSpc>
                          <a:spcPct val="100000"/>
                        </a:lnSpc>
                        <a:spcBef>
                          <a:spcPts val="0"/>
                        </a:spcBef>
                        <a:spcAft>
                          <a:spcPts val="0"/>
                        </a:spcAft>
                        <a:buClr>
                          <a:schemeClr val="dk1"/>
                        </a:buClr>
                        <a:buSzPts val="2000"/>
                        <a:buFont typeface="Rockwell"/>
                        <a:buNone/>
                      </a:pPr>
                      <a:r>
                        <a:rPr lang="en-US" sz="2000" u="none" strike="noStrike" cap="none"/>
                        <a:t>1</a:t>
                      </a:r>
                      <a:endParaRPr sz="2000" u="none" strike="noStrike" cap="none"/>
                    </a:p>
                  </a:txBody>
                  <a:tcPr marL="121900" marR="121900" marT="121900" marB="121900">
                    <a:solidFill>
                      <a:srgbClr val="EFEFEF"/>
                    </a:solidFill>
                  </a:tcPr>
                </a:tc>
                <a:tc>
                  <a:txBody>
                    <a:bodyPr/>
                    <a:lstStyle/>
                    <a:p>
                      <a:pPr marL="0" marR="0" lvl="0" indent="0" algn="ctr" rtl="0">
                        <a:lnSpc>
                          <a:spcPct val="100000"/>
                        </a:lnSpc>
                        <a:spcBef>
                          <a:spcPts val="0"/>
                        </a:spcBef>
                        <a:spcAft>
                          <a:spcPts val="0"/>
                        </a:spcAft>
                        <a:buClr>
                          <a:schemeClr val="dk1"/>
                        </a:buClr>
                        <a:buSzPts val="2000"/>
                        <a:buFont typeface="Rockwell"/>
                        <a:buNone/>
                      </a:pPr>
                      <a:r>
                        <a:rPr lang="en-US" sz="2000" u="none" strike="noStrike" cap="none"/>
                        <a:t>2</a:t>
                      </a:r>
                      <a:endParaRPr sz="2000" u="none" strike="noStrike" cap="none"/>
                    </a:p>
                  </a:txBody>
                  <a:tcPr marL="121900" marR="121900" marT="121900" marB="121900">
                    <a:solidFill>
                      <a:srgbClr val="EFEFEF"/>
                    </a:solidFill>
                  </a:tcPr>
                </a:tc>
                <a:tc>
                  <a:txBody>
                    <a:bodyPr/>
                    <a:lstStyle/>
                    <a:p>
                      <a:pPr marL="0" marR="0" lvl="0" indent="0" algn="ctr" rtl="0">
                        <a:lnSpc>
                          <a:spcPct val="100000"/>
                        </a:lnSpc>
                        <a:spcBef>
                          <a:spcPts val="0"/>
                        </a:spcBef>
                        <a:spcAft>
                          <a:spcPts val="0"/>
                        </a:spcAft>
                        <a:buClr>
                          <a:schemeClr val="dk1"/>
                        </a:buClr>
                        <a:buSzPts val="2000"/>
                        <a:buFont typeface="Rockwell"/>
                        <a:buNone/>
                      </a:pPr>
                      <a:r>
                        <a:rPr lang="en-US" sz="2000" u="none" strike="noStrike" cap="none"/>
                        <a:t>3</a:t>
                      </a:r>
                      <a:endParaRPr sz="2000" u="none" strike="noStrike" cap="none"/>
                    </a:p>
                  </a:txBody>
                  <a:tcPr marL="121900" marR="121900" marT="121900" marB="121900">
                    <a:solidFill>
                      <a:srgbClr val="EFEFEF"/>
                    </a:solidFill>
                  </a:tcPr>
                </a:tc>
                <a:tc>
                  <a:txBody>
                    <a:bodyPr/>
                    <a:lstStyle/>
                    <a:p>
                      <a:pPr marL="0" marR="0" lvl="0" indent="0" algn="ctr" rtl="0">
                        <a:lnSpc>
                          <a:spcPct val="100000"/>
                        </a:lnSpc>
                        <a:spcBef>
                          <a:spcPts val="0"/>
                        </a:spcBef>
                        <a:spcAft>
                          <a:spcPts val="0"/>
                        </a:spcAft>
                        <a:buClr>
                          <a:schemeClr val="dk1"/>
                        </a:buClr>
                        <a:buSzPts val="2000"/>
                        <a:buFont typeface="Rockwell"/>
                        <a:buNone/>
                      </a:pPr>
                      <a:r>
                        <a:rPr lang="en-US" sz="2000" u="none" strike="noStrike" cap="none"/>
                        <a:t>4</a:t>
                      </a:r>
                      <a:endParaRPr sz="2000" u="none" strike="noStrike" cap="none"/>
                    </a:p>
                  </a:txBody>
                  <a:tcPr marL="121900" marR="121900" marT="121900" marB="121900">
                    <a:solidFill>
                      <a:srgbClr val="EFEFEF"/>
                    </a:solidFill>
                  </a:tcPr>
                </a:tc>
                <a:extLst>
                  <a:ext uri="{0D108BD9-81ED-4DB2-BD59-A6C34878D82A}">
                    <a16:rowId xmlns:a16="http://schemas.microsoft.com/office/drawing/2014/main" val="10001"/>
                  </a:ext>
                </a:extLst>
              </a:tr>
              <a:tr h="0">
                <a:tc>
                  <a:txBody>
                    <a:bodyPr/>
                    <a:lstStyle/>
                    <a:p>
                      <a:pPr marL="0" marR="0" lvl="0" indent="0" algn="ctr" rtl="0">
                        <a:lnSpc>
                          <a:spcPct val="100000"/>
                        </a:lnSpc>
                        <a:spcBef>
                          <a:spcPts val="0"/>
                        </a:spcBef>
                        <a:spcAft>
                          <a:spcPts val="0"/>
                        </a:spcAft>
                        <a:buClr>
                          <a:schemeClr val="dk1"/>
                        </a:buClr>
                        <a:buSzPts val="2000"/>
                        <a:buFont typeface="Rockwell"/>
                        <a:buNone/>
                      </a:pPr>
                      <a:r>
                        <a:rPr lang="en-US" sz="2000" u="none" strike="noStrike" cap="none"/>
                        <a:t>21%</a:t>
                      </a:r>
                      <a:endParaRPr sz="2000" u="none" strike="noStrike" cap="none"/>
                    </a:p>
                  </a:txBody>
                  <a:tcPr marL="121900" marR="121900" marT="121900" marB="121900"/>
                </a:tc>
                <a:tc>
                  <a:txBody>
                    <a:bodyPr/>
                    <a:lstStyle/>
                    <a:p>
                      <a:pPr marL="0" marR="0" lvl="0" indent="0" algn="ctr" rtl="0">
                        <a:lnSpc>
                          <a:spcPct val="100000"/>
                        </a:lnSpc>
                        <a:spcBef>
                          <a:spcPts val="0"/>
                        </a:spcBef>
                        <a:spcAft>
                          <a:spcPts val="0"/>
                        </a:spcAft>
                        <a:buClr>
                          <a:schemeClr val="dk1"/>
                        </a:buClr>
                        <a:buSzPts val="2000"/>
                        <a:buFont typeface="Rockwell"/>
                        <a:buNone/>
                      </a:pPr>
                      <a:r>
                        <a:rPr lang="en-US" sz="2000" u="none" strike="noStrike" cap="none"/>
                        <a:t>43%</a:t>
                      </a:r>
                      <a:endParaRPr sz="2000" u="none" strike="noStrike" cap="none"/>
                    </a:p>
                  </a:txBody>
                  <a:tcPr marL="121900" marR="121900" marT="121900" marB="121900"/>
                </a:tc>
                <a:tc>
                  <a:txBody>
                    <a:bodyPr/>
                    <a:lstStyle/>
                    <a:p>
                      <a:pPr marL="0" marR="0" lvl="0" indent="0" algn="ctr" rtl="0">
                        <a:lnSpc>
                          <a:spcPct val="100000"/>
                        </a:lnSpc>
                        <a:spcBef>
                          <a:spcPts val="0"/>
                        </a:spcBef>
                        <a:spcAft>
                          <a:spcPts val="0"/>
                        </a:spcAft>
                        <a:buClr>
                          <a:schemeClr val="dk1"/>
                        </a:buClr>
                        <a:buSzPts val="2000"/>
                        <a:buFont typeface="Rockwell"/>
                        <a:buNone/>
                      </a:pPr>
                      <a:r>
                        <a:rPr lang="en-US" sz="2000" u="none" strike="noStrike" cap="none"/>
                        <a:t>23%</a:t>
                      </a:r>
                      <a:endParaRPr sz="2000" u="none" strike="noStrike" cap="none"/>
                    </a:p>
                  </a:txBody>
                  <a:tcPr marL="121900" marR="121900" marT="121900" marB="121900"/>
                </a:tc>
                <a:tc>
                  <a:txBody>
                    <a:bodyPr/>
                    <a:lstStyle/>
                    <a:p>
                      <a:pPr marL="0" marR="0" lvl="0" indent="0" algn="ctr" rtl="0">
                        <a:lnSpc>
                          <a:spcPct val="100000"/>
                        </a:lnSpc>
                        <a:spcBef>
                          <a:spcPts val="0"/>
                        </a:spcBef>
                        <a:spcAft>
                          <a:spcPts val="0"/>
                        </a:spcAft>
                        <a:buClr>
                          <a:schemeClr val="dk1"/>
                        </a:buClr>
                        <a:buSzPts val="2000"/>
                        <a:buFont typeface="Rockwell"/>
                        <a:buNone/>
                      </a:pPr>
                      <a:r>
                        <a:rPr lang="en-US" sz="2000" u="none" strike="noStrike" cap="none"/>
                        <a:t>13%</a:t>
                      </a:r>
                      <a:endParaRPr sz="2000" u="none" strike="noStrike" cap="none"/>
                    </a:p>
                  </a:txBody>
                  <a:tcPr marL="121900" marR="121900" marT="121900" marB="121900"/>
                </a:tc>
                <a:extLst>
                  <a:ext uri="{0D108BD9-81ED-4DB2-BD59-A6C34878D82A}">
                    <a16:rowId xmlns:a16="http://schemas.microsoft.com/office/drawing/2014/main" val="10002"/>
                  </a:ext>
                </a:extLst>
              </a:tr>
            </a:tbl>
          </a:graphicData>
        </a:graphic>
      </p:graphicFrame>
      <p:sp>
        <p:nvSpPr>
          <p:cNvPr id="2" name="Folded Corner 1">
            <a:extLst>
              <a:ext uri="{FF2B5EF4-FFF2-40B4-BE49-F238E27FC236}">
                <a16:creationId xmlns:a16="http://schemas.microsoft.com/office/drawing/2014/main" id="{3C118075-FF05-6FC7-EBD4-FD3BF422D07E}"/>
              </a:ext>
            </a:extLst>
          </p:cNvPr>
          <p:cNvSpPr/>
          <p:nvPr/>
        </p:nvSpPr>
        <p:spPr>
          <a:xfrm>
            <a:off x="6388810" y="5909832"/>
            <a:ext cx="4733342" cy="408581"/>
          </a:xfrm>
          <a:prstGeom prst="foldedCorner">
            <a:avLst>
              <a:gd name="adj" fmla="val 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5" presetClass="exit" presetSubtype="0" fill="hold" grpId="0" nodeType="clickEffect">
                                  <p:stCondLst>
                                    <p:cond delay="0"/>
                                  </p:stCondLst>
                                  <p:childTnLst>
                                    <p:anim calcmode="lin" valueType="num">
                                      <p:cBhvr>
                                        <p:cTn id="6" dur="1000"/>
                                        <p:tgtEl>
                                          <p:spTgt spid="2"/>
                                        </p:tgtEl>
                                        <p:attrNameLst>
                                          <p:attrName>ppt_w</p:attrName>
                                        </p:attrNameLst>
                                      </p:cBhvr>
                                      <p:tavLst>
                                        <p:tav tm="0">
                                          <p:val>
                                            <p:strVal val="ppt_w"/>
                                          </p:val>
                                        </p:tav>
                                        <p:tav tm="100000">
                                          <p:val>
                                            <p:fltVal val="0"/>
                                          </p:val>
                                        </p:tav>
                                      </p:tavLst>
                                    </p:anim>
                                    <p:anim calcmode="lin" valueType="num">
                                      <p:cBhvr>
                                        <p:cTn id="7" dur="1000"/>
                                        <p:tgtEl>
                                          <p:spTgt spid="2"/>
                                        </p:tgtEl>
                                        <p:attrNameLst>
                                          <p:attrName>ppt_h</p:attrName>
                                        </p:attrNameLst>
                                      </p:cBhvr>
                                      <p:tavLst>
                                        <p:tav tm="0">
                                          <p:val>
                                            <p:strVal val="ppt_h"/>
                                          </p:val>
                                        </p:tav>
                                        <p:tav tm="100000">
                                          <p:val>
                                            <p:fltVal val="0"/>
                                          </p:val>
                                        </p:tav>
                                      </p:tavLst>
                                    </p:anim>
                                    <p:anim calcmode="lin" valueType="num">
                                      <p:cBhvr>
                                        <p:cTn id="8" dur="1000"/>
                                        <p:tgtEl>
                                          <p:spTgt spid="2"/>
                                        </p:tgtEl>
                                        <p:attrNameLst>
                                          <p:attrName>ppt_x</p:attrName>
                                        </p:attrNameLst>
                                      </p:cBhvr>
                                      <p:tavLst>
                                        <p:tav tm="0">
                                          <p:val>
                                            <p:strVal val="ppt_x"/>
                                          </p:val>
                                        </p:tav>
                                        <p:tav tm="5000">
                                          <p:val>
                                            <p:strVal val="ppt_x+-0.0500*(ppt_x*0.9511+(1-ppt_y)*0.3090)"/>
                                          </p:val>
                                        </p:tav>
                                        <p:tav tm="10000">
                                          <p:val>
                                            <p:strVal val="ppt_x+-0.1000*(ppt_x*0.8090+(1-ppt_y)*0.5878)"/>
                                          </p:val>
                                        </p:tav>
                                        <p:tav tm="15000">
                                          <p:val>
                                            <p:strVal val="ppt_x+-0.1500*(ppt_x*0.5878+(1-ppt_y)*0.8090)"/>
                                          </p:val>
                                        </p:tav>
                                        <p:tav tm="20000">
                                          <p:val>
                                            <p:strVal val="ppt_x+-0.2000*(ppt_x*0.3090+(1-ppt_y)*0.9511)"/>
                                          </p:val>
                                        </p:tav>
                                        <p:tav tm="25000">
                                          <p:val>
                                            <p:strVal val="ppt_x+-0.2500*(ppt_x*-0.0000+(1-ppt_y)*1.0000)"/>
                                          </p:val>
                                        </p:tav>
                                        <p:tav tm="30000">
                                          <p:val>
                                            <p:strVal val="ppt_x+-0.3000*(ppt_x*-0.3090+(1-ppt_y)*0.9511)"/>
                                          </p:val>
                                        </p:tav>
                                        <p:tav tm="35000">
                                          <p:val>
                                            <p:strVal val="ppt_x+-0.3500*(ppt_x*-0.5878+(1-ppt_y)*0.8090)"/>
                                          </p:val>
                                        </p:tav>
                                        <p:tav tm="40000">
                                          <p:val>
                                            <p:strVal val="ppt_x+-0.4000*(ppt_x*-0.8090+(1-ppt_y)*0.5878)"/>
                                          </p:val>
                                        </p:tav>
                                        <p:tav tm="45000">
                                          <p:val>
                                            <p:strVal val="ppt_x+-0.4500*(ppt_x*-0.9511+(1-ppt_y)*0.3090)"/>
                                          </p:val>
                                        </p:tav>
                                        <p:tav tm="50000">
                                          <p:val>
                                            <p:strVal val="ppt_x+-0.5000*(ppt_x*-1.0000+(1-ppt_y)*-0.0000)"/>
                                          </p:val>
                                        </p:tav>
                                        <p:tav tm="55000">
                                          <p:val>
                                            <p:strVal val="ppt_x+-0.5500*(ppt_x*-0.9511+(1-ppt_y)*-0.3090)"/>
                                          </p:val>
                                        </p:tav>
                                        <p:tav tm="60000">
                                          <p:val>
                                            <p:strVal val="ppt_x+-0.6000*(ppt_x*-0.8090+(1-ppt_y)*-0.5878)"/>
                                          </p:val>
                                        </p:tav>
                                        <p:tav tm="65000">
                                          <p:val>
                                            <p:strVal val="ppt_x+-0.6500*(ppt_x*-0.5878+(1-ppt_y)*-0.8090)"/>
                                          </p:val>
                                        </p:tav>
                                        <p:tav tm="70000">
                                          <p:val>
                                            <p:strVal val="ppt_x+-0.7000*(ppt_x*-0.3090+(1-ppt_y)*-0.9511)"/>
                                          </p:val>
                                        </p:tav>
                                        <p:tav tm="75000">
                                          <p:val>
                                            <p:strVal val="ppt_x+-0.7500*(ppt_x*0.0000+(1-ppt_y)*-1.0000)"/>
                                          </p:val>
                                        </p:tav>
                                        <p:tav tm="80000">
                                          <p:val>
                                            <p:strVal val="ppt_x+-0.8000*(ppt_x*0.3090+(1-ppt_y)*-0.9511)"/>
                                          </p:val>
                                        </p:tav>
                                        <p:tav tm="85000">
                                          <p:val>
                                            <p:strVal val="ppt_x+-0.8500*(ppt_x*0.5878+(1-ppt_y)*-0.8090)"/>
                                          </p:val>
                                        </p:tav>
                                        <p:tav tm="90000">
                                          <p:val>
                                            <p:strVal val="ppt_x+-0.9000*(ppt_x*0.8090+(1-ppt_y)*-0.5878)"/>
                                          </p:val>
                                        </p:tav>
                                        <p:tav tm="95000">
                                          <p:val>
                                            <p:strVal val="ppt_x+-0.9500*(ppt_x*0.9511+(1-ppt_y)*-0.3090)"/>
                                          </p:val>
                                        </p:tav>
                                        <p:tav tm="100000">
                                          <p:val>
                                            <p:strVal val="ppt_x+-1.0000*(ppt_x*1.0000+(1-ppt_y)*0.0000)"/>
                                          </p:val>
                                        </p:tav>
                                      </p:tavLst>
                                    </p:anim>
                                    <p:anim calcmode="lin" valueType="num">
                                      <p:cBhvr>
                                        <p:cTn id="9" dur="1000"/>
                                        <p:tgtEl>
                                          <p:spTgt spid="2"/>
                                        </p:tgtEl>
                                        <p:attrNameLst>
                                          <p:attrName>ppt_y</p:attrName>
                                        </p:attrNameLst>
                                      </p:cBhvr>
                                      <p:tavLst>
                                        <p:tav tm="0">
                                          <p:val>
                                            <p:strVal val="ppt_y"/>
                                          </p:val>
                                        </p:tav>
                                        <p:tav tm="5000">
                                          <p:val>
                                            <p:strVal val="ppt_y+-0.0500*(ppt_x*0.3090-(1-ppt_y)*0.9511)"/>
                                          </p:val>
                                        </p:tav>
                                        <p:tav tm="10000">
                                          <p:val>
                                            <p:strVal val="ppt_y+-0.1000*(ppt_x*0.5878-(1-ppt_y)*0.8090)"/>
                                          </p:val>
                                        </p:tav>
                                        <p:tav tm="15000">
                                          <p:val>
                                            <p:strVal val="ppt_y+-0.1500*(ppt_x*0.8090-(1-ppt_y)*0.5878)"/>
                                          </p:val>
                                        </p:tav>
                                        <p:tav tm="20000">
                                          <p:val>
                                            <p:strVal val="ppt_y+-0.2000*(ppt_x*0.9511-(1-ppt_y)*0.3090)"/>
                                          </p:val>
                                        </p:tav>
                                        <p:tav tm="25000">
                                          <p:val>
                                            <p:strVal val="ppt_y+-0.2500*(ppt_x*1.0000-(1-ppt_y)*-0.0000)"/>
                                          </p:val>
                                        </p:tav>
                                        <p:tav tm="30000">
                                          <p:val>
                                            <p:strVal val="ppt_y+-0.3000*(ppt_x*0.9511-(1-ppt_y)*-0.3090)"/>
                                          </p:val>
                                        </p:tav>
                                        <p:tav tm="35000">
                                          <p:val>
                                            <p:strVal val="ppt_y+-0.3500*(ppt_x*0.8090-(1-ppt_y)*-0.5878)"/>
                                          </p:val>
                                        </p:tav>
                                        <p:tav tm="40000">
                                          <p:val>
                                            <p:strVal val="ppt_y+-0.4000*(ppt_x*0.5878-(1-ppt_y)*-0.8090)"/>
                                          </p:val>
                                        </p:tav>
                                        <p:tav tm="45000">
                                          <p:val>
                                            <p:strVal val="ppt_y+-0.4500*(ppt_x*0.3090-(1-ppt_y)*-0.9511)"/>
                                          </p:val>
                                        </p:tav>
                                        <p:tav tm="50000">
                                          <p:val>
                                            <p:strVal val="ppt_y+-0.5000*(ppt_x*-0.0000-(1-ppt_y)*-1.0000)"/>
                                          </p:val>
                                        </p:tav>
                                        <p:tav tm="55000">
                                          <p:val>
                                            <p:strVal val="ppt_y+-0.5500*(ppt_x*-0.3090-(1-ppt_y)*-0.9511)"/>
                                          </p:val>
                                        </p:tav>
                                        <p:tav tm="60000">
                                          <p:val>
                                            <p:strVal val="ppt_y+-0.6000*(ppt_x*-0.5878-(1-ppt_y)*-0.8090)"/>
                                          </p:val>
                                        </p:tav>
                                        <p:tav tm="65000">
                                          <p:val>
                                            <p:strVal val="ppt_y+-0.6500*(ppt_x*-0.8090-(1-ppt_y)*-0.5878)"/>
                                          </p:val>
                                        </p:tav>
                                        <p:tav tm="70000">
                                          <p:val>
                                            <p:strVal val="ppt_y+-0.7000*(ppt_x*-0.9511-(1-ppt_y)*-0.3090)"/>
                                          </p:val>
                                        </p:tav>
                                        <p:tav tm="75000">
                                          <p:val>
                                            <p:strVal val="ppt_y+-0.7500*(ppt_x*-1.0000-(1-ppt_y)*0.0000)"/>
                                          </p:val>
                                        </p:tav>
                                        <p:tav tm="80000">
                                          <p:val>
                                            <p:strVal val="ppt_y+-0.8000*(ppt_x*-0.9511-(1-ppt_y)*0.3090)"/>
                                          </p:val>
                                        </p:tav>
                                        <p:tav tm="85000">
                                          <p:val>
                                            <p:strVal val="ppt_y+-0.8500*(ppt_x*-0.8090-(1-ppt_y)*0.5878)"/>
                                          </p:val>
                                        </p:tav>
                                        <p:tav tm="90000">
                                          <p:val>
                                            <p:strVal val="ppt_y+-0.9000*(ppt_x*-0.5878-(1-ppt_y)*0.8090)"/>
                                          </p:val>
                                        </p:tav>
                                        <p:tav tm="95000">
                                          <p:val>
                                            <p:strVal val="ppt_y+-0.9500*(ppt_x*-0.3090-(1-ppt_y)*0.9511)"/>
                                          </p:val>
                                        </p:tav>
                                        <p:tav tm="100000">
                                          <p:val>
                                            <p:strVal val="ppt_y+-1.0000*(ppt_x*0.0000-(1-ppt_y)*1.0000)"/>
                                          </p:val>
                                        </p:tav>
                                      </p:tavLst>
                                    </p:anim>
                                    <p:set>
                                      <p:cBhvr>
                                        <p:cTn id="10" dur="1" fill="hold">
                                          <p:stCondLst>
                                            <p:cond delay="999"/>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62"/>
        <p:cNvGrpSpPr/>
        <p:nvPr/>
      </p:nvGrpSpPr>
      <p:grpSpPr>
        <a:xfrm>
          <a:off x="0" y="0"/>
          <a:ext cx="0" cy="0"/>
          <a:chOff x="0" y="0"/>
          <a:chExt cx="0" cy="0"/>
        </a:xfrm>
      </p:grpSpPr>
      <p:sp>
        <p:nvSpPr>
          <p:cNvPr id="463" name="Google Shape;463;p36"/>
          <p:cNvSpPr txBox="1">
            <a:spLocks noGrp="1"/>
          </p:cNvSpPr>
          <p:nvPr>
            <p:ph type="title"/>
          </p:nvPr>
        </p:nvSpPr>
        <p:spPr>
          <a:xfrm>
            <a:off x="1069850" y="484625"/>
            <a:ext cx="10214100" cy="16095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ct val="100000"/>
              <a:buFont typeface="Rockwell"/>
              <a:buNone/>
            </a:pPr>
            <a:r>
              <a:rPr lang="en-US"/>
              <a:t>INFORMAL EXPLANATION OF WHY SANDEL’S ARGUMENT IS INCONCLUSIVE</a:t>
            </a:r>
            <a:endParaRPr/>
          </a:p>
        </p:txBody>
      </p:sp>
      <p:sp>
        <p:nvSpPr>
          <p:cNvPr id="464" name="Google Shape;464;p36"/>
          <p:cNvSpPr txBox="1">
            <a:spLocks noGrp="1"/>
          </p:cNvSpPr>
          <p:nvPr>
            <p:ph sz="quarter" idx="1"/>
          </p:nvPr>
        </p:nvSpPr>
        <p:spPr>
          <a:xfrm>
            <a:off x="1069848" y="2578608"/>
            <a:ext cx="10058400" cy="40509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SzPts val="1700"/>
              <a:buNone/>
            </a:pPr>
            <a:r>
              <a:rPr lang="en-US" sz="2200" dirty="0"/>
              <a:t>Measuring </a:t>
            </a:r>
            <a:r>
              <a:rPr lang="en-US" sz="2200" dirty="0">
                <a:solidFill>
                  <a:srgbClr val="FF0000"/>
                </a:solidFill>
              </a:rPr>
              <a:t>P(F | H) = 80% </a:t>
            </a:r>
            <a:r>
              <a:rPr lang="en-US" sz="2200" dirty="0"/>
              <a:t>and comparing to national average of 44% is not sufficient to say that first born children have an advantage over siblings getting into Harvard. It also matters how many children Harvard mothers tend to have!</a:t>
            </a:r>
            <a:endParaRPr sz="2200" dirty="0"/>
          </a:p>
          <a:p>
            <a:pPr marL="0" lvl="0" indent="0" algn="l" rtl="0">
              <a:lnSpc>
                <a:spcPct val="90000"/>
              </a:lnSpc>
              <a:spcBef>
                <a:spcPts val="1200"/>
              </a:spcBef>
              <a:spcAft>
                <a:spcPts val="0"/>
              </a:spcAft>
              <a:buSzPts val="1700"/>
              <a:buNone/>
            </a:pPr>
            <a:r>
              <a:rPr lang="en-US" sz="2200" dirty="0"/>
              <a:t>If Harvard mothers tend to have very few children, maybe it’s the greater fraction of first </a:t>
            </a:r>
            <a:r>
              <a:rPr lang="en-US" sz="2200" dirty="0" err="1"/>
              <a:t>borns</a:t>
            </a:r>
            <a:r>
              <a:rPr lang="en-US" sz="2200" dirty="0"/>
              <a:t> we’re seeing, not the advantages of being a first born.</a:t>
            </a:r>
            <a:endParaRPr sz="2200" dirty="0"/>
          </a:p>
          <a:p>
            <a:pPr marL="107950" lvl="0" indent="0" algn="l" rtl="0">
              <a:lnSpc>
                <a:spcPct val="90000"/>
              </a:lnSpc>
              <a:spcBef>
                <a:spcPts val="1200"/>
              </a:spcBef>
              <a:spcAft>
                <a:spcPts val="0"/>
              </a:spcAft>
              <a:buSzPts val="1700"/>
              <a:buNone/>
            </a:pPr>
            <a:endParaRPr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68"/>
        <p:cNvGrpSpPr/>
        <p:nvPr/>
      </p:nvGrpSpPr>
      <p:grpSpPr>
        <a:xfrm>
          <a:off x="0" y="0"/>
          <a:ext cx="0" cy="0"/>
          <a:chOff x="0" y="0"/>
          <a:chExt cx="0" cy="0"/>
        </a:xfrm>
      </p:grpSpPr>
      <p:sp>
        <p:nvSpPr>
          <p:cNvPr id="469" name="Google Shape;469;p37"/>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AN ERRONEOUS ANALYSIS</a:t>
            </a:r>
            <a:endParaRPr/>
          </a:p>
        </p:txBody>
      </p:sp>
      <p:sp>
        <p:nvSpPr>
          <p:cNvPr id="470" name="Google Shape;470;p37"/>
          <p:cNvSpPr txBox="1">
            <a:spLocks noGrp="1"/>
          </p:cNvSpPr>
          <p:nvPr>
            <p:ph sz="quarter" idx="1"/>
          </p:nvPr>
        </p:nvSpPr>
        <p:spPr>
          <a:xfrm>
            <a:off x="1069847" y="2121408"/>
            <a:ext cx="10330655" cy="4050792"/>
          </a:xfrm>
          <a:prstGeom prst="rect">
            <a:avLst/>
          </a:prstGeom>
          <a:noFill/>
          <a:ln>
            <a:noFill/>
          </a:ln>
        </p:spPr>
        <p:txBody>
          <a:bodyPr spcFirstLastPara="1" wrap="square" lIns="91425" tIns="45700" rIns="91425" bIns="45700" anchor="t" anchorCtr="0">
            <a:normAutofit lnSpcReduction="10000"/>
          </a:bodyPr>
          <a:lstStyle/>
          <a:p>
            <a:pPr marL="0" lvl="0" indent="0" algn="l" rtl="0">
              <a:lnSpc>
                <a:spcPct val="90000"/>
              </a:lnSpc>
              <a:spcBef>
                <a:spcPts val="0"/>
              </a:spcBef>
              <a:spcAft>
                <a:spcPts val="0"/>
              </a:spcAft>
              <a:buSzPts val="1700"/>
              <a:buNone/>
            </a:pPr>
            <a:r>
              <a:rPr lang="en-US" u="sng" dirty="0">
                <a:solidFill>
                  <a:schemeClr val="hlink"/>
                </a:solidFill>
              </a:rPr>
              <a:t>A 2012 article</a:t>
            </a:r>
            <a:r>
              <a:rPr lang="en-US" dirty="0"/>
              <a:t>* walks through the math regarding Sandel’s argument in great detail. Sandel measures </a:t>
            </a:r>
            <a:r>
              <a:rPr lang="en-US" dirty="0">
                <a:solidFill>
                  <a:srgbClr val="FF0000"/>
                </a:solidFill>
              </a:rPr>
              <a:t>P(F | H)</a:t>
            </a:r>
            <a:r>
              <a:rPr lang="en-US" dirty="0"/>
              <a:t>, but what he cares about is a different quantity.</a:t>
            </a:r>
            <a:endParaRPr dirty="0"/>
          </a:p>
          <a:p>
            <a:pPr marL="0" lvl="0" indent="0" algn="l" rtl="0">
              <a:lnSpc>
                <a:spcPct val="90000"/>
              </a:lnSpc>
              <a:spcBef>
                <a:spcPts val="1200"/>
              </a:spcBef>
              <a:spcAft>
                <a:spcPts val="0"/>
              </a:spcAft>
              <a:buSzPts val="1700"/>
              <a:buNone/>
            </a:pPr>
            <a:r>
              <a:rPr lang="en-US" dirty="0"/>
              <a:t>Sandel wants to show that being a firstborn conveys an advantage over NOT being firstborn. In other words, he wants to show that </a:t>
            </a:r>
            <a:r>
              <a:rPr lang="en-US" b="1" dirty="0">
                <a:solidFill>
                  <a:srgbClr val="9900FF"/>
                </a:solidFill>
              </a:rPr>
              <a:t>r</a:t>
            </a:r>
            <a:r>
              <a:rPr lang="en-US" dirty="0"/>
              <a:t> = </a:t>
            </a:r>
            <a:r>
              <a:rPr lang="en-US" dirty="0">
                <a:solidFill>
                  <a:srgbClr val="9900FF"/>
                </a:solidFill>
              </a:rPr>
              <a:t>P(H | F)</a:t>
            </a:r>
            <a:r>
              <a:rPr lang="en-US" dirty="0"/>
              <a:t> / </a:t>
            </a:r>
            <a:r>
              <a:rPr lang="en-US" dirty="0">
                <a:solidFill>
                  <a:srgbClr val="9900FF"/>
                </a:solidFill>
              </a:rPr>
              <a:t>P(H | F</a:t>
            </a:r>
            <a:r>
              <a:rPr lang="en-US" sz="2400" baseline="30000" dirty="0">
                <a:solidFill>
                  <a:srgbClr val="9900FF"/>
                </a:solidFill>
              </a:rPr>
              <a:t>c</a:t>
            </a:r>
            <a:r>
              <a:rPr lang="en-US" dirty="0">
                <a:solidFill>
                  <a:srgbClr val="9900FF"/>
                </a:solidFill>
              </a:rPr>
              <a:t>)</a:t>
            </a:r>
            <a:r>
              <a:rPr lang="en-US" dirty="0"/>
              <a:t> is greater than 1.</a:t>
            </a:r>
            <a:endParaRPr dirty="0"/>
          </a:p>
          <a:p>
            <a:pPr marL="182880" lvl="0" indent="-182880" algn="l" rtl="0">
              <a:lnSpc>
                <a:spcPct val="90000"/>
              </a:lnSpc>
              <a:spcBef>
                <a:spcPts val="1200"/>
              </a:spcBef>
              <a:spcAft>
                <a:spcPts val="0"/>
              </a:spcAft>
              <a:buSzPts val="1700"/>
              <a:buChar char="▪"/>
            </a:pPr>
            <a:r>
              <a:rPr lang="en-US" dirty="0">
                <a:solidFill>
                  <a:srgbClr val="9900FF"/>
                </a:solidFill>
              </a:rPr>
              <a:t>P(H | F)</a:t>
            </a:r>
            <a:r>
              <a:rPr lang="en-US" dirty="0"/>
              <a:t>: Probability of attending Harvard given you are firstborn.</a:t>
            </a:r>
            <a:endParaRPr dirty="0"/>
          </a:p>
          <a:p>
            <a:pPr marL="182880" lvl="0" indent="-182880" algn="l" rtl="0">
              <a:lnSpc>
                <a:spcPct val="90000"/>
              </a:lnSpc>
              <a:spcBef>
                <a:spcPts val="0"/>
              </a:spcBef>
              <a:spcAft>
                <a:spcPts val="0"/>
              </a:spcAft>
              <a:buSzPts val="1700"/>
              <a:buChar char="▪"/>
            </a:pPr>
            <a:r>
              <a:rPr lang="en-US" dirty="0">
                <a:solidFill>
                  <a:srgbClr val="9900FF"/>
                </a:solidFill>
              </a:rPr>
              <a:t>P(H | F</a:t>
            </a:r>
            <a:r>
              <a:rPr lang="en-US" sz="2400" baseline="30000" dirty="0">
                <a:solidFill>
                  <a:srgbClr val="9900FF"/>
                </a:solidFill>
              </a:rPr>
              <a:t>c</a:t>
            </a:r>
            <a:r>
              <a:rPr lang="en-US" dirty="0">
                <a:solidFill>
                  <a:srgbClr val="9900FF"/>
                </a:solidFill>
              </a:rPr>
              <a:t>)</a:t>
            </a:r>
            <a:r>
              <a:rPr lang="en-US" dirty="0"/>
              <a:t>: Probability of attending Harvard given you are NOT firstborn.</a:t>
            </a:r>
            <a:endParaRPr dirty="0"/>
          </a:p>
          <a:p>
            <a:pPr marL="182880" lvl="0" indent="-182880" algn="l" rtl="0">
              <a:lnSpc>
                <a:spcPct val="90000"/>
              </a:lnSpc>
              <a:spcBef>
                <a:spcPts val="0"/>
              </a:spcBef>
              <a:spcAft>
                <a:spcPts val="0"/>
              </a:spcAft>
              <a:buSzPts val="1700"/>
              <a:buChar char="▪"/>
            </a:pPr>
            <a:r>
              <a:rPr lang="en-US" dirty="0"/>
              <a:t>Suppose </a:t>
            </a:r>
            <a:r>
              <a:rPr lang="en-US" dirty="0">
                <a:solidFill>
                  <a:srgbClr val="9900FF"/>
                </a:solidFill>
              </a:rPr>
              <a:t>r</a:t>
            </a:r>
            <a:r>
              <a:rPr lang="en-US" dirty="0"/>
              <a:t> = 3: This means being firstborn makes you 3 times as likely to get into Harvard.</a:t>
            </a:r>
            <a:endParaRPr dirty="0"/>
          </a:p>
          <a:p>
            <a:pPr marL="182880" lvl="0" indent="-182880" algn="l" rtl="0">
              <a:lnSpc>
                <a:spcPct val="90000"/>
              </a:lnSpc>
              <a:spcBef>
                <a:spcPts val="0"/>
              </a:spcBef>
              <a:spcAft>
                <a:spcPts val="0"/>
              </a:spcAft>
              <a:buSzPts val="1700"/>
              <a:buChar char="▪"/>
            </a:pPr>
            <a:r>
              <a:rPr lang="en-US" dirty="0"/>
              <a:t>If </a:t>
            </a:r>
            <a:r>
              <a:rPr lang="en-US" dirty="0">
                <a:solidFill>
                  <a:srgbClr val="9900FF"/>
                </a:solidFill>
              </a:rPr>
              <a:t>r</a:t>
            </a:r>
            <a:r>
              <a:rPr lang="en-US" dirty="0"/>
              <a:t> &gt; 1, that implies being firstborn gives you some sort of “magic touch” (smarter? harder working? assisted by invisible demons?) that gets you into fancy schools.</a:t>
            </a:r>
            <a:endParaRPr dirty="0"/>
          </a:p>
        </p:txBody>
      </p:sp>
      <p:sp>
        <p:nvSpPr>
          <p:cNvPr id="471" name="Google Shape;471;p37"/>
          <p:cNvSpPr/>
          <p:nvPr/>
        </p:nvSpPr>
        <p:spPr>
          <a:xfrm>
            <a:off x="1174954" y="6488668"/>
            <a:ext cx="9576619"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Rockwell"/>
                <a:ea typeface="Rockwell"/>
                <a:cs typeface="Rockwell"/>
                <a:sym typeface="Rockwell"/>
              </a:rPr>
              <a:t>*Source: https://rss.onlinelibrary.wiley.com/doi/epdf/10.1111/j.1740-9713.2012.00576.x</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75"/>
        <p:cNvGrpSpPr/>
        <p:nvPr/>
      </p:nvGrpSpPr>
      <p:grpSpPr>
        <a:xfrm>
          <a:off x="0" y="0"/>
          <a:ext cx="0" cy="0"/>
          <a:chOff x="0" y="0"/>
          <a:chExt cx="0" cy="0"/>
        </a:xfrm>
      </p:grpSpPr>
      <p:sp>
        <p:nvSpPr>
          <p:cNvPr id="476" name="Google Shape;476;p38"/>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AN ERRONEOUS ANALYSIS</a:t>
            </a:r>
            <a:endParaRPr/>
          </a:p>
        </p:txBody>
      </p:sp>
      <p:sp>
        <p:nvSpPr>
          <p:cNvPr id="477" name="Google Shape;477;p38"/>
          <p:cNvSpPr txBox="1">
            <a:spLocks noGrp="1"/>
          </p:cNvSpPr>
          <p:nvPr>
            <p:ph sz="quarter" idx="1"/>
          </p:nvPr>
        </p:nvSpPr>
        <p:spPr>
          <a:xfrm>
            <a:off x="1069847" y="2121408"/>
            <a:ext cx="10404397" cy="4050792"/>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SzPts val="1700"/>
              <a:buNone/>
            </a:pPr>
            <a:r>
              <a:rPr lang="en-US" dirty="0"/>
              <a:t>Sandel wants to show that being a firstborn gives you a “magic touch”. In other words, he wants to show that </a:t>
            </a:r>
            <a:r>
              <a:rPr lang="en-US" b="1" dirty="0">
                <a:solidFill>
                  <a:srgbClr val="9900FF"/>
                </a:solidFill>
              </a:rPr>
              <a:t>r</a:t>
            </a:r>
            <a:r>
              <a:rPr lang="en-US" dirty="0"/>
              <a:t> = </a:t>
            </a:r>
            <a:r>
              <a:rPr lang="en-US" dirty="0">
                <a:solidFill>
                  <a:srgbClr val="9900FF"/>
                </a:solidFill>
              </a:rPr>
              <a:t>P(H | F)</a:t>
            </a:r>
            <a:r>
              <a:rPr lang="en-US" dirty="0"/>
              <a:t> / </a:t>
            </a:r>
            <a:r>
              <a:rPr lang="en-US" dirty="0">
                <a:solidFill>
                  <a:srgbClr val="9900FF"/>
                </a:solidFill>
              </a:rPr>
              <a:t>P(H | F</a:t>
            </a:r>
            <a:r>
              <a:rPr lang="en-US" sz="2400" baseline="30000" dirty="0">
                <a:solidFill>
                  <a:srgbClr val="9900FF"/>
                </a:solidFill>
              </a:rPr>
              <a:t>c</a:t>
            </a:r>
            <a:r>
              <a:rPr lang="en-US" dirty="0">
                <a:solidFill>
                  <a:srgbClr val="9900FF"/>
                </a:solidFill>
              </a:rPr>
              <a:t>)</a:t>
            </a:r>
            <a:r>
              <a:rPr lang="en-US" dirty="0"/>
              <a:t> is greater than 1.</a:t>
            </a:r>
            <a:endParaRPr dirty="0"/>
          </a:p>
          <a:p>
            <a:pPr marL="182880" lvl="0" indent="-182880" algn="l" rtl="0">
              <a:lnSpc>
                <a:spcPct val="90000"/>
              </a:lnSpc>
              <a:spcBef>
                <a:spcPts val="1200"/>
              </a:spcBef>
              <a:spcAft>
                <a:spcPts val="0"/>
              </a:spcAft>
              <a:buSzPts val="1700"/>
              <a:buChar char="▪"/>
            </a:pPr>
            <a:r>
              <a:rPr lang="en-US" dirty="0">
                <a:solidFill>
                  <a:srgbClr val="9900FF"/>
                </a:solidFill>
              </a:rPr>
              <a:t>P(H | F)</a:t>
            </a:r>
            <a:r>
              <a:rPr lang="en-US" dirty="0"/>
              <a:t>: Probability of getting into Harvard given you are firstborn.</a:t>
            </a:r>
            <a:endParaRPr dirty="0"/>
          </a:p>
          <a:p>
            <a:pPr marL="182880" lvl="0" indent="-182880" algn="l" rtl="0">
              <a:lnSpc>
                <a:spcPct val="90000"/>
              </a:lnSpc>
              <a:spcBef>
                <a:spcPts val="0"/>
              </a:spcBef>
              <a:spcAft>
                <a:spcPts val="0"/>
              </a:spcAft>
              <a:buSzPts val="1700"/>
              <a:buChar char="▪"/>
            </a:pPr>
            <a:r>
              <a:rPr lang="en-US" dirty="0">
                <a:solidFill>
                  <a:srgbClr val="9900FF"/>
                </a:solidFill>
              </a:rPr>
              <a:t>P(H | F</a:t>
            </a:r>
            <a:r>
              <a:rPr lang="en-US" sz="2400" baseline="30000" dirty="0">
                <a:solidFill>
                  <a:srgbClr val="9900FF"/>
                </a:solidFill>
              </a:rPr>
              <a:t>c</a:t>
            </a:r>
            <a:r>
              <a:rPr lang="en-US" dirty="0">
                <a:solidFill>
                  <a:srgbClr val="9900FF"/>
                </a:solidFill>
              </a:rPr>
              <a:t>)</a:t>
            </a:r>
            <a:r>
              <a:rPr lang="en-US" dirty="0"/>
              <a:t>: Probability of getting into Harvard given you are NOT firstborn.</a:t>
            </a:r>
            <a:endParaRPr dirty="0"/>
          </a:p>
          <a:p>
            <a:pPr marL="182880" lvl="0" indent="-182880" algn="l" rtl="0">
              <a:lnSpc>
                <a:spcPct val="90000"/>
              </a:lnSpc>
              <a:spcBef>
                <a:spcPts val="0"/>
              </a:spcBef>
              <a:spcAft>
                <a:spcPts val="0"/>
              </a:spcAft>
              <a:buSzPts val="1700"/>
              <a:buChar char="▪"/>
            </a:pPr>
            <a:r>
              <a:rPr lang="en-US" dirty="0">
                <a:solidFill>
                  <a:srgbClr val="9900FF"/>
                </a:solidFill>
              </a:rPr>
              <a:t>r</a:t>
            </a:r>
            <a:r>
              <a:rPr lang="en-US" dirty="0"/>
              <a:t> &gt; 1: Implies there exists some magic touch!</a:t>
            </a:r>
            <a:endParaRPr dirty="0"/>
          </a:p>
          <a:p>
            <a:pPr marL="0" lvl="0" indent="0" algn="l" rtl="0">
              <a:lnSpc>
                <a:spcPct val="90000"/>
              </a:lnSpc>
              <a:spcBef>
                <a:spcPts val="1200"/>
              </a:spcBef>
              <a:spcAft>
                <a:spcPts val="0"/>
              </a:spcAft>
              <a:buSzPts val="1700"/>
              <a:buNone/>
            </a:pPr>
            <a:endParaRPr dirty="0"/>
          </a:p>
          <a:p>
            <a:pPr marL="0" lvl="0" indent="0" algn="l" rtl="0">
              <a:lnSpc>
                <a:spcPct val="90000"/>
              </a:lnSpc>
              <a:spcBef>
                <a:spcPts val="1200"/>
              </a:spcBef>
              <a:spcAft>
                <a:spcPts val="0"/>
              </a:spcAft>
              <a:buSzPts val="1700"/>
              <a:buNone/>
            </a:pPr>
            <a:r>
              <a:rPr lang="en-US" dirty="0"/>
              <a:t>The quantity he is measuring in class is </a:t>
            </a:r>
            <a:r>
              <a:rPr lang="en-US" dirty="0">
                <a:solidFill>
                  <a:srgbClr val="FF0000"/>
                </a:solidFill>
              </a:rPr>
              <a:t>P(F | H)</a:t>
            </a:r>
            <a:r>
              <a:rPr lang="en-US" dirty="0"/>
              <a:t> does not fully determine </a:t>
            </a:r>
            <a:r>
              <a:rPr lang="en-US" dirty="0">
                <a:solidFill>
                  <a:srgbClr val="9900FF"/>
                </a:solidFill>
              </a:rPr>
              <a:t>r</a:t>
            </a:r>
            <a:r>
              <a:rPr lang="en-US" dirty="0"/>
              <a:t>!</a:t>
            </a:r>
            <a:endParaRPr dirty="0"/>
          </a:p>
          <a:p>
            <a:pPr marL="182880" lvl="0" indent="-182880" algn="l" rtl="0">
              <a:lnSpc>
                <a:spcPct val="90000"/>
              </a:lnSpc>
              <a:spcBef>
                <a:spcPts val="1200"/>
              </a:spcBef>
              <a:spcAft>
                <a:spcPts val="0"/>
              </a:spcAft>
              <a:buSzPts val="1700"/>
              <a:buChar char="▪"/>
            </a:pPr>
            <a:r>
              <a:rPr lang="en-US" dirty="0"/>
              <a:t>Crucially: Relationship between </a:t>
            </a:r>
            <a:r>
              <a:rPr lang="en-US" b="1" dirty="0">
                <a:solidFill>
                  <a:srgbClr val="9900FF"/>
                </a:solidFill>
              </a:rPr>
              <a:t>r</a:t>
            </a:r>
            <a:r>
              <a:rPr lang="en-US" dirty="0"/>
              <a:t> and </a:t>
            </a:r>
            <a:r>
              <a:rPr lang="en-US" dirty="0">
                <a:solidFill>
                  <a:srgbClr val="FF0000"/>
                </a:solidFill>
              </a:rPr>
              <a:t>P(F | H)</a:t>
            </a:r>
            <a:r>
              <a:rPr lang="en-US" dirty="0"/>
              <a:t> is given by fertility rate of mothers </a:t>
            </a:r>
            <a:r>
              <a:rPr lang="en-US" dirty="0" err="1">
                <a:solidFill>
                  <a:srgbClr val="0000FF"/>
                </a:solidFill>
              </a:rPr>
              <a:t>λ</a:t>
            </a:r>
            <a:r>
              <a:rPr lang="en-US" dirty="0"/>
              <a:t>.</a:t>
            </a:r>
            <a:endParaRPr dirty="0"/>
          </a:p>
          <a:p>
            <a:pPr marL="182880" lvl="0" indent="-74928" algn="l" rtl="0">
              <a:lnSpc>
                <a:spcPct val="90000"/>
              </a:lnSpc>
              <a:spcBef>
                <a:spcPts val="1200"/>
              </a:spcBef>
              <a:spcAft>
                <a:spcPts val="0"/>
              </a:spcAft>
              <a:buSzPts val="1700"/>
              <a:buNone/>
            </a:pPr>
            <a:endParaRPr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82"/>
        <p:cNvGrpSpPr/>
        <p:nvPr/>
      </p:nvGrpSpPr>
      <p:grpSpPr>
        <a:xfrm>
          <a:off x="0" y="0"/>
          <a:ext cx="0" cy="0"/>
          <a:chOff x="0" y="0"/>
          <a:chExt cx="0" cy="0"/>
        </a:xfrm>
      </p:grpSpPr>
      <p:sp>
        <p:nvSpPr>
          <p:cNvPr id="483" name="Google Shape;483;p39"/>
          <p:cNvSpPr txBox="1">
            <a:spLocks noGrp="1"/>
          </p:cNvSpPr>
          <p:nvPr>
            <p:ph type="title"/>
          </p:nvPr>
        </p:nvSpPr>
        <p:spPr>
          <a:xfrm>
            <a:off x="442850" y="103625"/>
            <a:ext cx="11501700" cy="16095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ct val="100000"/>
              <a:buFont typeface="Rockwell"/>
              <a:buNone/>
            </a:pPr>
            <a:r>
              <a:rPr lang="en-US"/>
              <a:t>MORE MATHEMATICALLY PRECISE VERSION OF SANDEL’S FLAW</a:t>
            </a:r>
            <a:endParaRPr/>
          </a:p>
        </p:txBody>
      </p:sp>
      <p:sp>
        <p:nvSpPr>
          <p:cNvPr id="484" name="Google Shape;484;p39"/>
          <p:cNvSpPr txBox="1">
            <a:spLocks noGrp="1"/>
          </p:cNvSpPr>
          <p:nvPr>
            <p:ph sz="quarter" idx="1"/>
          </p:nvPr>
        </p:nvSpPr>
        <p:spPr>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SzPts val="1700"/>
              <a:buNone/>
            </a:pPr>
            <a:r>
              <a:rPr lang="en-US" dirty="0"/>
              <a:t>In </a:t>
            </a:r>
            <a:r>
              <a:rPr lang="en-US" u="sng" dirty="0">
                <a:solidFill>
                  <a:schemeClr val="hlink"/>
                </a:solidFill>
                <a:hlinkClick r:id="rId3"/>
              </a:rPr>
              <a:t>the 2012 article</a:t>
            </a:r>
            <a:r>
              <a:rPr lang="en-US" dirty="0"/>
              <a:t>*, they give the exact relationship between </a:t>
            </a:r>
            <a:r>
              <a:rPr lang="en-US" b="1" dirty="0">
                <a:solidFill>
                  <a:srgbClr val="9900FF"/>
                </a:solidFill>
              </a:rPr>
              <a:t>r</a:t>
            </a:r>
            <a:r>
              <a:rPr lang="en-US" dirty="0"/>
              <a:t>, </a:t>
            </a:r>
            <a:r>
              <a:rPr lang="en-US" dirty="0">
                <a:solidFill>
                  <a:srgbClr val="FF0000"/>
                </a:solidFill>
              </a:rPr>
              <a:t>P(F | H)</a:t>
            </a:r>
            <a:r>
              <a:rPr lang="en-US" dirty="0"/>
              <a:t> and </a:t>
            </a:r>
            <a:r>
              <a:rPr lang="en-US" dirty="0">
                <a:solidFill>
                  <a:srgbClr val="0000FF"/>
                </a:solidFill>
              </a:rPr>
              <a:t>λ</a:t>
            </a:r>
            <a:r>
              <a:rPr lang="en-US" dirty="0"/>
              <a:t> as:</a:t>
            </a:r>
            <a:endParaRPr dirty="0"/>
          </a:p>
          <a:p>
            <a:pPr marL="0" lvl="0" indent="0" algn="l" rtl="0">
              <a:lnSpc>
                <a:spcPct val="90000"/>
              </a:lnSpc>
              <a:spcBef>
                <a:spcPts val="1200"/>
              </a:spcBef>
              <a:spcAft>
                <a:spcPts val="0"/>
              </a:spcAft>
              <a:buSzPts val="1700"/>
              <a:buNone/>
            </a:pPr>
            <a:endParaRPr dirty="0"/>
          </a:p>
          <a:p>
            <a:pPr marL="0" lvl="0" indent="0" algn="l" rtl="0">
              <a:lnSpc>
                <a:spcPct val="90000"/>
              </a:lnSpc>
              <a:spcBef>
                <a:spcPts val="1200"/>
              </a:spcBef>
              <a:spcAft>
                <a:spcPts val="0"/>
              </a:spcAft>
              <a:buSzPts val="1700"/>
              <a:buNone/>
            </a:pPr>
            <a:endParaRPr dirty="0"/>
          </a:p>
          <a:p>
            <a:pPr marL="0" lvl="0" indent="0" algn="l" rtl="0">
              <a:lnSpc>
                <a:spcPct val="90000"/>
              </a:lnSpc>
              <a:spcBef>
                <a:spcPts val="1200"/>
              </a:spcBef>
              <a:spcAft>
                <a:spcPts val="0"/>
              </a:spcAft>
              <a:buSzPts val="1700"/>
              <a:buNone/>
            </a:pPr>
            <a:endParaRPr dirty="0"/>
          </a:p>
          <a:p>
            <a:pPr marL="0" lvl="0" indent="0" algn="l" rtl="0">
              <a:lnSpc>
                <a:spcPct val="90000"/>
              </a:lnSpc>
              <a:spcBef>
                <a:spcPts val="1200"/>
              </a:spcBef>
              <a:spcAft>
                <a:spcPts val="0"/>
              </a:spcAft>
              <a:buSzPts val="1700"/>
              <a:buNone/>
            </a:pPr>
            <a:r>
              <a:rPr lang="en-US" dirty="0"/>
              <a:t>Sandel measured that </a:t>
            </a:r>
            <a:r>
              <a:rPr lang="en-US" dirty="0">
                <a:solidFill>
                  <a:srgbClr val="FF0000"/>
                </a:solidFill>
              </a:rPr>
              <a:t>P(F | H) ~= 0.8</a:t>
            </a:r>
            <a:r>
              <a:rPr lang="en-US" dirty="0"/>
              <a:t>, but if </a:t>
            </a:r>
            <a:r>
              <a:rPr lang="en-US" dirty="0">
                <a:solidFill>
                  <a:srgbClr val="0000FF"/>
                </a:solidFill>
              </a:rPr>
              <a:t>λ </a:t>
            </a:r>
            <a:r>
              <a:rPr lang="en-US" dirty="0"/>
              <a:t>= 1.25, i.e. Harvard mothers have 1.25 kids on average, then </a:t>
            </a:r>
            <a:r>
              <a:rPr lang="en-US" dirty="0">
                <a:solidFill>
                  <a:srgbClr val="9900FF"/>
                </a:solidFill>
              </a:rPr>
              <a:t>r</a:t>
            </a:r>
            <a:r>
              <a:rPr lang="en-US" dirty="0"/>
              <a:t> = 1 and thus there is no magic touch!</a:t>
            </a:r>
            <a:endParaRPr dirty="0"/>
          </a:p>
          <a:p>
            <a:pPr marL="0" lvl="0" indent="0" algn="l" rtl="0">
              <a:lnSpc>
                <a:spcPct val="90000"/>
              </a:lnSpc>
              <a:spcBef>
                <a:spcPts val="1200"/>
              </a:spcBef>
              <a:spcAft>
                <a:spcPts val="0"/>
              </a:spcAft>
              <a:buClr>
                <a:schemeClr val="dk1"/>
              </a:buClr>
              <a:buSzPts val="1100"/>
              <a:buNone/>
            </a:pPr>
            <a:endParaRPr dirty="0"/>
          </a:p>
          <a:p>
            <a:pPr marL="0" lvl="0" indent="0" algn="l" rtl="0">
              <a:lnSpc>
                <a:spcPct val="90000"/>
              </a:lnSpc>
              <a:spcBef>
                <a:spcPts val="1200"/>
              </a:spcBef>
              <a:spcAft>
                <a:spcPts val="0"/>
              </a:spcAft>
              <a:buClr>
                <a:schemeClr val="dk1"/>
              </a:buClr>
              <a:buSzPts val="1100"/>
              <a:buNone/>
            </a:pPr>
            <a:r>
              <a:rPr lang="en-US" dirty="0"/>
              <a:t>Are first born children more likely to take CS 418?</a:t>
            </a:r>
            <a:endParaRPr dirty="0"/>
          </a:p>
          <a:p>
            <a:pPr marL="0" lvl="0" indent="0" algn="l" rtl="0">
              <a:lnSpc>
                <a:spcPct val="90000"/>
              </a:lnSpc>
              <a:spcBef>
                <a:spcPts val="1200"/>
              </a:spcBef>
              <a:spcAft>
                <a:spcPts val="0"/>
              </a:spcAft>
              <a:buClr>
                <a:schemeClr val="dk1"/>
              </a:buClr>
              <a:buSzPts val="1100"/>
              <a:buNone/>
            </a:pPr>
            <a:endParaRPr dirty="0"/>
          </a:p>
        </p:txBody>
      </p:sp>
      <p:pic>
        <p:nvPicPr>
          <p:cNvPr id="485" name="Google Shape;485;p39"/>
          <p:cNvPicPr preferRelativeResize="0"/>
          <p:nvPr/>
        </p:nvPicPr>
        <p:blipFill rotWithShape="1">
          <a:blip r:embed="rId4">
            <a:alphaModFix/>
          </a:blip>
          <a:srcRect/>
          <a:stretch/>
        </p:blipFill>
        <p:spPr>
          <a:xfrm>
            <a:off x="3813048" y="2491248"/>
            <a:ext cx="4572000" cy="1092200"/>
          </a:xfrm>
          <a:prstGeom prst="rect">
            <a:avLst/>
          </a:prstGeom>
          <a:noFill/>
          <a:ln>
            <a:noFill/>
          </a:ln>
        </p:spPr>
      </p:pic>
      <p:sp>
        <p:nvSpPr>
          <p:cNvPr id="486" name="Google Shape;486;p39"/>
          <p:cNvSpPr/>
          <p:nvPr/>
        </p:nvSpPr>
        <p:spPr>
          <a:xfrm>
            <a:off x="989781" y="6104620"/>
            <a:ext cx="9576619"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Rockwell"/>
                <a:ea typeface="Rockwell"/>
                <a:cs typeface="Rockwell"/>
                <a:sym typeface="Rockwell"/>
              </a:rPr>
              <a:t>*Source: https://rss.onlinelibrary.wiley.com/doi/epdf/10.1111/j.1740-9713.2012.00576.x</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90"/>
        <p:cNvGrpSpPr/>
        <p:nvPr/>
      </p:nvGrpSpPr>
      <p:grpSpPr>
        <a:xfrm>
          <a:off x="0" y="0"/>
          <a:ext cx="0" cy="0"/>
          <a:chOff x="0" y="0"/>
          <a:chExt cx="0" cy="0"/>
        </a:xfrm>
      </p:grpSpPr>
      <p:sp>
        <p:nvSpPr>
          <p:cNvPr id="491" name="Google Shape;491;p40"/>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SURVEY</a:t>
            </a:r>
            <a:endParaRPr/>
          </a:p>
        </p:txBody>
      </p:sp>
      <p:sp>
        <p:nvSpPr>
          <p:cNvPr id="492" name="Google Shape;492;p40"/>
          <p:cNvSpPr txBox="1">
            <a:spLocks noGrp="1"/>
          </p:cNvSpPr>
          <p:nvPr>
            <p:ph sz="quarter" idx="1"/>
          </p:nvPr>
        </p:nvSpPr>
        <p:spPr>
          <a:xfrm>
            <a:off x="1069848" y="2121408"/>
            <a:ext cx="10058400" cy="4500618"/>
          </a:xfrm>
          <a:prstGeom prst="rect">
            <a:avLst/>
          </a:prstGeom>
          <a:noFill/>
          <a:ln>
            <a:noFill/>
          </a:ln>
        </p:spPr>
        <p:txBody>
          <a:bodyPr spcFirstLastPara="1" wrap="square" lIns="91425" tIns="45700" rIns="91425" bIns="45700" anchor="t" anchorCtr="0">
            <a:normAutofit fontScale="92500" lnSpcReduction="20000"/>
          </a:bodyPr>
          <a:lstStyle/>
          <a:p>
            <a:pPr marL="0" lvl="0" indent="0" algn="l" rtl="0">
              <a:lnSpc>
                <a:spcPct val="90000"/>
              </a:lnSpc>
              <a:spcBef>
                <a:spcPts val="0"/>
              </a:spcBef>
              <a:spcAft>
                <a:spcPts val="0"/>
              </a:spcAft>
              <a:buSzPts val="1700"/>
              <a:buNone/>
            </a:pPr>
            <a:r>
              <a:rPr lang="en-US" dirty="0"/>
              <a:t>Q1: Number of students whose mothers have:</a:t>
            </a:r>
            <a:endParaRPr dirty="0"/>
          </a:p>
          <a:p>
            <a:pPr marL="457200" lvl="1" indent="-182880" algn="l" rtl="0">
              <a:lnSpc>
                <a:spcPct val="90000"/>
              </a:lnSpc>
              <a:spcBef>
                <a:spcPts val="400"/>
              </a:spcBef>
              <a:spcAft>
                <a:spcPts val="0"/>
              </a:spcAft>
              <a:buSzPts val="1530"/>
              <a:buChar char="▪"/>
            </a:pPr>
            <a:r>
              <a:rPr lang="en-US" dirty="0"/>
              <a:t>1 kid</a:t>
            </a:r>
            <a:endParaRPr dirty="0"/>
          </a:p>
          <a:p>
            <a:pPr marL="457200" lvl="1" indent="-182880" algn="l" rtl="0">
              <a:lnSpc>
                <a:spcPct val="90000"/>
              </a:lnSpc>
              <a:spcBef>
                <a:spcPts val="600"/>
              </a:spcBef>
              <a:spcAft>
                <a:spcPts val="0"/>
              </a:spcAft>
              <a:buSzPts val="1530"/>
              <a:buChar char="▪"/>
            </a:pPr>
            <a:r>
              <a:rPr lang="en-US" dirty="0"/>
              <a:t>2 kids</a:t>
            </a:r>
            <a:endParaRPr dirty="0"/>
          </a:p>
          <a:p>
            <a:pPr marL="457200" lvl="1" indent="-182880" algn="l" rtl="0">
              <a:lnSpc>
                <a:spcPct val="90000"/>
              </a:lnSpc>
              <a:spcBef>
                <a:spcPts val="600"/>
              </a:spcBef>
              <a:spcAft>
                <a:spcPts val="0"/>
              </a:spcAft>
              <a:buSzPts val="1530"/>
              <a:buChar char="▪"/>
            </a:pPr>
            <a:r>
              <a:rPr lang="en-US" dirty="0"/>
              <a:t>3 kids</a:t>
            </a:r>
            <a:endParaRPr dirty="0"/>
          </a:p>
          <a:p>
            <a:pPr marL="457200" lvl="1" indent="-182880" algn="l" rtl="0">
              <a:lnSpc>
                <a:spcPct val="90000"/>
              </a:lnSpc>
              <a:spcBef>
                <a:spcPts val="600"/>
              </a:spcBef>
              <a:spcAft>
                <a:spcPts val="0"/>
              </a:spcAft>
              <a:buSzPts val="1530"/>
              <a:buChar char="▪"/>
            </a:pPr>
            <a:r>
              <a:rPr lang="en-US" dirty="0"/>
              <a:t>4 kids</a:t>
            </a:r>
            <a:endParaRPr dirty="0"/>
          </a:p>
          <a:p>
            <a:pPr marL="457200" lvl="1" indent="-182880" algn="l" rtl="0">
              <a:lnSpc>
                <a:spcPct val="90000"/>
              </a:lnSpc>
              <a:spcBef>
                <a:spcPts val="600"/>
              </a:spcBef>
              <a:spcAft>
                <a:spcPts val="0"/>
              </a:spcAft>
              <a:buSzPts val="1530"/>
              <a:buChar char="▪"/>
            </a:pPr>
            <a:r>
              <a:rPr lang="en-US" dirty="0"/>
              <a:t>5 kids</a:t>
            </a:r>
            <a:endParaRPr dirty="0"/>
          </a:p>
          <a:p>
            <a:pPr marL="457200" lvl="1" indent="-182880" algn="l" rtl="0">
              <a:lnSpc>
                <a:spcPct val="90000"/>
              </a:lnSpc>
              <a:spcBef>
                <a:spcPts val="600"/>
              </a:spcBef>
              <a:spcAft>
                <a:spcPts val="0"/>
              </a:spcAft>
              <a:buSzPts val="1530"/>
              <a:buChar char="▪"/>
            </a:pPr>
            <a:r>
              <a:rPr lang="en-US" dirty="0"/>
              <a:t>6 kids</a:t>
            </a:r>
            <a:endParaRPr dirty="0"/>
          </a:p>
          <a:p>
            <a:pPr marL="457200" lvl="1" indent="-182880" algn="l" rtl="0">
              <a:lnSpc>
                <a:spcPct val="90000"/>
              </a:lnSpc>
              <a:spcBef>
                <a:spcPts val="600"/>
              </a:spcBef>
              <a:spcAft>
                <a:spcPts val="0"/>
              </a:spcAft>
              <a:buSzPts val="1530"/>
              <a:buChar char="▪"/>
            </a:pPr>
            <a:r>
              <a:rPr lang="en-US" dirty="0"/>
              <a:t>7 kids</a:t>
            </a:r>
            <a:endParaRPr dirty="0"/>
          </a:p>
          <a:p>
            <a:pPr marL="457200" lvl="1" indent="-182880" algn="l" rtl="0">
              <a:lnSpc>
                <a:spcPct val="90000"/>
              </a:lnSpc>
              <a:spcBef>
                <a:spcPts val="600"/>
              </a:spcBef>
              <a:spcAft>
                <a:spcPts val="0"/>
              </a:spcAft>
              <a:buSzPts val="1530"/>
              <a:buChar char="▪"/>
            </a:pPr>
            <a:r>
              <a:rPr lang="en-US" dirty="0"/>
              <a:t>…</a:t>
            </a:r>
            <a:endParaRPr dirty="0"/>
          </a:p>
          <a:p>
            <a:pPr marL="457200" lvl="1" indent="-85725" algn="l" rtl="0">
              <a:lnSpc>
                <a:spcPct val="90000"/>
              </a:lnSpc>
              <a:spcBef>
                <a:spcPts val="600"/>
              </a:spcBef>
              <a:spcAft>
                <a:spcPts val="0"/>
              </a:spcAft>
              <a:buSzPts val="1530"/>
              <a:buNone/>
            </a:pPr>
            <a:endParaRPr dirty="0"/>
          </a:p>
          <a:p>
            <a:pPr marL="182880" lvl="0" indent="-182880" algn="l" rtl="0">
              <a:lnSpc>
                <a:spcPct val="90000"/>
              </a:lnSpc>
              <a:spcBef>
                <a:spcPts val="1400"/>
              </a:spcBef>
              <a:spcAft>
                <a:spcPts val="0"/>
              </a:spcAft>
              <a:buSzPts val="1700"/>
              <a:buChar char="▪"/>
            </a:pPr>
            <a:r>
              <a:rPr lang="en-US" dirty="0"/>
              <a:t>How many children on average does a mother have (lambda)?</a:t>
            </a:r>
            <a:endParaRPr dirty="0"/>
          </a:p>
          <a:p>
            <a:pPr marL="457200" lvl="1" indent="-182880" algn="l" rtl="0">
              <a:lnSpc>
                <a:spcPct val="90000"/>
              </a:lnSpc>
              <a:spcBef>
                <a:spcPts val="400"/>
              </a:spcBef>
              <a:spcAft>
                <a:spcPts val="0"/>
              </a:spcAft>
              <a:buSzPts val="1530"/>
              <a:buChar char="▪"/>
            </a:pPr>
            <a:r>
              <a:rPr lang="en-US" dirty="0"/>
              <a:t>Bonus question: Would it have been better, worse, or about the same if we had been able to ask your mom about her child count?</a:t>
            </a:r>
            <a:endParaRPr dirty="0"/>
          </a:p>
          <a:p>
            <a:pPr marL="182880" lvl="0" indent="-182880" algn="l" rtl="0">
              <a:lnSpc>
                <a:spcPct val="90000"/>
              </a:lnSpc>
              <a:spcBef>
                <a:spcPts val="1400"/>
              </a:spcBef>
              <a:spcAft>
                <a:spcPts val="0"/>
              </a:spcAft>
              <a:buSzPts val="1700"/>
              <a:buChar char="▪"/>
            </a:pPr>
            <a:r>
              <a:rPr lang="en-US" dirty="0"/>
              <a:t>What percent are firstborn?</a:t>
            </a:r>
            <a:endParaRPr dirty="0"/>
          </a:p>
        </p:txBody>
      </p:sp>
      <p:sp>
        <p:nvSpPr>
          <p:cNvPr id="493" name="Google Shape;493;p40"/>
          <p:cNvSpPr txBox="1"/>
          <p:nvPr/>
        </p:nvSpPr>
        <p:spPr>
          <a:xfrm>
            <a:off x="7399176" y="2093976"/>
            <a:ext cx="3722976" cy="4500618"/>
          </a:xfrm>
          <a:prstGeom prst="rect">
            <a:avLst/>
          </a:prstGeom>
          <a:noFill/>
          <a:ln>
            <a:noFill/>
          </a:ln>
        </p:spPr>
        <p:txBody>
          <a:bodyPr spcFirstLastPara="1" wrap="square" lIns="91425" tIns="45700" rIns="91425" bIns="45700" anchor="t" anchorCtr="0">
            <a:normAutofit/>
          </a:bodyPr>
          <a:lstStyle/>
          <a:p>
            <a:pPr marL="0" marR="0" lvl="0" indent="0" algn="l" rtl="0">
              <a:lnSpc>
                <a:spcPct val="90000"/>
              </a:lnSpc>
              <a:spcBef>
                <a:spcPts val="0"/>
              </a:spcBef>
              <a:spcAft>
                <a:spcPts val="0"/>
              </a:spcAft>
              <a:buClr>
                <a:srgbClr val="9E3611"/>
              </a:buClr>
              <a:buSzPts val="1700"/>
              <a:buFont typeface="Noto Sans Symbols"/>
              <a:buNone/>
            </a:pPr>
            <a:r>
              <a:rPr lang="en-US" sz="2000" b="0" i="0" u="none" strike="noStrike" cap="none" dirty="0">
                <a:solidFill>
                  <a:schemeClr val="dk1"/>
                </a:solidFill>
                <a:latin typeface="Rockwell"/>
                <a:ea typeface="Rockwell"/>
                <a:cs typeface="Rockwell"/>
                <a:sym typeface="Rockwell"/>
              </a:rPr>
              <a:t>Q2: Are you a firstborn?</a:t>
            </a:r>
            <a:endParaRPr sz="1400" b="0" i="0" u="none" strike="noStrike" cap="none" dirty="0">
              <a:solidFill>
                <a:srgbClr val="000000"/>
              </a:solidFill>
              <a:latin typeface="Arial"/>
              <a:ea typeface="Arial"/>
              <a:cs typeface="Arial"/>
              <a:sym typeface="Arial"/>
            </a:endParaRPr>
          </a:p>
          <a:p>
            <a:pPr marL="0" marR="0" lvl="0" indent="0" algn="l" rtl="0">
              <a:lnSpc>
                <a:spcPct val="90000"/>
              </a:lnSpc>
              <a:spcBef>
                <a:spcPts val="1200"/>
              </a:spcBef>
              <a:spcAft>
                <a:spcPts val="0"/>
              </a:spcAft>
              <a:buClr>
                <a:srgbClr val="9E3611"/>
              </a:buClr>
              <a:buSzPts val="1700"/>
              <a:buFont typeface="Noto Sans Symbols"/>
              <a:buNone/>
            </a:pPr>
            <a:endParaRPr sz="2000" b="0" i="0" u="none" strike="noStrike" cap="none" dirty="0">
              <a:solidFill>
                <a:schemeClr val="dk1"/>
              </a:solidFill>
              <a:latin typeface="Rockwell"/>
              <a:ea typeface="Rockwell"/>
              <a:cs typeface="Rockwell"/>
              <a:sym typeface="Rockwe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9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9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9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9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9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9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9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92">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92">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92">
                                            <p:txEl>
                                              <p:pRg st="10" end="1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92">
                                            <p:txEl>
                                              <p:pRg st="11" end="11"/>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492">
                                            <p:txEl>
                                              <p:pRg st="12" end="12"/>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49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98"/>
        <p:cNvGrpSpPr/>
        <p:nvPr/>
      </p:nvGrpSpPr>
      <p:grpSpPr>
        <a:xfrm>
          <a:off x="0" y="0"/>
          <a:ext cx="0" cy="0"/>
          <a:chOff x="0" y="0"/>
          <a:chExt cx="0" cy="0"/>
        </a:xfrm>
      </p:grpSpPr>
      <p:sp>
        <p:nvSpPr>
          <p:cNvPr id="502" name="Google Shape;502;p41"/>
          <p:cNvSpPr txBox="1">
            <a:spLocks noGrp="1"/>
          </p:cNvSpPr>
          <p:nvPr>
            <p:ph type="title"/>
          </p:nvPr>
        </p:nvSpPr>
        <p:spPr>
          <a:xfrm>
            <a:off x="442850" y="103625"/>
            <a:ext cx="11501700" cy="16095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MORE MATHEMATICALLY PRECISE VERSION OF SANDEL’S FLAW</a:t>
            </a:r>
            <a:endParaRPr/>
          </a:p>
        </p:txBody>
      </p:sp>
      <p:sp>
        <p:nvSpPr>
          <p:cNvPr id="499" name="Google Shape;499;p41"/>
          <p:cNvSpPr txBox="1">
            <a:spLocks noGrp="1"/>
          </p:cNvSpPr>
          <p:nvPr>
            <p:ph sz="quarter" idx="1"/>
          </p:nvPr>
        </p:nvSpPr>
        <p:spPr>
          <a:xfrm>
            <a:off x="1164500" y="2133550"/>
            <a:ext cx="9888600" cy="4355100"/>
          </a:xfrm>
          <a:prstGeom prst="rect">
            <a:avLst/>
          </a:prstGeom>
          <a:noFill/>
          <a:ln>
            <a:noFill/>
          </a:ln>
        </p:spPr>
        <p:txBody>
          <a:bodyPr spcFirstLastPara="1" wrap="square" lIns="91425" tIns="45700" rIns="91425" bIns="45700" anchor="t" anchorCtr="0">
            <a:normAutofit fontScale="85000" lnSpcReduction="20000"/>
          </a:bodyPr>
          <a:lstStyle/>
          <a:p>
            <a:pPr marL="0" lvl="0" indent="0" algn="l" rtl="0">
              <a:lnSpc>
                <a:spcPct val="90000"/>
              </a:lnSpc>
              <a:spcBef>
                <a:spcPts val="0"/>
              </a:spcBef>
              <a:spcAft>
                <a:spcPts val="0"/>
              </a:spcAft>
              <a:buSzPts val="1700"/>
              <a:buNone/>
            </a:pPr>
            <a:r>
              <a:rPr lang="en-US" dirty="0"/>
              <a:t>In </a:t>
            </a:r>
            <a:r>
              <a:rPr lang="en-US" u="sng" dirty="0">
                <a:solidFill>
                  <a:schemeClr val="hlink"/>
                </a:solidFill>
                <a:hlinkClick r:id="rId3"/>
              </a:rPr>
              <a:t>the 2012 article</a:t>
            </a:r>
            <a:r>
              <a:rPr lang="en-US" dirty="0"/>
              <a:t>*, they give the exact relationship between </a:t>
            </a:r>
            <a:r>
              <a:rPr lang="en-US" b="1" dirty="0">
                <a:solidFill>
                  <a:srgbClr val="9900FF"/>
                </a:solidFill>
              </a:rPr>
              <a:t>r</a:t>
            </a:r>
            <a:r>
              <a:rPr lang="en-US" dirty="0"/>
              <a:t>, </a:t>
            </a:r>
            <a:r>
              <a:rPr lang="en-US" dirty="0">
                <a:solidFill>
                  <a:srgbClr val="FF0000"/>
                </a:solidFill>
              </a:rPr>
              <a:t>P(F | H)</a:t>
            </a:r>
            <a:r>
              <a:rPr lang="en-US" dirty="0"/>
              <a:t> and </a:t>
            </a:r>
            <a:r>
              <a:rPr lang="en-US" dirty="0" err="1">
                <a:solidFill>
                  <a:srgbClr val="0000FF"/>
                </a:solidFill>
              </a:rPr>
              <a:t>λ</a:t>
            </a:r>
            <a:r>
              <a:rPr lang="en-US" dirty="0"/>
              <a:t> as:</a:t>
            </a:r>
            <a:endParaRPr dirty="0"/>
          </a:p>
          <a:p>
            <a:pPr marL="0" lvl="0" indent="0" algn="l" rtl="0">
              <a:lnSpc>
                <a:spcPct val="90000"/>
              </a:lnSpc>
              <a:spcBef>
                <a:spcPts val="1200"/>
              </a:spcBef>
              <a:spcAft>
                <a:spcPts val="0"/>
              </a:spcAft>
              <a:buSzPts val="1700"/>
              <a:buNone/>
            </a:pPr>
            <a:endParaRPr dirty="0"/>
          </a:p>
          <a:p>
            <a:pPr marL="0" lvl="0" indent="0" algn="l" rtl="0">
              <a:lnSpc>
                <a:spcPct val="90000"/>
              </a:lnSpc>
              <a:spcBef>
                <a:spcPts val="1200"/>
              </a:spcBef>
              <a:spcAft>
                <a:spcPts val="0"/>
              </a:spcAft>
              <a:buSzPts val="1700"/>
              <a:buNone/>
            </a:pPr>
            <a:endParaRPr dirty="0"/>
          </a:p>
          <a:p>
            <a:pPr marL="0" lvl="0" indent="0" algn="l" rtl="0">
              <a:lnSpc>
                <a:spcPct val="90000"/>
              </a:lnSpc>
              <a:spcBef>
                <a:spcPts val="1200"/>
              </a:spcBef>
              <a:spcAft>
                <a:spcPts val="0"/>
              </a:spcAft>
              <a:buSzPts val="1700"/>
              <a:buNone/>
            </a:pPr>
            <a:endParaRPr dirty="0"/>
          </a:p>
          <a:p>
            <a:pPr marL="0" lvl="0" indent="0" algn="l" rtl="0">
              <a:lnSpc>
                <a:spcPct val="90000"/>
              </a:lnSpc>
              <a:spcBef>
                <a:spcPts val="1200"/>
              </a:spcBef>
              <a:spcAft>
                <a:spcPts val="0"/>
              </a:spcAft>
              <a:buSzPts val="1700"/>
              <a:buNone/>
            </a:pPr>
            <a:r>
              <a:rPr lang="en-US" dirty="0"/>
              <a:t>We measured that </a:t>
            </a:r>
            <a:r>
              <a:rPr lang="en-US" dirty="0">
                <a:solidFill>
                  <a:srgbClr val="FF0000"/>
                </a:solidFill>
              </a:rPr>
              <a:t>P(F | CS 418) ~= X</a:t>
            </a:r>
            <a:r>
              <a:rPr lang="en-US" dirty="0"/>
              <a:t>.</a:t>
            </a:r>
            <a:endParaRPr dirty="0"/>
          </a:p>
          <a:p>
            <a:pPr marL="0" lvl="0" indent="0" algn="l" rtl="0">
              <a:lnSpc>
                <a:spcPct val="90000"/>
              </a:lnSpc>
              <a:spcBef>
                <a:spcPts val="1200"/>
              </a:spcBef>
              <a:spcAft>
                <a:spcPts val="0"/>
              </a:spcAft>
              <a:buSzPts val="1700"/>
              <a:buNone/>
            </a:pPr>
            <a:endParaRPr dirty="0"/>
          </a:p>
          <a:p>
            <a:pPr marL="0" lvl="0" indent="0" algn="l" rtl="0">
              <a:lnSpc>
                <a:spcPct val="90000"/>
              </a:lnSpc>
              <a:spcBef>
                <a:spcPts val="1200"/>
              </a:spcBef>
              <a:spcAft>
                <a:spcPts val="0"/>
              </a:spcAft>
              <a:buSzPts val="1700"/>
              <a:buNone/>
            </a:pPr>
            <a:r>
              <a:rPr lang="en-US" dirty="0"/>
              <a:t>Using your data (a =sample of CS 418 students), </a:t>
            </a:r>
            <a:r>
              <a:rPr lang="en-US" dirty="0" err="1">
                <a:solidFill>
                  <a:srgbClr val="0000FF"/>
                </a:solidFill>
              </a:rPr>
              <a:t>λ</a:t>
            </a:r>
            <a:r>
              <a:rPr lang="en-US" dirty="0">
                <a:solidFill>
                  <a:srgbClr val="0000FF"/>
                </a:solidFill>
              </a:rPr>
              <a:t> </a:t>
            </a:r>
            <a:r>
              <a:rPr lang="en-US" dirty="0"/>
              <a:t>is Y</a:t>
            </a:r>
            <a:endParaRPr dirty="0"/>
          </a:p>
          <a:p>
            <a:pPr marL="182880" lvl="0" indent="-182880" algn="l" rtl="0">
              <a:lnSpc>
                <a:spcPct val="90000"/>
              </a:lnSpc>
              <a:spcBef>
                <a:spcPts val="1200"/>
              </a:spcBef>
              <a:spcAft>
                <a:spcPts val="0"/>
              </a:spcAft>
              <a:buSzPts val="1700"/>
              <a:buChar char="▪"/>
            </a:pPr>
            <a:r>
              <a:rPr lang="en-US" dirty="0"/>
              <a:t>r = X/(1-X)*(Y-1) = ?</a:t>
            </a:r>
            <a:endParaRPr dirty="0"/>
          </a:p>
          <a:p>
            <a:pPr marL="182880" lvl="0" indent="0" algn="l" rtl="0">
              <a:lnSpc>
                <a:spcPct val="90000"/>
              </a:lnSpc>
              <a:spcBef>
                <a:spcPts val="1200"/>
              </a:spcBef>
              <a:spcAft>
                <a:spcPts val="0"/>
              </a:spcAft>
              <a:buSzPts val="1530"/>
              <a:buNone/>
            </a:pPr>
            <a:endParaRPr dirty="0"/>
          </a:p>
          <a:p>
            <a:pPr marL="182880" lvl="0" indent="-182880" algn="l" rtl="0">
              <a:lnSpc>
                <a:spcPct val="90000"/>
              </a:lnSpc>
              <a:spcBef>
                <a:spcPts val="0"/>
              </a:spcBef>
              <a:spcAft>
                <a:spcPts val="0"/>
              </a:spcAft>
              <a:buSzPts val="1700"/>
              <a:buChar char="▪"/>
            </a:pPr>
            <a:r>
              <a:rPr lang="en-US" dirty="0"/>
              <a:t>Issues with this?</a:t>
            </a:r>
            <a:endParaRPr dirty="0"/>
          </a:p>
          <a:p>
            <a:pPr marL="457200" lvl="1" indent="-190166" algn="l" rtl="0">
              <a:lnSpc>
                <a:spcPct val="90000"/>
              </a:lnSpc>
              <a:spcBef>
                <a:spcPts val="400"/>
              </a:spcBef>
              <a:spcAft>
                <a:spcPts val="0"/>
              </a:spcAft>
              <a:buSzPts val="1530"/>
              <a:buChar char="▪"/>
            </a:pPr>
            <a:r>
              <a:rPr lang="en-US" dirty="0"/>
              <a:t>We’re only looking at CS 418.</a:t>
            </a:r>
            <a:endParaRPr dirty="0"/>
          </a:p>
          <a:p>
            <a:pPr marL="457200" lvl="1" indent="-190166" algn="l" rtl="0">
              <a:lnSpc>
                <a:spcPct val="90000"/>
              </a:lnSpc>
              <a:spcBef>
                <a:spcPts val="600"/>
              </a:spcBef>
              <a:spcAft>
                <a:spcPts val="0"/>
              </a:spcAft>
              <a:buSzPts val="1530"/>
              <a:buChar char="▪"/>
            </a:pPr>
            <a:r>
              <a:rPr lang="en-US" dirty="0"/>
              <a:t>Self-selection bias</a:t>
            </a:r>
            <a:endParaRPr dirty="0"/>
          </a:p>
          <a:p>
            <a:pPr marL="457200" lvl="1" indent="-190166" algn="l" rtl="0">
              <a:lnSpc>
                <a:spcPct val="90000"/>
              </a:lnSpc>
              <a:spcBef>
                <a:spcPts val="600"/>
              </a:spcBef>
              <a:spcAft>
                <a:spcPts val="0"/>
              </a:spcAft>
              <a:buSzPts val="1530"/>
              <a:buChar char="▪"/>
            </a:pPr>
            <a:r>
              <a:rPr lang="en-US" dirty="0"/>
              <a:t>Bias from the fact that we’re oversampling from families of 2 or more</a:t>
            </a:r>
            <a:endParaRPr dirty="0"/>
          </a:p>
        </p:txBody>
      </p:sp>
      <p:pic>
        <p:nvPicPr>
          <p:cNvPr id="500" name="Google Shape;500;p41"/>
          <p:cNvPicPr preferRelativeResize="0"/>
          <p:nvPr/>
        </p:nvPicPr>
        <p:blipFill rotWithShape="1">
          <a:blip r:embed="rId4">
            <a:alphaModFix/>
          </a:blip>
          <a:srcRect/>
          <a:stretch/>
        </p:blipFill>
        <p:spPr>
          <a:xfrm>
            <a:off x="3813048" y="2465848"/>
            <a:ext cx="4572000" cy="1092200"/>
          </a:xfrm>
          <a:prstGeom prst="rect">
            <a:avLst/>
          </a:prstGeom>
          <a:noFill/>
          <a:ln>
            <a:noFill/>
          </a:ln>
        </p:spPr>
      </p:pic>
      <p:sp>
        <p:nvSpPr>
          <p:cNvPr id="501" name="Google Shape;501;p41"/>
          <p:cNvSpPr/>
          <p:nvPr/>
        </p:nvSpPr>
        <p:spPr>
          <a:xfrm>
            <a:off x="1174954" y="6488668"/>
            <a:ext cx="9576619"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Rockwell"/>
                <a:ea typeface="Rockwell"/>
                <a:cs typeface="Rockwell"/>
                <a:sym typeface="Rockwell"/>
              </a:rPr>
              <a:t>*Source: https://rss.onlinelibrary.wiley.com/doi/epdf/10.1111/j.1740-9713.2012.00576.x</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507"/>
        <p:cNvGrpSpPr/>
        <p:nvPr/>
      </p:nvGrpSpPr>
      <p:grpSpPr>
        <a:xfrm>
          <a:off x="0" y="0"/>
          <a:ext cx="0" cy="0"/>
          <a:chOff x="0" y="0"/>
          <a:chExt cx="0" cy="0"/>
        </a:xfrm>
      </p:grpSpPr>
      <p:sp>
        <p:nvSpPr>
          <p:cNvPr id="508" name="Google Shape;508;p42"/>
          <p:cNvSpPr txBox="1">
            <a:spLocks noGrp="1"/>
          </p:cNvSpPr>
          <p:nvPr>
            <p:ph type="title"/>
          </p:nvPr>
        </p:nvSpPr>
        <p:spPr>
          <a:xfrm>
            <a:off x="1069848" y="484632"/>
            <a:ext cx="10625622"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CLASS PROJECT</a:t>
            </a:r>
            <a:endParaRPr/>
          </a:p>
        </p:txBody>
      </p:sp>
      <p:sp>
        <p:nvSpPr>
          <p:cNvPr id="509" name="Google Shape;509;p42"/>
          <p:cNvSpPr txBox="1">
            <a:spLocks noGrp="1"/>
          </p:cNvSpPr>
          <p:nvPr>
            <p:ph sz="quarter" idx="1"/>
          </p:nvPr>
        </p:nvSpPr>
        <p:spPr>
          <a:xfrm>
            <a:off x="1069847" y="2121408"/>
            <a:ext cx="10625623" cy="4050792"/>
          </a:xfrm>
          <a:prstGeom prst="rect">
            <a:avLst/>
          </a:prstGeom>
          <a:noFill/>
          <a:ln>
            <a:noFill/>
          </a:ln>
        </p:spPr>
        <p:txBody>
          <a:bodyPr spcFirstLastPara="1" wrap="square" lIns="91425" tIns="45700" rIns="91425" bIns="45700" anchor="t" anchorCtr="0">
            <a:normAutofit lnSpcReduction="10000"/>
          </a:bodyPr>
          <a:lstStyle/>
          <a:p>
            <a:pPr marL="182880" lvl="0" indent="-182880" algn="l" rtl="0">
              <a:lnSpc>
                <a:spcPct val="90000"/>
              </a:lnSpc>
              <a:spcBef>
                <a:spcPts val="0"/>
              </a:spcBef>
              <a:spcAft>
                <a:spcPts val="0"/>
              </a:spcAft>
              <a:buSzPts val="1700"/>
              <a:buChar char="▪"/>
            </a:pPr>
            <a:r>
              <a:rPr lang="en-US" dirty="0"/>
              <a:t>How to come up with a good question/problem?</a:t>
            </a:r>
            <a:endParaRPr dirty="0"/>
          </a:p>
          <a:p>
            <a:pPr marL="182880" lvl="0" indent="-74928" algn="l" rtl="0">
              <a:lnSpc>
                <a:spcPct val="90000"/>
              </a:lnSpc>
              <a:spcBef>
                <a:spcPts val="1200"/>
              </a:spcBef>
              <a:spcAft>
                <a:spcPts val="0"/>
              </a:spcAft>
              <a:buSzPts val="1700"/>
              <a:buNone/>
            </a:pPr>
            <a:endParaRPr dirty="0"/>
          </a:p>
          <a:p>
            <a:pPr marL="182880" lvl="0" indent="-182880" algn="l" rtl="0">
              <a:lnSpc>
                <a:spcPct val="90000"/>
              </a:lnSpc>
              <a:spcBef>
                <a:spcPts val="1200"/>
              </a:spcBef>
              <a:spcAft>
                <a:spcPts val="0"/>
              </a:spcAft>
              <a:buSzPts val="1700"/>
              <a:buChar char="▪"/>
            </a:pPr>
            <a:r>
              <a:rPr lang="en-US" dirty="0"/>
              <a:t>Ideally, it should be a question whose answer you are interested in</a:t>
            </a:r>
            <a:endParaRPr dirty="0"/>
          </a:p>
          <a:p>
            <a:pPr marL="182880" lvl="0" indent="-74928" algn="l" rtl="0">
              <a:lnSpc>
                <a:spcPct val="90000"/>
              </a:lnSpc>
              <a:spcBef>
                <a:spcPts val="1200"/>
              </a:spcBef>
              <a:spcAft>
                <a:spcPts val="0"/>
              </a:spcAft>
              <a:buSzPts val="1700"/>
              <a:buNone/>
            </a:pPr>
            <a:endParaRPr dirty="0"/>
          </a:p>
          <a:p>
            <a:pPr marL="182880" lvl="0" indent="-182880" algn="l" rtl="0">
              <a:lnSpc>
                <a:spcPct val="90000"/>
              </a:lnSpc>
              <a:spcBef>
                <a:spcPts val="1200"/>
              </a:spcBef>
              <a:spcAft>
                <a:spcPts val="0"/>
              </a:spcAft>
              <a:buSzPts val="1700"/>
              <a:buChar char="▪"/>
            </a:pPr>
            <a:r>
              <a:rPr lang="en-US" dirty="0"/>
              <a:t>There are questions all around us that could be answered with data</a:t>
            </a:r>
            <a:endParaRPr dirty="0"/>
          </a:p>
          <a:p>
            <a:pPr marL="182880" lvl="0" indent="-74928" algn="l" rtl="0">
              <a:lnSpc>
                <a:spcPct val="90000"/>
              </a:lnSpc>
              <a:spcBef>
                <a:spcPts val="1200"/>
              </a:spcBef>
              <a:spcAft>
                <a:spcPts val="0"/>
              </a:spcAft>
              <a:buSzPts val="1700"/>
              <a:buNone/>
            </a:pPr>
            <a:endParaRPr dirty="0"/>
          </a:p>
          <a:p>
            <a:pPr marL="182880" lvl="0" indent="-182880" algn="l" rtl="0">
              <a:lnSpc>
                <a:spcPct val="90000"/>
              </a:lnSpc>
              <a:spcBef>
                <a:spcPts val="1200"/>
              </a:spcBef>
              <a:spcAft>
                <a:spcPts val="0"/>
              </a:spcAft>
              <a:buSzPts val="1700"/>
              <a:buChar char="▪"/>
            </a:pPr>
            <a:r>
              <a:rPr lang="en-US" dirty="0"/>
              <a:t>For example, on NPR: Should Illinois increase the number of video gambling machines in the state? </a:t>
            </a:r>
          </a:p>
          <a:p>
            <a:pPr marL="548640" lvl="1" indent="-182880">
              <a:lnSpc>
                <a:spcPct val="90000"/>
              </a:lnSpc>
              <a:spcBef>
                <a:spcPts val="1200"/>
              </a:spcBef>
              <a:buSzPts val="1700"/>
              <a:buChar char="▪"/>
            </a:pPr>
            <a:r>
              <a:rPr lang="en-US" dirty="0" err="1"/>
              <a:t>pewresearch.org</a:t>
            </a:r>
            <a:r>
              <a:rPr lang="en-US" dirty="0"/>
              <a:t> website has a lot of studies and reports</a:t>
            </a:r>
            <a:endParaRPr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513"/>
        <p:cNvGrpSpPr/>
        <p:nvPr/>
      </p:nvGrpSpPr>
      <p:grpSpPr>
        <a:xfrm>
          <a:off x="0" y="0"/>
          <a:ext cx="0" cy="0"/>
          <a:chOff x="0" y="0"/>
          <a:chExt cx="0" cy="0"/>
        </a:xfrm>
      </p:grpSpPr>
      <p:pic>
        <p:nvPicPr>
          <p:cNvPr id="514" name="Google Shape;514;p43"/>
          <p:cNvPicPr preferRelativeResize="0"/>
          <p:nvPr/>
        </p:nvPicPr>
        <p:blipFill rotWithShape="1">
          <a:blip r:embed="rId3">
            <a:alphaModFix/>
          </a:blip>
          <a:srcRect/>
          <a:stretch/>
        </p:blipFill>
        <p:spPr>
          <a:xfrm>
            <a:off x="0" y="0"/>
            <a:ext cx="12192000" cy="7534824"/>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519"/>
        <p:cNvGrpSpPr/>
        <p:nvPr/>
      </p:nvGrpSpPr>
      <p:grpSpPr>
        <a:xfrm>
          <a:off x="0" y="0"/>
          <a:ext cx="0" cy="0"/>
          <a:chOff x="0" y="0"/>
          <a:chExt cx="0" cy="0"/>
        </a:xfrm>
      </p:grpSpPr>
      <p:pic>
        <p:nvPicPr>
          <p:cNvPr id="520" name="Google Shape;520;p44"/>
          <p:cNvPicPr preferRelativeResize="0"/>
          <p:nvPr/>
        </p:nvPicPr>
        <p:blipFill rotWithShape="1">
          <a:blip r:embed="rId3">
            <a:alphaModFix/>
          </a:blip>
          <a:srcRect/>
          <a:stretch/>
        </p:blipFill>
        <p:spPr>
          <a:xfrm>
            <a:off x="18186" y="-14748"/>
            <a:ext cx="13000947" cy="6872748"/>
          </a:xfrm>
          <a:prstGeom prst="rect">
            <a:avLst/>
          </a:prstGeom>
          <a:noFill/>
          <a:ln>
            <a:noFill/>
          </a:ln>
        </p:spPr>
      </p:pic>
      <p:sp>
        <p:nvSpPr>
          <p:cNvPr id="521" name="Google Shape;521;p44"/>
          <p:cNvSpPr/>
          <p:nvPr/>
        </p:nvSpPr>
        <p:spPr>
          <a:xfrm>
            <a:off x="1809142" y="6520871"/>
            <a:ext cx="11508652"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chemeClr val="lt1"/>
                </a:solidFill>
                <a:latin typeface="Rockwell"/>
                <a:ea typeface="Rockwell"/>
                <a:cs typeface="Rockwell"/>
                <a:sym typeface="Rockwell"/>
              </a:rPr>
              <a:t>Link: https://features.propublica.org/the-bad-bet/how-illinois-bet-on-video-gambling-and-lost/</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5"/>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 dirty="0"/>
              <a:t>Rest of </a:t>
            </a:r>
            <a:r>
              <a:rPr lang="en"/>
              <a:t>the lecture</a:t>
            </a:r>
            <a:endParaRPr dirty="0"/>
          </a:p>
        </p:txBody>
      </p:sp>
      <p:sp>
        <p:nvSpPr>
          <p:cNvPr id="131" name="Google Shape;131;p5"/>
          <p:cNvSpPr txBox="1">
            <a:spLocks noGrp="1"/>
          </p:cNvSpPr>
          <p:nvPr>
            <p:ph type="body" idx="1"/>
          </p:nvPr>
        </p:nvSpPr>
        <p:spPr>
          <a:xfrm>
            <a:off x="808768" y="1606663"/>
            <a:ext cx="5165852" cy="4050792"/>
          </a:xfrm>
          <a:prstGeom prst="rect">
            <a:avLst/>
          </a:prstGeom>
          <a:noFill/>
          <a:ln>
            <a:noFill/>
          </a:ln>
        </p:spPr>
        <p:txBody>
          <a:bodyPr spcFirstLastPara="1" wrap="square" lIns="91425" tIns="45700" rIns="91425" bIns="45700" anchor="t" anchorCtr="0">
            <a:normAutofit lnSpcReduction="10000"/>
          </a:bodyPr>
          <a:lstStyle/>
          <a:p>
            <a:pPr marL="182880" lvl="0" indent="-72770" algn="l" rtl="0">
              <a:lnSpc>
                <a:spcPct val="90000"/>
              </a:lnSpc>
              <a:spcBef>
                <a:spcPts val="0"/>
              </a:spcBef>
              <a:spcAft>
                <a:spcPts val="0"/>
              </a:spcAft>
              <a:buSzPts val="2040"/>
              <a:buNone/>
            </a:pPr>
            <a:endParaRPr sz="2400" dirty="0"/>
          </a:p>
          <a:p>
            <a:pPr marL="182880" indent="-182880">
              <a:lnSpc>
                <a:spcPct val="90000"/>
              </a:lnSpc>
              <a:spcBef>
                <a:spcPts val="1200"/>
              </a:spcBef>
              <a:buSzPts val="2040"/>
              <a:buFont typeface="Wingdings"/>
              <a:buChar char="▪"/>
            </a:pPr>
            <a:r>
              <a:rPr lang="en" sz="2400" dirty="0"/>
              <a:t>Introduce Pandas: </a:t>
            </a:r>
            <a:r>
              <a:rPr lang="en-US" sz="2400" b="0" i="0" u="sng" strike="noStrike" cap="none" dirty="0">
                <a:solidFill>
                  <a:schemeClr val="dk1"/>
                </a:solidFill>
                <a:latin typeface="Rockwell"/>
                <a:ea typeface="Rockwell"/>
                <a:cs typeface="Rockwell"/>
                <a:sym typeface="Rockwell"/>
                <a:hlinkClick r:id="rId3">
                  <a:extLst>
                    <a:ext uri="{A12FA001-AC4F-418D-AE19-62706E023703}">
                      <ahyp:hlinkClr xmlns:ahyp="http://schemas.microsoft.com/office/drawing/2018/hyperlinkcolor" val="tx"/>
                    </a:ext>
                  </a:extLst>
                </a:hlinkClick>
              </a:rPr>
              <a:t>https://pandas.pydata.org/</a:t>
            </a:r>
            <a:endParaRPr lang="en-US" sz="2400" b="0" i="0" u="none" strike="noStrike" cap="none" dirty="0">
              <a:solidFill>
                <a:schemeClr val="dk1"/>
              </a:solidFill>
              <a:latin typeface="Rockwell"/>
              <a:ea typeface="Rockwell"/>
              <a:cs typeface="Rockwell"/>
              <a:sym typeface="Rockwell"/>
            </a:endParaRPr>
          </a:p>
          <a:p>
            <a:pPr marL="182880" lvl="0" indent="-182880" algn="l" rtl="0">
              <a:lnSpc>
                <a:spcPct val="90000"/>
              </a:lnSpc>
              <a:spcBef>
                <a:spcPts val="1200"/>
              </a:spcBef>
              <a:spcAft>
                <a:spcPts val="0"/>
              </a:spcAft>
              <a:buSzPts val="2040"/>
              <a:buChar char="▪"/>
            </a:pPr>
            <a:endParaRPr dirty="0"/>
          </a:p>
          <a:p>
            <a:pPr marL="457200" lvl="1" indent="-200691" algn="l" rtl="0">
              <a:lnSpc>
                <a:spcPct val="90000"/>
              </a:lnSpc>
              <a:spcBef>
                <a:spcPts val="400"/>
              </a:spcBef>
              <a:spcAft>
                <a:spcPts val="0"/>
              </a:spcAft>
              <a:buSzPts val="1870"/>
              <a:buChar char="▪"/>
            </a:pPr>
            <a:r>
              <a:rPr lang="en" sz="2200" dirty="0"/>
              <a:t>Key data structures</a:t>
            </a:r>
            <a:endParaRPr dirty="0"/>
          </a:p>
          <a:p>
            <a:pPr marL="457200" lvl="1" indent="-200691" algn="l" rtl="0">
              <a:lnSpc>
                <a:spcPct val="90000"/>
              </a:lnSpc>
              <a:spcBef>
                <a:spcPts val="600"/>
              </a:spcBef>
              <a:spcAft>
                <a:spcPts val="0"/>
              </a:spcAft>
              <a:buSzPts val="1870"/>
              <a:buChar char="▪"/>
            </a:pPr>
            <a:r>
              <a:rPr lang="en" sz="2200" dirty="0"/>
              <a:t>Operations on the data structures, including aggregation operations</a:t>
            </a:r>
            <a:endParaRPr dirty="0"/>
          </a:p>
          <a:p>
            <a:pPr marL="182880" lvl="0" indent="-72770" algn="l" rtl="0">
              <a:lnSpc>
                <a:spcPct val="90000"/>
              </a:lnSpc>
              <a:spcBef>
                <a:spcPts val="1400"/>
              </a:spcBef>
              <a:spcAft>
                <a:spcPts val="0"/>
              </a:spcAft>
              <a:buSzPts val="2040"/>
              <a:buNone/>
            </a:pPr>
            <a:endParaRPr sz="2400" dirty="0"/>
          </a:p>
          <a:p>
            <a:pPr marL="182880" lvl="0" indent="-182880" algn="l" rtl="0">
              <a:lnSpc>
                <a:spcPct val="90000"/>
              </a:lnSpc>
              <a:spcBef>
                <a:spcPts val="1200"/>
              </a:spcBef>
              <a:spcAft>
                <a:spcPts val="0"/>
              </a:spcAft>
              <a:buSzPts val="2040"/>
              <a:buChar char="▪"/>
            </a:pPr>
            <a:r>
              <a:rPr lang="en" sz="2400" dirty="0"/>
              <a:t>Solve some very basic data science problems using pandas</a:t>
            </a:r>
            <a:endParaRPr dirty="0"/>
          </a:p>
          <a:p>
            <a:pPr marL="182880" lvl="0" indent="-91120" algn="l" rtl="0">
              <a:lnSpc>
                <a:spcPct val="90000"/>
              </a:lnSpc>
              <a:spcBef>
                <a:spcPts val="1200"/>
              </a:spcBef>
              <a:spcAft>
                <a:spcPts val="0"/>
              </a:spcAft>
              <a:buSzPts val="1700"/>
              <a:buNone/>
            </a:pPr>
            <a:endParaRPr dirty="0"/>
          </a:p>
          <a:p>
            <a:pPr marL="182880" lvl="0" indent="-91120" algn="l" rtl="0">
              <a:lnSpc>
                <a:spcPct val="90000"/>
              </a:lnSpc>
              <a:spcBef>
                <a:spcPts val="1200"/>
              </a:spcBef>
              <a:spcAft>
                <a:spcPts val="0"/>
              </a:spcAft>
              <a:buSzPts val="1700"/>
              <a:buNone/>
            </a:pPr>
            <a:endParaRPr dirty="0"/>
          </a:p>
        </p:txBody>
      </p:sp>
      <p:pic>
        <p:nvPicPr>
          <p:cNvPr id="133" name="Google Shape;133;p5"/>
          <p:cNvPicPr preferRelativeResize="0"/>
          <p:nvPr/>
        </p:nvPicPr>
        <p:blipFill rotWithShape="1">
          <a:blip r:embed="rId4">
            <a:alphaModFix/>
          </a:blip>
          <a:srcRect/>
          <a:stretch/>
        </p:blipFill>
        <p:spPr>
          <a:xfrm>
            <a:off x="5523806" y="2461100"/>
            <a:ext cx="5318149" cy="4308725"/>
          </a:xfrm>
          <a:prstGeom prst="rect">
            <a:avLst/>
          </a:prstGeom>
          <a:noFill/>
          <a:ln>
            <a:noFill/>
          </a:ln>
        </p:spPr>
      </p:pic>
      <p:sp>
        <p:nvSpPr>
          <p:cNvPr id="3" name="TextBox 2">
            <a:extLst>
              <a:ext uri="{FF2B5EF4-FFF2-40B4-BE49-F238E27FC236}">
                <a16:creationId xmlns:a16="http://schemas.microsoft.com/office/drawing/2014/main" id="{021CCB20-B89A-0AEF-639F-82A764717C1C}"/>
              </a:ext>
            </a:extLst>
          </p:cNvPr>
          <p:cNvSpPr txBox="1"/>
          <p:nvPr/>
        </p:nvSpPr>
        <p:spPr>
          <a:xfrm>
            <a:off x="6222124" y="391478"/>
            <a:ext cx="6096000" cy="369332"/>
          </a:xfrm>
          <a:prstGeom prst="rect">
            <a:avLst/>
          </a:prstGeom>
          <a:noFill/>
        </p:spPr>
        <p:txBody>
          <a:bodyPr wrap="square">
            <a:spAutoFit/>
          </a:bodyPr>
          <a:lstStyle/>
          <a:p>
            <a:r>
              <a:rPr lang="en" dirty="0"/>
              <a:t>DATA SCIENCE JOKE	</a:t>
            </a:r>
            <a:endParaRPr lang="en-US" dirty="0"/>
          </a:p>
        </p:txBody>
      </p:sp>
      <p:sp>
        <p:nvSpPr>
          <p:cNvPr id="4" name="Google Shape;140;g2f71f6606c8_0_0">
            <a:extLst>
              <a:ext uri="{FF2B5EF4-FFF2-40B4-BE49-F238E27FC236}">
                <a16:creationId xmlns:a16="http://schemas.microsoft.com/office/drawing/2014/main" id="{21A1FC06-026A-AF44-DA5F-C5EC11A8B6DB}"/>
              </a:ext>
            </a:extLst>
          </p:cNvPr>
          <p:cNvSpPr txBox="1">
            <a:spLocks/>
          </p:cNvSpPr>
          <p:nvPr/>
        </p:nvSpPr>
        <p:spPr>
          <a:xfrm>
            <a:off x="6096000" y="731419"/>
            <a:ext cx="5318149" cy="1717246"/>
          </a:xfrm>
          <a:prstGeom prst="rect">
            <a:avLst/>
          </a:prstGeom>
        </p:spPr>
        <p:txBody>
          <a:bodyPr spcFirstLastPara="1" vert="horz" wrap="square" lIns="91425" tIns="45700" rIns="91425" bIns="45700" anchor="t" anchorCtr="0">
            <a:normAutofit fontScale="85000" lnSpcReduction="20000"/>
          </a:bodyPr>
          <a:lst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a:lstStyle>
          <a:p>
            <a:pPr marL="0" indent="0" fontAlgn="auto">
              <a:spcBef>
                <a:spcPts val="1200"/>
              </a:spcBef>
              <a:spcAft>
                <a:spcPts val="0"/>
              </a:spcAft>
              <a:buFont typeface="Wingdings"/>
              <a:buNone/>
            </a:pPr>
            <a:r>
              <a:rPr lang="en-US" sz="3100" b="1" dirty="0"/>
              <a:t>Question:</a:t>
            </a:r>
            <a:r>
              <a:rPr lang="en-US" sz="3100" dirty="0"/>
              <a:t> What do data scientists and zoo keepers have in common? </a:t>
            </a:r>
            <a:endParaRPr lang="en-US" sz="3100" dirty="0">
              <a:solidFill>
                <a:schemeClr val="dk1"/>
              </a:solidFill>
              <a:latin typeface="Rockwell"/>
              <a:ea typeface="Rockwell"/>
              <a:cs typeface="Rockwell"/>
              <a:sym typeface="Rockwell"/>
            </a:endParaRPr>
          </a:p>
          <a:p>
            <a:pPr marL="0" indent="0" fontAlgn="auto">
              <a:lnSpc>
                <a:spcPct val="90000"/>
              </a:lnSpc>
              <a:spcBef>
                <a:spcPts val="1200"/>
              </a:spcBef>
              <a:spcAft>
                <a:spcPts val="0"/>
              </a:spcAft>
              <a:buFont typeface="Wingdings"/>
              <a:buNone/>
            </a:pPr>
            <a:r>
              <a:rPr lang="en-US" sz="3100" b="1" dirty="0">
                <a:solidFill>
                  <a:schemeClr val="dk1"/>
                </a:solidFill>
                <a:latin typeface="Rockwell"/>
                <a:ea typeface="Rockwell"/>
                <a:cs typeface="Rockwell"/>
                <a:sym typeface="Rockwell"/>
              </a:rPr>
              <a:t>Answer:</a:t>
            </a:r>
            <a:r>
              <a:rPr lang="en-US" sz="3100" dirty="0">
                <a:solidFill>
                  <a:schemeClr val="dk1"/>
                </a:solidFill>
                <a:latin typeface="Rockwell"/>
                <a:ea typeface="Rockwell"/>
                <a:cs typeface="Rockwell"/>
                <a:sym typeface="Rockwell"/>
              </a:rPr>
              <a:t> They both </a:t>
            </a:r>
            <a:r>
              <a:rPr lang="en-US" sz="3100" dirty="0">
                <a:solidFill>
                  <a:schemeClr val="dk1"/>
                </a:solidFill>
                <a:latin typeface="Courier New"/>
                <a:ea typeface="Courier New"/>
                <a:cs typeface="Courier New"/>
                <a:sym typeface="Courier New"/>
              </a:rPr>
              <a:t>import pandas</a:t>
            </a:r>
            <a:endParaRPr lang="en-US" dirty="0">
              <a:latin typeface="Courier New"/>
              <a:ea typeface="Courier New"/>
              <a:cs typeface="Courier New"/>
              <a:sym typeface="Courier New"/>
            </a:endParaRPr>
          </a:p>
          <a:p>
            <a:pPr marL="0" indent="0" fontAlgn="auto">
              <a:spcBef>
                <a:spcPts val="1200"/>
              </a:spcBef>
              <a:spcAft>
                <a:spcPts val="0"/>
              </a:spcAft>
              <a:buFont typeface="Wingdings"/>
              <a:buNone/>
            </a:pPr>
            <a:endParaRPr lang="en-US" sz="3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12"/>
          <p:cNvSpPr txBox="1">
            <a:spLocks noGrp="1"/>
          </p:cNvSpPr>
          <p:nvPr>
            <p:ph type="title"/>
          </p:nvPr>
        </p:nvSpPr>
        <p:spPr>
          <a:xfrm>
            <a:off x="903819" y="147038"/>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
              <a:t>RECTANGULAR DATA</a:t>
            </a:r>
            <a:endParaRPr/>
          </a:p>
        </p:txBody>
      </p:sp>
      <p:sp>
        <p:nvSpPr>
          <p:cNvPr id="147" name="Google Shape;147;p12"/>
          <p:cNvSpPr txBox="1">
            <a:spLocks noGrp="1"/>
          </p:cNvSpPr>
          <p:nvPr>
            <p:ph type="body" idx="1"/>
          </p:nvPr>
        </p:nvSpPr>
        <p:spPr>
          <a:xfrm>
            <a:off x="903820" y="1472601"/>
            <a:ext cx="7475906" cy="4641596"/>
          </a:xfrm>
          <a:prstGeom prst="rect">
            <a:avLst/>
          </a:prstGeom>
          <a:noFill/>
          <a:ln>
            <a:noFill/>
          </a:ln>
        </p:spPr>
        <p:txBody>
          <a:bodyPr spcFirstLastPara="1" wrap="square" lIns="91425" tIns="45700" rIns="91425" bIns="45700" anchor="t" anchorCtr="0">
            <a:normAutofit/>
          </a:bodyPr>
          <a:lstStyle/>
          <a:p>
            <a:pPr marL="14287" lvl="0" indent="0" algn="l" rtl="0">
              <a:lnSpc>
                <a:spcPct val="90000"/>
              </a:lnSpc>
              <a:spcBef>
                <a:spcPts val="0"/>
              </a:spcBef>
              <a:spcAft>
                <a:spcPts val="0"/>
              </a:spcAft>
              <a:buSzPts val="2040"/>
              <a:buNone/>
            </a:pPr>
            <a:r>
              <a:rPr lang="en" sz="2400" dirty="0"/>
              <a:t>We prefer rectangular data for data analysis (why?)</a:t>
            </a:r>
            <a:endParaRPr dirty="0"/>
          </a:p>
          <a:p>
            <a:pPr marL="471487" lvl="0" indent="-457200" algn="l" rtl="0">
              <a:lnSpc>
                <a:spcPct val="90000"/>
              </a:lnSpc>
              <a:spcBef>
                <a:spcPts val="1200"/>
              </a:spcBef>
              <a:spcAft>
                <a:spcPts val="0"/>
              </a:spcAft>
              <a:buSzPts val="2040"/>
              <a:buFont typeface="Noto Sans Symbols"/>
              <a:buChar char="▪"/>
            </a:pPr>
            <a:r>
              <a:rPr lang="en" sz="2400" dirty="0"/>
              <a:t>Regular structures are easy to manipulate and analyze</a:t>
            </a:r>
            <a:endParaRPr dirty="0"/>
          </a:p>
          <a:p>
            <a:pPr marL="471487" lvl="0" indent="-457200" algn="l" rtl="0">
              <a:lnSpc>
                <a:spcPct val="90000"/>
              </a:lnSpc>
              <a:spcBef>
                <a:spcPts val="1200"/>
              </a:spcBef>
              <a:spcAft>
                <a:spcPts val="0"/>
              </a:spcAft>
              <a:buSzPts val="2040"/>
              <a:buFont typeface="Noto Sans Symbols"/>
              <a:buChar char="▪"/>
            </a:pPr>
            <a:r>
              <a:rPr lang="en" sz="2400" dirty="0"/>
              <a:t>A big part of data cleaning is about </a:t>
            </a:r>
            <a:br>
              <a:rPr lang="en" sz="2400" dirty="0"/>
            </a:br>
            <a:r>
              <a:rPr lang="en" sz="2400" dirty="0"/>
              <a:t>transforming data to be more rectangular</a:t>
            </a:r>
            <a:endParaRPr dirty="0"/>
          </a:p>
          <a:p>
            <a:pPr marL="471487" lvl="0" indent="-457200" algn="l" rtl="0">
              <a:lnSpc>
                <a:spcPct val="90000"/>
              </a:lnSpc>
              <a:spcBef>
                <a:spcPts val="1200"/>
              </a:spcBef>
              <a:spcAft>
                <a:spcPts val="0"/>
              </a:spcAft>
              <a:buSzPts val="2040"/>
              <a:buFont typeface="Noto Sans Symbols"/>
              <a:buChar char="▪"/>
            </a:pPr>
            <a:r>
              <a:rPr lang="en" sz="2400" dirty="0"/>
              <a:t>Some rectangular data representations you may be familiar with</a:t>
            </a:r>
            <a:endParaRPr dirty="0"/>
          </a:p>
          <a:p>
            <a:pPr marL="745807" lvl="1" indent="-457200" algn="l" rtl="0">
              <a:lnSpc>
                <a:spcPct val="90000"/>
              </a:lnSpc>
              <a:spcBef>
                <a:spcPts val="1200"/>
              </a:spcBef>
              <a:spcAft>
                <a:spcPts val="0"/>
              </a:spcAft>
              <a:buSzPts val="1870"/>
              <a:buFont typeface="Noto Sans Symbols"/>
              <a:buChar char="▪"/>
            </a:pPr>
            <a:r>
              <a:rPr lang="en" sz="2200" dirty="0"/>
              <a:t>Tables in Excel</a:t>
            </a:r>
            <a:endParaRPr dirty="0"/>
          </a:p>
          <a:p>
            <a:pPr marL="745807" lvl="1" indent="-457200" algn="l" rtl="0">
              <a:lnSpc>
                <a:spcPct val="90000"/>
              </a:lnSpc>
              <a:spcBef>
                <a:spcPts val="1400"/>
              </a:spcBef>
              <a:spcAft>
                <a:spcPts val="0"/>
              </a:spcAft>
              <a:buSzPts val="1870"/>
              <a:buFont typeface="Noto Sans Symbols"/>
              <a:buChar char="▪"/>
            </a:pPr>
            <a:r>
              <a:rPr lang="en" sz="2200" dirty="0"/>
              <a:t>Relations in Databases</a:t>
            </a:r>
            <a:endParaRPr dirty="0"/>
          </a:p>
          <a:p>
            <a:pPr marL="745807" lvl="1" indent="-457200" algn="l" rtl="0">
              <a:lnSpc>
                <a:spcPct val="90000"/>
              </a:lnSpc>
              <a:spcBef>
                <a:spcPts val="1400"/>
              </a:spcBef>
              <a:spcAft>
                <a:spcPts val="0"/>
              </a:spcAft>
              <a:buSzPts val="1870"/>
              <a:buFont typeface="Noto Sans Symbols"/>
              <a:buChar char="▪"/>
            </a:pPr>
            <a:r>
              <a:rPr lang="en" sz="2200" dirty="0"/>
              <a:t>Matrices (</a:t>
            </a:r>
            <a:r>
              <a:rPr lang="en" sz="2200" dirty="0" err="1"/>
              <a:t>numpy.matrix</a:t>
            </a:r>
            <a:r>
              <a:rPr lang="en" sz="2200" dirty="0"/>
              <a:t>)</a:t>
            </a:r>
            <a:endParaRPr dirty="0"/>
          </a:p>
          <a:p>
            <a:pPr marL="471487" lvl="0" indent="-457200" algn="l" rtl="0">
              <a:lnSpc>
                <a:spcPct val="90000"/>
              </a:lnSpc>
              <a:spcBef>
                <a:spcPts val="1400"/>
              </a:spcBef>
              <a:spcAft>
                <a:spcPts val="0"/>
              </a:spcAft>
              <a:buSzPts val="2040"/>
              <a:buFont typeface="Noto Sans Symbols"/>
              <a:buChar char="▪"/>
            </a:pPr>
            <a:r>
              <a:rPr lang="en" sz="2400" dirty="0"/>
              <a:t>Next: </a:t>
            </a:r>
            <a:r>
              <a:rPr lang="en" sz="2400" dirty="0" err="1"/>
              <a:t>pandas.DataFrame</a:t>
            </a:r>
            <a:r>
              <a:rPr lang="en" sz="2400" dirty="0"/>
              <a:t> </a:t>
            </a:r>
            <a:endParaRPr dirty="0"/>
          </a:p>
          <a:p>
            <a:pPr marL="288607" lvl="1" indent="0" algn="l" rtl="0">
              <a:lnSpc>
                <a:spcPct val="90000"/>
              </a:lnSpc>
              <a:spcBef>
                <a:spcPts val="400"/>
              </a:spcBef>
              <a:spcAft>
                <a:spcPts val="0"/>
              </a:spcAft>
              <a:buSzPts val="1870"/>
              <a:buNone/>
            </a:pPr>
            <a:endParaRPr sz="2200" dirty="0"/>
          </a:p>
          <a:p>
            <a:pPr marL="0" lvl="0" indent="0" algn="l" rtl="0">
              <a:lnSpc>
                <a:spcPct val="90000"/>
              </a:lnSpc>
              <a:spcBef>
                <a:spcPts val="1400"/>
              </a:spcBef>
              <a:spcAft>
                <a:spcPts val="0"/>
              </a:spcAft>
              <a:buSzPts val="1530"/>
              <a:buNone/>
            </a:pPr>
            <a:endParaRPr sz="1800" dirty="0"/>
          </a:p>
        </p:txBody>
      </p:sp>
      <p:graphicFrame>
        <p:nvGraphicFramePr>
          <p:cNvPr id="148" name="Google Shape;148;p12"/>
          <p:cNvGraphicFramePr/>
          <p:nvPr>
            <p:extLst>
              <p:ext uri="{D42A27DB-BD31-4B8C-83A1-F6EECF244321}">
                <p14:modId xmlns:p14="http://schemas.microsoft.com/office/powerpoint/2010/main" val="905013127"/>
              </p:ext>
            </p:extLst>
          </p:nvPr>
        </p:nvGraphicFramePr>
        <p:xfrm>
          <a:off x="8830219" y="2431466"/>
          <a:ext cx="2589200" cy="2157150"/>
        </p:xfrm>
        <a:graphic>
          <a:graphicData uri="http://schemas.openxmlformats.org/drawingml/2006/table">
            <a:tbl>
              <a:tblPr firstRow="1" firstCol="1">
                <a:noFill/>
              </a:tblPr>
              <a:tblGrid>
                <a:gridCol w="323650">
                  <a:extLst>
                    <a:ext uri="{9D8B030D-6E8A-4147-A177-3AD203B41FA5}">
                      <a16:colId xmlns:a16="http://schemas.microsoft.com/office/drawing/2014/main" val="20000"/>
                    </a:ext>
                  </a:extLst>
                </a:gridCol>
                <a:gridCol w="323650">
                  <a:extLst>
                    <a:ext uri="{9D8B030D-6E8A-4147-A177-3AD203B41FA5}">
                      <a16:colId xmlns:a16="http://schemas.microsoft.com/office/drawing/2014/main" val="20001"/>
                    </a:ext>
                  </a:extLst>
                </a:gridCol>
                <a:gridCol w="323650">
                  <a:extLst>
                    <a:ext uri="{9D8B030D-6E8A-4147-A177-3AD203B41FA5}">
                      <a16:colId xmlns:a16="http://schemas.microsoft.com/office/drawing/2014/main" val="20002"/>
                    </a:ext>
                  </a:extLst>
                </a:gridCol>
                <a:gridCol w="323650">
                  <a:extLst>
                    <a:ext uri="{9D8B030D-6E8A-4147-A177-3AD203B41FA5}">
                      <a16:colId xmlns:a16="http://schemas.microsoft.com/office/drawing/2014/main" val="20003"/>
                    </a:ext>
                  </a:extLst>
                </a:gridCol>
                <a:gridCol w="323650">
                  <a:extLst>
                    <a:ext uri="{9D8B030D-6E8A-4147-A177-3AD203B41FA5}">
                      <a16:colId xmlns:a16="http://schemas.microsoft.com/office/drawing/2014/main" val="20004"/>
                    </a:ext>
                  </a:extLst>
                </a:gridCol>
                <a:gridCol w="323650">
                  <a:extLst>
                    <a:ext uri="{9D8B030D-6E8A-4147-A177-3AD203B41FA5}">
                      <a16:colId xmlns:a16="http://schemas.microsoft.com/office/drawing/2014/main" val="20005"/>
                    </a:ext>
                  </a:extLst>
                </a:gridCol>
                <a:gridCol w="323650">
                  <a:extLst>
                    <a:ext uri="{9D8B030D-6E8A-4147-A177-3AD203B41FA5}">
                      <a16:colId xmlns:a16="http://schemas.microsoft.com/office/drawing/2014/main" val="20006"/>
                    </a:ext>
                  </a:extLst>
                </a:gridCol>
                <a:gridCol w="323650">
                  <a:extLst>
                    <a:ext uri="{9D8B030D-6E8A-4147-A177-3AD203B41FA5}">
                      <a16:colId xmlns:a16="http://schemas.microsoft.com/office/drawing/2014/main" val="20007"/>
                    </a:ext>
                  </a:extLst>
                </a:gridCol>
              </a:tblGrid>
              <a:tr h="359525">
                <a:tc>
                  <a:txBody>
                    <a:bodyPr/>
                    <a:lstStyle/>
                    <a:p>
                      <a:pPr marL="0" marR="0" lvl="0" indent="0" algn="l" rtl="0">
                        <a:lnSpc>
                          <a:spcPct val="100000"/>
                        </a:lnSpc>
                        <a:spcBef>
                          <a:spcPts val="0"/>
                        </a:spcBef>
                        <a:spcAft>
                          <a:spcPts val="0"/>
                        </a:spcAft>
                        <a:buClr>
                          <a:srgbClr val="000000"/>
                        </a:buClr>
                        <a:buSzPts val="200"/>
                        <a:buFont typeface="Arial"/>
                        <a:buNone/>
                      </a:pPr>
                      <a:endParaRPr sz="200" b="0" i="0" u="none" strike="noStrike" cap="none">
                        <a:latin typeface="Helvetica Neue"/>
                        <a:ea typeface="Helvetica Neue"/>
                        <a:cs typeface="Helvetica Neue"/>
                        <a:sym typeface="Helvetica Neue"/>
                      </a:endParaRPr>
                    </a:p>
                  </a:txBody>
                  <a:tcPr marL="142100" marR="142100" marT="71050" marB="71050">
                    <a:lnL w="12700" cap="flat" cmpd="sng">
                      <a:solidFill>
                        <a:schemeClr val="dk1"/>
                      </a:solidFill>
                      <a:prstDash val="solid"/>
                      <a:round/>
                      <a:headEnd type="none" w="sm" len="sm"/>
                      <a:tailEnd type="none" w="sm" len="sm"/>
                    </a:lnL>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200"/>
                        <a:buFont typeface="Arial"/>
                        <a:buNone/>
                      </a:pPr>
                      <a:endParaRPr sz="200" b="0" i="0" u="none" strike="noStrike" cap="none">
                        <a:latin typeface="Helvetica Neue"/>
                        <a:ea typeface="Helvetica Neue"/>
                        <a:cs typeface="Helvetica Neue"/>
                        <a:sym typeface="Helvetica Neue"/>
                      </a:endParaRPr>
                    </a:p>
                  </a:txBody>
                  <a:tcPr marL="142100" marR="142100" marT="71050" marB="71050">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200"/>
                        <a:buFont typeface="Arial"/>
                        <a:buNone/>
                      </a:pPr>
                      <a:endParaRPr sz="200" b="0" i="0" u="none" strike="noStrike" cap="none">
                        <a:latin typeface="Helvetica Neue"/>
                        <a:ea typeface="Helvetica Neue"/>
                        <a:cs typeface="Helvetica Neue"/>
                        <a:sym typeface="Helvetica Neue"/>
                      </a:endParaRPr>
                    </a:p>
                  </a:txBody>
                  <a:tcPr marL="142100" marR="142100" marT="71050" marB="71050">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200"/>
                        <a:buFont typeface="Arial"/>
                        <a:buNone/>
                      </a:pPr>
                      <a:endParaRPr sz="200" b="0" i="0" u="none" strike="noStrike" cap="none">
                        <a:latin typeface="Helvetica Neue"/>
                        <a:ea typeface="Helvetica Neue"/>
                        <a:cs typeface="Helvetica Neue"/>
                        <a:sym typeface="Helvetica Neue"/>
                      </a:endParaRPr>
                    </a:p>
                  </a:txBody>
                  <a:tcPr marL="142100" marR="142100" marT="71050" marB="71050">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200"/>
                        <a:buFont typeface="Arial"/>
                        <a:buNone/>
                      </a:pPr>
                      <a:endParaRPr sz="200" b="0" i="0" u="none" strike="noStrike" cap="none">
                        <a:latin typeface="Helvetica Neue"/>
                        <a:ea typeface="Helvetica Neue"/>
                        <a:cs typeface="Helvetica Neue"/>
                        <a:sym typeface="Helvetica Neue"/>
                      </a:endParaRPr>
                    </a:p>
                  </a:txBody>
                  <a:tcPr marL="142100" marR="142100" marT="71050" marB="71050">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200"/>
                        <a:buFont typeface="Arial"/>
                        <a:buNone/>
                      </a:pPr>
                      <a:endParaRPr sz="200" b="0" i="0" u="none" strike="noStrike" cap="none">
                        <a:latin typeface="Helvetica Neue"/>
                        <a:ea typeface="Helvetica Neue"/>
                        <a:cs typeface="Helvetica Neue"/>
                        <a:sym typeface="Helvetica Neue"/>
                      </a:endParaRPr>
                    </a:p>
                  </a:txBody>
                  <a:tcPr marL="142100" marR="142100" marT="71050" marB="71050">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200"/>
                        <a:buFont typeface="Arial"/>
                        <a:buNone/>
                      </a:pPr>
                      <a:endParaRPr sz="200" b="0" i="0" u="none" strike="noStrike" cap="none">
                        <a:latin typeface="Helvetica Neue"/>
                        <a:ea typeface="Helvetica Neue"/>
                        <a:cs typeface="Helvetica Neue"/>
                        <a:sym typeface="Helvetica Neue"/>
                      </a:endParaRPr>
                    </a:p>
                  </a:txBody>
                  <a:tcPr marL="142100" marR="142100" marT="71050" marB="71050">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200"/>
                        <a:buFont typeface="Arial"/>
                        <a:buNone/>
                      </a:pPr>
                      <a:endParaRPr sz="200" b="0" i="0" u="none" strike="noStrike" cap="none">
                        <a:latin typeface="Helvetica Neue"/>
                        <a:ea typeface="Helvetica Neue"/>
                        <a:cs typeface="Helvetica Neue"/>
                        <a:sym typeface="Helvetica Neue"/>
                      </a:endParaRPr>
                    </a:p>
                  </a:txBody>
                  <a:tcPr marL="142100" marR="142100" marT="71050" marB="71050">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tcPr>
                </a:tc>
                <a:extLst>
                  <a:ext uri="{0D108BD9-81ED-4DB2-BD59-A6C34878D82A}">
                    <a16:rowId xmlns:a16="http://schemas.microsoft.com/office/drawing/2014/main" val="10000"/>
                  </a:ext>
                </a:extLst>
              </a:tr>
              <a:tr h="359525">
                <a:tc>
                  <a:txBody>
                    <a:bodyPr/>
                    <a:lstStyle/>
                    <a:p>
                      <a:pPr marL="0" marR="0" lvl="0" indent="0" algn="l" rtl="0">
                        <a:lnSpc>
                          <a:spcPct val="100000"/>
                        </a:lnSpc>
                        <a:spcBef>
                          <a:spcPts val="0"/>
                        </a:spcBef>
                        <a:spcAft>
                          <a:spcPts val="0"/>
                        </a:spcAft>
                        <a:buClr>
                          <a:srgbClr val="000000"/>
                        </a:buClr>
                        <a:buSzPts val="200"/>
                        <a:buFont typeface="Arial"/>
                        <a:buNone/>
                      </a:pPr>
                      <a:endParaRPr sz="200" b="0" i="0" u="none" strike="noStrike" cap="none">
                        <a:latin typeface="Helvetica Neue"/>
                        <a:ea typeface="Helvetica Neue"/>
                        <a:cs typeface="Helvetica Neue"/>
                        <a:sym typeface="Helvetica Neue"/>
                      </a:endParaRPr>
                    </a:p>
                  </a:txBody>
                  <a:tcPr marL="142100" marR="142100" marT="71050" marB="71050">
                    <a:lnL w="12700" cap="flat" cmpd="sng">
                      <a:solidFill>
                        <a:schemeClr val="dk1"/>
                      </a:solidFill>
                      <a:prstDash val="solid"/>
                      <a:round/>
                      <a:headEnd type="none" w="sm" len="sm"/>
                      <a:tailEnd type="none" w="sm" len="sm"/>
                    </a:lnL>
                  </a:tcPr>
                </a:tc>
                <a:tc>
                  <a:txBody>
                    <a:bodyPr/>
                    <a:lstStyle/>
                    <a:p>
                      <a:pPr marL="0" marR="0" lvl="0" indent="0" algn="l" rtl="0">
                        <a:lnSpc>
                          <a:spcPct val="100000"/>
                        </a:lnSpc>
                        <a:spcBef>
                          <a:spcPts val="0"/>
                        </a:spcBef>
                        <a:spcAft>
                          <a:spcPts val="0"/>
                        </a:spcAft>
                        <a:buClr>
                          <a:srgbClr val="000000"/>
                        </a:buClr>
                        <a:buSzPts val="200"/>
                        <a:buFont typeface="Arial"/>
                        <a:buNone/>
                      </a:pPr>
                      <a:endParaRPr sz="200" b="0" i="0" u="none" strike="noStrike" cap="none">
                        <a:latin typeface="Helvetica Neue"/>
                        <a:ea typeface="Helvetica Neue"/>
                        <a:cs typeface="Helvetica Neue"/>
                        <a:sym typeface="Helvetica Neue"/>
                      </a:endParaRPr>
                    </a:p>
                  </a:txBody>
                  <a:tcPr marL="142100" marR="142100" marT="71050" marB="71050"/>
                </a:tc>
                <a:tc>
                  <a:txBody>
                    <a:bodyPr/>
                    <a:lstStyle/>
                    <a:p>
                      <a:pPr marL="0" marR="0" lvl="0" indent="0" algn="l" rtl="0">
                        <a:lnSpc>
                          <a:spcPct val="100000"/>
                        </a:lnSpc>
                        <a:spcBef>
                          <a:spcPts val="0"/>
                        </a:spcBef>
                        <a:spcAft>
                          <a:spcPts val="0"/>
                        </a:spcAft>
                        <a:buClr>
                          <a:srgbClr val="000000"/>
                        </a:buClr>
                        <a:buSzPts val="200"/>
                        <a:buFont typeface="Arial"/>
                        <a:buNone/>
                      </a:pPr>
                      <a:endParaRPr sz="200" b="0" i="0" u="none" strike="noStrike" cap="none">
                        <a:latin typeface="Helvetica Neue"/>
                        <a:ea typeface="Helvetica Neue"/>
                        <a:cs typeface="Helvetica Neue"/>
                        <a:sym typeface="Helvetica Neue"/>
                      </a:endParaRPr>
                    </a:p>
                  </a:txBody>
                  <a:tcPr marL="142100" marR="142100" marT="71050" marB="71050"/>
                </a:tc>
                <a:tc>
                  <a:txBody>
                    <a:bodyPr/>
                    <a:lstStyle/>
                    <a:p>
                      <a:pPr marL="0" marR="0" lvl="0" indent="0" algn="l" rtl="0">
                        <a:lnSpc>
                          <a:spcPct val="100000"/>
                        </a:lnSpc>
                        <a:spcBef>
                          <a:spcPts val="0"/>
                        </a:spcBef>
                        <a:spcAft>
                          <a:spcPts val="0"/>
                        </a:spcAft>
                        <a:buClr>
                          <a:srgbClr val="000000"/>
                        </a:buClr>
                        <a:buSzPts val="200"/>
                        <a:buFont typeface="Arial"/>
                        <a:buNone/>
                      </a:pPr>
                      <a:endParaRPr sz="200" b="0" i="0" u="none" strike="noStrike" cap="none">
                        <a:latin typeface="Helvetica Neue"/>
                        <a:ea typeface="Helvetica Neue"/>
                        <a:cs typeface="Helvetica Neue"/>
                        <a:sym typeface="Helvetica Neue"/>
                      </a:endParaRPr>
                    </a:p>
                  </a:txBody>
                  <a:tcPr marL="142100" marR="142100" marT="71050" marB="71050"/>
                </a:tc>
                <a:tc>
                  <a:txBody>
                    <a:bodyPr/>
                    <a:lstStyle/>
                    <a:p>
                      <a:pPr marL="0" marR="0" lvl="0" indent="0" algn="l" rtl="0">
                        <a:lnSpc>
                          <a:spcPct val="100000"/>
                        </a:lnSpc>
                        <a:spcBef>
                          <a:spcPts val="0"/>
                        </a:spcBef>
                        <a:spcAft>
                          <a:spcPts val="0"/>
                        </a:spcAft>
                        <a:buClr>
                          <a:srgbClr val="000000"/>
                        </a:buClr>
                        <a:buSzPts val="200"/>
                        <a:buFont typeface="Arial"/>
                        <a:buNone/>
                      </a:pPr>
                      <a:endParaRPr sz="200" b="0" i="0" u="none" strike="noStrike" cap="none">
                        <a:latin typeface="Helvetica Neue"/>
                        <a:ea typeface="Helvetica Neue"/>
                        <a:cs typeface="Helvetica Neue"/>
                        <a:sym typeface="Helvetica Neue"/>
                      </a:endParaRPr>
                    </a:p>
                  </a:txBody>
                  <a:tcPr marL="142100" marR="142100" marT="71050" marB="71050"/>
                </a:tc>
                <a:tc>
                  <a:txBody>
                    <a:bodyPr/>
                    <a:lstStyle/>
                    <a:p>
                      <a:pPr marL="0" marR="0" lvl="0" indent="0" algn="l" rtl="0">
                        <a:lnSpc>
                          <a:spcPct val="100000"/>
                        </a:lnSpc>
                        <a:spcBef>
                          <a:spcPts val="0"/>
                        </a:spcBef>
                        <a:spcAft>
                          <a:spcPts val="0"/>
                        </a:spcAft>
                        <a:buClr>
                          <a:srgbClr val="000000"/>
                        </a:buClr>
                        <a:buSzPts val="200"/>
                        <a:buFont typeface="Arial"/>
                        <a:buNone/>
                      </a:pPr>
                      <a:endParaRPr sz="200" b="0" i="0" u="none" strike="noStrike" cap="none">
                        <a:latin typeface="Helvetica Neue"/>
                        <a:ea typeface="Helvetica Neue"/>
                        <a:cs typeface="Helvetica Neue"/>
                        <a:sym typeface="Helvetica Neue"/>
                      </a:endParaRPr>
                    </a:p>
                  </a:txBody>
                  <a:tcPr marL="142100" marR="142100" marT="71050" marB="71050"/>
                </a:tc>
                <a:tc>
                  <a:txBody>
                    <a:bodyPr/>
                    <a:lstStyle/>
                    <a:p>
                      <a:pPr marL="0" marR="0" lvl="0" indent="0" algn="l" rtl="0">
                        <a:lnSpc>
                          <a:spcPct val="100000"/>
                        </a:lnSpc>
                        <a:spcBef>
                          <a:spcPts val="0"/>
                        </a:spcBef>
                        <a:spcAft>
                          <a:spcPts val="0"/>
                        </a:spcAft>
                        <a:buClr>
                          <a:srgbClr val="000000"/>
                        </a:buClr>
                        <a:buSzPts val="200"/>
                        <a:buFont typeface="Arial"/>
                        <a:buNone/>
                      </a:pPr>
                      <a:endParaRPr sz="200" b="0" i="0" u="none" strike="noStrike" cap="none">
                        <a:latin typeface="Helvetica Neue"/>
                        <a:ea typeface="Helvetica Neue"/>
                        <a:cs typeface="Helvetica Neue"/>
                        <a:sym typeface="Helvetica Neue"/>
                      </a:endParaRPr>
                    </a:p>
                  </a:txBody>
                  <a:tcPr marL="142100" marR="142100" marT="71050" marB="71050"/>
                </a:tc>
                <a:tc>
                  <a:txBody>
                    <a:bodyPr/>
                    <a:lstStyle/>
                    <a:p>
                      <a:pPr marL="0" marR="0" lvl="0" indent="0" algn="l" rtl="0">
                        <a:lnSpc>
                          <a:spcPct val="100000"/>
                        </a:lnSpc>
                        <a:spcBef>
                          <a:spcPts val="0"/>
                        </a:spcBef>
                        <a:spcAft>
                          <a:spcPts val="0"/>
                        </a:spcAft>
                        <a:buClr>
                          <a:srgbClr val="000000"/>
                        </a:buClr>
                        <a:buSzPts val="200"/>
                        <a:buFont typeface="Arial"/>
                        <a:buNone/>
                      </a:pPr>
                      <a:endParaRPr sz="200" b="0" i="0" u="none" strike="noStrike" cap="none" dirty="0">
                        <a:latin typeface="Helvetica Neue"/>
                        <a:ea typeface="Helvetica Neue"/>
                        <a:cs typeface="Helvetica Neue"/>
                        <a:sym typeface="Helvetica Neue"/>
                      </a:endParaRPr>
                    </a:p>
                  </a:txBody>
                  <a:tcPr marL="142100" marR="142100" marT="71050" marB="71050">
                    <a:lnR w="12700" cap="flat" cmpd="sng">
                      <a:solidFill>
                        <a:schemeClr val="dk1"/>
                      </a:solidFill>
                      <a:prstDash val="solid"/>
                      <a:round/>
                      <a:headEnd type="none" w="sm" len="sm"/>
                      <a:tailEnd type="none" w="sm" len="sm"/>
                    </a:lnR>
                  </a:tcPr>
                </a:tc>
                <a:extLst>
                  <a:ext uri="{0D108BD9-81ED-4DB2-BD59-A6C34878D82A}">
                    <a16:rowId xmlns:a16="http://schemas.microsoft.com/office/drawing/2014/main" val="10001"/>
                  </a:ext>
                </a:extLst>
              </a:tr>
              <a:tr h="359525">
                <a:tc>
                  <a:txBody>
                    <a:bodyPr/>
                    <a:lstStyle/>
                    <a:p>
                      <a:pPr marL="0" marR="0" lvl="0" indent="0" algn="l" rtl="0">
                        <a:lnSpc>
                          <a:spcPct val="100000"/>
                        </a:lnSpc>
                        <a:spcBef>
                          <a:spcPts val="0"/>
                        </a:spcBef>
                        <a:spcAft>
                          <a:spcPts val="0"/>
                        </a:spcAft>
                        <a:buClr>
                          <a:srgbClr val="000000"/>
                        </a:buClr>
                        <a:buSzPts val="200"/>
                        <a:buFont typeface="Arial"/>
                        <a:buNone/>
                      </a:pPr>
                      <a:endParaRPr sz="200" b="0" i="0" u="none" strike="noStrike" cap="none">
                        <a:latin typeface="Helvetica Neue"/>
                        <a:ea typeface="Helvetica Neue"/>
                        <a:cs typeface="Helvetica Neue"/>
                        <a:sym typeface="Helvetica Neue"/>
                      </a:endParaRPr>
                    </a:p>
                  </a:txBody>
                  <a:tcPr marL="142100" marR="142100" marT="71050" marB="71050">
                    <a:lnL w="12700" cap="flat" cmpd="sng">
                      <a:solidFill>
                        <a:schemeClr val="dk1"/>
                      </a:solidFill>
                      <a:prstDash val="solid"/>
                      <a:round/>
                      <a:headEnd type="none" w="sm" len="sm"/>
                      <a:tailEnd type="none" w="sm" len="sm"/>
                    </a:lnL>
                  </a:tcPr>
                </a:tc>
                <a:tc>
                  <a:txBody>
                    <a:bodyPr/>
                    <a:lstStyle/>
                    <a:p>
                      <a:pPr marL="0" marR="0" lvl="0" indent="0" algn="l" rtl="0">
                        <a:lnSpc>
                          <a:spcPct val="100000"/>
                        </a:lnSpc>
                        <a:spcBef>
                          <a:spcPts val="0"/>
                        </a:spcBef>
                        <a:spcAft>
                          <a:spcPts val="0"/>
                        </a:spcAft>
                        <a:buClr>
                          <a:srgbClr val="000000"/>
                        </a:buClr>
                        <a:buSzPts val="200"/>
                        <a:buFont typeface="Arial"/>
                        <a:buNone/>
                      </a:pPr>
                      <a:endParaRPr sz="200" b="0" i="0" u="none" strike="noStrike" cap="none">
                        <a:latin typeface="Helvetica Neue"/>
                        <a:ea typeface="Helvetica Neue"/>
                        <a:cs typeface="Helvetica Neue"/>
                        <a:sym typeface="Helvetica Neue"/>
                      </a:endParaRPr>
                    </a:p>
                  </a:txBody>
                  <a:tcPr marL="142100" marR="142100" marT="71050" marB="71050"/>
                </a:tc>
                <a:tc>
                  <a:txBody>
                    <a:bodyPr/>
                    <a:lstStyle/>
                    <a:p>
                      <a:pPr marL="0" marR="0" lvl="0" indent="0" algn="l" rtl="0">
                        <a:lnSpc>
                          <a:spcPct val="100000"/>
                        </a:lnSpc>
                        <a:spcBef>
                          <a:spcPts val="0"/>
                        </a:spcBef>
                        <a:spcAft>
                          <a:spcPts val="0"/>
                        </a:spcAft>
                        <a:buClr>
                          <a:srgbClr val="000000"/>
                        </a:buClr>
                        <a:buSzPts val="200"/>
                        <a:buFont typeface="Arial"/>
                        <a:buNone/>
                      </a:pPr>
                      <a:endParaRPr sz="200" b="0" i="0" u="none" strike="noStrike" cap="none">
                        <a:latin typeface="Helvetica Neue"/>
                        <a:ea typeface="Helvetica Neue"/>
                        <a:cs typeface="Helvetica Neue"/>
                        <a:sym typeface="Helvetica Neue"/>
                      </a:endParaRPr>
                    </a:p>
                  </a:txBody>
                  <a:tcPr marL="142100" marR="142100" marT="71050" marB="71050"/>
                </a:tc>
                <a:tc>
                  <a:txBody>
                    <a:bodyPr/>
                    <a:lstStyle/>
                    <a:p>
                      <a:pPr marL="0" marR="0" lvl="0" indent="0" algn="l" rtl="0">
                        <a:lnSpc>
                          <a:spcPct val="100000"/>
                        </a:lnSpc>
                        <a:spcBef>
                          <a:spcPts val="0"/>
                        </a:spcBef>
                        <a:spcAft>
                          <a:spcPts val="0"/>
                        </a:spcAft>
                        <a:buClr>
                          <a:srgbClr val="000000"/>
                        </a:buClr>
                        <a:buSzPts val="200"/>
                        <a:buFont typeface="Arial"/>
                        <a:buNone/>
                      </a:pPr>
                      <a:endParaRPr sz="200" b="0" i="0" u="none" strike="noStrike" cap="none">
                        <a:latin typeface="Helvetica Neue"/>
                        <a:ea typeface="Helvetica Neue"/>
                        <a:cs typeface="Helvetica Neue"/>
                        <a:sym typeface="Helvetica Neue"/>
                      </a:endParaRPr>
                    </a:p>
                  </a:txBody>
                  <a:tcPr marL="142100" marR="142100" marT="71050" marB="71050"/>
                </a:tc>
                <a:tc>
                  <a:txBody>
                    <a:bodyPr/>
                    <a:lstStyle/>
                    <a:p>
                      <a:pPr marL="0" marR="0" lvl="0" indent="0" algn="l" rtl="0">
                        <a:lnSpc>
                          <a:spcPct val="100000"/>
                        </a:lnSpc>
                        <a:spcBef>
                          <a:spcPts val="0"/>
                        </a:spcBef>
                        <a:spcAft>
                          <a:spcPts val="0"/>
                        </a:spcAft>
                        <a:buClr>
                          <a:srgbClr val="000000"/>
                        </a:buClr>
                        <a:buSzPts val="200"/>
                        <a:buFont typeface="Arial"/>
                        <a:buNone/>
                      </a:pPr>
                      <a:endParaRPr sz="200" b="0" i="0" u="none" strike="noStrike" cap="none">
                        <a:latin typeface="Helvetica Neue"/>
                        <a:ea typeface="Helvetica Neue"/>
                        <a:cs typeface="Helvetica Neue"/>
                        <a:sym typeface="Helvetica Neue"/>
                      </a:endParaRPr>
                    </a:p>
                  </a:txBody>
                  <a:tcPr marL="142100" marR="142100" marT="71050" marB="71050"/>
                </a:tc>
                <a:tc>
                  <a:txBody>
                    <a:bodyPr/>
                    <a:lstStyle/>
                    <a:p>
                      <a:pPr marL="0" marR="0" lvl="0" indent="0" algn="l" rtl="0">
                        <a:lnSpc>
                          <a:spcPct val="100000"/>
                        </a:lnSpc>
                        <a:spcBef>
                          <a:spcPts val="0"/>
                        </a:spcBef>
                        <a:spcAft>
                          <a:spcPts val="0"/>
                        </a:spcAft>
                        <a:buClr>
                          <a:srgbClr val="000000"/>
                        </a:buClr>
                        <a:buSzPts val="200"/>
                        <a:buFont typeface="Arial"/>
                        <a:buNone/>
                      </a:pPr>
                      <a:endParaRPr sz="200" b="0" i="0" u="none" strike="noStrike" cap="none">
                        <a:latin typeface="Helvetica Neue"/>
                        <a:ea typeface="Helvetica Neue"/>
                        <a:cs typeface="Helvetica Neue"/>
                        <a:sym typeface="Helvetica Neue"/>
                      </a:endParaRPr>
                    </a:p>
                  </a:txBody>
                  <a:tcPr marL="142100" marR="142100" marT="71050" marB="71050"/>
                </a:tc>
                <a:tc>
                  <a:txBody>
                    <a:bodyPr/>
                    <a:lstStyle/>
                    <a:p>
                      <a:pPr marL="0" marR="0" lvl="0" indent="0" algn="l" rtl="0">
                        <a:lnSpc>
                          <a:spcPct val="100000"/>
                        </a:lnSpc>
                        <a:spcBef>
                          <a:spcPts val="0"/>
                        </a:spcBef>
                        <a:spcAft>
                          <a:spcPts val="0"/>
                        </a:spcAft>
                        <a:buClr>
                          <a:srgbClr val="000000"/>
                        </a:buClr>
                        <a:buSzPts val="200"/>
                        <a:buFont typeface="Arial"/>
                        <a:buNone/>
                      </a:pPr>
                      <a:endParaRPr sz="200" b="0" i="0" u="none" strike="noStrike" cap="none">
                        <a:latin typeface="Helvetica Neue"/>
                        <a:ea typeface="Helvetica Neue"/>
                        <a:cs typeface="Helvetica Neue"/>
                        <a:sym typeface="Helvetica Neue"/>
                      </a:endParaRPr>
                    </a:p>
                  </a:txBody>
                  <a:tcPr marL="142100" marR="142100" marT="71050" marB="71050"/>
                </a:tc>
                <a:tc>
                  <a:txBody>
                    <a:bodyPr/>
                    <a:lstStyle/>
                    <a:p>
                      <a:pPr marL="0" marR="0" lvl="0" indent="0" algn="l" rtl="0">
                        <a:lnSpc>
                          <a:spcPct val="100000"/>
                        </a:lnSpc>
                        <a:spcBef>
                          <a:spcPts val="0"/>
                        </a:spcBef>
                        <a:spcAft>
                          <a:spcPts val="0"/>
                        </a:spcAft>
                        <a:buClr>
                          <a:srgbClr val="000000"/>
                        </a:buClr>
                        <a:buSzPts val="200"/>
                        <a:buFont typeface="Arial"/>
                        <a:buNone/>
                      </a:pPr>
                      <a:endParaRPr sz="200" b="0" i="0" u="none" strike="noStrike" cap="none">
                        <a:latin typeface="Helvetica Neue"/>
                        <a:ea typeface="Helvetica Neue"/>
                        <a:cs typeface="Helvetica Neue"/>
                        <a:sym typeface="Helvetica Neue"/>
                      </a:endParaRPr>
                    </a:p>
                  </a:txBody>
                  <a:tcPr marL="142100" marR="142100" marT="71050" marB="71050">
                    <a:lnR w="12700" cap="flat" cmpd="sng">
                      <a:solidFill>
                        <a:schemeClr val="dk1"/>
                      </a:solidFill>
                      <a:prstDash val="solid"/>
                      <a:round/>
                      <a:headEnd type="none" w="sm" len="sm"/>
                      <a:tailEnd type="none" w="sm" len="sm"/>
                    </a:lnR>
                  </a:tcPr>
                </a:tc>
                <a:extLst>
                  <a:ext uri="{0D108BD9-81ED-4DB2-BD59-A6C34878D82A}">
                    <a16:rowId xmlns:a16="http://schemas.microsoft.com/office/drawing/2014/main" val="10002"/>
                  </a:ext>
                </a:extLst>
              </a:tr>
              <a:tr h="359525">
                <a:tc>
                  <a:txBody>
                    <a:bodyPr/>
                    <a:lstStyle/>
                    <a:p>
                      <a:pPr marL="0" marR="0" lvl="0" indent="0" algn="l" rtl="0">
                        <a:lnSpc>
                          <a:spcPct val="100000"/>
                        </a:lnSpc>
                        <a:spcBef>
                          <a:spcPts val="0"/>
                        </a:spcBef>
                        <a:spcAft>
                          <a:spcPts val="0"/>
                        </a:spcAft>
                        <a:buClr>
                          <a:srgbClr val="000000"/>
                        </a:buClr>
                        <a:buSzPts val="200"/>
                        <a:buFont typeface="Arial"/>
                        <a:buNone/>
                      </a:pPr>
                      <a:endParaRPr sz="200" b="0" i="0" u="none" strike="noStrike" cap="none">
                        <a:latin typeface="Helvetica Neue"/>
                        <a:ea typeface="Helvetica Neue"/>
                        <a:cs typeface="Helvetica Neue"/>
                        <a:sym typeface="Helvetica Neue"/>
                      </a:endParaRPr>
                    </a:p>
                  </a:txBody>
                  <a:tcPr marL="142100" marR="142100" marT="71050" marB="71050">
                    <a:lnL w="12700" cap="flat" cmpd="sng">
                      <a:solidFill>
                        <a:schemeClr val="dk1"/>
                      </a:solidFill>
                      <a:prstDash val="solid"/>
                      <a:round/>
                      <a:headEnd type="none" w="sm" len="sm"/>
                      <a:tailEnd type="none" w="sm" len="sm"/>
                    </a:lnL>
                  </a:tcPr>
                </a:tc>
                <a:tc>
                  <a:txBody>
                    <a:bodyPr/>
                    <a:lstStyle/>
                    <a:p>
                      <a:pPr marL="0" marR="0" lvl="0" indent="0" algn="l" rtl="0">
                        <a:lnSpc>
                          <a:spcPct val="100000"/>
                        </a:lnSpc>
                        <a:spcBef>
                          <a:spcPts val="0"/>
                        </a:spcBef>
                        <a:spcAft>
                          <a:spcPts val="0"/>
                        </a:spcAft>
                        <a:buClr>
                          <a:srgbClr val="000000"/>
                        </a:buClr>
                        <a:buSzPts val="200"/>
                        <a:buFont typeface="Arial"/>
                        <a:buNone/>
                      </a:pPr>
                      <a:endParaRPr sz="200" b="0" i="0" u="none" strike="noStrike" cap="none">
                        <a:latin typeface="Helvetica Neue"/>
                        <a:ea typeface="Helvetica Neue"/>
                        <a:cs typeface="Helvetica Neue"/>
                        <a:sym typeface="Helvetica Neue"/>
                      </a:endParaRPr>
                    </a:p>
                  </a:txBody>
                  <a:tcPr marL="142100" marR="142100" marT="71050" marB="71050"/>
                </a:tc>
                <a:tc>
                  <a:txBody>
                    <a:bodyPr/>
                    <a:lstStyle/>
                    <a:p>
                      <a:pPr marL="0" marR="0" lvl="0" indent="0" algn="l" rtl="0">
                        <a:lnSpc>
                          <a:spcPct val="100000"/>
                        </a:lnSpc>
                        <a:spcBef>
                          <a:spcPts val="0"/>
                        </a:spcBef>
                        <a:spcAft>
                          <a:spcPts val="0"/>
                        </a:spcAft>
                        <a:buClr>
                          <a:srgbClr val="000000"/>
                        </a:buClr>
                        <a:buSzPts val="200"/>
                        <a:buFont typeface="Arial"/>
                        <a:buNone/>
                      </a:pPr>
                      <a:endParaRPr sz="200" b="0" i="0" u="none" strike="noStrike" cap="none">
                        <a:latin typeface="Helvetica Neue"/>
                        <a:ea typeface="Helvetica Neue"/>
                        <a:cs typeface="Helvetica Neue"/>
                        <a:sym typeface="Helvetica Neue"/>
                      </a:endParaRPr>
                    </a:p>
                  </a:txBody>
                  <a:tcPr marL="142100" marR="142100" marT="71050" marB="71050"/>
                </a:tc>
                <a:tc>
                  <a:txBody>
                    <a:bodyPr/>
                    <a:lstStyle/>
                    <a:p>
                      <a:pPr marL="0" marR="0" lvl="0" indent="0" algn="l" rtl="0">
                        <a:lnSpc>
                          <a:spcPct val="100000"/>
                        </a:lnSpc>
                        <a:spcBef>
                          <a:spcPts val="0"/>
                        </a:spcBef>
                        <a:spcAft>
                          <a:spcPts val="0"/>
                        </a:spcAft>
                        <a:buClr>
                          <a:srgbClr val="000000"/>
                        </a:buClr>
                        <a:buSzPts val="200"/>
                        <a:buFont typeface="Arial"/>
                        <a:buNone/>
                      </a:pPr>
                      <a:endParaRPr sz="200" b="0" i="0" u="none" strike="noStrike" cap="none">
                        <a:latin typeface="Helvetica Neue"/>
                        <a:ea typeface="Helvetica Neue"/>
                        <a:cs typeface="Helvetica Neue"/>
                        <a:sym typeface="Helvetica Neue"/>
                      </a:endParaRPr>
                    </a:p>
                  </a:txBody>
                  <a:tcPr marL="142100" marR="142100" marT="71050" marB="71050"/>
                </a:tc>
                <a:tc>
                  <a:txBody>
                    <a:bodyPr/>
                    <a:lstStyle/>
                    <a:p>
                      <a:pPr marL="0" marR="0" lvl="0" indent="0" algn="l" rtl="0">
                        <a:lnSpc>
                          <a:spcPct val="100000"/>
                        </a:lnSpc>
                        <a:spcBef>
                          <a:spcPts val="0"/>
                        </a:spcBef>
                        <a:spcAft>
                          <a:spcPts val="0"/>
                        </a:spcAft>
                        <a:buClr>
                          <a:srgbClr val="000000"/>
                        </a:buClr>
                        <a:buSzPts val="200"/>
                        <a:buFont typeface="Arial"/>
                        <a:buNone/>
                      </a:pPr>
                      <a:endParaRPr sz="200" b="0" i="0" u="none" strike="noStrike" cap="none">
                        <a:latin typeface="Helvetica Neue"/>
                        <a:ea typeface="Helvetica Neue"/>
                        <a:cs typeface="Helvetica Neue"/>
                        <a:sym typeface="Helvetica Neue"/>
                      </a:endParaRPr>
                    </a:p>
                  </a:txBody>
                  <a:tcPr marL="142100" marR="142100" marT="71050" marB="71050"/>
                </a:tc>
                <a:tc>
                  <a:txBody>
                    <a:bodyPr/>
                    <a:lstStyle/>
                    <a:p>
                      <a:pPr marL="0" marR="0" lvl="0" indent="0" algn="l" rtl="0">
                        <a:lnSpc>
                          <a:spcPct val="100000"/>
                        </a:lnSpc>
                        <a:spcBef>
                          <a:spcPts val="0"/>
                        </a:spcBef>
                        <a:spcAft>
                          <a:spcPts val="0"/>
                        </a:spcAft>
                        <a:buClr>
                          <a:srgbClr val="000000"/>
                        </a:buClr>
                        <a:buSzPts val="200"/>
                        <a:buFont typeface="Arial"/>
                        <a:buNone/>
                      </a:pPr>
                      <a:endParaRPr sz="200" b="0" i="0" u="none" strike="noStrike" cap="none">
                        <a:latin typeface="Helvetica Neue"/>
                        <a:ea typeface="Helvetica Neue"/>
                        <a:cs typeface="Helvetica Neue"/>
                        <a:sym typeface="Helvetica Neue"/>
                      </a:endParaRPr>
                    </a:p>
                  </a:txBody>
                  <a:tcPr marL="142100" marR="142100" marT="71050" marB="71050"/>
                </a:tc>
                <a:tc>
                  <a:txBody>
                    <a:bodyPr/>
                    <a:lstStyle/>
                    <a:p>
                      <a:pPr marL="0" marR="0" lvl="0" indent="0" algn="l" rtl="0">
                        <a:lnSpc>
                          <a:spcPct val="100000"/>
                        </a:lnSpc>
                        <a:spcBef>
                          <a:spcPts val="0"/>
                        </a:spcBef>
                        <a:spcAft>
                          <a:spcPts val="0"/>
                        </a:spcAft>
                        <a:buClr>
                          <a:srgbClr val="000000"/>
                        </a:buClr>
                        <a:buSzPts val="200"/>
                        <a:buFont typeface="Arial"/>
                        <a:buNone/>
                      </a:pPr>
                      <a:endParaRPr sz="200" b="0" i="0" u="none" strike="noStrike" cap="none">
                        <a:latin typeface="Helvetica Neue"/>
                        <a:ea typeface="Helvetica Neue"/>
                        <a:cs typeface="Helvetica Neue"/>
                        <a:sym typeface="Helvetica Neue"/>
                      </a:endParaRPr>
                    </a:p>
                  </a:txBody>
                  <a:tcPr marL="142100" marR="142100" marT="71050" marB="71050"/>
                </a:tc>
                <a:tc>
                  <a:txBody>
                    <a:bodyPr/>
                    <a:lstStyle/>
                    <a:p>
                      <a:pPr marL="0" marR="0" lvl="0" indent="0" algn="l" rtl="0">
                        <a:lnSpc>
                          <a:spcPct val="100000"/>
                        </a:lnSpc>
                        <a:spcBef>
                          <a:spcPts val="0"/>
                        </a:spcBef>
                        <a:spcAft>
                          <a:spcPts val="0"/>
                        </a:spcAft>
                        <a:buClr>
                          <a:srgbClr val="000000"/>
                        </a:buClr>
                        <a:buSzPts val="200"/>
                        <a:buFont typeface="Arial"/>
                        <a:buNone/>
                      </a:pPr>
                      <a:endParaRPr sz="200" b="0" i="0" u="none" strike="noStrike" cap="none">
                        <a:latin typeface="Helvetica Neue"/>
                        <a:ea typeface="Helvetica Neue"/>
                        <a:cs typeface="Helvetica Neue"/>
                        <a:sym typeface="Helvetica Neue"/>
                      </a:endParaRPr>
                    </a:p>
                  </a:txBody>
                  <a:tcPr marL="142100" marR="142100" marT="71050" marB="71050">
                    <a:lnR w="12700" cap="flat" cmpd="sng">
                      <a:solidFill>
                        <a:schemeClr val="dk1"/>
                      </a:solidFill>
                      <a:prstDash val="solid"/>
                      <a:round/>
                      <a:headEnd type="none" w="sm" len="sm"/>
                      <a:tailEnd type="none" w="sm" len="sm"/>
                    </a:lnR>
                  </a:tcPr>
                </a:tc>
                <a:extLst>
                  <a:ext uri="{0D108BD9-81ED-4DB2-BD59-A6C34878D82A}">
                    <a16:rowId xmlns:a16="http://schemas.microsoft.com/office/drawing/2014/main" val="10003"/>
                  </a:ext>
                </a:extLst>
              </a:tr>
              <a:tr h="359525">
                <a:tc>
                  <a:txBody>
                    <a:bodyPr/>
                    <a:lstStyle/>
                    <a:p>
                      <a:pPr marL="0" marR="0" lvl="0" indent="0" algn="l" rtl="0">
                        <a:lnSpc>
                          <a:spcPct val="100000"/>
                        </a:lnSpc>
                        <a:spcBef>
                          <a:spcPts val="0"/>
                        </a:spcBef>
                        <a:spcAft>
                          <a:spcPts val="0"/>
                        </a:spcAft>
                        <a:buClr>
                          <a:srgbClr val="000000"/>
                        </a:buClr>
                        <a:buSzPts val="200"/>
                        <a:buFont typeface="Arial"/>
                        <a:buNone/>
                      </a:pPr>
                      <a:endParaRPr sz="200" b="0" i="0" u="none" strike="noStrike" cap="none" dirty="0">
                        <a:latin typeface="Helvetica Neue"/>
                        <a:ea typeface="Helvetica Neue"/>
                        <a:cs typeface="Helvetica Neue"/>
                        <a:sym typeface="Helvetica Neue"/>
                      </a:endParaRPr>
                    </a:p>
                  </a:txBody>
                  <a:tcPr marL="142100" marR="142100" marT="71050" marB="71050">
                    <a:lnL w="12700" cap="flat" cmpd="sng">
                      <a:solidFill>
                        <a:schemeClr val="dk1"/>
                      </a:solidFill>
                      <a:prstDash val="solid"/>
                      <a:round/>
                      <a:headEnd type="none" w="sm" len="sm"/>
                      <a:tailEnd type="none" w="sm" len="sm"/>
                    </a:lnL>
                  </a:tcPr>
                </a:tc>
                <a:tc>
                  <a:txBody>
                    <a:bodyPr/>
                    <a:lstStyle/>
                    <a:p>
                      <a:pPr marL="0" marR="0" lvl="0" indent="0" algn="l" rtl="0">
                        <a:lnSpc>
                          <a:spcPct val="100000"/>
                        </a:lnSpc>
                        <a:spcBef>
                          <a:spcPts val="0"/>
                        </a:spcBef>
                        <a:spcAft>
                          <a:spcPts val="0"/>
                        </a:spcAft>
                        <a:buClr>
                          <a:srgbClr val="000000"/>
                        </a:buClr>
                        <a:buSzPts val="200"/>
                        <a:buFont typeface="Arial"/>
                        <a:buNone/>
                      </a:pPr>
                      <a:endParaRPr sz="200" b="0" i="0" u="none" strike="noStrike" cap="none">
                        <a:latin typeface="Helvetica Neue"/>
                        <a:ea typeface="Helvetica Neue"/>
                        <a:cs typeface="Helvetica Neue"/>
                        <a:sym typeface="Helvetica Neue"/>
                      </a:endParaRPr>
                    </a:p>
                  </a:txBody>
                  <a:tcPr marL="142100" marR="142100" marT="71050" marB="71050"/>
                </a:tc>
                <a:tc>
                  <a:txBody>
                    <a:bodyPr/>
                    <a:lstStyle/>
                    <a:p>
                      <a:pPr marL="0" marR="0" lvl="0" indent="0" algn="l" rtl="0">
                        <a:lnSpc>
                          <a:spcPct val="100000"/>
                        </a:lnSpc>
                        <a:spcBef>
                          <a:spcPts val="0"/>
                        </a:spcBef>
                        <a:spcAft>
                          <a:spcPts val="0"/>
                        </a:spcAft>
                        <a:buClr>
                          <a:srgbClr val="000000"/>
                        </a:buClr>
                        <a:buSzPts val="200"/>
                        <a:buFont typeface="Arial"/>
                        <a:buNone/>
                      </a:pPr>
                      <a:endParaRPr sz="200" b="0" i="0" u="none" strike="noStrike" cap="none">
                        <a:latin typeface="Helvetica Neue"/>
                        <a:ea typeface="Helvetica Neue"/>
                        <a:cs typeface="Helvetica Neue"/>
                        <a:sym typeface="Helvetica Neue"/>
                      </a:endParaRPr>
                    </a:p>
                  </a:txBody>
                  <a:tcPr marL="142100" marR="142100" marT="71050" marB="71050"/>
                </a:tc>
                <a:tc>
                  <a:txBody>
                    <a:bodyPr/>
                    <a:lstStyle/>
                    <a:p>
                      <a:pPr marL="0" marR="0" lvl="0" indent="0" algn="l" rtl="0">
                        <a:lnSpc>
                          <a:spcPct val="100000"/>
                        </a:lnSpc>
                        <a:spcBef>
                          <a:spcPts val="0"/>
                        </a:spcBef>
                        <a:spcAft>
                          <a:spcPts val="0"/>
                        </a:spcAft>
                        <a:buClr>
                          <a:srgbClr val="000000"/>
                        </a:buClr>
                        <a:buSzPts val="200"/>
                        <a:buFont typeface="Arial"/>
                        <a:buNone/>
                      </a:pPr>
                      <a:endParaRPr sz="200" b="0" i="0" u="none" strike="noStrike" cap="none">
                        <a:latin typeface="Helvetica Neue"/>
                        <a:ea typeface="Helvetica Neue"/>
                        <a:cs typeface="Helvetica Neue"/>
                        <a:sym typeface="Helvetica Neue"/>
                      </a:endParaRPr>
                    </a:p>
                  </a:txBody>
                  <a:tcPr marL="142100" marR="142100" marT="71050" marB="71050"/>
                </a:tc>
                <a:tc>
                  <a:txBody>
                    <a:bodyPr/>
                    <a:lstStyle/>
                    <a:p>
                      <a:pPr marL="0" marR="0" lvl="0" indent="0" algn="l" rtl="0">
                        <a:lnSpc>
                          <a:spcPct val="100000"/>
                        </a:lnSpc>
                        <a:spcBef>
                          <a:spcPts val="0"/>
                        </a:spcBef>
                        <a:spcAft>
                          <a:spcPts val="0"/>
                        </a:spcAft>
                        <a:buClr>
                          <a:srgbClr val="000000"/>
                        </a:buClr>
                        <a:buSzPts val="200"/>
                        <a:buFont typeface="Arial"/>
                        <a:buNone/>
                      </a:pPr>
                      <a:endParaRPr sz="200" b="0" i="0" u="none" strike="noStrike" cap="none">
                        <a:latin typeface="Helvetica Neue"/>
                        <a:ea typeface="Helvetica Neue"/>
                        <a:cs typeface="Helvetica Neue"/>
                        <a:sym typeface="Helvetica Neue"/>
                      </a:endParaRPr>
                    </a:p>
                  </a:txBody>
                  <a:tcPr marL="142100" marR="142100" marT="71050" marB="71050"/>
                </a:tc>
                <a:tc>
                  <a:txBody>
                    <a:bodyPr/>
                    <a:lstStyle/>
                    <a:p>
                      <a:pPr marL="0" marR="0" lvl="0" indent="0" algn="l" rtl="0">
                        <a:lnSpc>
                          <a:spcPct val="100000"/>
                        </a:lnSpc>
                        <a:spcBef>
                          <a:spcPts val="0"/>
                        </a:spcBef>
                        <a:spcAft>
                          <a:spcPts val="0"/>
                        </a:spcAft>
                        <a:buClr>
                          <a:srgbClr val="000000"/>
                        </a:buClr>
                        <a:buSzPts val="200"/>
                        <a:buFont typeface="Arial"/>
                        <a:buNone/>
                      </a:pPr>
                      <a:endParaRPr sz="200" b="0" i="0" u="none" strike="noStrike" cap="none">
                        <a:latin typeface="Helvetica Neue"/>
                        <a:ea typeface="Helvetica Neue"/>
                        <a:cs typeface="Helvetica Neue"/>
                        <a:sym typeface="Helvetica Neue"/>
                      </a:endParaRPr>
                    </a:p>
                  </a:txBody>
                  <a:tcPr marL="142100" marR="142100" marT="71050" marB="71050"/>
                </a:tc>
                <a:tc>
                  <a:txBody>
                    <a:bodyPr/>
                    <a:lstStyle/>
                    <a:p>
                      <a:pPr marL="0" marR="0" lvl="0" indent="0" algn="l" rtl="0">
                        <a:lnSpc>
                          <a:spcPct val="100000"/>
                        </a:lnSpc>
                        <a:spcBef>
                          <a:spcPts val="0"/>
                        </a:spcBef>
                        <a:spcAft>
                          <a:spcPts val="0"/>
                        </a:spcAft>
                        <a:buClr>
                          <a:srgbClr val="000000"/>
                        </a:buClr>
                        <a:buSzPts val="200"/>
                        <a:buFont typeface="Arial"/>
                        <a:buNone/>
                      </a:pPr>
                      <a:endParaRPr sz="200" b="0" i="0" u="none" strike="noStrike" cap="none">
                        <a:latin typeface="Helvetica Neue"/>
                        <a:ea typeface="Helvetica Neue"/>
                        <a:cs typeface="Helvetica Neue"/>
                        <a:sym typeface="Helvetica Neue"/>
                      </a:endParaRPr>
                    </a:p>
                  </a:txBody>
                  <a:tcPr marL="142100" marR="142100" marT="71050" marB="71050"/>
                </a:tc>
                <a:tc>
                  <a:txBody>
                    <a:bodyPr/>
                    <a:lstStyle/>
                    <a:p>
                      <a:pPr marL="0" marR="0" lvl="0" indent="0" algn="l" rtl="0">
                        <a:lnSpc>
                          <a:spcPct val="100000"/>
                        </a:lnSpc>
                        <a:spcBef>
                          <a:spcPts val="0"/>
                        </a:spcBef>
                        <a:spcAft>
                          <a:spcPts val="0"/>
                        </a:spcAft>
                        <a:buClr>
                          <a:srgbClr val="000000"/>
                        </a:buClr>
                        <a:buSzPts val="200"/>
                        <a:buFont typeface="Arial"/>
                        <a:buNone/>
                      </a:pPr>
                      <a:endParaRPr sz="200" b="0" i="0" u="none" strike="noStrike" cap="none">
                        <a:latin typeface="Helvetica Neue"/>
                        <a:ea typeface="Helvetica Neue"/>
                        <a:cs typeface="Helvetica Neue"/>
                        <a:sym typeface="Helvetica Neue"/>
                      </a:endParaRPr>
                    </a:p>
                  </a:txBody>
                  <a:tcPr marL="142100" marR="142100" marT="71050" marB="71050">
                    <a:lnR w="12700" cap="flat" cmpd="sng">
                      <a:solidFill>
                        <a:schemeClr val="dk1"/>
                      </a:solidFill>
                      <a:prstDash val="solid"/>
                      <a:round/>
                      <a:headEnd type="none" w="sm" len="sm"/>
                      <a:tailEnd type="none" w="sm" len="sm"/>
                    </a:lnR>
                  </a:tcPr>
                </a:tc>
                <a:extLst>
                  <a:ext uri="{0D108BD9-81ED-4DB2-BD59-A6C34878D82A}">
                    <a16:rowId xmlns:a16="http://schemas.microsoft.com/office/drawing/2014/main" val="10004"/>
                  </a:ext>
                </a:extLst>
              </a:tr>
              <a:tr h="359525">
                <a:tc>
                  <a:txBody>
                    <a:bodyPr/>
                    <a:lstStyle/>
                    <a:p>
                      <a:pPr marL="0" marR="0" lvl="0" indent="0" algn="l" rtl="0">
                        <a:lnSpc>
                          <a:spcPct val="100000"/>
                        </a:lnSpc>
                        <a:spcBef>
                          <a:spcPts val="0"/>
                        </a:spcBef>
                        <a:spcAft>
                          <a:spcPts val="0"/>
                        </a:spcAft>
                        <a:buClr>
                          <a:srgbClr val="000000"/>
                        </a:buClr>
                        <a:buSzPts val="200"/>
                        <a:buFont typeface="Arial"/>
                        <a:buNone/>
                      </a:pPr>
                      <a:endParaRPr sz="200" b="0" i="0" u="none" strike="noStrike" cap="none">
                        <a:latin typeface="Helvetica Neue"/>
                        <a:ea typeface="Helvetica Neue"/>
                        <a:cs typeface="Helvetica Neue"/>
                        <a:sym typeface="Helvetica Neue"/>
                      </a:endParaRPr>
                    </a:p>
                  </a:txBody>
                  <a:tcPr marL="142100" marR="142100" marT="71050" marB="71050">
                    <a:lnL w="12700" cap="flat" cmpd="sng">
                      <a:solidFill>
                        <a:schemeClr val="dk1"/>
                      </a:solidFill>
                      <a:prstDash val="solid"/>
                      <a:round/>
                      <a:headEnd type="none" w="sm" len="sm"/>
                      <a:tailEnd type="none" w="sm" len="sm"/>
                    </a:lnL>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00"/>
                        <a:buFont typeface="Arial"/>
                        <a:buNone/>
                      </a:pPr>
                      <a:endParaRPr sz="200" b="0" i="0" u="none" strike="noStrike" cap="none">
                        <a:latin typeface="Helvetica Neue"/>
                        <a:ea typeface="Helvetica Neue"/>
                        <a:cs typeface="Helvetica Neue"/>
                        <a:sym typeface="Helvetica Neue"/>
                      </a:endParaRPr>
                    </a:p>
                  </a:txBody>
                  <a:tcPr marL="142100" marR="142100" marT="71050" marB="71050">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00"/>
                        <a:buFont typeface="Arial"/>
                        <a:buNone/>
                      </a:pPr>
                      <a:endParaRPr sz="200" b="0" i="0" u="none" strike="noStrike" cap="none">
                        <a:latin typeface="Helvetica Neue"/>
                        <a:ea typeface="Helvetica Neue"/>
                        <a:cs typeface="Helvetica Neue"/>
                        <a:sym typeface="Helvetica Neue"/>
                      </a:endParaRPr>
                    </a:p>
                  </a:txBody>
                  <a:tcPr marL="142100" marR="142100" marT="71050" marB="71050">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00"/>
                        <a:buFont typeface="Arial"/>
                        <a:buNone/>
                      </a:pPr>
                      <a:endParaRPr sz="200" b="0" i="0" u="none" strike="noStrike" cap="none">
                        <a:latin typeface="Helvetica Neue"/>
                        <a:ea typeface="Helvetica Neue"/>
                        <a:cs typeface="Helvetica Neue"/>
                        <a:sym typeface="Helvetica Neue"/>
                      </a:endParaRPr>
                    </a:p>
                  </a:txBody>
                  <a:tcPr marL="142100" marR="142100" marT="71050" marB="71050">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00"/>
                        <a:buFont typeface="Arial"/>
                        <a:buNone/>
                      </a:pPr>
                      <a:endParaRPr sz="200" b="0" i="0" u="none" strike="noStrike" cap="none">
                        <a:latin typeface="Helvetica Neue"/>
                        <a:ea typeface="Helvetica Neue"/>
                        <a:cs typeface="Helvetica Neue"/>
                        <a:sym typeface="Helvetica Neue"/>
                      </a:endParaRPr>
                    </a:p>
                  </a:txBody>
                  <a:tcPr marL="142100" marR="142100" marT="71050" marB="71050">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00"/>
                        <a:buFont typeface="Arial"/>
                        <a:buNone/>
                      </a:pPr>
                      <a:endParaRPr sz="200" b="0" i="0" u="none" strike="noStrike" cap="none">
                        <a:latin typeface="Helvetica Neue"/>
                        <a:ea typeface="Helvetica Neue"/>
                        <a:cs typeface="Helvetica Neue"/>
                        <a:sym typeface="Helvetica Neue"/>
                      </a:endParaRPr>
                    </a:p>
                  </a:txBody>
                  <a:tcPr marL="142100" marR="142100" marT="71050" marB="71050">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00"/>
                        <a:buFont typeface="Arial"/>
                        <a:buNone/>
                      </a:pPr>
                      <a:endParaRPr sz="200" b="0" i="0" u="none" strike="noStrike" cap="none">
                        <a:latin typeface="Helvetica Neue"/>
                        <a:ea typeface="Helvetica Neue"/>
                        <a:cs typeface="Helvetica Neue"/>
                        <a:sym typeface="Helvetica Neue"/>
                      </a:endParaRPr>
                    </a:p>
                  </a:txBody>
                  <a:tcPr marL="142100" marR="142100" marT="71050" marB="71050">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00"/>
                        <a:buFont typeface="Arial"/>
                        <a:buNone/>
                      </a:pPr>
                      <a:endParaRPr sz="200" b="0" i="0" u="none" strike="noStrike" cap="none" dirty="0">
                        <a:latin typeface="Helvetica Neue"/>
                        <a:ea typeface="Helvetica Neue"/>
                        <a:cs typeface="Helvetica Neue"/>
                        <a:sym typeface="Helvetica Neue"/>
                      </a:endParaRPr>
                    </a:p>
                  </a:txBody>
                  <a:tcPr marL="142100" marR="142100" marT="71050" marB="71050">
                    <a:lnR w="12700" cap="flat" cmpd="sng">
                      <a:solidFill>
                        <a:schemeClr val="dk1"/>
                      </a:solidFill>
                      <a:prstDash val="solid"/>
                      <a:round/>
                      <a:headEnd type="none" w="sm" len="sm"/>
                      <a:tailEnd type="none" w="sm" len="sm"/>
                    </a:lnR>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149" name="Google Shape;149;p12"/>
          <p:cNvSpPr txBox="1"/>
          <p:nvPr/>
        </p:nvSpPr>
        <p:spPr>
          <a:xfrm rot="-5400000">
            <a:off x="7309601" y="3316828"/>
            <a:ext cx="2299027" cy="46166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chemeClr val="dk1"/>
                </a:solidFill>
                <a:latin typeface="Rockwell"/>
                <a:ea typeface="Rockwell"/>
                <a:cs typeface="Rockwell"/>
                <a:sym typeface="Rockwell"/>
              </a:rPr>
              <a:t>Records/Rows</a:t>
            </a:r>
            <a:endParaRPr sz="1400" b="0" i="0" u="none" strike="noStrike" cap="none">
              <a:solidFill>
                <a:srgbClr val="000000"/>
              </a:solidFill>
              <a:latin typeface="Arial"/>
              <a:ea typeface="Arial"/>
              <a:cs typeface="Arial"/>
              <a:sym typeface="Arial"/>
            </a:endParaRPr>
          </a:p>
        </p:txBody>
      </p:sp>
      <p:sp>
        <p:nvSpPr>
          <p:cNvPr id="150" name="Google Shape;150;p12"/>
          <p:cNvSpPr txBox="1"/>
          <p:nvPr/>
        </p:nvSpPr>
        <p:spPr>
          <a:xfrm>
            <a:off x="8538502" y="1472601"/>
            <a:ext cx="2880917" cy="83099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dirty="0">
                <a:solidFill>
                  <a:schemeClr val="dk1"/>
                </a:solidFill>
                <a:latin typeface="Rockwell"/>
                <a:ea typeface="Rockwell"/>
                <a:cs typeface="Rockwell"/>
                <a:sym typeface="Rockwell"/>
              </a:rPr>
              <a:t>Fields/Attributes/</a:t>
            </a:r>
            <a:br>
              <a:rPr lang="en" sz="2400" b="0" i="0" u="none" strike="noStrike" cap="none" dirty="0">
                <a:solidFill>
                  <a:schemeClr val="dk1"/>
                </a:solidFill>
                <a:latin typeface="Rockwell"/>
                <a:ea typeface="Rockwell"/>
                <a:cs typeface="Rockwell"/>
                <a:sym typeface="Rockwell"/>
              </a:rPr>
            </a:br>
            <a:r>
              <a:rPr lang="en" sz="2400" b="0" i="0" u="none" strike="noStrike" cap="none" dirty="0">
                <a:solidFill>
                  <a:schemeClr val="dk1"/>
                </a:solidFill>
                <a:latin typeface="Rockwell"/>
                <a:ea typeface="Rockwell"/>
                <a:cs typeface="Rockwell"/>
                <a:sym typeface="Rockwell"/>
              </a:rPr>
              <a:t>Features/Columns</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p13"/>
          <p:cNvSpPr txBox="1">
            <a:spLocks noGrp="1"/>
          </p:cNvSpPr>
          <p:nvPr>
            <p:ph type="title"/>
          </p:nvPr>
        </p:nvSpPr>
        <p:spPr>
          <a:xfrm>
            <a:off x="958661" y="78954"/>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 dirty="0"/>
              <a:t>PANDAS DATA STRUCTURES</a:t>
            </a:r>
            <a:endParaRPr dirty="0"/>
          </a:p>
        </p:txBody>
      </p:sp>
      <p:sp>
        <p:nvSpPr>
          <p:cNvPr id="157" name="Google Shape;157;p13"/>
          <p:cNvSpPr txBox="1">
            <a:spLocks noGrp="1"/>
          </p:cNvSpPr>
          <p:nvPr>
            <p:ph type="body" idx="1"/>
          </p:nvPr>
        </p:nvSpPr>
        <p:spPr>
          <a:xfrm>
            <a:off x="958661" y="1403604"/>
            <a:ext cx="10058400" cy="4050792"/>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SzPts val="1700"/>
              <a:buNone/>
            </a:pPr>
            <a:r>
              <a:rPr lang="en" dirty="0"/>
              <a:t>There are three fundamental data structures in pandas:</a:t>
            </a:r>
            <a:endParaRPr dirty="0"/>
          </a:p>
          <a:p>
            <a:pPr marL="182880" lvl="0" indent="-182880" algn="l" rtl="0">
              <a:lnSpc>
                <a:spcPct val="90000"/>
              </a:lnSpc>
              <a:spcBef>
                <a:spcPts val="1200"/>
              </a:spcBef>
              <a:spcAft>
                <a:spcPts val="0"/>
              </a:spcAft>
              <a:buSzPts val="1700"/>
              <a:buChar char="▪"/>
            </a:pPr>
            <a:r>
              <a:rPr lang="en" dirty="0"/>
              <a:t>Data Frame: 2D data tabular data.</a:t>
            </a:r>
            <a:endParaRPr dirty="0"/>
          </a:p>
          <a:p>
            <a:pPr marL="182880" lvl="0" indent="-182880" algn="l" rtl="0">
              <a:lnSpc>
                <a:spcPct val="90000"/>
              </a:lnSpc>
              <a:spcBef>
                <a:spcPts val="0"/>
              </a:spcBef>
              <a:spcAft>
                <a:spcPts val="0"/>
              </a:spcAft>
              <a:buSzPts val="1700"/>
              <a:buChar char="▪"/>
            </a:pPr>
            <a:r>
              <a:rPr lang="en" dirty="0"/>
              <a:t>Series: 1D data (a column).</a:t>
            </a:r>
            <a:endParaRPr dirty="0"/>
          </a:p>
          <a:p>
            <a:pPr marL="182880" lvl="0" indent="-182880" algn="l" rtl="0">
              <a:lnSpc>
                <a:spcPct val="90000"/>
              </a:lnSpc>
              <a:spcBef>
                <a:spcPts val="0"/>
              </a:spcBef>
              <a:spcAft>
                <a:spcPts val="0"/>
              </a:spcAft>
              <a:buSzPts val="1700"/>
              <a:buChar char="▪"/>
            </a:pPr>
            <a:r>
              <a:rPr lang="en" dirty="0"/>
              <a:t>Index: A sequence of row labels.</a:t>
            </a:r>
            <a:endParaRPr dirty="0"/>
          </a:p>
          <a:p>
            <a:pPr marL="182880" lvl="0" indent="-74928" algn="l" rtl="0">
              <a:lnSpc>
                <a:spcPct val="90000"/>
              </a:lnSpc>
              <a:spcBef>
                <a:spcPts val="1200"/>
              </a:spcBef>
              <a:spcAft>
                <a:spcPts val="0"/>
              </a:spcAft>
              <a:buSzPts val="1700"/>
              <a:buNone/>
            </a:pPr>
            <a:endParaRPr dirty="0"/>
          </a:p>
        </p:txBody>
      </p:sp>
      <p:pic>
        <p:nvPicPr>
          <p:cNvPr id="158" name="Google Shape;158;p13"/>
          <p:cNvPicPr preferRelativeResize="0"/>
          <p:nvPr/>
        </p:nvPicPr>
        <p:blipFill rotWithShape="1">
          <a:blip r:embed="rId3">
            <a:alphaModFix/>
          </a:blip>
          <a:srcRect/>
          <a:stretch/>
        </p:blipFill>
        <p:spPr>
          <a:xfrm>
            <a:off x="546129" y="3343698"/>
            <a:ext cx="5441732" cy="3241500"/>
          </a:xfrm>
          <a:prstGeom prst="rect">
            <a:avLst/>
          </a:prstGeom>
          <a:noFill/>
          <a:ln w="9525" cap="flat" cmpd="sng">
            <a:solidFill>
              <a:srgbClr val="000000"/>
            </a:solidFill>
            <a:prstDash val="solid"/>
            <a:round/>
            <a:headEnd type="none" w="sm" len="sm"/>
            <a:tailEnd type="none" w="sm" len="sm"/>
          </a:ln>
        </p:spPr>
      </p:pic>
      <p:pic>
        <p:nvPicPr>
          <p:cNvPr id="159" name="Google Shape;159;p13"/>
          <p:cNvPicPr preferRelativeResize="0"/>
          <p:nvPr/>
        </p:nvPicPr>
        <p:blipFill rotWithShape="1">
          <a:blip r:embed="rId4">
            <a:alphaModFix/>
          </a:blip>
          <a:srcRect/>
          <a:stretch/>
        </p:blipFill>
        <p:spPr>
          <a:xfrm>
            <a:off x="6756217" y="3243655"/>
            <a:ext cx="5218100" cy="2630900"/>
          </a:xfrm>
          <a:prstGeom prst="rect">
            <a:avLst/>
          </a:prstGeom>
          <a:noFill/>
          <a:ln w="9525" cap="flat" cmpd="sng">
            <a:solidFill>
              <a:srgbClr val="000000"/>
            </a:solidFill>
            <a:prstDash val="solid"/>
            <a:round/>
            <a:headEnd type="none" w="sm" len="sm"/>
            <a:tailEnd type="none" w="sm" len="sm"/>
          </a:ln>
        </p:spPr>
      </p:pic>
      <p:sp>
        <p:nvSpPr>
          <p:cNvPr id="160" name="Google Shape;160;p13"/>
          <p:cNvSpPr txBox="1"/>
          <p:nvPr/>
        </p:nvSpPr>
        <p:spPr>
          <a:xfrm>
            <a:off x="2462999" y="2811615"/>
            <a:ext cx="2532499" cy="542800"/>
          </a:xfrm>
          <a:prstGeom prst="rect">
            <a:avLst/>
          </a:prstGeom>
          <a:noFill/>
          <a:ln>
            <a:noFill/>
          </a:ln>
        </p:spPr>
        <p:txBody>
          <a:bodyPr spcFirstLastPara="1" wrap="square" lIns="121900" tIns="121900" rIns="121900" bIns="1219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 sz="2400" b="1" i="0" u="none" strike="noStrike" cap="none" dirty="0">
                <a:solidFill>
                  <a:schemeClr val="dk1"/>
                </a:solidFill>
                <a:latin typeface="Rockwell"/>
                <a:ea typeface="Rockwell"/>
                <a:cs typeface="Rockwell"/>
                <a:sym typeface="Rockwell"/>
              </a:rPr>
              <a:t>Data Frame</a:t>
            </a:r>
            <a:endParaRPr sz="2400" b="1" i="0" u="none" strike="noStrike" cap="none" dirty="0">
              <a:solidFill>
                <a:schemeClr val="dk1"/>
              </a:solidFill>
              <a:latin typeface="Rockwell"/>
              <a:ea typeface="Rockwell"/>
              <a:cs typeface="Rockwell"/>
              <a:sym typeface="Rockwell"/>
            </a:endParaRPr>
          </a:p>
        </p:txBody>
      </p:sp>
      <p:sp>
        <p:nvSpPr>
          <p:cNvPr id="161" name="Google Shape;161;p13"/>
          <p:cNvSpPr/>
          <p:nvPr/>
        </p:nvSpPr>
        <p:spPr>
          <a:xfrm>
            <a:off x="645565" y="3542009"/>
            <a:ext cx="458400" cy="2803200"/>
          </a:xfrm>
          <a:prstGeom prst="rect">
            <a:avLst/>
          </a:prstGeom>
          <a:noFill/>
          <a:ln w="28575" cap="flat" cmpd="sng">
            <a:solidFill>
              <a:srgbClr val="BE0712"/>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Rockwell"/>
              <a:ea typeface="Rockwell"/>
              <a:cs typeface="Rockwell"/>
              <a:sym typeface="Rockwell"/>
            </a:endParaRPr>
          </a:p>
        </p:txBody>
      </p:sp>
      <p:sp>
        <p:nvSpPr>
          <p:cNvPr id="162" name="Google Shape;162;p13"/>
          <p:cNvSpPr txBox="1"/>
          <p:nvPr/>
        </p:nvSpPr>
        <p:spPr>
          <a:xfrm>
            <a:off x="8734112" y="2636046"/>
            <a:ext cx="1578288" cy="542800"/>
          </a:xfrm>
          <a:prstGeom prst="rect">
            <a:avLst/>
          </a:prstGeom>
          <a:noFill/>
          <a:ln>
            <a:noFill/>
          </a:ln>
        </p:spPr>
        <p:txBody>
          <a:bodyPr spcFirstLastPara="1" wrap="square" lIns="121900" tIns="121900" rIns="121900" bIns="1219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 sz="2400" b="1" i="0" u="none" strike="noStrike" cap="none">
                <a:solidFill>
                  <a:schemeClr val="dk1"/>
                </a:solidFill>
                <a:latin typeface="Rockwell"/>
                <a:ea typeface="Rockwell"/>
                <a:cs typeface="Rockwell"/>
                <a:sym typeface="Rockwell"/>
              </a:rPr>
              <a:t>Series</a:t>
            </a:r>
            <a:endParaRPr sz="2400" b="1" i="0" u="none" strike="noStrike" cap="none">
              <a:solidFill>
                <a:schemeClr val="dk1"/>
              </a:solidFill>
              <a:latin typeface="Rockwell"/>
              <a:ea typeface="Rockwell"/>
              <a:cs typeface="Rockwell"/>
              <a:sym typeface="Rockwell"/>
            </a:endParaRPr>
          </a:p>
        </p:txBody>
      </p:sp>
      <p:sp>
        <p:nvSpPr>
          <p:cNvPr id="163" name="Google Shape;163;p13"/>
          <p:cNvSpPr/>
          <p:nvPr/>
        </p:nvSpPr>
        <p:spPr>
          <a:xfrm>
            <a:off x="6677567" y="3164995"/>
            <a:ext cx="458400" cy="2385600"/>
          </a:xfrm>
          <a:prstGeom prst="rect">
            <a:avLst/>
          </a:prstGeom>
          <a:noFill/>
          <a:ln w="28575" cap="flat" cmpd="sng">
            <a:solidFill>
              <a:srgbClr val="BE0712"/>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Rockwell"/>
              <a:ea typeface="Rockwell"/>
              <a:cs typeface="Rockwell"/>
              <a:sym typeface="Rockwell"/>
            </a:endParaRPr>
          </a:p>
        </p:txBody>
      </p:sp>
      <p:cxnSp>
        <p:nvCxnSpPr>
          <p:cNvPr id="164" name="Google Shape;164;p13"/>
          <p:cNvCxnSpPr/>
          <p:nvPr/>
        </p:nvCxnSpPr>
        <p:spPr>
          <a:xfrm>
            <a:off x="1178867" y="6287267"/>
            <a:ext cx="5164400" cy="224400"/>
          </a:xfrm>
          <a:prstGeom prst="straightConnector1">
            <a:avLst/>
          </a:prstGeom>
          <a:noFill/>
          <a:ln w="19050" cap="flat" cmpd="sng">
            <a:solidFill>
              <a:srgbClr val="BE0712"/>
            </a:solidFill>
            <a:prstDash val="solid"/>
            <a:round/>
            <a:headEnd type="none" w="sm" len="sm"/>
            <a:tailEnd type="none" w="sm" len="sm"/>
          </a:ln>
        </p:spPr>
      </p:cxnSp>
      <p:cxnSp>
        <p:nvCxnSpPr>
          <p:cNvPr id="165" name="Google Shape;165;p13"/>
          <p:cNvCxnSpPr>
            <a:stCxn id="163" idx="2"/>
          </p:cNvCxnSpPr>
          <p:nvPr/>
        </p:nvCxnSpPr>
        <p:spPr>
          <a:xfrm flipH="1">
            <a:off x="6689567" y="5550595"/>
            <a:ext cx="217200" cy="746100"/>
          </a:xfrm>
          <a:prstGeom prst="straightConnector1">
            <a:avLst/>
          </a:prstGeom>
          <a:noFill/>
          <a:ln w="19050" cap="flat" cmpd="sng">
            <a:solidFill>
              <a:srgbClr val="BE0712"/>
            </a:solidFill>
            <a:prstDash val="solid"/>
            <a:round/>
            <a:headEnd type="none" w="sm" len="sm"/>
            <a:tailEnd type="none" w="sm" len="sm"/>
          </a:ln>
        </p:spPr>
      </p:cxnSp>
      <p:sp>
        <p:nvSpPr>
          <p:cNvPr id="166" name="Google Shape;166;p13"/>
          <p:cNvSpPr txBox="1"/>
          <p:nvPr/>
        </p:nvSpPr>
        <p:spPr>
          <a:xfrm>
            <a:off x="6380833" y="6287267"/>
            <a:ext cx="4210400" cy="542800"/>
          </a:xfrm>
          <a:prstGeom prst="rect">
            <a:avLst/>
          </a:prstGeom>
          <a:noFill/>
          <a:ln>
            <a:noFill/>
          </a:ln>
        </p:spPr>
        <p:txBody>
          <a:bodyPr spcFirstLastPara="1" wrap="square" lIns="121900" tIns="121900" rIns="121900" bIns="1219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 sz="2400" b="1" i="0" u="none" strike="noStrike" cap="none">
                <a:solidFill>
                  <a:schemeClr val="dk1"/>
                </a:solidFill>
                <a:latin typeface="Rockwell"/>
                <a:ea typeface="Rockwell"/>
                <a:cs typeface="Rockwell"/>
                <a:sym typeface="Rockwell"/>
              </a:rPr>
              <a:t>Index</a:t>
            </a:r>
            <a:endParaRPr sz="2400" b="1" i="0" u="none" strike="noStrike" cap="none">
              <a:solidFill>
                <a:schemeClr val="dk1"/>
              </a:solidFill>
              <a:latin typeface="Rockwell"/>
              <a:ea typeface="Rockwell"/>
              <a:cs typeface="Rockwell"/>
              <a:sym typeface="Rockwe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529"/>
        <p:cNvGrpSpPr/>
        <p:nvPr/>
      </p:nvGrpSpPr>
      <p:grpSpPr>
        <a:xfrm>
          <a:off x="0" y="0"/>
          <a:ext cx="0" cy="0"/>
          <a:chOff x="0" y="0"/>
          <a:chExt cx="0" cy="0"/>
        </a:xfrm>
      </p:grpSpPr>
      <p:sp>
        <p:nvSpPr>
          <p:cNvPr id="530" name="Google Shape;530;p41"/>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
              <a:t>SIMPLE ATTRIBUTES AND FUNCTIONS</a:t>
            </a:r>
            <a:endParaRPr/>
          </a:p>
        </p:txBody>
      </p:sp>
      <p:sp>
        <p:nvSpPr>
          <p:cNvPr id="531" name="Google Shape;531;p41"/>
          <p:cNvSpPr txBox="1">
            <a:spLocks noGrp="1"/>
          </p:cNvSpPr>
          <p:nvPr>
            <p:ph type="body" idx="1"/>
          </p:nvPr>
        </p:nvSpPr>
        <p:spPr>
          <a:xfrm>
            <a:off x="1069848" y="2121408"/>
            <a:ext cx="10058400" cy="4050792"/>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SzPts val="1700"/>
              <a:buNone/>
            </a:pPr>
            <a:r>
              <a:rPr lang="en" dirty="0">
                <a:latin typeface="Consolas"/>
                <a:ea typeface="Consolas"/>
                <a:cs typeface="Consolas"/>
                <a:sym typeface="Consolas"/>
              </a:rPr>
              <a:t>head()</a:t>
            </a:r>
            <a:r>
              <a:rPr lang="en" dirty="0"/>
              <a:t>: Displays only the top few rows.</a:t>
            </a:r>
            <a:endParaRPr dirty="0"/>
          </a:p>
          <a:p>
            <a:pPr marL="0" lvl="0" indent="0" algn="l" rtl="0">
              <a:lnSpc>
                <a:spcPct val="90000"/>
              </a:lnSpc>
              <a:spcBef>
                <a:spcPts val="1200"/>
              </a:spcBef>
              <a:spcAft>
                <a:spcPts val="0"/>
              </a:spcAft>
              <a:buSzPts val="1700"/>
              <a:buNone/>
            </a:pPr>
            <a:r>
              <a:rPr lang="en" dirty="0">
                <a:latin typeface="Consolas"/>
                <a:ea typeface="Consolas"/>
                <a:cs typeface="Consolas"/>
                <a:sym typeface="Consolas"/>
              </a:rPr>
              <a:t>describe()</a:t>
            </a:r>
            <a:r>
              <a:rPr lang="en" dirty="0"/>
              <a:t>: Provides basic statistics of the data (dependent on data type).</a:t>
            </a:r>
            <a:endParaRPr dirty="0"/>
          </a:p>
          <a:p>
            <a:pPr marL="0" lvl="0" indent="0" algn="l" rtl="0">
              <a:lnSpc>
                <a:spcPct val="90000"/>
              </a:lnSpc>
              <a:spcBef>
                <a:spcPts val="1200"/>
              </a:spcBef>
              <a:spcAft>
                <a:spcPts val="0"/>
              </a:spcAft>
              <a:buSzPts val="1700"/>
              <a:buNone/>
            </a:pPr>
            <a:endParaRPr dirty="0"/>
          </a:p>
          <a:p>
            <a:pPr marL="0" lvl="0" indent="0" algn="l" rtl="0">
              <a:lnSpc>
                <a:spcPct val="90000"/>
              </a:lnSpc>
              <a:spcBef>
                <a:spcPts val="1200"/>
              </a:spcBef>
              <a:spcAft>
                <a:spcPts val="0"/>
              </a:spcAft>
              <a:buSzPts val="1700"/>
              <a:buNone/>
            </a:pPr>
            <a:r>
              <a:rPr lang="en" dirty="0">
                <a:latin typeface="Consolas"/>
                <a:ea typeface="Consolas"/>
                <a:cs typeface="Consolas"/>
                <a:sym typeface="Consolas"/>
              </a:rPr>
              <a:t>size</a:t>
            </a:r>
            <a:r>
              <a:rPr lang="en" dirty="0"/>
              <a:t>: Gives the total number of data points.</a:t>
            </a:r>
            <a:endParaRPr dirty="0"/>
          </a:p>
          <a:p>
            <a:pPr marL="0" lvl="0" indent="0" algn="l" rtl="0">
              <a:lnSpc>
                <a:spcPct val="90000"/>
              </a:lnSpc>
              <a:spcBef>
                <a:spcPts val="1200"/>
              </a:spcBef>
              <a:spcAft>
                <a:spcPts val="0"/>
              </a:spcAft>
              <a:buSzPts val="1700"/>
              <a:buNone/>
            </a:pPr>
            <a:r>
              <a:rPr lang="en" dirty="0">
                <a:latin typeface="Consolas"/>
                <a:ea typeface="Consolas"/>
                <a:cs typeface="Consolas"/>
                <a:sym typeface="Consolas"/>
              </a:rPr>
              <a:t>shape</a:t>
            </a:r>
            <a:r>
              <a:rPr lang="en" dirty="0"/>
              <a:t>: Gives the size of the data in rows and columns.</a:t>
            </a:r>
            <a:endParaRPr dirty="0"/>
          </a:p>
          <a:p>
            <a:pPr marL="0" lvl="0" indent="0" algn="l" rtl="0">
              <a:lnSpc>
                <a:spcPct val="90000"/>
              </a:lnSpc>
              <a:spcBef>
                <a:spcPts val="1200"/>
              </a:spcBef>
              <a:spcAft>
                <a:spcPts val="0"/>
              </a:spcAft>
              <a:buSzPts val="1700"/>
              <a:buNone/>
            </a:pPr>
            <a:endParaRPr dirty="0"/>
          </a:p>
          <a:p>
            <a:pPr marL="0" lvl="0" indent="0" algn="l" rtl="0">
              <a:lnSpc>
                <a:spcPct val="90000"/>
              </a:lnSpc>
              <a:spcBef>
                <a:spcPts val="1200"/>
              </a:spcBef>
              <a:spcAft>
                <a:spcPts val="0"/>
              </a:spcAft>
              <a:buSzPts val="1700"/>
              <a:buNone/>
            </a:pPr>
            <a:r>
              <a:rPr lang="en" dirty="0">
                <a:latin typeface="Consolas"/>
                <a:ea typeface="Consolas"/>
                <a:cs typeface="Consolas"/>
                <a:sym typeface="Consolas"/>
              </a:rPr>
              <a:t>index</a:t>
            </a:r>
            <a:r>
              <a:rPr lang="en" dirty="0"/>
              <a:t>: Returns the index (a.k.a. row labels).</a:t>
            </a:r>
            <a:endParaRPr dirty="0"/>
          </a:p>
          <a:p>
            <a:pPr marL="0" lvl="0" indent="0" algn="l" rtl="0">
              <a:lnSpc>
                <a:spcPct val="90000"/>
              </a:lnSpc>
              <a:spcBef>
                <a:spcPts val="1200"/>
              </a:spcBef>
              <a:spcAft>
                <a:spcPts val="0"/>
              </a:spcAft>
              <a:buSzPts val="1700"/>
              <a:buNone/>
            </a:pPr>
            <a:r>
              <a:rPr lang="en" dirty="0">
                <a:latin typeface="Consolas"/>
                <a:ea typeface="Consolas"/>
                <a:cs typeface="Consolas"/>
                <a:sym typeface="Consolas"/>
              </a:rPr>
              <a:t>columns</a:t>
            </a:r>
            <a:r>
              <a:rPr lang="en" dirty="0"/>
              <a:t>: Returns the labels for the columns</a:t>
            </a:r>
            <a:endParaRPr dirty="0"/>
          </a:p>
          <a:p>
            <a:pPr marL="182880" lvl="0" indent="-74928" algn="l" rtl="0">
              <a:lnSpc>
                <a:spcPct val="90000"/>
              </a:lnSpc>
              <a:spcBef>
                <a:spcPts val="1200"/>
              </a:spcBef>
              <a:spcAft>
                <a:spcPts val="0"/>
              </a:spcAft>
              <a:buSzPts val="1700"/>
              <a:buNone/>
            </a:pPr>
            <a:endParaRPr dirty="0"/>
          </a:p>
        </p:txBody>
      </p:sp>
    </p:spTree>
    <p:extLst>
      <p:ext uri="{BB962C8B-B14F-4D97-AF65-F5344CB8AC3E}">
        <p14:creationId xmlns:p14="http://schemas.microsoft.com/office/powerpoint/2010/main" val="292020408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p14"/>
          <p:cNvSpPr txBox="1">
            <a:spLocks noGrp="1"/>
          </p:cNvSpPr>
          <p:nvPr>
            <p:ph type="title"/>
          </p:nvPr>
        </p:nvSpPr>
        <p:spPr>
          <a:xfrm>
            <a:off x="753625" y="255875"/>
            <a:ext cx="10975800" cy="16095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ct val="100000"/>
              <a:buFont typeface="Rockwell"/>
              <a:buNone/>
            </a:pPr>
            <a:r>
              <a:rPr lang="en" dirty="0"/>
              <a:t>RELATIONSHIP BETWEEN </a:t>
            </a:r>
            <a:br>
              <a:rPr lang="en" dirty="0"/>
            </a:br>
            <a:r>
              <a:rPr lang="en" dirty="0"/>
              <a:t>DATA FRAMES, SERIES, AND INDICES</a:t>
            </a:r>
            <a:endParaRPr dirty="0"/>
          </a:p>
        </p:txBody>
      </p:sp>
      <p:sp>
        <p:nvSpPr>
          <p:cNvPr id="172" name="Google Shape;172;p14"/>
          <p:cNvSpPr txBox="1">
            <a:spLocks noGrp="1"/>
          </p:cNvSpPr>
          <p:nvPr>
            <p:ph type="body" idx="1"/>
          </p:nvPr>
        </p:nvSpPr>
        <p:spPr>
          <a:xfrm>
            <a:off x="944233" y="1403604"/>
            <a:ext cx="10058400" cy="4050792"/>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SzPts val="1700"/>
              <a:buNone/>
            </a:pPr>
            <a:r>
              <a:rPr lang="en" dirty="0"/>
              <a:t>We can think of a Data Frame as a collection of Series that all share the same Index.</a:t>
            </a:r>
            <a:endParaRPr dirty="0"/>
          </a:p>
          <a:p>
            <a:pPr marL="182880" lvl="0" indent="-182880" algn="l" rtl="0">
              <a:lnSpc>
                <a:spcPct val="90000"/>
              </a:lnSpc>
              <a:spcBef>
                <a:spcPts val="1200"/>
              </a:spcBef>
              <a:spcAft>
                <a:spcPts val="0"/>
              </a:spcAft>
              <a:buSzPts val="1700"/>
              <a:buChar char="▪"/>
            </a:pPr>
            <a:r>
              <a:rPr lang="en" dirty="0"/>
              <a:t>Candidate, Party, %, Year, and Result Series all share an index from  0 to 5.</a:t>
            </a:r>
            <a:endParaRPr dirty="0"/>
          </a:p>
          <a:p>
            <a:pPr marL="182880" lvl="0" indent="-74928" algn="l" rtl="0">
              <a:lnSpc>
                <a:spcPct val="90000"/>
              </a:lnSpc>
              <a:spcBef>
                <a:spcPts val="1200"/>
              </a:spcBef>
              <a:spcAft>
                <a:spcPts val="0"/>
              </a:spcAft>
              <a:buSzPts val="1700"/>
              <a:buNone/>
            </a:pPr>
            <a:endParaRPr dirty="0"/>
          </a:p>
        </p:txBody>
      </p:sp>
      <p:pic>
        <p:nvPicPr>
          <p:cNvPr id="173" name="Google Shape;173;p14"/>
          <p:cNvPicPr preferRelativeResize="0"/>
          <p:nvPr/>
        </p:nvPicPr>
        <p:blipFill rotWithShape="1">
          <a:blip r:embed="rId3">
            <a:alphaModFix/>
          </a:blip>
          <a:srcRect/>
          <a:stretch/>
        </p:blipFill>
        <p:spPr>
          <a:xfrm>
            <a:off x="3375129" y="3585765"/>
            <a:ext cx="5441732" cy="3241500"/>
          </a:xfrm>
          <a:prstGeom prst="rect">
            <a:avLst/>
          </a:prstGeom>
          <a:noFill/>
          <a:ln w="9525" cap="flat" cmpd="sng">
            <a:solidFill>
              <a:srgbClr val="000000"/>
            </a:solidFill>
            <a:prstDash val="solid"/>
            <a:round/>
            <a:headEnd type="none" w="sm" len="sm"/>
            <a:tailEnd type="none" w="sm" len="sm"/>
          </a:ln>
        </p:spPr>
      </p:pic>
      <p:sp>
        <p:nvSpPr>
          <p:cNvPr id="174" name="Google Shape;174;p14"/>
          <p:cNvSpPr txBox="1"/>
          <p:nvPr/>
        </p:nvSpPr>
        <p:spPr>
          <a:xfrm>
            <a:off x="2375133" y="2642433"/>
            <a:ext cx="2067600" cy="482400"/>
          </a:xfrm>
          <a:prstGeom prst="rect">
            <a:avLst/>
          </a:prstGeom>
          <a:noFill/>
          <a:ln>
            <a:noFill/>
          </a:ln>
        </p:spPr>
        <p:txBody>
          <a:bodyPr spcFirstLastPara="1" wrap="square" lIns="121900" tIns="121900" rIns="121900" bIns="1219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 sz="2400" b="0" i="0" u="none" strike="noStrike" cap="none" dirty="0">
                <a:solidFill>
                  <a:schemeClr val="dk1"/>
                </a:solidFill>
                <a:latin typeface="Rockwell"/>
                <a:ea typeface="Rockwell"/>
                <a:cs typeface="Rockwell"/>
                <a:sym typeface="Rockwell"/>
              </a:rPr>
              <a:t>Candidate Series</a:t>
            </a:r>
            <a:endParaRPr sz="2400" b="0" i="0" u="none" strike="noStrike" cap="none" dirty="0">
              <a:solidFill>
                <a:schemeClr val="dk1"/>
              </a:solidFill>
              <a:latin typeface="Rockwell"/>
              <a:ea typeface="Rockwell"/>
              <a:cs typeface="Rockwell"/>
              <a:sym typeface="Rockwell"/>
            </a:endParaRPr>
          </a:p>
        </p:txBody>
      </p:sp>
      <p:cxnSp>
        <p:nvCxnSpPr>
          <p:cNvPr id="175" name="Google Shape;175;p14"/>
          <p:cNvCxnSpPr/>
          <p:nvPr/>
        </p:nvCxnSpPr>
        <p:spPr>
          <a:xfrm>
            <a:off x="5651067" y="3150367"/>
            <a:ext cx="207200" cy="334000"/>
          </a:xfrm>
          <a:prstGeom prst="straightConnector1">
            <a:avLst/>
          </a:prstGeom>
          <a:noFill/>
          <a:ln w="9525" cap="flat" cmpd="sng">
            <a:solidFill>
              <a:schemeClr val="dk2"/>
            </a:solidFill>
            <a:prstDash val="solid"/>
            <a:round/>
            <a:headEnd type="none" w="sm" len="sm"/>
            <a:tailEnd type="triangle" w="med" len="med"/>
          </a:ln>
        </p:spPr>
      </p:cxnSp>
      <p:sp>
        <p:nvSpPr>
          <p:cNvPr id="176" name="Google Shape;176;p14"/>
          <p:cNvSpPr txBox="1"/>
          <p:nvPr/>
        </p:nvSpPr>
        <p:spPr>
          <a:xfrm>
            <a:off x="4510800" y="2642433"/>
            <a:ext cx="1572000" cy="482400"/>
          </a:xfrm>
          <a:prstGeom prst="rect">
            <a:avLst/>
          </a:prstGeom>
          <a:noFill/>
          <a:ln>
            <a:noFill/>
          </a:ln>
        </p:spPr>
        <p:txBody>
          <a:bodyPr spcFirstLastPara="1" wrap="square" lIns="121900" tIns="121900" rIns="121900" bIns="1219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 sz="2400" b="0" i="0" u="none" strike="noStrike" cap="none">
                <a:solidFill>
                  <a:schemeClr val="dk1"/>
                </a:solidFill>
                <a:latin typeface="Rockwell"/>
                <a:ea typeface="Rockwell"/>
                <a:cs typeface="Rockwell"/>
                <a:sym typeface="Rockwell"/>
              </a:rPr>
              <a:t>Party Series</a:t>
            </a:r>
            <a:endParaRPr sz="2400" b="0" i="0" u="none" strike="noStrike" cap="none">
              <a:solidFill>
                <a:schemeClr val="dk1"/>
              </a:solidFill>
              <a:latin typeface="Rockwell"/>
              <a:ea typeface="Rockwell"/>
              <a:cs typeface="Rockwell"/>
              <a:sym typeface="Rockwell"/>
            </a:endParaRPr>
          </a:p>
        </p:txBody>
      </p:sp>
      <p:cxnSp>
        <p:nvCxnSpPr>
          <p:cNvPr id="177" name="Google Shape;177;p14"/>
          <p:cNvCxnSpPr/>
          <p:nvPr/>
        </p:nvCxnSpPr>
        <p:spPr>
          <a:xfrm>
            <a:off x="4035200" y="3138500"/>
            <a:ext cx="299200" cy="346000"/>
          </a:xfrm>
          <a:prstGeom prst="straightConnector1">
            <a:avLst/>
          </a:prstGeom>
          <a:noFill/>
          <a:ln w="9525" cap="flat" cmpd="sng">
            <a:solidFill>
              <a:schemeClr val="dk2"/>
            </a:solidFill>
            <a:prstDash val="solid"/>
            <a:round/>
            <a:headEnd type="none" w="sm" len="sm"/>
            <a:tailEnd type="triangle" w="med" len="med"/>
          </a:ln>
        </p:spPr>
      </p:cxnSp>
      <p:cxnSp>
        <p:nvCxnSpPr>
          <p:cNvPr id="178" name="Google Shape;178;p14"/>
          <p:cNvCxnSpPr/>
          <p:nvPr/>
        </p:nvCxnSpPr>
        <p:spPr>
          <a:xfrm>
            <a:off x="6614733" y="3103567"/>
            <a:ext cx="158000" cy="380800"/>
          </a:xfrm>
          <a:prstGeom prst="straightConnector1">
            <a:avLst/>
          </a:prstGeom>
          <a:noFill/>
          <a:ln w="9525" cap="flat" cmpd="sng">
            <a:solidFill>
              <a:schemeClr val="dk2"/>
            </a:solidFill>
            <a:prstDash val="solid"/>
            <a:round/>
            <a:headEnd type="none" w="sm" len="sm"/>
            <a:tailEnd type="triangle" w="med" len="med"/>
          </a:ln>
        </p:spPr>
      </p:cxnSp>
      <p:sp>
        <p:nvSpPr>
          <p:cNvPr id="179" name="Google Shape;179;p14"/>
          <p:cNvSpPr txBox="1"/>
          <p:nvPr/>
        </p:nvSpPr>
        <p:spPr>
          <a:xfrm>
            <a:off x="5807767" y="2451932"/>
            <a:ext cx="1270400" cy="482400"/>
          </a:xfrm>
          <a:prstGeom prst="rect">
            <a:avLst/>
          </a:prstGeom>
          <a:noFill/>
          <a:ln>
            <a:noFill/>
          </a:ln>
        </p:spPr>
        <p:txBody>
          <a:bodyPr spcFirstLastPara="1" wrap="square" lIns="121900" tIns="121900" rIns="121900" bIns="1219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 sz="2400" b="0" i="0" u="none" strike="noStrike" cap="none">
                <a:solidFill>
                  <a:schemeClr val="dk1"/>
                </a:solidFill>
                <a:latin typeface="Rockwell"/>
                <a:ea typeface="Rockwell"/>
                <a:cs typeface="Rockwell"/>
                <a:sym typeface="Rockwell"/>
              </a:rPr>
              <a: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en" sz="2400" b="0" i="0" u="none" strike="noStrike" cap="none">
                <a:solidFill>
                  <a:schemeClr val="dk1"/>
                </a:solidFill>
                <a:latin typeface="Rockwell"/>
                <a:ea typeface="Rockwell"/>
                <a:cs typeface="Rockwell"/>
                <a:sym typeface="Rockwell"/>
              </a:rPr>
              <a:t>Series</a:t>
            </a:r>
            <a:endParaRPr sz="2400" b="0" i="0" u="none" strike="noStrike" cap="none">
              <a:solidFill>
                <a:schemeClr val="dk1"/>
              </a:solidFill>
              <a:latin typeface="Rockwell"/>
              <a:ea typeface="Rockwell"/>
              <a:cs typeface="Rockwell"/>
              <a:sym typeface="Rockwell"/>
            </a:endParaRPr>
          </a:p>
        </p:txBody>
      </p:sp>
      <p:cxnSp>
        <p:nvCxnSpPr>
          <p:cNvPr id="180" name="Google Shape;180;p14"/>
          <p:cNvCxnSpPr/>
          <p:nvPr/>
        </p:nvCxnSpPr>
        <p:spPr>
          <a:xfrm flipH="1">
            <a:off x="7483900" y="3094233"/>
            <a:ext cx="160000" cy="390000"/>
          </a:xfrm>
          <a:prstGeom prst="straightConnector1">
            <a:avLst/>
          </a:prstGeom>
          <a:noFill/>
          <a:ln w="9525" cap="flat" cmpd="sng">
            <a:solidFill>
              <a:schemeClr val="dk2"/>
            </a:solidFill>
            <a:prstDash val="solid"/>
            <a:round/>
            <a:headEnd type="none" w="sm" len="sm"/>
            <a:tailEnd type="triangle" w="med" len="med"/>
          </a:ln>
        </p:spPr>
      </p:cxnSp>
      <p:sp>
        <p:nvSpPr>
          <p:cNvPr id="181" name="Google Shape;181;p14"/>
          <p:cNvSpPr txBox="1"/>
          <p:nvPr/>
        </p:nvSpPr>
        <p:spPr>
          <a:xfrm>
            <a:off x="7373600" y="2451932"/>
            <a:ext cx="1506000" cy="482400"/>
          </a:xfrm>
          <a:prstGeom prst="rect">
            <a:avLst/>
          </a:prstGeom>
          <a:noFill/>
          <a:ln>
            <a:noFill/>
          </a:ln>
        </p:spPr>
        <p:txBody>
          <a:bodyPr spcFirstLastPara="1" wrap="square" lIns="121900" tIns="121900" rIns="121900" bIns="1219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 sz="2400" b="0" i="0" u="none" strike="noStrike" cap="none">
                <a:solidFill>
                  <a:schemeClr val="dk1"/>
                </a:solidFill>
                <a:latin typeface="Rockwell"/>
                <a:ea typeface="Rockwell"/>
                <a:cs typeface="Rockwell"/>
                <a:sym typeface="Rockwell"/>
              </a:rPr>
              <a:t>Year Series</a:t>
            </a:r>
            <a:endParaRPr sz="2400" b="0" i="0" u="none" strike="noStrike" cap="none">
              <a:solidFill>
                <a:schemeClr val="dk1"/>
              </a:solidFill>
              <a:latin typeface="Rockwell"/>
              <a:ea typeface="Rockwell"/>
              <a:cs typeface="Rockwell"/>
              <a:sym typeface="Rockwell"/>
            </a:endParaRPr>
          </a:p>
        </p:txBody>
      </p:sp>
      <p:cxnSp>
        <p:nvCxnSpPr>
          <p:cNvPr id="182" name="Google Shape;182;p14"/>
          <p:cNvCxnSpPr/>
          <p:nvPr/>
        </p:nvCxnSpPr>
        <p:spPr>
          <a:xfrm flipH="1">
            <a:off x="8499767" y="3094233"/>
            <a:ext cx="622400" cy="390000"/>
          </a:xfrm>
          <a:prstGeom prst="straightConnector1">
            <a:avLst/>
          </a:prstGeom>
          <a:noFill/>
          <a:ln w="9525" cap="flat" cmpd="sng">
            <a:solidFill>
              <a:schemeClr val="dk2"/>
            </a:solidFill>
            <a:prstDash val="solid"/>
            <a:round/>
            <a:headEnd type="none" w="sm" len="sm"/>
            <a:tailEnd type="triangle" w="med" len="med"/>
          </a:ln>
        </p:spPr>
      </p:cxnSp>
      <p:sp>
        <p:nvSpPr>
          <p:cNvPr id="183" name="Google Shape;183;p14"/>
          <p:cNvSpPr txBox="1"/>
          <p:nvPr/>
        </p:nvSpPr>
        <p:spPr>
          <a:xfrm>
            <a:off x="9175033" y="2642433"/>
            <a:ext cx="1827600" cy="482400"/>
          </a:xfrm>
          <a:prstGeom prst="rect">
            <a:avLst/>
          </a:prstGeom>
          <a:noFill/>
          <a:ln>
            <a:noFill/>
          </a:ln>
        </p:spPr>
        <p:txBody>
          <a:bodyPr spcFirstLastPara="1" wrap="square" lIns="121900" tIns="121900" rIns="121900" bIns="1219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 sz="2400" b="0" i="0" u="none" strike="noStrike" cap="none">
                <a:solidFill>
                  <a:schemeClr val="dk1"/>
                </a:solidFill>
                <a:latin typeface="Rockwell"/>
                <a:ea typeface="Rockwell"/>
                <a:cs typeface="Rockwell"/>
                <a:sym typeface="Rockwell"/>
              </a:rPr>
              <a:t>Result Series</a:t>
            </a:r>
            <a:endParaRPr sz="2400" b="0" i="0" u="none" strike="noStrike" cap="none">
              <a:solidFill>
                <a:schemeClr val="dk1"/>
              </a:solidFill>
              <a:latin typeface="Rockwell"/>
              <a:ea typeface="Rockwell"/>
              <a:cs typeface="Rockwell"/>
              <a:sym typeface="Rockwell"/>
            </a:endParaRPr>
          </a:p>
        </p:txBody>
      </p:sp>
      <p:sp>
        <p:nvSpPr>
          <p:cNvPr id="184" name="Google Shape;184;p14"/>
          <p:cNvSpPr/>
          <p:nvPr/>
        </p:nvSpPr>
        <p:spPr>
          <a:xfrm>
            <a:off x="3461755" y="3960397"/>
            <a:ext cx="458400" cy="2803200"/>
          </a:xfrm>
          <a:prstGeom prst="rect">
            <a:avLst/>
          </a:prstGeom>
          <a:noFill/>
          <a:ln w="28575" cap="flat" cmpd="sng">
            <a:solidFill>
              <a:srgbClr val="BE0712"/>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Rockwell"/>
              <a:ea typeface="Rockwell"/>
              <a:cs typeface="Rockwell"/>
              <a:sym typeface="Rockwel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p15"/>
          <p:cNvSpPr txBox="1">
            <a:spLocks noGrp="1"/>
          </p:cNvSpPr>
          <p:nvPr>
            <p:ph type="title"/>
          </p:nvPr>
        </p:nvSpPr>
        <p:spPr>
          <a:xfrm>
            <a:off x="663448" y="-10668"/>
            <a:ext cx="11122152"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 dirty="0"/>
              <a:t>INDICES ARE NOT NECESSARILY ROW NUMBERS</a:t>
            </a:r>
            <a:endParaRPr dirty="0"/>
          </a:p>
        </p:txBody>
      </p:sp>
      <p:pic>
        <p:nvPicPr>
          <p:cNvPr id="191" name="Google Shape;191;p15"/>
          <p:cNvPicPr preferRelativeResize="0"/>
          <p:nvPr/>
        </p:nvPicPr>
        <p:blipFill rotWithShape="1">
          <a:blip r:embed="rId3">
            <a:alphaModFix/>
          </a:blip>
          <a:srcRect/>
          <a:stretch/>
        </p:blipFill>
        <p:spPr>
          <a:xfrm>
            <a:off x="263277" y="2732689"/>
            <a:ext cx="10541358" cy="3675777"/>
          </a:xfrm>
          <a:prstGeom prst="rect">
            <a:avLst/>
          </a:prstGeom>
          <a:noFill/>
          <a:ln>
            <a:noFill/>
          </a:ln>
        </p:spPr>
      </p:pic>
      <p:sp>
        <p:nvSpPr>
          <p:cNvPr id="192" name="Google Shape;192;p15"/>
          <p:cNvSpPr/>
          <p:nvPr/>
        </p:nvSpPr>
        <p:spPr>
          <a:xfrm>
            <a:off x="747167" y="3059433"/>
            <a:ext cx="1674800" cy="3285600"/>
          </a:xfrm>
          <a:prstGeom prst="rect">
            <a:avLst/>
          </a:prstGeom>
          <a:noFill/>
          <a:ln w="28575" cap="flat" cmpd="sng">
            <a:solidFill>
              <a:srgbClr val="BE0712"/>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Rockwell"/>
              <a:ea typeface="Rockwell"/>
              <a:cs typeface="Rockwell"/>
              <a:sym typeface="Rockwell"/>
            </a:endParaRPr>
          </a:p>
        </p:txBody>
      </p:sp>
      <p:sp>
        <p:nvSpPr>
          <p:cNvPr id="193" name="Google Shape;193;p15"/>
          <p:cNvSpPr txBox="1">
            <a:spLocks noGrp="1"/>
          </p:cNvSpPr>
          <p:nvPr>
            <p:ph type="body" idx="1"/>
          </p:nvPr>
        </p:nvSpPr>
        <p:spPr>
          <a:xfrm>
            <a:off x="892048" y="1359408"/>
            <a:ext cx="10058400" cy="4050792"/>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SzPts val="1700"/>
              <a:buNone/>
            </a:pPr>
            <a:r>
              <a:rPr lang="en" dirty="0"/>
              <a:t>Indices (a.k.a. row labels) can also:</a:t>
            </a:r>
            <a:endParaRPr dirty="0"/>
          </a:p>
          <a:p>
            <a:pPr marL="182880" lvl="0" indent="-182880" algn="l" rtl="0">
              <a:lnSpc>
                <a:spcPct val="90000"/>
              </a:lnSpc>
              <a:spcBef>
                <a:spcPts val="1200"/>
              </a:spcBef>
              <a:spcAft>
                <a:spcPts val="0"/>
              </a:spcAft>
              <a:buSzPts val="1700"/>
              <a:buChar char="▪"/>
            </a:pPr>
            <a:r>
              <a:rPr lang="en" dirty="0"/>
              <a:t>Be non-numeric.</a:t>
            </a:r>
            <a:endParaRPr dirty="0"/>
          </a:p>
          <a:p>
            <a:pPr marL="182880" lvl="0" indent="-182880" algn="l" rtl="0">
              <a:lnSpc>
                <a:spcPct val="90000"/>
              </a:lnSpc>
              <a:spcBef>
                <a:spcPts val="0"/>
              </a:spcBef>
              <a:spcAft>
                <a:spcPts val="0"/>
              </a:spcAft>
              <a:buSzPts val="1700"/>
              <a:buChar char="▪"/>
            </a:pPr>
            <a:r>
              <a:rPr lang="en" dirty="0"/>
              <a:t>Have a name, e.g. “State”. </a:t>
            </a:r>
            <a:endParaRPr dirty="0"/>
          </a:p>
          <a:p>
            <a:pPr marL="182880" lvl="0" indent="-74928" algn="l" rtl="0">
              <a:lnSpc>
                <a:spcPct val="90000"/>
              </a:lnSpc>
              <a:spcBef>
                <a:spcPts val="1200"/>
              </a:spcBef>
              <a:spcAft>
                <a:spcPts val="0"/>
              </a:spcAft>
              <a:buSzPts val="1700"/>
              <a:buNone/>
            </a:pPr>
            <a:endParaRPr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p16"/>
          <p:cNvSpPr txBox="1">
            <a:spLocks noGrp="1"/>
          </p:cNvSpPr>
          <p:nvPr>
            <p:ph type="title"/>
          </p:nvPr>
        </p:nvSpPr>
        <p:spPr>
          <a:xfrm>
            <a:off x="1069848" y="2032"/>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 dirty="0"/>
              <a:t>INDICES</a:t>
            </a:r>
            <a:endParaRPr dirty="0"/>
          </a:p>
        </p:txBody>
      </p:sp>
      <p:sp>
        <p:nvSpPr>
          <p:cNvPr id="199" name="Google Shape;199;p16"/>
          <p:cNvSpPr txBox="1">
            <a:spLocks noGrp="1"/>
          </p:cNvSpPr>
          <p:nvPr>
            <p:ph type="body" idx="1"/>
          </p:nvPr>
        </p:nvSpPr>
        <p:spPr>
          <a:xfrm>
            <a:off x="1069848" y="1397508"/>
            <a:ext cx="10058400" cy="4050792"/>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SzPts val="1700"/>
              <a:buNone/>
            </a:pPr>
            <a:r>
              <a:rPr lang="en" dirty="0"/>
              <a:t>The row labels that constitute an index do not have to be unique.</a:t>
            </a:r>
            <a:endParaRPr dirty="0"/>
          </a:p>
          <a:p>
            <a:pPr marL="182880" lvl="0" indent="-182880" algn="l" rtl="0">
              <a:lnSpc>
                <a:spcPct val="90000"/>
              </a:lnSpc>
              <a:spcBef>
                <a:spcPts val="1200"/>
              </a:spcBef>
              <a:spcAft>
                <a:spcPts val="0"/>
              </a:spcAft>
              <a:buSzPts val="1700"/>
              <a:buChar char="▪"/>
            </a:pPr>
            <a:r>
              <a:rPr lang="en" dirty="0"/>
              <a:t>Left: The index values are all unique and numeric, acting as a row number.</a:t>
            </a:r>
            <a:endParaRPr dirty="0"/>
          </a:p>
          <a:p>
            <a:pPr marL="182880" lvl="0" indent="-182880" algn="l" rtl="0">
              <a:lnSpc>
                <a:spcPct val="90000"/>
              </a:lnSpc>
              <a:spcBef>
                <a:spcPts val="0"/>
              </a:spcBef>
              <a:spcAft>
                <a:spcPts val="0"/>
              </a:spcAft>
              <a:buSzPts val="1700"/>
              <a:buChar char="▪"/>
            </a:pPr>
            <a:r>
              <a:rPr lang="en" dirty="0"/>
              <a:t>Right: The index values are named and non-unique.</a:t>
            </a:r>
            <a:endParaRPr dirty="0"/>
          </a:p>
          <a:p>
            <a:pPr marL="182880" lvl="0" indent="-74928" algn="l" rtl="0">
              <a:lnSpc>
                <a:spcPct val="90000"/>
              </a:lnSpc>
              <a:spcBef>
                <a:spcPts val="1200"/>
              </a:spcBef>
              <a:spcAft>
                <a:spcPts val="0"/>
              </a:spcAft>
              <a:buSzPts val="1700"/>
              <a:buNone/>
            </a:pPr>
            <a:endParaRPr dirty="0"/>
          </a:p>
        </p:txBody>
      </p:sp>
      <p:pic>
        <p:nvPicPr>
          <p:cNvPr id="200" name="Google Shape;200;p16"/>
          <p:cNvPicPr preferRelativeResize="0"/>
          <p:nvPr/>
        </p:nvPicPr>
        <p:blipFill rotWithShape="1">
          <a:blip r:embed="rId3">
            <a:alphaModFix/>
          </a:blip>
          <a:srcRect/>
          <a:stretch/>
        </p:blipFill>
        <p:spPr>
          <a:xfrm>
            <a:off x="6000863" y="2822497"/>
            <a:ext cx="4837300" cy="3525967"/>
          </a:xfrm>
          <a:prstGeom prst="rect">
            <a:avLst/>
          </a:prstGeom>
          <a:noFill/>
          <a:ln w="9525" cap="flat" cmpd="sng">
            <a:solidFill>
              <a:srgbClr val="000000"/>
            </a:solidFill>
            <a:prstDash val="solid"/>
            <a:round/>
            <a:headEnd type="none" w="sm" len="sm"/>
            <a:tailEnd type="none" w="sm" len="sm"/>
          </a:ln>
        </p:spPr>
      </p:pic>
      <p:pic>
        <p:nvPicPr>
          <p:cNvPr id="201" name="Google Shape;201;p16"/>
          <p:cNvPicPr preferRelativeResize="0"/>
          <p:nvPr/>
        </p:nvPicPr>
        <p:blipFill rotWithShape="1">
          <a:blip r:embed="rId4">
            <a:alphaModFix/>
          </a:blip>
          <a:srcRect/>
          <a:stretch/>
        </p:blipFill>
        <p:spPr>
          <a:xfrm>
            <a:off x="446217" y="2997631"/>
            <a:ext cx="5441732" cy="3241500"/>
          </a:xfrm>
          <a:prstGeom prst="rect">
            <a:avLst/>
          </a:prstGeom>
          <a:noFill/>
          <a:ln w="9525" cap="flat" cmpd="sng">
            <a:solidFill>
              <a:srgbClr val="000000"/>
            </a:solidFill>
            <a:prstDash val="solid"/>
            <a:round/>
            <a:headEnd type="none" w="sm" len="sm"/>
            <a:tailEnd type="none" w="sm" len="sm"/>
          </a:ln>
        </p:spPr>
      </p:pic>
      <p:sp>
        <p:nvSpPr>
          <p:cNvPr id="202" name="Google Shape;202;p16"/>
          <p:cNvSpPr/>
          <p:nvPr/>
        </p:nvSpPr>
        <p:spPr>
          <a:xfrm>
            <a:off x="527555" y="3364233"/>
            <a:ext cx="562800" cy="2820000"/>
          </a:xfrm>
          <a:prstGeom prst="rect">
            <a:avLst/>
          </a:prstGeom>
          <a:noFill/>
          <a:ln w="28575" cap="flat" cmpd="sng">
            <a:solidFill>
              <a:srgbClr val="BE0712"/>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Rockwell"/>
              <a:ea typeface="Rockwell"/>
              <a:cs typeface="Rockwell"/>
              <a:sym typeface="Rockwell"/>
            </a:endParaRPr>
          </a:p>
        </p:txBody>
      </p:sp>
      <p:sp>
        <p:nvSpPr>
          <p:cNvPr id="203" name="Google Shape;203;p16"/>
          <p:cNvSpPr/>
          <p:nvPr/>
        </p:nvSpPr>
        <p:spPr>
          <a:xfrm>
            <a:off x="6144299" y="3352269"/>
            <a:ext cx="613600" cy="2965600"/>
          </a:xfrm>
          <a:prstGeom prst="rect">
            <a:avLst/>
          </a:prstGeom>
          <a:noFill/>
          <a:ln w="28575" cap="flat" cmpd="sng">
            <a:solidFill>
              <a:srgbClr val="BE0712"/>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Rockwell"/>
              <a:ea typeface="Rockwell"/>
              <a:cs typeface="Rockwell"/>
              <a:sym typeface="Rockwel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17"/>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
              <a:t>COLUMN NAMES MUST BE UNIQUE!</a:t>
            </a:r>
            <a:endParaRPr/>
          </a:p>
        </p:txBody>
      </p:sp>
      <p:sp>
        <p:nvSpPr>
          <p:cNvPr id="209" name="Google Shape;209;p17"/>
          <p:cNvSpPr txBox="1">
            <a:spLocks noGrp="1"/>
          </p:cNvSpPr>
          <p:nvPr>
            <p:ph type="body" idx="1"/>
          </p:nvPr>
        </p:nvSpPr>
        <p:spPr>
          <a:xfrm>
            <a:off x="1069848" y="2121408"/>
            <a:ext cx="10058400" cy="4050792"/>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SzPts val="1700"/>
              <a:buNone/>
            </a:pPr>
            <a:r>
              <a:rPr lang="en"/>
              <a:t>Column names in Pandas are always unique!</a:t>
            </a:r>
            <a:endParaRPr/>
          </a:p>
          <a:p>
            <a:pPr marL="182880" lvl="0" indent="-182880" algn="l" rtl="0">
              <a:lnSpc>
                <a:spcPct val="90000"/>
              </a:lnSpc>
              <a:spcBef>
                <a:spcPts val="1200"/>
              </a:spcBef>
              <a:spcAft>
                <a:spcPts val="0"/>
              </a:spcAft>
              <a:buSzPts val="1700"/>
              <a:buChar char="▪"/>
            </a:pPr>
            <a:r>
              <a:rPr lang="en"/>
              <a:t>Example: Can’t have two columns named “Candidate”. </a:t>
            </a:r>
            <a:endParaRPr/>
          </a:p>
          <a:p>
            <a:pPr marL="182880" lvl="0" indent="-74928" algn="l" rtl="0">
              <a:lnSpc>
                <a:spcPct val="90000"/>
              </a:lnSpc>
              <a:spcBef>
                <a:spcPts val="1200"/>
              </a:spcBef>
              <a:spcAft>
                <a:spcPts val="0"/>
              </a:spcAft>
              <a:buSzPts val="1700"/>
              <a:buNone/>
            </a:pPr>
            <a:endParaRPr/>
          </a:p>
        </p:txBody>
      </p:sp>
      <p:pic>
        <p:nvPicPr>
          <p:cNvPr id="210" name="Google Shape;210;p17"/>
          <p:cNvPicPr preferRelativeResize="0"/>
          <p:nvPr/>
        </p:nvPicPr>
        <p:blipFill rotWithShape="1">
          <a:blip r:embed="rId3">
            <a:alphaModFix/>
          </a:blip>
          <a:srcRect/>
          <a:stretch/>
        </p:blipFill>
        <p:spPr>
          <a:xfrm>
            <a:off x="3356429" y="3121498"/>
            <a:ext cx="5441732" cy="3241500"/>
          </a:xfrm>
          <a:prstGeom prst="rect">
            <a:avLst/>
          </a:prstGeom>
          <a:noFill/>
          <a:ln w="9525" cap="flat" cmpd="sng">
            <a:solidFill>
              <a:srgbClr val="000000"/>
            </a:solidFill>
            <a:prstDash val="solid"/>
            <a:round/>
            <a:headEnd type="none" w="sm" len="sm"/>
            <a:tailEnd type="none" w="sm" len="sm"/>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5" name="Google Shape;215;g278d6ac5ee2_0_3"/>
          <p:cNvSpPr txBox="1">
            <a:spLocks noGrp="1"/>
          </p:cNvSpPr>
          <p:nvPr>
            <p:ph type="ctrTitle"/>
          </p:nvPr>
        </p:nvSpPr>
        <p:spPr>
          <a:xfrm>
            <a:off x="1051560" y="1432223"/>
            <a:ext cx="9966900" cy="3035700"/>
          </a:xfrm>
          <a:prstGeom prst="rect">
            <a:avLst/>
          </a:prstGeom>
          <a:noFill/>
          <a:ln>
            <a:noFill/>
          </a:ln>
        </p:spPr>
        <p:txBody>
          <a:bodyPr spcFirstLastPara="1" wrap="square" lIns="91425" tIns="45700" rIns="91425" bIns="45700" anchor="ctr" anchorCtr="0">
            <a:noAutofit/>
          </a:bodyPr>
          <a:lstStyle/>
          <a:p>
            <a:pPr marL="0" lvl="0" indent="0" algn="l" rtl="0">
              <a:lnSpc>
                <a:spcPct val="80000"/>
              </a:lnSpc>
              <a:spcBef>
                <a:spcPts val="0"/>
              </a:spcBef>
              <a:spcAft>
                <a:spcPts val="0"/>
              </a:spcAft>
              <a:buSzPts val="4800"/>
              <a:buFont typeface="Rockwell"/>
              <a:buNone/>
            </a:pPr>
            <a:r>
              <a:rPr lang="en" sz="4800"/>
              <a:t>INDEXING WITH LOC AND ILOC</a:t>
            </a:r>
            <a:endParaRPr sz="4800"/>
          </a:p>
        </p:txBody>
      </p:sp>
      <p:sp>
        <p:nvSpPr>
          <p:cNvPr id="216" name="Google Shape;216;g278d6ac5ee2_0_3"/>
          <p:cNvSpPr txBox="1">
            <a:spLocks noGrp="1"/>
          </p:cNvSpPr>
          <p:nvPr>
            <p:ph type="subTitle" idx="1"/>
          </p:nvPr>
        </p:nvSpPr>
        <p:spPr>
          <a:xfrm>
            <a:off x="1069848" y="4389120"/>
            <a:ext cx="7891200" cy="10698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SzPts val="1870"/>
              <a:buNone/>
            </a:pPr>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sp>
        <p:nvSpPr>
          <p:cNvPr id="222" name="Google Shape;222;g278d6ac5ee2_0_8"/>
          <p:cNvSpPr txBox="1">
            <a:spLocks noGrp="1"/>
          </p:cNvSpPr>
          <p:nvPr>
            <p:ph type="title"/>
          </p:nvPr>
        </p:nvSpPr>
        <p:spPr>
          <a:xfrm>
            <a:off x="1069848" y="484632"/>
            <a:ext cx="10058400" cy="16092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
              <a:t>LOC AND ILOC</a:t>
            </a:r>
            <a:endParaRPr/>
          </a:p>
        </p:txBody>
      </p:sp>
      <p:sp>
        <p:nvSpPr>
          <p:cNvPr id="223" name="Google Shape;223;g278d6ac5ee2_0_8"/>
          <p:cNvSpPr txBox="1">
            <a:spLocks noGrp="1"/>
          </p:cNvSpPr>
          <p:nvPr>
            <p:ph type="body" idx="1"/>
          </p:nvPr>
        </p:nvSpPr>
        <p:spPr>
          <a:xfrm>
            <a:off x="1069850" y="2121400"/>
            <a:ext cx="11122200" cy="42519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SzPts val="1700"/>
              <a:buNone/>
            </a:pPr>
            <a:r>
              <a:rPr lang="en" dirty="0"/>
              <a:t>Loc and </a:t>
            </a:r>
            <a:r>
              <a:rPr lang="en" dirty="0" err="1"/>
              <a:t>iloc</a:t>
            </a:r>
            <a:r>
              <a:rPr lang="en" dirty="0"/>
              <a:t> are alternate ways to index into a </a:t>
            </a:r>
            <a:r>
              <a:rPr lang="en" dirty="0" err="1"/>
              <a:t>DataFrame</a:t>
            </a:r>
            <a:r>
              <a:rPr lang="en" dirty="0"/>
              <a:t>.</a:t>
            </a:r>
            <a:endParaRPr dirty="0"/>
          </a:p>
          <a:p>
            <a:pPr marL="182880" lvl="0" indent="-182880" algn="l" rtl="0">
              <a:lnSpc>
                <a:spcPct val="90000"/>
              </a:lnSpc>
              <a:spcBef>
                <a:spcPts val="1200"/>
              </a:spcBef>
              <a:spcAft>
                <a:spcPts val="0"/>
              </a:spcAft>
              <a:buSzPts val="1700"/>
              <a:buChar char="▪"/>
            </a:pPr>
            <a:r>
              <a:rPr lang="en" dirty="0"/>
              <a:t>They take a bit of getting used to! I’ll go over common usages (see docs for weirder ones).</a:t>
            </a:r>
            <a:endParaRPr dirty="0"/>
          </a:p>
          <a:p>
            <a:pPr marL="457200" lvl="1" indent="-182880" algn="l" rtl="0">
              <a:lnSpc>
                <a:spcPct val="90000"/>
              </a:lnSpc>
              <a:spcBef>
                <a:spcPts val="400"/>
              </a:spcBef>
              <a:spcAft>
                <a:spcPts val="0"/>
              </a:spcAft>
              <a:buSzPts val="1530"/>
              <a:buChar char="▪"/>
            </a:pPr>
            <a:r>
              <a:rPr lang="en" dirty="0"/>
              <a:t>loc: </a:t>
            </a:r>
            <a:r>
              <a:rPr lang="en" u="sng" dirty="0">
                <a:solidFill>
                  <a:schemeClr val="hlink"/>
                </a:solidFill>
              </a:rPr>
              <a:t>https://</a:t>
            </a:r>
            <a:r>
              <a:rPr lang="en" u="sng" dirty="0" err="1">
                <a:solidFill>
                  <a:schemeClr val="hlink"/>
                </a:solidFill>
              </a:rPr>
              <a:t>pandas.pydata.org</a:t>
            </a:r>
            <a:r>
              <a:rPr lang="en" u="sng" dirty="0">
                <a:solidFill>
                  <a:schemeClr val="hlink"/>
                </a:solidFill>
              </a:rPr>
              <a:t>/pandas-docs/stable/reference/</a:t>
            </a:r>
            <a:r>
              <a:rPr lang="en" u="sng" dirty="0" err="1">
                <a:solidFill>
                  <a:schemeClr val="hlink"/>
                </a:solidFill>
              </a:rPr>
              <a:t>api</a:t>
            </a:r>
            <a:r>
              <a:rPr lang="en" u="sng" dirty="0">
                <a:solidFill>
                  <a:schemeClr val="hlink"/>
                </a:solidFill>
              </a:rPr>
              <a:t>/</a:t>
            </a:r>
            <a:r>
              <a:rPr lang="en" u="sng" dirty="0" err="1">
                <a:solidFill>
                  <a:schemeClr val="hlink"/>
                </a:solidFill>
              </a:rPr>
              <a:t>pandas.DataFrame.loc.html</a:t>
            </a:r>
            <a:endParaRPr dirty="0"/>
          </a:p>
          <a:p>
            <a:pPr marL="457200" lvl="1" indent="-182880" algn="l" rtl="0">
              <a:lnSpc>
                <a:spcPct val="90000"/>
              </a:lnSpc>
              <a:spcBef>
                <a:spcPts val="200"/>
              </a:spcBef>
              <a:spcAft>
                <a:spcPts val="0"/>
              </a:spcAft>
              <a:buSzPts val="1530"/>
              <a:buChar char="▪"/>
            </a:pPr>
            <a:r>
              <a:rPr lang="en" dirty="0" err="1"/>
              <a:t>iloc</a:t>
            </a:r>
            <a:r>
              <a:rPr lang="en" dirty="0"/>
              <a:t>: </a:t>
            </a:r>
            <a:r>
              <a:rPr lang="en" u="sng" dirty="0">
                <a:solidFill>
                  <a:schemeClr val="hlink"/>
                </a:solidFill>
                <a:hlinkClick r:id="rId3"/>
              </a:rPr>
              <a:t>https://pandas.pydata.org/pandas-docs/stable/reference/api/pandas.DataFrame.iloc.html</a:t>
            </a:r>
            <a:r>
              <a:rPr lang="en" dirty="0"/>
              <a:t> </a:t>
            </a:r>
            <a:endParaRPr dirty="0"/>
          </a:p>
          <a:p>
            <a:pPr marL="457200" lvl="1" indent="-182880" algn="l" rtl="0">
              <a:lnSpc>
                <a:spcPct val="90000"/>
              </a:lnSpc>
              <a:spcBef>
                <a:spcPts val="200"/>
              </a:spcBef>
              <a:spcAft>
                <a:spcPts val="0"/>
              </a:spcAft>
              <a:buSzPts val="1530"/>
              <a:buChar char="▪"/>
            </a:pPr>
            <a:r>
              <a:rPr lang="en" dirty="0"/>
              <a:t>More general docs on indexing and selecting: </a:t>
            </a:r>
            <a:r>
              <a:rPr lang="en" u="sng" dirty="0">
                <a:solidFill>
                  <a:schemeClr val="hlink"/>
                </a:solidFill>
                <a:hlinkClick r:id="rId4"/>
              </a:rPr>
              <a:t>https://pandas.pydata.org/pandas-docs/stable/user_guide/indexing.html</a:t>
            </a:r>
            <a:r>
              <a:rPr lang="en" dirty="0"/>
              <a:t> </a:t>
            </a:r>
            <a:endParaRPr dirty="0"/>
          </a:p>
          <a:p>
            <a:pPr marL="457200" lvl="1" indent="-85725" algn="l" rtl="0">
              <a:lnSpc>
                <a:spcPct val="90000"/>
              </a:lnSpc>
              <a:spcBef>
                <a:spcPts val="200"/>
              </a:spcBef>
              <a:spcAft>
                <a:spcPts val="0"/>
              </a:spcAft>
              <a:buSzPts val="1530"/>
              <a:buNone/>
            </a:pPr>
            <a:endParaRPr dirty="0"/>
          </a:p>
          <a:p>
            <a:pPr marL="0" lvl="0" indent="0" algn="l" rtl="0">
              <a:lnSpc>
                <a:spcPct val="90000"/>
              </a:lnSpc>
              <a:spcBef>
                <a:spcPts val="1400"/>
              </a:spcBef>
              <a:spcAft>
                <a:spcPts val="0"/>
              </a:spcAft>
              <a:buSzPts val="1700"/>
              <a:buNone/>
            </a:pPr>
            <a:r>
              <a:rPr lang="en" dirty="0"/>
              <a:t>Loc does two things:</a:t>
            </a:r>
            <a:endParaRPr dirty="0"/>
          </a:p>
          <a:p>
            <a:pPr marL="182880" lvl="0" indent="-182880" algn="l" rtl="0">
              <a:lnSpc>
                <a:spcPct val="90000"/>
              </a:lnSpc>
              <a:spcBef>
                <a:spcPts val="1200"/>
              </a:spcBef>
              <a:spcAft>
                <a:spcPts val="0"/>
              </a:spcAft>
              <a:buSzPts val="1700"/>
              <a:buChar char="▪"/>
            </a:pPr>
            <a:r>
              <a:rPr lang="en" dirty="0"/>
              <a:t>Access values by labels.</a:t>
            </a:r>
            <a:endParaRPr dirty="0"/>
          </a:p>
          <a:p>
            <a:pPr marL="182880" lvl="0" indent="-182880" algn="l" rtl="0">
              <a:lnSpc>
                <a:spcPct val="90000"/>
              </a:lnSpc>
              <a:spcBef>
                <a:spcPts val="0"/>
              </a:spcBef>
              <a:spcAft>
                <a:spcPts val="0"/>
              </a:spcAft>
              <a:buSzPts val="1700"/>
              <a:buChar char="▪"/>
            </a:pPr>
            <a:r>
              <a:rPr lang="en" dirty="0"/>
              <a:t>Access values using a </a:t>
            </a:r>
            <a:r>
              <a:rPr lang="en" dirty="0" err="1"/>
              <a:t>boolean</a:t>
            </a:r>
            <a:r>
              <a:rPr lang="en" dirty="0"/>
              <a:t> array (a la Boolean Array Selection).</a:t>
            </a:r>
            <a:endParaRPr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8" name="Google Shape;228;g278d6ac5ee2_0_14"/>
          <p:cNvSpPr txBox="1">
            <a:spLocks noGrp="1"/>
          </p:cNvSpPr>
          <p:nvPr>
            <p:ph type="title"/>
          </p:nvPr>
        </p:nvSpPr>
        <p:spPr>
          <a:xfrm>
            <a:off x="1069848" y="484632"/>
            <a:ext cx="10058400" cy="16092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
              <a:t>LOC WITH LISTS</a:t>
            </a:r>
            <a:endParaRPr/>
          </a:p>
        </p:txBody>
      </p:sp>
      <p:sp>
        <p:nvSpPr>
          <p:cNvPr id="229" name="Google Shape;229;g278d6ac5ee2_0_14"/>
          <p:cNvSpPr txBox="1">
            <a:spLocks noGrp="1"/>
          </p:cNvSpPr>
          <p:nvPr>
            <p:ph type="body" idx="1"/>
          </p:nvPr>
        </p:nvSpPr>
        <p:spPr>
          <a:xfrm>
            <a:off x="326467" y="3031143"/>
            <a:ext cx="5449200" cy="40509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SzPts val="2040"/>
              <a:buNone/>
            </a:pPr>
            <a:r>
              <a:rPr lang="en" sz="2400" dirty="0"/>
              <a:t>The most basic use of loc is to provide a list of row and column labels, which returns a </a:t>
            </a:r>
            <a:r>
              <a:rPr lang="en" sz="2400" dirty="0" err="1"/>
              <a:t>DataFrame</a:t>
            </a:r>
            <a:r>
              <a:rPr lang="en" sz="2400" dirty="0"/>
              <a:t>.</a:t>
            </a:r>
            <a:endParaRPr dirty="0"/>
          </a:p>
          <a:p>
            <a:pPr marL="182880" lvl="0" indent="-53338" algn="l" rtl="0">
              <a:lnSpc>
                <a:spcPct val="90000"/>
              </a:lnSpc>
              <a:spcBef>
                <a:spcPts val="1200"/>
              </a:spcBef>
              <a:spcAft>
                <a:spcPts val="0"/>
              </a:spcAft>
              <a:buSzPts val="2040"/>
              <a:buNone/>
            </a:pPr>
            <a:endParaRPr sz="2400" dirty="0"/>
          </a:p>
        </p:txBody>
      </p:sp>
      <p:pic>
        <p:nvPicPr>
          <p:cNvPr id="230" name="Google Shape;230;g278d6ac5ee2_0_14"/>
          <p:cNvPicPr preferRelativeResize="0"/>
          <p:nvPr/>
        </p:nvPicPr>
        <p:blipFill rotWithShape="1">
          <a:blip r:embed="rId3">
            <a:alphaModFix/>
          </a:blip>
          <a:srcRect/>
          <a:stretch/>
        </p:blipFill>
        <p:spPr>
          <a:xfrm>
            <a:off x="2145198" y="1966604"/>
            <a:ext cx="8537567" cy="427900"/>
          </a:xfrm>
          <a:prstGeom prst="rect">
            <a:avLst/>
          </a:prstGeom>
          <a:noFill/>
          <a:ln w="9525" cap="flat" cmpd="sng">
            <a:solidFill>
              <a:srgbClr val="000000"/>
            </a:solidFill>
            <a:prstDash val="solid"/>
            <a:round/>
            <a:headEnd type="none" w="sm" len="sm"/>
            <a:tailEnd type="none" w="sm" len="sm"/>
          </a:ln>
        </p:spPr>
      </p:pic>
      <p:pic>
        <p:nvPicPr>
          <p:cNvPr id="2" name="Google Shape;201;p16">
            <a:extLst>
              <a:ext uri="{FF2B5EF4-FFF2-40B4-BE49-F238E27FC236}">
                <a16:creationId xmlns:a16="http://schemas.microsoft.com/office/drawing/2014/main" id="{90A6E211-D719-44BE-F251-A1EF939300EF}"/>
              </a:ext>
            </a:extLst>
          </p:cNvPr>
          <p:cNvPicPr preferRelativeResize="0"/>
          <p:nvPr/>
        </p:nvPicPr>
        <p:blipFill rotWithShape="1">
          <a:blip r:embed="rId4">
            <a:alphaModFix/>
          </a:blip>
          <a:srcRect l="1" r="30170"/>
          <a:stretch/>
        </p:blipFill>
        <p:spPr>
          <a:xfrm>
            <a:off x="6296367" y="2842747"/>
            <a:ext cx="3799962" cy="3241500"/>
          </a:xfrm>
          <a:prstGeom prst="rect">
            <a:avLst/>
          </a:prstGeom>
          <a:noFill/>
          <a:ln w="9525" cap="flat" cmpd="sng">
            <a:solidFill>
              <a:srgbClr val="000000"/>
            </a:solidFill>
            <a:prstDash val="solid"/>
            <a:round/>
            <a:headEnd type="none" w="sm" len="sm"/>
            <a:tailEnd type="none" w="sm" len="sm"/>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g278d6ac5ee2_0_21"/>
          <p:cNvSpPr txBox="1">
            <a:spLocks noGrp="1"/>
          </p:cNvSpPr>
          <p:nvPr>
            <p:ph type="title"/>
          </p:nvPr>
        </p:nvSpPr>
        <p:spPr>
          <a:xfrm>
            <a:off x="1069848" y="484632"/>
            <a:ext cx="10058400" cy="16092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
              <a:t>LOC WITH SLICES</a:t>
            </a:r>
            <a:endParaRPr/>
          </a:p>
        </p:txBody>
      </p:sp>
      <p:sp>
        <p:nvSpPr>
          <p:cNvPr id="237" name="Google Shape;237;g278d6ac5ee2_0_21"/>
          <p:cNvSpPr txBox="1">
            <a:spLocks noGrp="1"/>
          </p:cNvSpPr>
          <p:nvPr>
            <p:ph type="body" idx="1"/>
          </p:nvPr>
        </p:nvSpPr>
        <p:spPr>
          <a:xfrm>
            <a:off x="1069847" y="2681241"/>
            <a:ext cx="5592300" cy="40509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SzPts val="2040"/>
              <a:buNone/>
            </a:pPr>
            <a:r>
              <a:rPr lang="en" sz="2400" dirty="0"/>
              <a:t>Loc is also commonly used with slices. </a:t>
            </a:r>
            <a:endParaRPr dirty="0"/>
          </a:p>
          <a:p>
            <a:pPr marL="182880" lvl="0" indent="-182880" algn="l" rtl="0">
              <a:lnSpc>
                <a:spcPct val="90000"/>
              </a:lnSpc>
              <a:spcBef>
                <a:spcPts val="1200"/>
              </a:spcBef>
              <a:spcAft>
                <a:spcPts val="0"/>
              </a:spcAft>
              <a:buSzPts val="2040"/>
              <a:buChar char="▪"/>
            </a:pPr>
            <a:r>
              <a:rPr lang="en" sz="2400" dirty="0"/>
              <a:t>Slicing works with all label types, not just numeric labels.</a:t>
            </a:r>
            <a:endParaRPr dirty="0"/>
          </a:p>
          <a:p>
            <a:pPr marL="182880" lvl="0" indent="-182880" algn="l" rtl="0">
              <a:lnSpc>
                <a:spcPct val="90000"/>
              </a:lnSpc>
              <a:spcBef>
                <a:spcPts val="0"/>
              </a:spcBef>
              <a:spcAft>
                <a:spcPts val="0"/>
              </a:spcAft>
              <a:buSzPts val="2040"/>
              <a:buChar char="▪"/>
            </a:pPr>
            <a:r>
              <a:rPr lang="en" sz="2400" dirty="0"/>
              <a:t>Slices with loc are </a:t>
            </a:r>
            <a:r>
              <a:rPr lang="en" sz="2400" b="1" dirty="0"/>
              <a:t>inclusive</a:t>
            </a:r>
            <a:r>
              <a:rPr lang="en" sz="2400" dirty="0"/>
              <a:t>, not </a:t>
            </a:r>
            <a:r>
              <a:rPr lang="en" sz="2400" b="1" dirty="0"/>
              <a:t>exclusive.</a:t>
            </a:r>
            <a:endParaRPr dirty="0"/>
          </a:p>
        </p:txBody>
      </p:sp>
      <p:pic>
        <p:nvPicPr>
          <p:cNvPr id="238" name="Google Shape;238;g278d6ac5ee2_0_21"/>
          <p:cNvPicPr preferRelativeResize="0"/>
          <p:nvPr/>
        </p:nvPicPr>
        <p:blipFill rotWithShape="1">
          <a:blip r:embed="rId3">
            <a:alphaModFix/>
          </a:blip>
          <a:srcRect/>
          <a:stretch/>
        </p:blipFill>
        <p:spPr>
          <a:xfrm>
            <a:off x="5751733" y="1982402"/>
            <a:ext cx="6160768" cy="489133"/>
          </a:xfrm>
          <a:prstGeom prst="rect">
            <a:avLst/>
          </a:prstGeom>
          <a:noFill/>
          <a:ln w="9525" cap="flat" cmpd="sng">
            <a:solidFill>
              <a:srgbClr val="000000"/>
            </a:solidFill>
            <a:prstDash val="solid"/>
            <a:round/>
            <a:headEnd type="none" w="sm" len="sm"/>
            <a:tailEnd type="none" w="sm" len="sm"/>
          </a:ln>
        </p:spPr>
      </p:pic>
      <p:pic>
        <p:nvPicPr>
          <p:cNvPr id="2" name="Google Shape;201;p16">
            <a:extLst>
              <a:ext uri="{FF2B5EF4-FFF2-40B4-BE49-F238E27FC236}">
                <a16:creationId xmlns:a16="http://schemas.microsoft.com/office/drawing/2014/main" id="{5C5614F8-D292-6DB1-569D-4DA8A0E141AE}"/>
              </a:ext>
            </a:extLst>
          </p:cNvPr>
          <p:cNvPicPr preferRelativeResize="0"/>
          <p:nvPr/>
        </p:nvPicPr>
        <p:blipFill rotWithShape="1">
          <a:blip r:embed="rId4">
            <a:alphaModFix/>
          </a:blip>
          <a:srcRect r="19161"/>
          <a:stretch/>
        </p:blipFill>
        <p:spPr>
          <a:xfrm>
            <a:off x="6521197" y="2577217"/>
            <a:ext cx="4399052" cy="3241500"/>
          </a:xfrm>
          <a:prstGeom prst="rect">
            <a:avLst/>
          </a:prstGeom>
          <a:noFill/>
          <a:ln w="9525" cap="flat" cmpd="sng">
            <a:solidFill>
              <a:srgbClr val="000000"/>
            </a:solidFill>
            <a:prstDash val="solid"/>
            <a:round/>
            <a:headEnd type="none" w="sm" len="sm"/>
            <a:tailEnd type="none" w="sm" len="sm"/>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sp>
        <p:nvSpPr>
          <p:cNvPr id="244" name="Google Shape;244;g278d6ac5ee2_0_28"/>
          <p:cNvSpPr txBox="1">
            <a:spLocks noGrp="1"/>
          </p:cNvSpPr>
          <p:nvPr>
            <p:ph type="title"/>
          </p:nvPr>
        </p:nvSpPr>
        <p:spPr>
          <a:xfrm>
            <a:off x="715288" y="484632"/>
            <a:ext cx="10966500" cy="16092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
              <a:t>LOC WITH SINGLE VALUES FOR COLUMN LABEL</a:t>
            </a:r>
            <a:endParaRPr/>
          </a:p>
        </p:txBody>
      </p:sp>
      <p:sp>
        <p:nvSpPr>
          <p:cNvPr id="245" name="Google Shape;245;g278d6ac5ee2_0_28"/>
          <p:cNvSpPr txBox="1">
            <a:spLocks noGrp="1"/>
          </p:cNvSpPr>
          <p:nvPr>
            <p:ph type="body" idx="1"/>
          </p:nvPr>
        </p:nvSpPr>
        <p:spPr>
          <a:xfrm>
            <a:off x="1069848" y="2121408"/>
            <a:ext cx="10058400" cy="4050900"/>
          </a:xfrm>
          <a:prstGeom prst="rect">
            <a:avLst/>
          </a:prstGeom>
          <a:noFill/>
          <a:ln>
            <a:noFill/>
          </a:ln>
        </p:spPr>
        <p:txBody>
          <a:bodyPr spcFirstLastPara="1" wrap="square" lIns="91425" tIns="45700" rIns="91425" bIns="45700" anchor="t" anchorCtr="0">
            <a:normAutofit/>
          </a:bodyPr>
          <a:lstStyle/>
          <a:p>
            <a:pPr marL="182880" lvl="0" indent="-182880" algn="l" rtl="0">
              <a:lnSpc>
                <a:spcPct val="90000"/>
              </a:lnSpc>
              <a:spcBef>
                <a:spcPts val="0"/>
              </a:spcBef>
              <a:spcAft>
                <a:spcPts val="0"/>
              </a:spcAft>
              <a:buSzPts val="1700"/>
              <a:buChar char="▪"/>
            </a:pPr>
            <a:r>
              <a:rPr lang="en"/>
              <a:t>If we provide only a single label as column argument, we get a Series.</a:t>
            </a:r>
            <a:endParaRPr b="1"/>
          </a:p>
          <a:p>
            <a:pPr marL="182880" lvl="0" indent="-74928" algn="l" rtl="0">
              <a:lnSpc>
                <a:spcPct val="90000"/>
              </a:lnSpc>
              <a:spcBef>
                <a:spcPts val="1200"/>
              </a:spcBef>
              <a:spcAft>
                <a:spcPts val="0"/>
              </a:spcAft>
              <a:buSzPts val="1700"/>
              <a:buNone/>
            </a:pPr>
            <a:endParaRPr/>
          </a:p>
        </p:txBody>
      </p:sp>
      <p:pic>
        <p:nvPicPr>
          <p:cNvPr id="246" name="Google Shape;246;g278d6ac5ee2_0_28"/>
          <p:cNvPicPr preferRelativeResize="0"/>
          <p:nvPr/>
        </p:nvPicPr>
        <p:blipFill rotWithShape="1">
          <a:blip r:embed="rId3">
            <a:alphaModFix/>
          </a:blip>
          <a:srcRect/>
          <a:stretch/>
        </p:blipFill>
        <p:spPr>
          <a:xfrm>
            <a:off x="1220134" y="2823216"/>
            <a:ext cx="5156900" cy="486500"/>
          </a:xfrm>
          <a:prstGeom prst="rect">
            <a:avLst/>
          </a:prstGeom>
          <a:noFill/>
          <a:ln w="9525" cap="flat" cmpd="sng">
            <a:solidFill>
              <a:srgbClr val="000000"/>
            </a:solidFill>
            <a:prstDash val="solid"/>
            <a:round/>
            <a:headEnd type="none" w="sm" len="sm"/>
            <a:tailEnd type="none" w="sm" len="sm"/>
          </a:ln>
        </p:spPr>
      </p:pic>
      <p:pic>
        <p:nvPicPr>
          <p:cNvPr id="247" name="Google Shape;247;g278d6ac5ee2_0_28"/>
          <p:cNvPicPr preferRelativeResize="0"/>
          <p:nvPr/>
        </p:nvPicPr>
        <p:blipFill rotWithShape="1">
          <a:blip r:embed="rId4">
            <a:alphaModFix/>
          </a:blip>
          <a:srcRect/>
          <a:stretch/>
        </p:blipFill>
        <p:spPr>
          <a:xfrm>
            <a:off x="1220117" y="3309700"/>
            <a:ext cx="5346700" cy="2298700"/>
          </a:xfrm>
          <a:prstGeom prst="rect">
            <a:avLst/>
          </a:prstGeom>
          <a:noFill/>
          <a:ln w="9525" cap="flat" cmpd="sng">
            <a:solidFill>
              <a:srgbClr val="000000"/>
            </a:solidFill>
            <a:prstDash val="solid"/>
            <a:round/>
            <a:headEnd type="none" w="sm" len="sm"/>
            <a:tailEnd type="none" w="sm" len="sm"/>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sp>
        <p:nvSpPr>
          <p:cNvPr id="252" name="Google Shape;252;g278d6ac5ee2_0_35"/>
          <p:cNvSpPr txBox="1">
            <a:spLocks noGrp="1"/>
          </p:cNvSpPr>
          <p:nvPr>
            <p:ph type="title"/>
          </p:nvPr>
        </p:nvSpPr>
        <p:spPr>
          <a:xfrm>
            <a:off x="696626" y="484632"/>
            <a:ext cx="11122200" cy="16092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
              <a:t>LOC WITH SINGLE VALUES FOR COLUMN LABEL</a:t>
            </a:r>
            <a:endParaRPr/>
          </a:p>
        </p:txBody>
      </p:sp>
      <p:sp>
        <p:nvSpPr>
          <p:cNvPr id="253" name="Google Shape;253;g278d6ac5ee2_0_35"/>
          <p:cNvSpPr txBox="1">
            <a:spLocks noGrp="1"/>
          </p:cNvSpPr>
          <p:nvPr>
            <p:ph type="body" idx="1"/>
          </p:nvPr>
        </p:nvSpPr>
        <p:spPr>
          <a:xfrm>
            <a:off x="1069848" y="2121408"/>
            <a:ext cx="10058400" cy="4050900"/>
          </a:xfrm>
          <a:prstGeom prst="rect">
            <a:avLst/>
          </a:prstGeom>
          <a:noFill/>
          <a:ln>
            <a:noFill/>
          </a:ln>
        </p:spPr>
        <p:txBody>
          <a:bodyPr spcFirstLastPara="1" wrap="square" lIns="91425" tIns="45700" rIns="91425" bIns="45700" anchor="t" anchorCtr="0">
            <a:normAutofit/>
          </a:bodyPr>
          <a:lstStyle/>
          <a:p>
            <a:pPr marL="182880" lvl="0" indent="-182880" algn="l" rtl="0">
              <a:lnSpc>
                <a:spcPct val="90000"/>
              </a:lnSpc>
              <a:spcBef>
                <a:spcPts val="0"/>
              </a:spcBef>
              <a:spcAft>
                <a:spcPts val="0"/>
              </a:spcAft>
              <a:buSzPts val="2040"/>
              <a:buChar char="▪"/>
            </a:pPr>
            <a:r>
              <a:rPr lang="en" sz="2400" dirty="0"/>
              <a:t>As before with the [] operator, if we provide a list of only one label as an argument, we get back a </a:t>
            </a:r>
            <a:r>
              <a:rPr lang="en" sz="2400" dirty="0" err="1"/>
              <a:t>dataframe</a:t>
            </a:r>
            <a:r>
              <a:rPr lang="en" sz="2400" dirty="0"/>
              <a:t>.</a:t>
            </a:r>
            <a:endParaRPr sz="2400" b="1" dirty="0"/>
          </a:p>
          <a:p>
            <a:pPr marL="0" lvl="0" indent="0" algn="l" rtl="0">
              <a:lnSpc>
                <a:spcPct val="90000"/>
              </a:lnSpc>
              <a:spcBef>
                <a:spcPts val="1200"/>
              </a:spcBef>
              <a:spcAft>
                <a:spcPts val="0"/>
              </a:spcAft>
              <a:buSzPts val="1700"/>
              <a:buNone/>
            </a:pPr>
            <a:endParaRPr dirty="0"/>
          </a:p>
        </p:txBody>
      </p:sp>
      <p:pic>
        <p:nvPicPr>
          <p:cNvPr id="254" name="Google Shape;254;g278d6ac5ee2_0_35"/>
          <p:cNvPicPr preferRelativeResize="0"/>
          <p:nvPr/>
        </p:nvPicPr>
        <p:blipFill rotWithShape="1">
          <a:blip r:embed="rId3">
            <a:alphaModFix/>
          </a:blip>
          <a:srcRect/>
          <a:stretch/>
        </p:blipFill>
        <p:spPr>
          <a:xfrm>
            <a:off x="1033519" y="2953844"/>
            <a:ext cx="5156900" cy="486500"/>
          </a:xfrm>
          <a:prstGeom prst="rect">
            <a:avLst/>
          </a:prstGeom>
          <a:noFill/>
          <a:ln w="9525" cap="flat" cmpd="sng">
            <a:solidFill>
              <a:srgbClr val="000000"/>
            </a:solidFill>
            <a:prstDash val="solid"/>
            <a:round/>
            <a:headEnd type="none" w="sm" len="sm"/>
            <a:tailEnd type="none" w="sm" len="sm"/>
          </a:ln>
        </p:spPr>
      </p:pic>
      <p:pic>
        <p:nvPicPr>
          <p:cNvPr id="255" name="Google Shape;255;g278d6ac5ee2_0_35"/>
          <p:cNvPicPr preferRelativeResize="0"/>
          <p:nvPr/>
        </p:nvPicPr>
        <p:blipFill rotWithShape="1">
          <a:blip r:embed="rId4">
            <a:alphaModFix/>
          </a:blip>
          <a:srcRect/>
          <a:stretch/>
        </p:blipFill>
        <p:spPr>
          <a:xfrm>
            <a:off x="1033502" y="3440328"/>
            <a:ext cx="5346700" cy="2298700"/>
          </a:xfrm>
          <a:prstGeom prst="rect">
            <a:avLst/>
          </a:prstGeom>
          <a:noFill/>
          <a:ln w="9525" cap="flat" cmpd="sng">
            <a:solidFill>
              <a:srgbClr val="000000"/>
            </a:solidFill>
            <a:prstDash val="solid"/>
            <a:round/>
            <a:headEnd type="none" w="sm" len="sm"/>
            <a:tailEnd type="none" w="sm" len="sm"/>
          </a:ln>
        </p:spPr>
      </p:pic>
      <p:pic>
        <p:nvPicPr>
          <p:cNvPr id="256" name="Google Shape;256;g278d6ac5ee2_0_35"/>
          <p:cNvPicPr preferRelativeResize="0"/>
          <p:nvPr/>
        </p:nvPicPr>
        <p:blipFill rotWithShape="1">
          <a:blip r:embed="rId5">
            <a:alphaModFix/>
          </a:blip>
          <a:srcRect/>
          <a:stretch/>
        </p:blipFill>
        <p:spPr>
          <a:xfrm>
            <a:off x="7068884" y="2953844"/>
            <a:ext cx="4994724" cy="486500"/>
          </a:xfrm>
          <a:prstGeom prst="rect">
            <a:avLst/>
          </a:prstGeom>
          <a:noFill/>
          <a:ln w="9525" cap="flat" cmpd="sng">
            <a:solidFill>
              <a:srgbClr val="000000"/>
            </a:solidFill>
            <a:prstDash val="solid"/>
            <a:round/>
            <a:headEnd type="none" w="sm" len="sm"/>
            <a:tailEnd type="none" w="sm" len="sm"/>
          </a:ln>
        </p:spPr>
      </p:pic>
      <p:pic>
        <p:nvPicPr>
          <p:cNvPr id="257" name="Google Shape;257;g278d6ac5ee2_0_35"/>
          <p:cNvPicPr preferRelativeResize="0"/>
          <p:nvPr/>
        </p:nvPicPr>
        <p:blipFill rotWithShape="1">
          <a:blip r:embed="rId6">
            <a:alphaModFix/>
          </a:blip>
          <a:srcRect/>
          <a:stretch/>
        </p:blipFill>
        <p:spPr>
          <a:xfrm>
            <a:off x="7068868" y="3449699"/>
            <a:ext cx="2247900" cy="3403600"/>
          </a:xfrm>
          <a:prstGeom prst="rect">
            <a:avLst/>
          </a:prstGeom>
          <a:noFill/>
          <a:ln w="9525" cap="flat" cmpd="sng">
            <a:solidFill>
              <a:srgbClr val="000000"/>
            </a:solidFill>
            <a:prstDash val="solid"/>
            <a:round/>
            <a:headEnd type="none" w="sm" len="sm"/>
            <a:tailEnd type="none" w="sm" len="sm"/>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261"/>
        <p:cNvGrpSpPr/>
        <p:nvPr/>
      </p:nvGrpSpPr>
      <p:grpSpPr>
        <a:xfrm>
          <a:off x="0" y="0"/>
          <a:ext cx="0" cy="0"/>
          <a:chOff x="0" y="0"/>
          <a:chExt cx="0" cy="0"/>
        </a:xfrm>
      </p:grpSpPr>
      <p:sp>
        <p:nvSpPr>
          <p:cNvPr id="262" name="Google Shape;262;g278d6ac5ee2_0_44"/>
          <p:cNvSpPr txBox="1">
            <a:spLocks noGrp="1"/>
          </p:cNvSpPr>
          <p:nvPr>
            <p:ph type="title"/>
          </p:nvPr>
        </p:nvSpPr>
        <p:spPr>
          <a:xfrm>
            <a:off x="1069848" y="484632"/>
            <a:ext cx="10058400" cy="16092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
              <a:t>LOC WITH SINGLE VALUES FOR ROW LABEL</a:t>
            </a:r>
            <a:endParaRPr/>
          </a:p>
        </p:txBody>
      </p:sp>
      <p:sp>
        <p:nvSpPr>
          <p:cNvPr id="263" name="Google Shape;263;g278d6ac5ee2_0_44"/>
          <p:cNvSpPr txBox="1">
            <a:spLocks noGrp="1"/>
          </p:cNvSpPr>
          <p:nvPr>
            <p:ph type="body" idx="1"/>
          </p:nvPr>
        </p:nvSpPr>
        <p:spPr>
          <a:xfrm>
            <a:off x="1069847" y="2121408"/>
            <a:ext cx="10619100" cy="40509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SzPts val="2040"/>
              <a:buNone/>
            </a:pPr>
            <a:r>
              <a:rPr lang="en" sz="2400" dirty="0"/>
              <a:t>If we provide only a single row label, we get a Series.</a:t>
            </a:r>
            <a:endParaRPr dirty="0"/>
          </a:p>
          <a:p>
            <a:pPr marL="182880" lvl="0" indent="-182880" algn="l" rtl="0">
              <a:lnSpc>
                <a:spcPct val="90000"/>
              </a:lnSpc>
              <a:spcBef>
                <a:spcPts val="1200"/>
              </a:spcBef>
              <a:spcAft>
                <a:spcPts val="0"/>
              </a:spcAft>
              <a:buSzPts val="2040"/>
              <a:buChar char="▪"/>
            </a:pPr>
            <a:r>
              <a:rPr lang="en" sz="2400" dirty="0"/>
              <a:t>Instead of the Series being one of the columns from the original data frame, it is a Series made up of the values from the requested row.</a:t>
            </a:r>
            <a:endParaRPr dirty="0"/>
          </a:p>
          <a:p>
            <a:pPr marL="182880" lvl="0" indent="-182880" algn="l" rtl="0">
              <a:lnSpc>
                <a:spcPct val="90000"/>
              </a:lnSpc>
              <a:spcBef>
                <a:spcPts val="0"/>
              </a:spcBef>
              <a:spcAft>
                <a:spcPts val="0"/>
              </a:spcAft>
              <a:buSzPts val="2040"/>
              <a:buChar char="▪"/>
            </a:pPr>
            <a:r>
              <a:rPr lang="en" sz="2400" dirty="0"/>
              <a:t>The index of this Series is the names of the columns from the data frame.</a:t>
            </a:r>
            <a:endParaRPr dirty="0"/>
          </a:p>
          <a:p>
            <a:pPr marL="182880" lvl="0" indent="-182880" algn="l" rtl="0">
              <a:lnSpc>
                <a:spcPct val="90000"/>
              </a:lnSpc>
              <a:spcBef>
                <a:spcPts val="0"/>
              </a:spcBef>
              <a:spcAft>
                <a:spcPts val="0"/>
              </a:spcAft>
              <a:buSzPts val="2040"/>
              <a:buChar char="▪"/>
            </a:pPr>
            <a:r>
              <a:rPr lang="en" sz="2400" dirty="0"/>
              <a:t>Putting the single row label in a list yields a </a:t>
            </a:r>
            <a:r>
              <a:rPr lang="en" sz="2400" dirty="0" err="1"/>
              <a:t>dataframe</a:t>
            </a:r>
            <a:r>
              <a:rPr lang="en" sz="2400" dirty="0"/>
              <a:t> version.</a:t>
            </a:r>
            <a:endParaRPr dirty="0"/>
          </a:p>
        </p:txBody>
      </p:sp>
      <p:pic>
        <p:nvPicPr>
          <p:cNvPr id="264" name="Google Shape;264;g278d6ac5ee2_0_44"/>
          <p:cNvPicPr preferRelativeResize="0"/>
          <p:nvPr/>
        </p:nvPicPr>
        <p:blipFill rotWithShape="1">
          <a:blip r:embed="rId3">
            <a:alphaModFix/>
          </a:blip>
          <a:srcRect/>
          <a:stretch/>
        </p:blipFill>
        <p:spPr>
          <a:xfrm>
            <a:off x="503101" y="4220253"/>
            <a:ext cx="5152667" cy="383600"/>
          </a:xfrm>
          <a:prstGeom prst="rect">
            <a:avLst/>
          </a:prstGeom>
          <a:noFill/>
          <a:ln w="9525" cap="flat" cmpd="sng">
            <a:solidFill>
              <a:srgbClr val="000000"/>
            </a:solidFill>
            <a:prstDash val="solid"/>
            <a:round/>
            <a:headEnd type="none" w="sm" len="sm"/>
            <a:tailEnd type="none" w="sm" len="sm"/>
          </a:ln>
        </p:spPr>
      </p:pic>
      <p:pic>
        <p:nvPicPr>
          <p:cNvPr id="265" name="Google Shape;265;g278d6ac5ee2_0_44"/>
          <p:cNvPicPr preferRelativeResize="0"/>
          <p:nvPr/>
        </p:nvPicPr>
        <p:blipFill rotWithShape="1">
          <a:blip r:embed="rId4">
            <a:alphaModFix/>
          </a:blip>
          <a:srcRect/>
          <a:stretch/>
        </p:blipFill>
        <p:spPr>
          <a:xfrm>
            <a:off x="503100" y="4613209"/>
            <a:ext cx="4114800" cy="1905000"/>
          </a:xfrm>
          <a:prstGeom prst="rect">
            <a:avLst/>
          </a:prstGeom>
          <a:noFill/>
          <a:ln w="9525" cap="flat" cmpd="sng">
            <a:solidFill>
              <a:srgbClr val="000000"/>
            </a:solidFill>
            <a:prstDash val="solid"/>
            <a:round/>
            <a:headEnd type="none" w="sm" len="sm"/>
            <a:tailEnd type="none" w="sm" len="sm"/>
          </a:ln>
        </p:spPr>
      </p:pic>
      <p:pic>
        <p:nvPicPr>
          <p:cNvPr id="266" name="Google Shape;266;g278d6ac5ee2_0_44"/>
          <p:cNvPicPr preferRelativeResize="0"/>
          <p:nvPr/>
        </p:nvPicPr>
        <p:blipFill rotWithShape="1">
          <a:blip r:embed="rId5">
            <a:alphaModFix/>
          </a:blip>
          <a:srcRect/>
          <a:stretch/>
        </p:blipFill>
        <p:spPr>
          <a:xfrm>
            <a:off x="6515099" y="4265720"/>
            <a:ext cx="5372098" cy="407749"/>
          </a:xfrm>
          <a:prstGeom prst="rect">
            <a:avLst/>
          </a:prstGeom>
          <a:noFill/>
          <a:ln w="9525" cap="flat" cmpd="sng">
            <a:solidFill>
              <a:srgbClr val="000000"/>
            </a:solidFill>
            <a:prstDash val="solid"/>
            <a:round/>
            <a:headEnd type="none" w="sm" len="sm"/>
            <a:tailEnd type="none" w="sm" len="sm"/>
          </a:ln>
        </p:spPr>
      </p:pic>
      <p:pic>
        <p:nvPicPr>
          <p:cNvPr id="267" name="Google Shape;267;g278d6ac5ee2_0_44"/>
          <p:cNvPicPr preferRelativeResize="0"/>
          <p:nvPr/>
        </p:nvPicPr>
        <p:blipFill rotWithShape="1">
          <a:blip r:embed="rId6">
            <a:alphaModFix/>
          </a:blip>
          <a:srcRect/>
          <a:stretch/>
        </p:blipFill>
        <p:spPr>
          <a:xfrm>
            <a:off x="6515085" y="4673453"/>
            <a:ext cx="5372100" cy="1079500"/>
          </a:xfrm>
          <a:prstGeom prst="rect">
            <a:avLst/>
          </a:prstGeom>
          <a:noFill/>
          <a:ln w="9525" cap="flat" cmpd="sng">
            <a:solidFill>
              <a:srgbClr val="000000"/>
            </a:solidFill>
            <a:prstDash val="solid"/>
            <a:round/>
            <a:headEnd type="none" w="sm" len="sm"/>
            <a:tailEnd type="none" w="sm" len="sm"/>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272"/>
        <p:cNvGrpSpPr/>
        <p:nvPr/>
      </p:nvGrpSpPr>
      <p:grpSpPr>
        <a:xfrm>
          <a:off x="0" y="0"/>
          <a:ext cx="0" cy="0"/>
          <a:chOff x="0" y="0"/>
          <a:chExt cx="0" cy="0"/>
        </a:xfrm>
      </p:grpSpPr>
      <p:sp>
        <p:nvSpPr>
          <p:cNvPr id="273" name="Google Shape;273;g278d6ac5ee2_0_53"/>
          <p:cNvSpPr txBox="1">
            <a:spLocks noGrp="1"/>
          </p:cNvSpPr>
          <p:nvPr>
            <p:ph type="title"/>
          </p:nvPr>
        </p:nvSpPr>
        <p:spPr>
          <a:xfrm>
            <a:off x="151850" y="92750"/>
            <a:ext cx="11919300" cy="16095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 dirty="0"/>
              <a:t>ILOC: INTEGER-BASED INDEXING </a:t>
            </a:r>
            <a:br>
              <a:rPr lang="en" dirty="0"/>
            </a:br>
            <a:r>
              <a:rPr lang="en" dirty="0"/>
              <a:t>FOR SELECTION BY POSITION</a:t>
            </a:r>
            <a:endParaRPr dirty="0"/>
          </a:p>
        </p:txBody>
      </p:sp>
      <p:sp>
        <p:nvSpPr>
          <p:cNvPr id="274" name="Google Shape;274;g278d6ac5ee2_0_53"/>
          <p:cNvSpPr txBox="1">
            <a:spLocks noGrp="1"/>
          </p:cNvSpPr>
          <p:nvPr>
            <p:ph type="body" idx="1"/>
          </p:nvPr>
        </p:nvSpPr>
        <p:spPr>
          <a:xfrm>
            <a:off x="1069848" y="1729523"/>
            <a:ext cx="10294800" cy="5091600"/>
          </a:xfrm>
          <a:prstGeom prst="rect">
            <a:avLst/>
          </a:prstGeom>
          <a:noFill/>
          <a:ln>
            <a:noFill/>
          </a:ln>
        </p:spPr>
        <p:txBody>
          <a:bodyPr spcFirstLastPara="1" wrap="square" lIns="91425" tIns="45700" rIns="91425" bIns="45700" anchor="t" anchorCtr="0">
            <a:normAutofit fontScale="92500" lnSpcReduction="10000"/>
          </a:bodyPr>
          <a:lstStyle/>
          <a:p>
            <a:pPr marL="182880" lvl="0" indent="-182880" algn="l" rtl="0">
              <a:lnSpc>
                <a:spcPct val="90000"/>
              </a:lnSpc>
              <a:spcBef>
                <a:spcPts val="0"/>
              </a:spcBef>
              <a:spcAft>
                <a:spcPts val="0"/>
              </a:spcAft>
              <a:buSzPct val="85000"/>
              <a:buChar char="▪"/>
            </a:pPr>
            <a:r>
              <a:rPr lang="en" sz="2400" dirty="0"/>
              <a:t>In contrast to loc, </a:t>
            </a:r>
            <a:r>
              <a:rPr lang="en" sz="2400" dirty="0" err="1"/>
              <a:t>iloc</a:t>
            </a:r>
            <a:r>
              <a:rPr lang="en" sz="2400" dirty="0"/>
              <a:t> doesn’t think about labels at all. Instead, it returns the items that appear in the numerical positions specified (slices are exclusive).</a:t>
            </a:r>
            <a:endParaRPr dirty="0"/>
          </a:p>
          <a:p>
            <a:pPr marL="182880" lvl="0" indent="-63054" algn="l" rtl="0">
              <a:lnSpc>
                <a:spcPct val="90000"/>
              </a:lnSpc>
              <a:spcBef>
                <a:spcPts val="1200"/>
              </a:spcBef>
              <a:spcAft>
                <a:spcPts val="0"/>
              </a:spcAft>
              <a:buSzPct val="85000"/>
              <a:buNone/>
            </a:pPr>
            <a:endParaRPr sz="2400" dirty="0"/>
          </a:p>
          <a:p>
            <a:pPr marL="182880" lvl="0" indent="-63054" algn="l" rtl="0">
              <a:lnSpc>
                <a:spcPct val="90000"/>
              </a:lnSpc>
              <a:spcBef>
                <a:spcPts val="1200"/>
              </a:spcBef>
              <a:spcAft>
                <a:spcPts val="0"/>
              </a:spcAft>
              <a:buSzPct val="85000"/>
              <a:buNone/>
            </a:pPr>
            <a:endParaRPr sz="2400" dirty="0"/>
          </a:p>
          <a:p>
            <a:pPr marL="182880" lvl="0" indent="-63054" algn="l" rtl="0">
              <a:lnSpc>
                <a:spcPct val="90000"/>
              </a:lnSpc>
              <a:spcBef>
                <a:spcPts val="1200"/>
              </a:spcBef>
              <a:spcAft>
                <a:spcPts val="0"/>
              </a:spcAft>
              <a:buSzPct val="85000"/>
              <a:buNone/>
            </a:pPr>
            <a:endParaRPr sz="2400" dirty="0"/>
          </a:p>
          <a:p>
            <a:pPr marL="182880" lvl="0" indent="-63054" algn="l" rtl="0">
              <a:lnSpc>
                <a:spcPct val="90000"/>
              </a:lnSpc>
              <a:spcBef>
                <a:spcPts val="1200"/>
              </a:spcBef>
              <a:spcAft>
                <a:spcPts val="0"/>
              </a:spcAft>
              <a:buSzPct val="85000"/>
              <a:buNone/>
            </a:pPr>
            <a:endParaRPr sz="2400" dirty="0"/>
          </a:p>
          <a:p>
            <a:pPr marL="182880" lvl="0" indent="-63054" algn="l" rtl="0">
              <a:lnSpc>
                <a:spcPct val="90000"/>
              </a:lnSpc>
              <a:spcBef>
                <a:spcPts val="1200"/>
              </a:spcBef>
              <a:spcAft>
                <a:spcPts val="0"/>
              </a:spcAft>
              <a:buSzPct val="85000"/>
              <a:buNone/>
            </a:pPr>
            <a:endParaRPr sz="2400" dirty="0"/>
          </a:p>
          <a:p>
            <a:pPr marL="182880" lvl="0" indent="-63054" algn="l" rtl="0">
              <a:lnSpc>
                <a:spcPct val="90000"/>
              </a:lnSpc>
              <a:spcBef>
                <a:spcPts val="1200"/>
              </a:spcBef>
              <a:spcAft>
                <a:spcPts val="0"/>
              </a:spcAft>
              <a:buSzPct val="85000"/>
              <a:buNone/>
            </a:pPr>
            <a:endParaRPr sz="2400" dirty="0"/>
          </a:p>
          <a:p>
            <a:pPr marL="0" lvl="0" indent="0" algn="l" rtl="0">
              <a:lnSpc>
                <a:spcPct val="90000"/>
              </a:lnSpc>
              <a:spcBef>
                <a:spcPts val="1200"/>
              </a:spcBef>
              <a:spcAft>
                <a:spcPts val="0"/>
              </a:spcAft>
              <a:buSzPct val="85000"/>
              <a:buNone/>
            </a:pPr>
            <a:r>
              <a:rPr lang="en" sz="2400" dirty="0"/>
              <a:t>Advantages of loc over </a:t>
            </a:r>
            <a:r>
              <a:rPr lang="en" sz="2400" dirty="0" err="1"/>
              <a:t>iloc</a:t>
            </a:r>
            <a:r>
              <a:rPr lang="en" sz="2400" dirty="0"/>
              <a:t>:</a:t>
            </a:r>
            <a:endParaRPr dirty="0"/>
          </a:p>
          <a:p>
            <a:pPr marL="182880" lvl="0" indent="-182880" algn="l" rtl="0">
              <a:lnSpc>
                <a:spcPct val="90000"/>
              </a:lnSpc>
              <a:spcBef>
                <a:spcPts val="1200"/>
              </a:spcBef>
              <a:spcAft>
                <a:spcPts val="0"/>
              </a:spcAft>
              <a:buSzPct val="85000"/>
              <a:buChar char="▪"/>
            </a:pPr>
            <a:r>
              <a:rPr lang="en" sz="2400" dirty="0"/>
              <a:t>Harder to make mistakes.</a:t>
            </a:r>
            <a:endParaRPr dirty="0"/>
          </a:p>
          <a:p>
            <a:pPr marL="182880" lvl="0" indent="-182880" algn="l" rtl="0">
              <a:lnSpc>
                <a:spcPct val="90000"/>
              </a:lnSpc>
              <a:spcBef>
                <a:spcPts val="0"/>
              </a:spcBef>
              <a:spcAft>
                <a:spcPts val="0"/>
              </a:spcAft>
              <a:buSzPct val="85000"/>
              <a:buChar char="▪"/>
            </a:pPr>
            <a:r>
              <a:rPr lang="en" sz="2400" dirty="0"/>
              <a:t>Easier to read code.</a:t>
            </a:r>
            <a:endParaRPr dirty="0"/>
          </a:p>
          <a:p>
            <a:pPr marL="182880" lvl="0" indent="-182880" algn="l" rtl="0">
              <a:lnSpc>
                <a:spcPct val="90000"/>
              </a:lnSpc>
              <a:spcBef>
                <a:spcPts val="0"/>
              </a:spcBef>
              <a:spcAft>
                <a:spcPts val="0"/>
              </a:spcAft>
              <a:buSzPct val="85000"/>
              <a:buChar char="▪"/>
            </a:pPr>
            <a:r>
              <a:rPr lang="en" sz="2400" dirty="0"/>
              <a:t>Not vulnerable to changes to the ordering of rows/cols in raw data files.</a:t>
            </a:r>
            <a:endParaRPr dirty="0"/>
          </a:p>
          <a:p>
            <a:pPr marL="0" lvl="0" indent="0" algn="l" rtl="0">
              <a:lnSpc>
                <a:spcPct val="90000"/>
              </a:lnSpc>
              <a:spcBef>
                <a:spcPts val="1200"/>
              </a:spcBef>
              <a:spcAft>
                <a:spcPts val="0"/>
              </a:spcAft>
              <a:buSzPct val="85000"/>
              <a:buNone/>
            </a:pPr>
            <a:r>
              <a:rPr lang="en" sz="2400" dirty="0"/>
              <a:t>Nonetheless, </a:t>
            </a:r>
            <a:r>
              <a:rPr lang="en" sz="2400" dirty="0" err="1"/>
              <a:t>iloc</a:t>
            </a:r>
            <a:r>
              <a:rPr lang="en" sz="2400" dirty="0"/>
              <a:t> can be more convenient. Use </a:t>
            </a:r>
            <a:r>
              <a:rPr lang="en" sz="2400" dirty="0" err="1"/>
              <a:t>iloc</a:t>
            </a:r>
            <a:r>
              <a:rPr lang="en" sz="2400" dirty="0"/>
              <a:t> judiciously.</a:t>
            </a:r>
            <a:endParaRPr dirty="0"/>
          </a:p>
          <a:p>
            <a:pPr marL="182880" lvl="0" indent="-83025" algn="l" rtl="0">
              <a:lnSpc>
                <a:spcPct val="90000"/>
              </a:lnSpc>
              <a:spcBef>
                <a:spcPts val="1200"/>
              </a:spcBef>
              <a:spcAft>
                <a:spcPts val="0"/>
              </a:spcAft>
              <a:buSzPct val="85000"/>
              <a:buNone/>
            </a:pPr>
            <a:endParaRPr dirty="0"/>
          </a:p>
        </p:txBody>
      </p:sp>
      <p:pic>
        <p:nvPicPr>
          <p:cNvPr id="275" name="Google Shape;275;g278d6ac5ee2_0_53"/>
          <p:cNvPicPr preferRelativeResize="0"/>
          <p:nvPr/>
        </p:nvPicPr>
        <p:blipFill rotWithShape="1">
          <a:blip r:embed="rId3">
            <a:alphaModFix/>
          </a:blip>
          <a:srcRect/>
          <a:stretch/>
        </p:blipFill>
        <p:spPr>
          <a:xfrm>
            <a:off x="554583" y="2316365"/>
            <a:ext cx="4292600" cy="546100"/>
          </a:xfrm>
          <a:prstGeom prst="rect">
            <a:avLst/>
          </a:prstGeom>
          <a:noFill/>
          <a:ln w="9525" cap="flat" cmpd="sng">
            <a:solidFill>
              <a:srgbClr val="000000"/>
            </a:solidFill>
            <a:prstDash val="solid"/>
            <a:round/>
            <a:headEnd type="none" w="sm" len="sm"/>
            <a:tailEnd type="none" w="sm" len="sm"/>
          </a:ln>
        </p:spPr>
      </p:pic>
      <p:pic>
        <p:nvPicPr>
          <p:cNvPr id="276" name="Google Shape;276;g278d6ac5ee2_0_53"/>
          <p:cNvPicPr preferRelativeResize="0"/>
          <p:nvPr/>
        </p:nvPicPr>
        <p:blipFill rotWithShape="1">
          <a:blip r:embed="rId4">
            <a:alphaModFix/>
          </a:blip>
          <a:srcRect/>
          <a:stretch/>
        </p:blipFill>
        <p:spPr>
          <a:xfrm>
            <a:off x="5527984" y="2316381"/>
            <a:ext cx="4200801" cy="546100"/>
          </a:xfrm>
          <a:prstGeom prst="rect">
            <a:avLst/>
          </a:prstGeom>
          <a:noFill/>
          <a:ln w="9525" cap="flat" cmpd="sng">
            <a:solidFill>
              <a:srgbClr val="000000"/>
            </a:solidFill>
            <a:prstDash val="solid"/>
            <a:round/>
            <a:headEnd type="none" w="sm" len="sm"/>
            <a:tailEnd type="none" w="sm" len="sm"/>
          </a:ln>
        </p:spPr>
      </p:pic>
      <p:pic>
        <p:nvPicPr>
          <p:cNvPr id="277" name="Google Shape;277;g278d6ac5ee2_0_53"/>
          <p:cNvPicPr preferRelativeResize="0"/>
          <p:nvPr/>
        </p:nvPicPr>
        <p:blipFill rotWithShape="1">
          <a:blip r:embed="rId5">
            <a:alphaModFix/>
          </a:blip>
          <a:srcRect/>
          <a:stretch/>
        </p:blipFill>
        <p:spPr>
          <a:xfrm>
            <a:off x="554583" y="2881193"/>
            <a:ext cx="3872000" cy="1822133"/>
          </a:xfrm>
          <a:prstGeom prst="rect">
            <a:avLst/>
          </a:prstGeom>
          <a:noFill/>
          <a:ln w="9525" cap="flat" cmpd="sng">
            <a:solidFill>
              <a:srgbClr val="000000"/>
            </a:solidFill>
            <a:prstDash val="solid"/>
            <a:round/>
            <a:headEnd type="none" w="sm" len="sm"/>
            <a:tailEnd type="none" w="sm" len="sm"/>
          </a:ln>
        </p:spPr>
      </p:pic>
      <p:pic>
        <p:nvPicPr>
          <p:cNvPr id="278" name="Google Shape;278;g278d6ac5ee2_0_53"/>
          <p:cNvPicPr preferRelativeResize="0"/>
          <p:nvPr/>
        </p:nvPicPr>
        <p:blipFill rotWithShape="1">
          <a:blip r:embed="rId6">
            <a:alphaModFix/>
          </a:blip>
          <a:srcRect/>
          <a:stretch/>
        </p:blipFill>
        <p:spPr>
          <a:xfrm>
            <a:off x="5527984" y="2862480"/>
            <a:ext cx="6361700" cy="1752533"/>
          </a:xfrm>
          <a:prstGeom prst="rect">
            <a:avLst/>
          </a:prstGeom>
          <a:noFill/>
          <a:ln w="9525" cap="flat" cmpd="sng">
            <a:solidFill>
              <a:srgbClr val="000000"/>
            </a:solidFill>
            <a:prstDash val="solid"/>
            <a:round/>
            <a:headEnd type="none" w="sm" len="sm"/>
            <a:tailEnd type="none" w="sm" len="sm"/>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sp>
        <p:nvSpPr>
          <p:cNvPr id="283" name="Google Shape;283;p18"/>
          <p:cNvSpPr txBox="1">
            <a:spLocks noGrp="1"/>
          </p:cNvSpPr>
          <p:nvPr>
            <p:ph type="ctrTitle"/>
          </p:nvPr>
        </p:nvSpPr>
        <p:spPr>
          <a:xfrm>
            <a:off x="1051560" y="1432223"/>
            <a:ext cx="9966960" cy="3035808"/>
          </a:xfrm>
          <a:prstGeom prst="rect">
            <a:avLst/>
          </a:prstGeom>
          <a:noFill/>
          <a:ln>
            <a:noFill/>
          </a:ln>
        </p:spPr>
        <p:txBody>
          <a:bodyPr spcFirstLastPara="1" wrap="square" lIns="91425" tIns="45700" rIns="91425" bIns="45700" anchor="ctr" anchorCtr="0">
            <a:noAutofit/>
          </a:bodyPr>
          <a:lstStyle/>
          <a:p>
            <a:pPr marL="0" lvl="0" indent="0" algn="l" rtl="0">
              <a:lnSpc>
                <a:spcPct val="80000"/>
              </a:lnSpc>
              <a:spcBef>
                <a:spcPts val="0"/>
              </a:spcBef>
              <a:spcAft>
                <a:spcPts val="0"/>
              </a:spcAft>
              <a:buSzPts val="4800"/>
              <a:buFont typeface="Rockwell"/>
              <a:buNone/>
            </a:pPr>
            <a:r>
              <a:rPr lang="en" sz="4800" dirty="0"/>
              <a:t>INDEXING WITH THE [] OPERATOR</a:t>
            </a:r>
            <a:endParaRPr sz="4800" dirty="0"/>
          </a:p>
        </p:txBody>
      </p:sp>
      <p:sp>
        <p:nvSpPr>
          <p:cNvPr id="284" name="Google Shape;284;p18"/>
          <p:cNvSpPr txBox="1">
            <a:spLocks noGrp="1"/>
          </p:cNvSpPr>
          <p:nvPr>
            <p:ph type="subTitle" idx="1"/>
          </p:nvPr>
        </p:nvSpPr>
        <p:spPr>
          <a:xfrm>
            <a:off x="1069848" y="4389120"/>
            <a:ext cx="7891272" cy="1069848"/>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SzPts val="1870"/>
              <a:buNone/>
            </a:pPr>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19"/>
          <p:cNvSpPr txBox="1">
            <a:spLocks noGrp="1"/>
          </p:cNvSpPr>
          <p:nvPr>
            <p:ph type="title"/>
          </p:nvPr>
        </p:nvSpPr>
        <p:spPr>
          <a:xfrm>
            <a:off x="278375" y="-150375"/>
            <a:ext cx="11913600" cy="16095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 sz="4800" dirty="0"/>
              <a:t>INDEXING BY COLUMN NAMES USING []</a:t>
            </a:r>
            <a:endParaRPr sz="4800" dirty="0"/>
          </a:p>
        </p:txBody>
      </p:sp>
      <p:sp>
        <p:nvSpPr>
          <p:cNvPr id="291" name="Google Shape;291;p19"/>
          <p:cNvSpPr txBox="1">
            <a:spLocks noGrp="1"/>
          </p:cNvSpPr>
          <p:nvPr>
            <p:ph type="body" idx="1"/>
          </p:nvPr>
        </p:nvSpPr>
        <p:spPr>
          <a:xfrm>
            <a:off x="1069848" y="940308"/>
            <a:ext cx="10058400" cy="4050792"/>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SzPts val="1700"/>
              <a:buNone/>
            </a:pPr>
            <a:r>
              <a:rPr lang="en" dirty="0"/>
              <a:t>Given a </a:t>
            </a:r>
            <a:r>
              <a:rPr lang="en" dirty="0" err="1"/>
              <a:t>dataframe</a:t>
            </a:r>
            <a:r>
              <a:rPr lang="en" dirty="0"/>
              <a:t>, it is common to extract a Series or a collection of Series. This process is also known as “Column Selection” or sometimes “indexing by column”. </a:t>
            </a:r>
            <a:endParaRPr dirty="0"/>
          </a:p>
          <a:p>
            <a:pPr marL="182880" lvl="0" indent="-182880" algn="l" rtl="0">
              <a:lnSpc>
                <a:spcPct val="90000"/>
              </a:lnSpc>
              <a:spcBef>
                <a:spcPts val="1200"/>
              </a:spcBef>
              <a:spcAft>
                <a:spcPts val="0"/>
              </a:spcAft>
              <a:buSzPts val="1700"/>
              <a:buChar char="▪"/>
            </a:pPr>
            <a:r>
              <a:rPr lang="en" dirty="0"/>
              <a:t>Column name argument to [] yields Series.</a:t>
            </a:r>
            <a:endParaRPr dirty="0"/>
          </a:p>
          <a:p>
            <a:pPr marL="182880" lvl="0" indent="-182880" algn="l" rtl="0">
              <a:lnSpc>
                <a:spcPct val="90000"/>
              </a:lnSpc>
              <a:spcBef>
                <a:spcPts val="0"/>
              </a:spcBef>
              <a:spcAft>
                <a:spcPts val="0"/>
              </a:spcAft>
              <a:buSzPts val="1700"/>
              <a:buChar char="▪"/>
            </a:pPr>
            <a:r>
              <a:rPr lang="en" dirty="0"/>
              <a:t>List argument to [] yields a Data Frame.</a:t>
            </a:r>
            <a:endParaRPr dirty="0"/>
          </a:p>
          <a:p>
            <a:pPr marL="182880" lvl="0" indent="-74928" algn="l" rtl="0">
              <a:lnSpc>
                <a:spcPct val="90000"/>
              </a:lnSpc>
              <a:spcBef>
                <a:spcPts val="1200"/>
              </a:spcBef>
              <a:spcAft>
                <a:spcPts val="0"/>
              </a:spcAft>
              <a:buSzPts val="1700"/>
              <a:buNone/>
            </a:pPr>
            <a:endParaRPr dirty="0"/>
          </a:p>
        </p:txBody>
      </p:sp>
      <p:pic>
        <p:nvPicPr>
          <p:cNvPr id="292" name="Google Shape;292;p19"/>
          <p:cNvPicPr preferRelativeResize="0"/>
          <p:nvPr/>
        </p:nvPicPr>
        <p:blipFill rotWithShape="1">
          <a:blip r:embed="rId3">
            <a:alphaModFix/>
          </a:blip>
          <a:srcRect/>
          <a:stretch/>
        </p:blipFill>
        <p:spPr>
          <a:xfrm>
            <a:off x="590114" y="2867347"/>
            <a:ext cx="4549700" cy="430667"/>
          </a:xfrm>
          <a:prstGeom prst="rect">
            <a:avLst/>
          </a:prstGeom>
          <a:noFill/>
          <a:ln w="9525" cap="flat" cmpd="sng">
            <a:solidFill>
              <a:srgbClr val="000000"/>
            </a:solidFill>
            <a:prstDash val="solid"/>
            <a:round/>
            <a:headEnd type="none" w="sm" len="sm"/>
            <a:tailEnd type="none" w="sm" len="sm"/>
          </a:ln>
        </p:spPr>
      </p:pic>
      <p:pic>
        <p:nvPicPr>
          <p:cNvPr id="293" name="Google Shape;293;p19"/>
          <p:cNvPicPr preferRelativeResize="0"/>
          <p:nvPr/>
        </p:nvPicPr>
        <p:blipFill rotWithShape="1">
          <a:blip r:embed="rId4">
            <a:alphaModFix/>
          </a:blip>
          <a:srcRect/>
          <a:stretch/>
        </p:blipFill>
        <p:spPr>
          <a:xfrm>
            <a:off x="590113" y="3311197"/>
            <a:ext cx="4642287" cy="2238195"/>
          </a:xfrm>
          <a:prstGeom prst="rect">
            <a:avLst/>
          </a:prstGeom>
          <a:noFill/>
          <a:ln w="9525" cap="flat" cmpd="sng">
            <a:solidFill>
              <a:srgbClr val="000000"/>
            </a:solidFill>
            <a:prstDash val="solid"/>
            <a:round/>
            <a:headEnd type="none" w="sm" len="sm"/>
            <a:tailEnd type="none" w="sm" len="sm"/>
          </a:ln>
        </p:spPr>
      </p:pic>
      <p:pic>
        <p:nvPicPr>
          <p:cNvPr id="294" name="Google Shape;294;p19"/>
          <p:cNvPicPr preferRelativeResize="0"/>
          <p:nvPr/>
        </p:nvPicPr>
        <p:blipFill rotWithShape="1">
          <a:blip r:embed="rId5">
            <a:alphaModFix/>
          </a:blip>
          <a:srcRect/>
          <a:stretch/>
        </p:blipFill>
        <p:spPr>
          <a:xfrm>
            <a:off x="5664200" y="2857499"/>
            <a:ext cx="6216600" cy="405645"/>
          </a:xfrm>
          <a:prstGeom prst="rect">
            <a:avLst/>
          </a:prstGeom>
          <a:noFill/>
          <a:ln w="9525" cap="flat" cmpd="sng">
            <a:solidFill>
              <a:srgbClr val="000000"/>
            </a:solidFill>
            <a:prstDash val="solid"/>
            <a:round/>
            <a:headEnd type="none" w="sm" len="sm"/>
            <a:tailEnd type="none" w="sm" len="sm"/>
          </a:ln>
        </p:spPr>
      </p:pic>
      <p:pic>
        <p:nvPicPr>
          <p:cNvPr id="295" name="Google Shape;295;p19"/>
          <p:cNvPicPr preferRelativeResize="0"/>
          <p:nvPr/>
        </p:nvPicPr>
        <p:blipFill rotWithShape="1">
          <a:blip r:embed="rId6">
            <a:alphaModFix/>
          </a:blip>
          <a:srcRect/>
          <a:stretch/>
        </p:blipFill>
        <p:spPr>
          <a:xfrm>
            <a:off x="8210500" y="3286446"/>
            <a:ext cx="3638600" cy="3388511"/>
          </a:xfrm>
          <a:prstGeom prst="rect">
            <a:avLst/>
          </a:prstGeom>
          <a:noFill/>
          <a:ln w="9525" cap="flat" cmpd="sng">
            <a:solidFill>
              <a:srgbClr val="000000"/>
            </a:solidFill>
            <a:prstDash val="solid"/>
            <a:round/>
            <a:headEnd type="none" w="sm" len="sm"/>
            <a:tailEnd type="none" w="sm" len="sm"/>
          </a:ln>
        </p:spPr>
      </p:pic>
      <p:pic>
        <p:nvPicPr>
          <p:cNvPr id="296" name="Google Shape;296;p19"/>
          <p:cNvPicPr preferRelativeResize="0"/>
          <p:nvPr/>
        </p:nvPicPr>
        <p:blipFill rotWithShape="1">
          <a:blip r:embed="rId7">
            <a:alphaModFix/>
          </a:blip>
          <a:srcRect/>
          <a:stretch/>
        </p:blipFill>
        <p:spPr>
          <a:xfrm>
            <a:off x="2193190" y="5861644"/>
            <a:ext cx="4481967" cy="393900"/>
          </a:xfrm>
          <a:prstGeom prst="rect">
            <a:avLst/>
          </a:prstGeom>
          <a:noFill/>
          <a:ln w="9525" cap="flat" cmpd="sng">
            <a:solidFill>
              <a:srgbClr val="000000"/>
            </a:solidFill>
            <a:prstDash val="solid"/>
            <a:round/>
            <a:headEnd type="none" w="sm" len="sm"/>
            <a:tailEnd type="none" w="sm" len="sm"/>
          </a:ln>
        </p:spPr>
      </p:pic>
      <p:sp>
        <p:nvSpPr>
          <p:cNvPr id="297" name="Google Shape;297;p19"/>
          <p:cNvSpPr txBox="1"/>
          <p:nvPr/>
        </p:nvSpPr>
        <p:spPr>
          <a:xfrm>
            <a:off x="685800" y="5886628"/>
            <a:ext cx="6347379" cy="80021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 sz="1800" b="0" i="0" u="none" strike="noStrike" cap="none">
                <a:solidFill>
                  <a:schemeClr val="dk1"/>
                </a:solidFill>
                <a:latin typeface="Rockwell"/>
                <a:ea typeface="Rockwell"/>
                <a:cs typeface="Rockwell"/>
                <a:sym typeface="Rockwell"/>
              </a:rPr>
              <a:t>What about: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000"/>
              <a:buFont typeface="Arial"/>
              <a:buNone/>
            </a:pPr>
            <a:endParaRPr sz="1000" b="0" i="0" u="none" strike="noStrike" cap="none">
              <a:solidFill>
                <a:schemeClr val="dk1"/>
              </a:solidFill>
              <a:latin typeface="Rockwell"/>
              <a:ea typeface="Rockwell"/>
              <a:cs typeface="Rockwell"/>
              <a:sym typeface="Rockwell"/>
            </a:endParaRPr>
          </a:p>
          <a:p>
            <a:pPr marL="342900" marR="0" lvl="0" indent="-342900" algn="l" rtl="0">
              <a:lnSpc>
                <a:spcPct val="100000"/>
              </a:lnSpc>
              <a:spcBef>
                <a:spcPts val="0"/>
              </a:spcBef>
              <a:spcAft>
                <a:spcPts val="0"/>
              </a:spcAft>
              <a:buClr>
                <a:srgbClr val="7030A0"/>
              </a:buClr>
              <a:buSzPts val="1800"/>
              <a:buFont typeface="Rockwell"/>
              <a:buAutoNum type="alphaUcPeriod"/>
            </a:pPr>
            <a:r>
              <a:rPr lang="en" sz="1800" b="0" i="0" u="none" strike="noStrike" cap="none">
                <a:solidFill>
                  <a:srgbClr val="7030A0"/>
                </a:solidFill>
                <a:latin typeface="Rockwell"/>
                <a:ea typeface="Rockwell"/>
                <a:cs typeface="Rockwell"/>
                <a:sym typeface="Rockwell"/>
              </a:rPr>
              <a:t>DataFrame.               B. Series.                    C. Neither.</a:t>
            </a:r>
            <a:endParaRPr sz="14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9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12"/>
        <p:cNvGrpSpPr/>
        <p:nvPr/>
      </p:nvGrpSpPr>
      <p:grpSpPr>
        <a:xfrm>
          <a:off x="0" y="0"/>
          <a:ext cx="0" cy="0"/>
          <a:chOff x="0" y="0"/>
          <a:chExt cx="0" cy="0"/>
        </a:xfrm>
      </p:grpSpPr>
      <p:sp>
        <p:nvSpPr>
          <p:cNvPr id="313" name="Google Shape;313;p21"/>
          <p:cNvSpPr txBox="1">
            <a:spLocks noGrp="1"/>
          </p:cNvSpPr>
          <p:nvPr>
            <p:ph type="title"/>
          </p:nvPr>
        </p:nvSpPr>
        <p:spPr>
          <a:xfrm>
            <a:off x="0" y="484625"/>
            <a:ext cx="12192000" cy="16095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 dirty="0"/>
              <a:t>INDEXING BY ROW SLICES USING []</a:t>
            </a:r>
            <a:endParaRPr dirty="0"/>
          </a:p>
        </p:txBody>
      </p:sp>
      <p:sp>
        <p:nvSpPr>
          <p:cNvPr id="314" name="Google Shape;314;p21"/>
          <p:cNvSpPr txBox="1">
            <a:spLocks noGrp="1"/>
          </p:cNvSpPr>
          <p:nvPr>
            <p:ph type="body" idx="1"/>
          </p:nvPr>
        </p:nvSpPr>
        <p:spPr>
          <a:xfrm>
            <a:off x="1069848" y="2121408"/>
            <a:ext cx="10058400" cy="4050792"/>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SzPts val="1700"/>
              <a:buNone/>
            </a:pPr>
            <a:r>
              <a:rPr lang="en" dirty="0"/>
              <a:t>We can also index by row numbers using the [] operator. </a:t>
            </a:r>
            <a:endParaRPr dirty="0"/>
          </a:p>
          <a:p>
            <a:pPr marL="182880" lvl="0" indent="-182880" algn="l" rtl="0">
              <a:lnSpc>
                <a:spcPct val="90000"/>
              </a:lnSpc>
              <a:spcBef>
                <a:spcPts val="1200"/>
              </a:spcBef>
              <a:spcAft>
                <a:spcPts val="0"/>
              </a:spcAft>
              <a:buSzPts val="1700"/>
              <a:buChar char="▪"/>
            </a:pPr>
            <a:r>
              <a:rPr lang="en" dirty="0"/>
              <a:t>Numeric slice argument to [] yields rows.</a:t>
            </a:r>
            <a:endParaRPr dirty="0"/>
          </a:p>
          <a:p>
            <a:pPr marL="182880" lvl="0" indent="-182880" algn="l" rtl="0">
              <a:lnSpc>
                <a:spcPct val="90000"/>
              </a:lnSpc>
              <a:spcBef>
                <a:spcPts val="0"/>
              </a:spcBef>
              <a:spcAft>
                <a:spcPts val="0"/>
              </a:spcAft>
              <a:buSzPts val="1700"/>
              <a:buChar char="▪"/>
            </a:pPr>
            <a:r>
              <a:rPr lang="en" dirty="0"/>
              <a:t>Example: [0:3] yields rows 0 to 2.</a:t>
            </a:r>
            <a:endParaRPr dirty="0"/>
          </a:p>
          <a:p>
            <a:pPr marL="182880" lvl="0" indent="-74928" algn="l" rtl="0">
              <a:lnSpc>
                <a:spcPct val="90000"/>
              </a:lnSpc>
              <a:spcBef>
                <a:spcPts val="1200"/>
              </a:spcBef>
              <a:spcAft>
                <a:spcPts val="0"/>
              </a:spcAft>
              <a:buSzPts val="1700"/>
              <a:buNone/>
            </a:pPr>
            <a:endParaRPr dirty="0"/>
          </a:p>
        </p:txBody>
      </p:sp>
      <p:pic>
        <p:nvPicPr>
          <p:cNvPr id="315" name="Google Shape;315;p21"/>
          <p:cNvPicPr preferRelativeResize="0"/>
          <p:nvPr/>
        </p:nvPicPr>
        <p:blipFill rotWithShape="1">
          <a:blip r:embed="rId3">
            <a:alphaModFix/>
          </a:blip>
          <a:srcRect/>
          <a:stretch/>
        </p:blipFill>
        <p:spPr>
          <a:xfrm>
            <a:off x="1180780" y="3398399"/>
            <a:ext cx="2110308" cy="430667"/>
          </a:xfrm>
          <a:prstGeom prst="rect">
            <a:avLst/>
          </a:prstGeom>
          <a:noFill/>
          <a:ln w="9525" cap="flat" cmpd="sng">
            <a:solidFill>
              <a:srgbClr val="000000"/>
            </a:solidFill>
            <a:prstDash val="solid"/>
            <a:round/>
            <a:headEnd type="none" w="sm" len="sm"/>
            <a:tailEnd type="none" w="sm" len="sm"/>
          </a:ln>
        </p:spPr>
      </p:pic>
      <p:pic>
        <p:nvPicPr>
          <p:cNvPr id="316" name="Google Shape;316;p21"/>
          <p:cNvPicPr preferRelativeResize="0"/>
          <p:nvPr/>
        </p:nvPicPr>
        <p:blipFill rotWithShape="1">
          <a:blip r:embed="rId4">
            <a:alphaModFix/>
          </a:blip>
          <a:srcRect/>
          <a:stretch/>
        </p:blipFill>
        <p:spPr>
          <a:xfrm>
            <a:off x="1180764" y="3829066"/>
            <a:ext cx="6642100" cy="2286000"/>
          </a:xfrm>
          <a:prstGeom prst="rect">
            <a:avLst/>
          </a:prstGeom>
          <a:noFill/>
          <a:ln w="9525" cap="flat" cmpd="sng">
            <a:solidFill>
              <a:srgbClr val="000000"/>
            </a:solidFill>
            <a:prstDash val="solid"/>
            <a:round/>
            <a:headEnd type="none" w="sm" len="sm"/>
            <a:tailEnd type="none" w="sm" len="sm"/>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20"/>
        <p:cNvGrpSpPr/>
        <p:nvPr/>
      </p:nvGrpSpPr>
      <p:grpSpPr>
        <a:xfrm>
          <a:off x="0" y="0"/>
          <a:ext cx="0" cy="0"/>
          <a:chOff x="0" y="0"/>
          <a:chExt cx="0" cy="0"/>
        </a:xfrm>
      </p:grpSpPr>
      <p:sp>
        <p:nvSpPr>
          <p:cNvPr id="321" name="Google Shape;321;p22"/>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 dirty="0"/>
              <a:t>NOTE: ROW SELECTION REQUIRES SLICING!!</a:t>
            </a:r>
            <a:endParaRPr dirty="0"/>
          </a:p>
        </p:txBody>
      </p:sp>
      <p:sp>
        <p:nvSpPr>
          <p:cNvPr id="322" name="Google Shape;322;p22"/>
          <p:cNvSpPr txBox="1">
            <a:spLocks noGrp="1"/>
          </p:cNvSpPr>
          <p:nvPr>
            <p:ph type="body" idx="1"/>
          </p:nvPr>
        </p:nvSpPr>
        <p:spPr>
          <a:xfrm>
            <a:off x="1069848" y="2121408"/>
            <a:ext cx="10058400" cy="4050792"/>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SzPts val="1700"/>
              <a:buNone/>
            </a:pPr>
            <a:r>
              <a:rPr lang="en" dirty="0">
                <a:latin typeface="Consolas"/>
                <a:ea typeface="Consolas"/>
                <a:cs typeface="Consolas"/>
                <a:sym typeface="Consolas"/>
              </a:rPr>
              <a:t>elections[0]</a:t>
            </a:r>
            <a:r>
              <a:rPr lang="en" dirty="0"/>
              <a:t> will not work unless the elections data frame has a column whose name is the numeric zero.</a:t>
            </a:r>
            <a:endParaRPr dirty="0"/>
          </a:p>
          <a:p>
            <a:pPr marL="182880" lvl="0" indent="-182880" algn="l" rtl="0">
              <a:lnSpc>
                <a:spcPct val="90000"/>
              </a:lnSpc>
              <a:spcBef>
                <a:spcPts val="1200"/>
              </a:spcBef>
              <a:spcAft>
                <a:spcPts val="0"/>
              </a:spcAft>
              <a:buSzPts val="1700"/>
              <a:buChar char="▪"/>
            </a:pPr>
            <a:r>
              <a:rPr lang="en" dirty="0"/>
              <a:t>Note: It is actually possible for columns to have names that are non-String types, e.g. numeric, datetime etc.</a:t>
            </a:r>
            <a:endParaRPr dirty="0"/>
          </a:p>
          <a:p>
            <a:pPr marL="0" lvl="0" indent="0" algn="l" rtl="0">
              <a:lnSpc>
                <a:spcPct val="90000"/>
              </a:lnSpc>
              <a:spcBef>
                <a:spcPts val="1200"/>
              </a:spcBef>
              <a:spcAft>
                <a:spcPts val="0"/>
              </a:spcAft>
              <a:buSzPts val="1700"/>
              <a:buNone/>
            </a:pPr>
            <a:endParaRPr dirty="0"/>
          </a:p>
          <a:p>
            <a:pPr marL="182880" lvl="0" indent="-74928" algn="l" rtl="0">
              <a:lnSpc>
                <a:spcPct val="90000"/>
              </a:lnSpc>
              <a:spcBef>
                <a:spcPts val="1200"/>
              </a:spcBef>
              <a:spcAft>
                <a:spcPts val="0"/>
              </a:spcAft>
              <a:buSzPts val="1700"/>
              <a:buNone/>
            </a:pPr>
            <a:endParaRPr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326"/>
        <p:cNvGrpSpPr/>
        <p:nvPr/>
      </p:nvGrpSpPr>
      <p:grpSpPr>
        <a:xfrm>
          <a:off x="0" y="0"/>
          <a:ext cx="0" cy="0"/>
          <a:chOff x="0" y="0"/>
          <a:chExt cx="0" cy="0"/>
        </a:xfrm>
      </p:grpSpPr>
      <p:sp>
        <p:nvSpPr>
          <p:cNvPr id="327" name="Google Shape;327;p23"/>
          <p:cNvSpPr txBox="1">
            <a:spLocks noGrp="1"/>
          </p:cNvSpPr>
          <p:nvPr>
            <p:ph type="title"/>
          </p:nvPr>
        </p:nvSpPr>
        <p:spPr>
          <a:xfrm>
            <a:off x="1066800" y="0"/>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
              <a:t>[] SUMMARY</a:t>
            </a:r>
            <a:endParaRPr/>
          </a:p>
        </p:txBody>
      </p:sp>
      <p:sp>
        <p:nvSpPr>
          <p:cNvPr id="328" name="Google Shape;328;p23"/>
          <p:cNvSpPr/>
          <p:nvPr/>
        </p:nvSpPr>
        <p:spPr>
          <a:xfrm>
            <a:off x="2867033" y="3464856"/>
            <a:ext cx="636000" cy="514400"/>
          </a:xfrm>
          <a:prstGeom prst="rect">
            <a:avLst/>
          </a:prstGeom>
          <a:solidFill>
            <a:srgbClr val="C9DAF8"/>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2667"/>
              <a:buFont typeface="Arial"/>
              <a:buNone/>
            </a:pPr>
            <a:r>
              <a:rPr lang="en" sz="2667" b="0" i="0" u="none" strike="noStrike" cap="none">
                <a:solidFill>
                  <a:schemeClr val="dk1"/>
                </a:solidFill>
                <a:latin typeface="Consolas"/>
                <a:ea typeface="Consolas"/>
                <a:cs typeface="Consolas"/>
                <a:sym typeface="Consolas"/>
              </a:rPr>
              <a:t>[]</a:t>
            </a:r>
            <a:endParaRPr sz="2667" b="0" i="0" u="none" strike="noStrike" cap="none">
              <a:solidFill>
                <a:schemeClr val="dk1"/>
              </a:solidFill>
              <a:latin typeface="Consolas"/>
              <a:ea typeface="Consolas"/>
              <a:cs typeface="Consolas"/>
              <a:sym typeface="Consolas"/>
            </a:endParaRPr>
          </a:p>
        </p:txBody>
      </p:sp>
      <p:sp>
        <p:nvSpPr>
          <p:cNvPr id="329" name="Google Shape;329;p23"/>
          <p:cNvSpPr txBox="1"/>
          <p:nvPr/>
        </p:nvSpPr>
        <p:spPr>
          <a:xfrm>
            <a:off x="1704267" y="3455344"/>
            <a:ext cx="748400" cy="496000"/>
          </a:xfrm>
          <a:prstGeom prst="rect">
            <a:avLst/>
          </a:prstGeom>
          <a:no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2400"/>
              <a:buFont typeface="Arial"/>
              <a:buNone/>
            </a:pPr>
            <a:r>
              <a:rPr lang="en" sz="2400" b="0" i="0" u="none" strike="noStrike" cap="none">
                <a:solidFill>
                  <a:schemeClr val="dk1"/>
                </a:solidFill>
                <a:latin typeface="Rockwell"/>
                <a:ea typeface="Rockwell"/>
                <a:cs typeface="Rockwell"/>
                <a:sym typeface="Rockwell"/>
              </a:rPr>
              <a:t>List</a:t>
            </a:r>
            <a:endParaRPr sz="2400" b="0" i="0" u="none" strike="noStrike" cap="none">
              <a:solidFill>
                <a:schemeClr val="dk1"/>
              </a:solidFill>
              <a:latin typeface="Rockwell"/>
              <a:ea typeface="Rockwell"/>
              <a:cs typeface="Rockwell"/>
              <a:sym typeface="Rockwell"/>
            </a:endParaRPr>
          </a:p>
        </p:txBody>
      </p:sp>
      <p:cxnSp>
        <p:nvCxnSpPr>
          <p:cNvPr id="330" name="Google Shape;330;p23"/>
          <p:cNvCxnSpPr>
            <a:endCxn id="328" idx="1"/>
          </p:cNvCxnSpPr>
          <p:nvPr/>
        </p:nvCxnSpPr>
        <p:spPr>
          <a:xfrm>
            <a:off x="2304233" y="3722056"/>
            <a:ext cx="562800" cy="0"/>
          </a:xfrm>
          <a:prstGeom prst="straightConnector1">
            <a:avLst/>
          </a:prstGeom>
          <a:noFill/>
          <a:ln w="9525" cap="flat" cmpd="sng">
            <a:solidFill>
              <a:schemeClr val="dk2"/>
            </a:solidFill>
            <a:prstDash val="solid"/>
            <a:round/>
            <a:headEnd type="none" w="sm" len="sm"/>
            <a:tailEnd type="triangle" w="med" len="med"/>
          </a:ln>
        </p:spPr>
      </p:cxnSp>
      <p:sp>
        <p:nvSpPr>
          <p:cNvPr id="331" name="Google Shape;331;p23"/>
          <p:cNvSpPr/>
          <p:nvPr/>
        </p:nvSpPr>
        <p:spPr>
          <a:xfrm>
            <a:off x="2867033" y="5403551"/>
            <a:ext cx="636000" cy="514400"/>
          </a:xfrm>
          <a:prstGeom prst="rect">
            <a:avLst/>
          </a:prstGeom>
          <a:solidFill>
            <a:srgbClr val="C9DAF8"/>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2667"/>
              <a:buFont typeface="Arial"/>
              <a:buNone/>
            </a:pPr>
            <a:r>
              <a:rPr lang="en" sz="2667" b="0" i="0" u="none" strike="noStrike" cap="none">
                <a:solidFill>
                  <a:schemeClr val="dk1"/>
                </a:solidFill>
                <a:latin typeface="Consolas"/>
                <a:ea typeface="Consolas"/>
                <a:cs typeface="Consolas"/>
                <a:sym typeface="Consolas"/>
              </a:rPr>
              <a:t>[]</a:t>
            </a:r>
            <a:endParaRPr sz="2667" b="0" i="0" u="none" strike="noStrike" cap="none">
              <a:solidFill>
                <a:schemeClr val="dk1"/>
              </a:solidFill>
              <a:latin typeface="Consolas"/>
              <a:ea typeface="Consolas"/>
              <a:cs typeface="Consolas"/>
              <a:sym typeface="Consolas"/>
            </a:endParaRPr>
          </a:p>
        </p:txBody>
      </p:sp>
      <p:sp>
        <p:nvSpPr>
          <p:cNvPr id="332" name="Google Shape;332;p23"/>
          <p:cNvSpPr txBox="1"/>
          <p:nvPr/>
        </p:nvSpPr>
        <p:spPr>
          <a:xfrm>
            <a:off x="638987" y="5394051"/>
            <a:ext cx="1710800" cy="496000"/>
          </a:xfrm>
          <a:prstGeom prst="rect">
            <a:avLst/>
          </a:prstGeom>
          <a:no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2400"/>
              <a:buFont typeface="Arial"/>
              <a:buNone/>
            </a:pPr>
            <a:r>
              <a:rPr lang="en" sz="2400" b="0" i="0" u="none" strike="noStrike" cap="none">
                <a:solidFill>
                  <a:schemeClr val="dk1"/>
                </a:solidFill>
                <a:latin typeface="Rockwell"/>
                <a:ea typeface="Rockwell"/>
                <a:cs typeface="Rockwell"/>
                <a:sym typeface="Rockwell"/>
              </a:rPr>
              <a:t>Numeric Slice</a:t>
            </a:r>
            <a:endParaRPr sz="2400" b="0" i="0" u="none" strike="noStrike" cap="none">
              <a:solidFill>
                <a:schemeClr val="dk1"/>
              </a:solidFill>
              <a:latin typeface="Rockwell"/>
              <a:ea typeface="Rockwell"/>
              <a:cs typeface="Rockwell"/>
              <a:sym typeface="Rockwell"/>
            </a:endParaRPr>
          </a:p>
        </p:txBody>
      </p:sp>
      <p:cxnSp>
        <p:nvCxnSpPr>
          <p:cNvPr id="333" name="Google Shape;333;p23"/>
          <p:cNvCxnSpPr>
            <a:endCxn id="331" idx="1"/>
          </p:cNvCxnSpPr>
          <p:nvPr/>
        </p:nvCxnSpPr>
        <p:spPr>
          <a:xfrm>
            <a:off x="2304233" y="5660751"/>
            <a:ext cx="562800" cy="0"/>
          </a:xfrm>
          <a:prstGeom prst="straightConnector1">
            <a:avLst/>
          </a:prstGeom>
          <a:noFill/>
          <a:ln w="9525" cap="flat" cmpd="sng">
            <a:solidFill>
              <a:schemeClr val="dk2"/>
            </a:solidFill>
            <a:prstDash val="solid"/>
            <a:round/>
            <a:headEnd type="none" w="sm" len="sm"/>
            <a:tailEnd type="triangle" w="med" len="med"/>
          </a:ln>
        </p:spPr>
      </p:cxnSp>
      <p:sp>
        <p:nvSpPr>
          <p:cNvPr id="334" name="Google Shape;334;p23"/>
          <p:cNvSpPr/>
          <p:nvPr/>
        </p:nvSpPr>
        <p:spPr>
          <a:xfrm>
            <a:off x="2867033" y="1519565"/>
            <a:ext cx="636000" cy="514400"/>
          </a:xfrm>
          <a:prstGeom prst="rect">
            <a:avLst/>
          </a:prstGeom>
          <a:solidFill>
            <a:srgbClr val="C9DAF8"/>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2667"/>
              <a:buFont typeface="Arial"/>
              <a:buNone/>
            </a:pPr>
            <a:r>
              <a:rPr lang="en" sz="2667" b="0" i="0" u="none" strike="noStrike" cap="none">
                <a:solidFill>
                  <a:schemeClr val="dk1"/>
                </a:solidFill>
                <a:latin typeface="Consolas"/>
                <a:ea typeface="Consolas"/>
                <a:cs typeface="Consolas"/>
                <a:sym typeface="Consolas"/>
              </a:rPr>
              <a:t>[]</a:t>
            </a:r>
            <a:endParaRPr sz="2667" b="0" i="0" u="none" strike="noStrike" cap="none">
              <a:solidFill>
                <a:schemeClr val="dk1"/>
              </a:solidFill>
              <a:latin typeface="Consolas"/>
              <a:ea typeface="Consolas"/>
              <a:cs typeface="Consolas"/>
              <a:sym typeface="Consolas"/>
            </a:endParaRPr>
          </a:p>
        </p:txBody>
      </p:sp>
      <p:sp>
        <p:nvSpPr>
          <p:cNvPr id="335" name="Google Shape;335;p23"/>
          <p:cNvSpPr txBox="1"/>
          <p:nvPr/>
        </p:nvSpPr>
        <p:spPr>
          <a:xfrm>
            <a:off x="1431633" y="1510065"/>
            <a:ext cx="1167600" cy="496000"/>
          </a:xfrm>
          <a:prstGeom prst="rect">
            <a:avLst/>
          </a:prstGeom>
          <a:no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2400"/>
              <a:buFont typeface="Arial"/>
              <a:buNone/>
            </a:pPr>
            <a:r>
              <a:rPr lang="en" sz="2400" b="0" i="0" u="none" strike="noStrike" cap="none">
                <a:solidFill>
                  <a:schemeClr val="dk1"/>
                </a:solidFill>
                <a:latin typeface="Rockwell"/>
                <a:ea typeface="Rockwell"/>
                <a:cs typeface="Rockwell"/>
                <a:sym typeface="Rockwell"/>
              </a:rPr>
              <a:t>Name</a:t>
            </a:r>
            <a:endParaRPr sz="2400" b="0" i="0" u="none" strike="noStrike" cap="none">
              <a:solidFill>
                <a:schemeClr val="dk1"/>
              </a:solidFill>
              <a:latin typeface="Rockwell"/>
              <a:ea typeface="Rockwell"/>
              <a:cs typeface="Rockwell"/>
              <a:sym typeface="Rockwell"/>
            </a:endParaRPr>
          </a:p>
        </p:txBody>
      </p:sp>
      <p:cxnSp>
        <p:nvCxnSpPr>
          <p:cNvPr id="336" name="Google Shape;336;p23"/>
          <p:cNvCxnSpPr>
            <a:endCxn id="334" idx="1"/>
          </p:cNvCxnSpPr>
          <p:nvPr/>
        </p:nvCxnSpPr>
        <p:spPr>
          <a:xfrm>
            <a:off x="2304233" y="1776765"/>
            <a:ext cx="562800" cy="0"/>
          </a:xfrm>
          <a:prstGeom prst="straightConnector1">
            <a:avLst/>
          </a:prstGeom>
          <a:noFill/>
          <a:ln w="9525" cap="flat" cmpd="sng">
            <a:solidFill>
              <a:schemeClr val="dk2"/>
            </a:solidFill>
            <a:prstDash val="solid"/>
            <a:round/>
            <a:headEnd type="none" w="sm" len="sm"/>
            <a:tailEnd type="triangle" w="med" len="med"/>
          </a:ln>
        </p:spPr>
      </p:cxnSp>
      <p:cxnSp>
        <p:nvCxnSpPr>
          <p:cNvPr id="337" name="Google Shape;337;p23"/>
          <p:cNvCxnSpPr>
            <a:stCxn id="328" idx="3"/>
          </p:cNvCxnSpPr>
          <p:nvPr/>
        </p:nvCxnSpPr>
        <p:spPr>
          <a:xfrm>
            <a:off x="3503033" y="3722056"/>
            <a:ext cx="812700" cy="0"/>
          </a:xfrm>
          <a:prstGeom prst="straightConnector1">
            <a:avLst/>
          </a:prstGeom>
          <a:noFill/>
          <a:ln w="9525" cap="flat" cmpd="sng">
            <a:solidFill>
              <a:schemeClr val="dk2"/>
            </a:solidFill>
            <a:prstDash val="solid"/>
            <a:round/>
            <a:headEnd type="none" w="sm" len="sm"/>
            <a:tailEnd type="triangle" w="med" len="med"/>
          </a:ln>
        </p:spPr>
      </p:cxnSp>
      <p:sp>
        <p:nvSpPr>
          <p:cNvPr id="338" name="Google Shape;338;p23"/>
          <p:cNvSpPr txBox="1"/>
          <p:nvPr/>
        </p:nvSpPr>
        <p:spPr>
          <a:xfrm>
            <a:off x="4305032" y="3455356"/>
            <a:ext cx="1790967" cy="496000"/>
          </a:xfrm>
          <a:prstGeom prst="rect">
            <a:avLst/>
          </a:prstGeom>
          <a:no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2400"/>
              <a:buFont typeface="Arial"/>
              <a:buNone/>
            </a:pPr>
            <a:r>
              <a:rPr lang="en" sz="2400" b="0" i="0" u="none" strike="noStrike" cap="none">
                <a:solidFill>
                  <a:schemeClr val="dk1"/>
                </a:solidFill>
                <a:latin typeface="Rockwell"/>
                <a:ea typeface="Rockwell"/>
                <a:cs typeface="Rockwell"/>
                <a:sym typeface="Rockwell"/>
              </a:rPr>
              <a:t>DataFrame</a:t>
            </a:r>
            <a:endParaRPr sz="2400" b="0" i="0" u="none" strike="noStrike" cap="none">
              <a:solidFill>
                <a:schemeClr val="dk1"/>
              </a:solidFill>
              <a:latin typeface="Rockwell"/>
              <a:ea typeface="Rockwell"/>
              <a:cs typeface="Rockwell"/>
              <a:sym typeface="Rockwell"/>
            </a:endParaRPr>
          </a:p>
        </p:txBody>
      </p:sp>
      <p:sp>
        <p:nvSpPr>
          <p:cNvPr id="339" name="Google Shape;339;p23"/>
          <p:cNvSpPr txBox="1"/>
          <p:nvPr/>
        </p:nvSpPr>
        <p:spPr>
          <a:xfrm>
            <a:off x="4305033" y="5412751"/>
            <a:ext cx="1790966" cy="496000"/>
          </a:xfrm>
          <a:prstGeom prst="rect">
            <a:avLst/>
          </a:prstGeom>
          <a:no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2400"/>
              <a:buFont typeface="Arial"/>
              <a:buNone/>
            </a:pPr>
            <a:r>
              <a:rPr lang="en" sz="2400" b="0" i="0" u="none" strike="noStrike" cap="none">
                <a:solidFill>
                  <a:schemeClr val="dk1"/>
                </a:solidFill>
                <a:latin typeface="Rockwell"/>
                <a:ea typeface="Rockwell"/>
                <a:cs typeface="Rockwell"/>
                <a:sym typeface="Rockwell"/>
              </a:rPr>
              <a:t>DataFrame</a:t>
            </a:r>
            <a:endParaRPr sz="2400" b="0" i="0" u="none" strike="noStrike" cap="none">
              <a:solidFill>
                <a:schemeClr val="dk1"/>
              </a:solidFill>
              <a:latin typeface="Rockwell"/>
              <a:ea typeface="Rockwell"/>
              <a:cs typeface="Rockwell"/>
              <a:sym typeface="Rockwell"/>
            </a:endParaRPr>
          </a:p>
        </p:txBody>
      </p:sp>
      <p:cxnSp>
        <p:nvCxnSpPr>
          <p:cNvPr id="340" name="Google Shape;340;p23"/>
          <p:cNvCxnSpPr>
            <a:stCxn id="331" idx="3"/>
            <a:endCxn id="339" idx="1"/>
          </p:cNvCxnSpPr>
          <p:nvPr/>
        </p:nvCxnSpPr>
        <p:spPr>
          <a:xfrm>
            <a:off x="3503033" y="5660751"/>
            <a:ext cx="801900" cy="0"/>
          </a:xfrm>
          <a:prstGeom prst="straightConnector1">
            <a:avLst/>
          </a:prstGeom>
          <a:noFill/>
          <a:ln w="9525" cap="flat" cmpd="sng">
            <a:solidFill>
              <a:schemeClr val="dk2"/>
            </a:solidFill>
            <a:prstDash val="solid"/>
            <a:round/>
            <a:headEnd type="none" w="sm" len="sm"/>
            <a:tailEnd type="triangle" w="med" len="med"/>
          </a:ln>
        </p:spPr>
      </p:cxnSp>
      <p:cxnSp>
        <p:nvCxnSpPr>
          <p:cNvPr id="341" name="Google Shape;341;p23"/>
          <p:cNvCxnSpPr>
            <a:stCxn id="334" idx="3"/>
          </p:cNvCxnSpPr>
          <p:nvPr/>
        </p:nvCxnSpPr>
        <p:spPr>
          <a:xfrm>
            <a:off x="3503033" y="1776765"/>
            <a:ext cx="812700" cy="0"/>
          </a:xfrm>
          <a:prstGeom prst="straightConnector1">
            <a:avLst/>
          </a:prstGeom>
          <a:noFill/>
          <a:ln w="9525" cap="flat" cmpd="sng">
            <a:solidFill>
              <a:schemeClr val="dk2"/>
            </a:solidFill>
            <a:prstDash val="solid"/>
            <a:round/>
            <a:headEnd type="none" w="sm" len="sm"/>
            <a:tailEnd type="triangle" w="med" len="med"/>
          </a:ln>
        </p:spPr>
      </p:cxnSp>
      <p:sp>
        <p:nvSpPr>
          <p:cNvPr id="342" name="Google Shape;342;p23"/>
          <p:cNvSpPr txBox="1"/>
          <p:nvPr/>
        </p:nvSpPr>
        <p:spPr>
          <a:xfrm>
            <a:off x="4305033" y="1528765"/>
            <a:ext cx="1468800" cy="496000"/>
          </a:xfrm>
          <a:prstGeom prst="rect">
            <a:avLst/>
          </a:prstGeom>
          <a:no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2400"/>
              <a:buFont typeface="Arial"/>
              <a:buNone/>
            </a:pPr>
            <a:r>
              <a:rPr lang="en" sz="2400" b="0" i="0" u="none" strike="noStrike" cap="none">
                <a:solidFill>
                  <a:schemeClr val="dk1"/>
                </a:solidFill>
                <a:latin typeface="Rockwell"/>
                <a:ea typeface="Rockwell"/>
                <a:cs typeface="Rockwell"/>
                <a:sym typeface="Rockwell"/>
              </a:rPr>
              <a:t>Series</a:t>
            </a:r>
            <a:endParaRPr sz="2400" b="0" i="0" u="none" strike="noStrike" cap="none">
              <a:solidFill>
                <a:schemeClr val="dk1"/>
              </a:solidFill>
              <a:latin typeface="Rockwell"/>
              <a:ea typeface="Rockwell"/>
              <a:cs typeface="Rockwell"/>
              <a:sym typeface="Rockwell"/>
            </a:endParaRPr>
          </a:p>
        </p:txBody>
      </p:sp>
      <p:grpSp>
        <p:nvGrpSpPr>
          <p:cNvPr id="343" name="Google Shape;343;p23"/>
          <p:cNvGrpSpPr/>
          <p:nvPr/>
        </p:nvGrpSpPr>
        <p:grpSpPr>
          <a:xfrm>
            <a:off x="6876559" y="5180933"/>
            <a:ext cx="3445067" cy="1409067"/>
            <a:chOff x="5157419" y="3123700"/>
            <a:chExt cx="2583800" cy="1056800"/>
          </a:xfrm>
        </p:grpSpPr>
        <p:pic>
          <p:nvPicPr>
            <p:cNvPr id="344" name="Google Shape;344;p23"/>
            <p:cNvPicPr preferRelativeResize="0"/>
            <p:nvPr/>
          </p:nvPicPr>
          <p:blipFill rotWithShape="1">
            <a:blip r:embed="rId3">
              <a:alphaModFix/>
            </a:blip>
            <a:srcRect/>
            <a:stretch/>
          </p:blipFill>
          <p:spPr>
            <a:xfrm>
              <a:off x="5157425" y="3123700"/>
              <a:ext cx="820917" cy="167532"/>
            </a:xfrm>
            <a:prstGeom prst="rect">
              <a:avLst/>
            </a:prstGeom>
            <a:noFill/>
            <a:ln w="9525" cap="flat" cmpd="sng">
              <a:solidFill>
                <a:srgbClr val="000000"/>
              </a:solidFill>
              <a:prstDash val="solid"/>
              <a:round/>
              <a:headEnd type="none" w="sm" len="sm"/>
              <a:tailEnd type="none" w="sm" len="sm"/>
            </a:ln>
          </p:spPr>
        </p:pic>
        <p:pic>
          <p:nvPicPr>
            <p:cNvPr id="345" name="Google Shape;345;p23"/>
            <p:cNvPicPr preferRelativeResize="0"/>
            <p:nvPr/>
          </p:nvPicPr>
          <p:blipFill rotWithShape="1">
            <a:blip r:embed="rId4">
              <a:alphaModFix/>
            </a:blip>
            <a:srcRect/>
            <a:stretch/>
          </p:blipFill>
          <p:spPr>
            <a:xfrm>
              <a:off x="5157419" y="3291232"/>
              <a:ext cx="2583800" cy="889268"/>
            </a:xfrm>
            <a:prstGeom prst="rect">
              <a:avLst/>
            </a:prstGeom>
            <a:noFill/>
            <a:ln w="9525" cap="flat" cmpd="sng">
              <a:solidFill>
                <a:srgbClr val="000000"/>
              </a:solidFill>
              <a:prstDash val="solid"/>
              <a:round/>
              <a:headEnd type="none" w="sm" len="sm"/>
              <a:tailEnd type="none" w="sm" len="sm"/>
            </a:ln>
          </p:spPr>
        </p:pic>
      </p:grpSp>
      <p:grpSp>
        <p:nvGrpSpPr>
          <p:cNvPr id="346" name="Google Shape;346;p23"/>
          <p:cNvGrpSpPr/>
          <p:nvPr/>
        </p:nvGrpSpPr>
        <p:grpSpPr>
          <a:xfrm>
            <a:off x="7713967" y="2971534"/>
            <a:ext cx="2579335" cy="2018156"/>
            <a:chOff x="5785475" y="1619050"/>
            <a:chExt cx="1934501" cy="1513617"/>
          </a:xfrm>
        </p:grpSpPr>
        <p:pic>
          <p:nvPicPr>
            <p:cNvPr id="347" name="Google Shape;347;p23"/>
            <p:cNvPicPr preferRelativeResize="0"/>
            <p:nvPr/>
          </p:nvPicPr>
          <p:blipFill rotWithShape="1">
            <a:blip r:embed="rId5">
              <a:alphaModFix/>
            </a:blip>
            <a:srcRect/>
            <a:stretch/>
          </p:blipFill>
          <p:spPr>
            <a:xfrm>
              <a:off x="5785475" y="1619050"/>
              <a:ext cx="1934501" cy="175463"/>
            </a:xfrm>
            <a:prstGeom prst="rect">
              <a:avLst/>
            </a:prstGeom>
            <a:noFill/>
            <a:ln w="9525" cap="flat" cmpd="sng">
              <a:solidFill>
                <a:srgbClr val="000000"/>
              </a:solidFill>
              <a:prstDash val="solid"/>
              <a:round/>
              <a:headEnd type="none" w="sm" len="sm"/>
              <a:tailEnd type="none" w="sm" len="sm"/>
            </a:ln>
          </p:spPr>
        </p:pic>
        <p:pic>
          <p:nvPicPr>
            <p:cNvPr id="348" name="Google Shape;348;p23"/>
            <p:cNvPicPr preferRelativeResize="0"/>
            <p:nvPr/>
          </p:nvPicPr>
          <p:blipFill rotWithShape="1">
            <a:blip r:embed="rId6">
              <a:alphaModFix/>
            </a:blip>
            <a:srcRect/>
            <a:stretch/>
          </p:blipFill>
          <p:spPr>
            <a:xfrm>
              <a:off x="6996844" y="1804753"/>
              <a:ext cx="723125" cy="1327914"/>
            </a:xfrm>
            <a:prstGeom prst="rect">
              <a:avLst/>
            </a:prstGeom>
            <a:noFill/>
            <a:ln w="9525" cap="flat" cmpd="sng">
              <a:solidFill>
                <a:srgbClr val="000000"/>
              </a:solidFill>
              <a:prstDash val="solid"/>
              <a:round/>
              <a:headEnd type="none" w="sm" len="sm"/>
              <a:tailEnd type="none" w="sm" len="sm"/>
            </a:ln>
          </p:spPr>
        </p:pic>
      </p:grpSp>
      <p:grpSp>
        <p:nvGrpSpPr>
          <p:cNvPr id="349" name="Google Shape;349;p23"/>
          <p:cNvGrpSpPr/>
          <p:nvPr/>
        </p:nvGrpSpPr>
        <p:grpSpPr>
          <a:xfrm>
            <a:off x="7454701" y="979667"/>
            <a:ext cx="2842833" cy="1615533"/>
            <a:chOff x="5516475" y="667550"/>
            <a:chExt cx="2132125" cy="1211650"/>
          </a:xfrm>
        </p:grpSpPr>
        <p:pic>
          <p:nvPicPr>
            <p:cNvPr id="350" name="Google Shape;350;p23"/>
            <p:cNvPicPr preferRelativeResize="0"/>
            <p:nvPr/>
          </p:nvPicPr>
          <p:blipFill rotWithShape="1">
            <a:blip r:embed="rId7">
              <a:alphaModFix/>
            </a:blip>
            <a:srcRect/>
            <a:stretch/>
          </p:blipFill>
          <p:spPr>
            <a:xfrm>
              <a:off x="5516475" y="667550"/>
              <a:ext cx="1801465" cy="170526"/>
            </a:xfrm>
            <a:prstGeom prst="rect">
              <a:avLst/>
            </a:prstGeom>
            <a:noFill/>
            <a:ln w="9525" cap="flat" cmpd="sng">
              <a:solidFill>
                <a:srgbClr val="000000"/>
              </a:solidFill>
              <a:prstDash val="solid"/>
              <a:round/>
              <a:headEnd type="none" w="sm" len="sm"/>
              <a:tailEnd type="none" w="sm" len="sm"/>
            </a:ln>
          </p:spPr>
        </p:pic>
        <p:pic>
          <p:nvPicPr>
            <p:cNvPr id="351" name="Google Shape;351;p23"/>
            <p:cNvPicPr preferRelativeResize="0"/>
            <p:nvPr/>
          </p:nvPicPr>
          <p:blipFill rotWithShape="1">
            <a:blip r:embed="rId8">
              <a:alphaModFix/>
            </a:blip>
            <a:srcRect/>
            <a:stretch/>
          </p:blipFill>
          <p:spPr>
            <a:xfrm>
              <a:off x="5516475" y="843296"/>
              <a:ext cx="2132125" cy="1035904"/>
            </a:xfrm>
            <a:prstGeom prst="rect">
              <a:avLst/>
            </a:prstGeom>
            <a:noFill/>
            <a:ln w="9525" cap="flat" cmpd="sng">
              <a:solidFill>
                <a:srgbClr val="000000"/>
              </a:solidFill>
              <a:prstDash val="solid"/>
              <a:round/>
              <a:headEnd type="none" w="sm" len="sm"/>
              <a:tailEnd type="none" w="sm" len="sm"/>
            </a:ln>
          </p:spPr>
        </p:pic>
      </p:grpSp>
      <p:sp>
        <p:nvSpPr>
          <p:cNvPr id="352" name="Google Shape;352;p23"/>
          <p:cNvSpPr txBox="1"/>
          <p:nvPr/>
        </p:nvSpPr>
        <p:spPr>
          <a:xfrm>
            <a:off x="1692833" y="2033965"/>
            <a:ext cx="2984400" cy="346000"/>
          </a:xfrm>
          <a:prstGeom prst="rect">
            <a:avLst/>
          </a:prstGeom>
          <a:noFill/>
          <a:ln>
            <a:noFill/>
          </a:ln>
        </p:spPr>
        <p:txBody>
          <a:bodyPr spcFirstLastPara="1" wrap="square" lIns="121900" tIns="121900" rIns="121900" bIns="121900" anchor="t"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chemeClr val="dk1"/>
                </a:solidFill>
                <a:latin typeface="Rockwell"/>
                <a:ea typeface="Rockwell"/>
                <a:cs typeface="Rockwell"/>
                <a:sym typeface="Rockwell"/>
              </a:rPr>
              <a:t>Single Column Selection</a:t>
            </a:r>
            <a:endParaRPr sz="2400" b="0" i="0" u="none" strike="noStrike" cap="none">
              <a:solidFill>
                <a:schemeClr val="dk1"/>
              </a:solidFill>
              <a:latin typeface="Rockwell"/>
              <a:ea typeface="Rockwell"/>
              <a:cs typeface="Rockwell"/>
              <a:sym typeface="Rockwell"/>
            </a:endParaRPr>
          </a:p>
        </p:txBody>
      </p:sp>
      <p:sp>
        <p:nvSpPr>
          <p:cNvPr id="353" name="Google Shape;353;p23"/>
          <p:cNvSpPr txBox="1"/>
          <p:nvPr/>
        </p:nvSpPr>
        <p:spPr>
          <a:xfrm>
            <a:off x="1692833" y="3979256"/>
            <a:ext cx="2984400" cy="346000"/>
          </a:xfrm>
          <a:prstGeom prst="rect">
            <a:avLst/>
          </a:prstGeom>
          <a:noFill/>
          <a:ln>
            <a:noFill/>
          </a:ln>
        </p:spPr>
        <p:txBody>
          <a:bodyPr spcFirstLastPara="1" wrap="square" lIns="121900" tIns="121900" rIns="121900" bIns="121900" anchor="t"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chemeClr val="dk1"/>
                </a:solidFill>
                <a:latin typeface="Rockwell"/>
                <a:ea typeface="Rockwell"/>
                <a:cs typeface="Rockwell"/>
                <a:sym typeface="Rockwell"/>
              </a:rPr>
              <a:t>Multiple Column Selection</a:t>
            </a:r>
            <a:endParaRPr sz="2400" b="0" i="0" u="none" strike="noStrike" cap="none">
              <a:solidFill>
                <a:schemeClr val="dk1"/>
              </a:solidFill>
              <a:latin typeface="Rockwell"/>
              <a:ea typeface="Rockwell"/>
              <a:cs typeface="Rockwell"/>
              <a:sym typeface="Rockwell"/>
            </a:endParaRPr>
          </a:p>
        </p:txBody>
      </p:sp>
      <p:sp>
        <p:nvSpPr>
          <p:cNvPr id="354" name="Google Shape;354;p23"/>
          <p:cNvSpPr txBox="1"/>
          <p:nvPr/>
        </p:nvSpPr>
        <p:spPr>
          <a:xfrm>
            <a:off x="1356935" y="5917950"/>
            <a:ext cx="4081000" cy="370861"/>
          </a:xfrm>
          <a:prstGeom prst="rect">
            <a:avLst/>
          </a:prstGeom>
          <a:noFill/>
          <a:ln>
            <a:noFill/>
          </a:ln>
        </p:spPr>
        <p:txBody>
          <a:bodyPr spcFirstLastPara="1" wrap="square" lIns="121900" tIns="121900" rIns="121900" bIns="121900" anchor="t"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chemeClr val="dk1"/>
                </a:solidFill>
                <a:latin typeface="Rockwell"/>
                <a:ea typeface="Rockwell"/>
                <a:cs typeface="Rockwell"/>
                <a:sym typeface="Rockwell"/>
              </a:rPr>
              <a:t>(Multiple) Row Selection</a:t>
            </a:r>
            <a:endParaRPr sz="2400" b="0" i="0" u="none" strike="noStrike" cap="none">
              <a:solidFill>
                <a:schemeClr val="dk1"/>
              </a:solidFill>
              <a:latin typeface="Rockwell"/>
              <a:ea typeface="Rockwell"/>
              <a:cs typeface="Rockwell"/>
              <a:sym typeface="Rockwell"/>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359"/>
        <p:cNvGrpSpPr/>
        <p:nvPr/>
      </p:nvGrpSpPr>
      <p:grpSpPr>
        <a:xfrm>
          <a:off x="0" y="0"/>
          <a:ext cx="0" cy="0"/>
          <a:chOff x="0" y="0"/>
          <a:chExt cx="0" cy="0"/>
        </a:xfrm>
      </p:grpSpPr>
      <p:graphicFrame>
        <p:nvGraphicFramePr>
          <p:cNvPr id="360" name="Google Shape;360;p24"/>
          <p:cNvGraphicFramePr/>
          <p:nvPr>
            <p:extLst>
              <p:ext uri="{D42A27DB-BD31-4B8C-83A1-F6EECF244321}">
                <p14:modId xmlns:p14="http://schemas.microsoft.com/office/powerpoint/2010/main" val="4276945787"/>
              </p:ext>
            </p:extLst>
          </p:nvPr>
        </p:nvGraphicFramePr>
        <p:xfrm>
          <a:off x="124925" y="4902204"/>
          <a:ext cx="6425668" cy="1807694"/>
        </p:xfrm>
        <a:graphic>
          <a:graphicData uri="http://schemas.openxmlformats.org/drawingml/2006/table">
            <a:tbl>
              <a:tblPr firstRow="1" bandRow="1">
                <a:noFill/>
              </a:tblPr>
              <a:tblGrid>
                <a:gridCol w="3212834">
                  <a:extLst>
                    <a:ext uri="{9D8B030D-6E8A-4147-A177-3AD203B41FA5}">
                      <a16:colId xmlns:a16="http://schemas.microsoft.com/office/drawing/2014/main" val="20000"/>
                    </a:ext>
                  </a:extLst>
                </a:gridCol>
                <a:gridCol w="3212834">
                  <a:extLst>
                    <a:ext uri="{9D8B030D-6E8A-4147-A177-3AD203B41FA5}">
                      <a16:colId xmlns:a16="http://schemas.microsoft.com/office/drawing/2014/main" val="20001"/>
                    </a:ext>
                  </a:extLst>
                </a:gridCol>
              </a:tblGrid>
              <a:tr h="903847">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903847">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dirty="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
        <p:nvSpPr>
          <p:cNvPr id="361" name="Google Shape;361;p24"/>
          <p:cNvSpPr txBox="1">
            <a:spLocks noGrp="1"/>
          </p:cNvSpPr>
          <p:nvPr>
            <p:ph type="title"/>
          </p:nvPr>
        </p:nvSpPr>
        <p:spPr>
          <a:xfrm>
            <a:off x="1069848" y="-556"/>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
              <a:t>QUESTION 1</a:t>
            </a:r>
            <a:endParaRPr/>
          </a:p>
        </p:txBody>
      </p:sp>
      <p:sp>
        <p:nvSpPr>
          <p:cNvPr id="362" name="Google Shape;362;p24"/>
          <p:cNvSpPr txBox="1">
            <a:spLocks noGrp="1"/>
          </p:cNvSpPr>
          <p:nvPr>
            <p:ph type="body" idx="1"/>
          </p:nvPr>
        </p:nvSpPr>
        <p:spPr>
          <a:xfrm>
            <a:off x="450067" y="1626108"/>
            <a:ext cx="10678181" cy="4050792"/>
          </a:xfrm>
          <a:prstGeom prst="rect">
            <a:avLst/>
          </a:prstGeom>
          <a:noFill/>
          <a:ln>
            <a:noFill/>
          </a:ln>
        </p:spPr>
        <p:txBody>
          <a:bodyPr spcFirstLastPara="1" wrap="square" lIns="91425" tIns="45700" rIns="91425" bIns="45700" anchor="t" anchorCtr="0">
            <a:normAutofit/>
          </a:bodyPr>
          <a:lstStyle/>
          <a:p>
            <a:pPr marL="182880" lvl="0" indent="-74928" algn="l" rtl="0">
              <a:lnSpc>
                <a:spcPct val="90000"/>
              </a:lnSpc>
              <a:spcBef>
                <a:spcPts val="0"/>
              </a:spcBef>
              <a:spcAft>
                <a:spcPts val="0"/>
              </a:spcAft>
              <a:buSzPts val="1700"/>
              <a:buNone/>
            </a:pPr>
            <a:endParaRPr dirty="0"/>
          </a:p>
          <a:p>
            <a:pPr marL="182880" lvl="0" indent="-74928" algn="l" rtl="0">
              <a:lnSpc>
                <a:spcPct val="90000"/>
              </a:lnSpc>
              <a:spcBef>
                <a:spcPts val="1200"/>
              </a:spcBef>
              <a:spcAft>
                <a:spcPts val="0"/>
              </a:spcAft>
              <a:buSzPts val="1700"/>
              <a:buNone/>
            </a:pPr>
            <a:endParaRPr dirty="0"/>
          </a:p>
          <a:p>
            <a:pPr marL="182880" lvl="0" indent="-74928" algn="l" rtl="0">
              <a:lnSpc>
                <a:spcPct val="90000"/>
              </a:lnSpc>
              <a:spcBef>
                <a:spcPts val="1200"/>
              </a:spcBef>
              <a:spcAft>
                <a:spcPts val="0"/>
              </a:spcAft>
              <a:buSzPts val="1700"/>
              <a:buNone/>
            </a:pPr>
            <a:endParaRPr dirty="0"/>
          </a:p>
          <a:p>
            <a:pPr marL="182880" lvl="0" indent="-74928" algn="l" rtl="0">
              <a:lnSpc>
                <a:spcPct val="90000"/>
              </a:lnSpc>
              <a:spcBef>
                <a:spcPts val="1200"/>
              </a:spcBef>
              <a:spcAft>
                <a:spcPts val="0"/>
              </a:spcAft>
              <a:buSzPts val="1700"/>
              <a:buNone/>
            </a:pPr>
            <a:endParaRPr dirty="0"/>
          </a:p>
          <a:p>
            <a:pPr marL="182880" lvl="0" indent="-74928" algn="l" rtl="0">
              <a:lnSpc>
                <a:spcPct val="90000"/>
              </a:lnSpc>
              <a:spcBef>
                <a:spcPts val="1200"/>
              </a:spcBef>
              <a:spcAft>
                <a:spcPts val="0"/>
              </a:spcAft>
              <a:buSzPts val="1700"/>
              <a:buNone/>
            </a:pPr>
            <a:endParaRPr dirty="0"/>
          </a:p>
          <a:p>
            <a:pPr marL="0" lvl="0" indent="0" algn="l" rtl="0">
              <a:lnSpc>
                <a:spcPct val="90000"/>
              </a:lnSpc>
              <a:spcBef>
                <a:spcPts val="1200"/>
              </a:spcBef>
              <a:spcAft>
                <a:spcPts val="0"/>
              </a:spcAft>
              <a:buSzPts val="1700"/>
              <a:buNone/>
            </a:pPr>
            <a:r>
              <a:rPr lang="en" dirty="0"/>
              <a:t>Try to predict the output of the following:</a:t>
            </a:r>
            <a:endParaRPr dirty="0"/>
          </a:p>
          <a:p>
            <a:pPr marL="182880" lvl="0" indent="-182880" algn="l" rtl="0">
              <a:lnSpc>
                <a:spcPct val="90000"/>
              </a:lnSpc>
              <a:spcBef>
                <a:spcPts val="1200"/>
              </a:spcBef>
              <a:spcAft>
                <a:spcPts val="0"/>
              </a:spcAft>
              <a:buSzPts val="1700"/>
              <a:buFont typeface="Consolas"/>
              <a:buChar char="●"/>
            </a:pPr>
            <a:r>
              <a:rPr lang="en" dirty="0">
                <a:latin typeface="Consolas"/>
                <a:ea typeface="Consolas"/>
                <a:cs typeface="Consolas"/>
                <a:sym typeface="Consolas"/>
              </a:rPr>
              <a:t>weird[1]</a:t>
            </a:r>
            <a:endParaRPr dirty="0"/>
          </a:p>
        </p:txBody>
      </p:sp>
      <p:pic>
        <p:nvPicPr>
          <p:cNvPr id="363" name="Google Shape;363;p24"/>
          <p:cNvPicPr preferRelativeResize="0"/>
          <p:nvPr/>
        </p:nvPicPr>
        <p:blipFill rotWithShape="1">
          <a:blip r:embed="rId3">
            <a:alphaModFix/>
          </a:blip>
          <a:srcRect/>
          <a:stretch/>
        </p:blipFill>
        <p:spPr>
          <a:xfrm>
            <a:off x="450067" y="1592592"/>
            <a:ext cx="11188867" cy="764733"/>
          </a:xfrm>
          <a:prstGeom prst="rect">
            <a:avLst/>
          </a:prstGeom>
          <a:noFill/>
          <a:ln w="9525" cap="flat" cmpd="sng">
            <a:solidFill>
              <a:srgbClr val="000000"/>
            </a:solidFill>
            <a:prstDash val="solid"/>
            <a:round/>
            <a:headEnd type="none" w="sm" len="sm"/>
            <a:tailEnd type="none" w="sm" len="sm"/>
          </a:ln>
        </p:spPr>
      </p:pic>
      <p:pic>
        <p:nvPicPr>
          <p:cNvPr id="364" name="Google Shape;364;p24"/>
          <p:cNvPicPr preferRelativeResize="0"/>
          <p:nvPr/>
        </p:nvPicPr>
        <p:blipFill rotWithShape="1">
          <a:blip r:embed="rId4">
            <a:alphaModFix/>
          </a:blip>
          <a:srcRect/>
          <a:stretch/>
        </p:blipFill>
        <p:spPr>
          <a:xfrm>
            <a:off x="450067" y="2385329"/>
            <a:ext cx="2768600" cy="1536700"/>
          </a:xfrm>
          <a:prstGeom prst="rect">
            <a:avLst/>
          </a:prstGeom>
          <a:noFill/>
          <a:ln w="9525" cap="flat" cmpd="sng">
            <a:solidFill>
              <a:srgbClr val="000000"/>
            </a:solidFill>
            <a:prstDash val="solid"/>
            <a:round/>
            <a:headEnd type="none" w="sm" len="sm"/>
            <a:tailEnd type="none" w="sm" len="sm"/>
          </a:ln>
        </p:spPr>
      </p:pic>
      <p:sp>
        <p:nvSpPr>
          <p:cNvPr id="365" name="Google Shape;365;p24"/>
          <p:cNvSpPr/>
          <p:nvPr/>
        </p:nvSpPr>
        <p:spPr>
          <a:xfrm>
            <a:off x="8675600" y="2529848"/>
            <a:ext cx="636000" cy="514400"/>
          </a:xfrm>
          <a:prstGeom prst="rect">
            <a:avLst/>
          </a:prstGeom>
          <a:solidFill>
            <a:srgbClr val="6D9EEB"/>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2667"/>
              <a:buFont typeface="Arial"/>
              <a:buNone/>
            </a:pPr>
            <a:r>
              <a:rPr lang="en" sz="2667" b="0" i="0" u="none" strike="noStrike" cap="none">
                <a:solidFill>
                  <a:schemeClr val="dk1"/>
                </a:solidFill>
                <a:latin typeface="Consolas"/>
                <a:ea typeface="Consolas"/>
                <a:cs typeface="Consolas"/>
                <a:sym typeface="Consolas"/>
              </a:rPr>
              <a:t>[]</a:t>
            </a:r>
            <a:endParaRPr sz="2667" b="0" i="0" u="none" strike="noStrike" cap="none">
              <a:solidFill>
                <a:schemeClr val="dk1"/>
              </a:solidFill>
              <a:latin typeface="Consolas"/>
              <a:ea typeface="Consolas"/>
              <a:cs typeface="Consolas"/>
              <a:sym typeface="Consolas"/>
            </a:endParaRPr>
          </a:p>
        </p:txBody>
      </p:sp>
      <p:sp>
        <p:nvSpPr>
          <p:cNvPr id="366" name="Google Shape;366;p24"/>
          <p:cNvSpPr txBox="1"/>
          <p:nvPr/>
        </p:nvSpPr>
        <p:spPr>
          <a:xfrm>
            <a:off x="7240200" y="2520348"/>
            <a:ext cx="1167600" cy="496000"/>
          </a:xfrm>
          <a:prstGeom prst="rect">
            <a:avLst/>
          </a:prstGeom>
          <a:no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2400"/>
              <a:buFont typeface="Arial"/>
              <a:buNone/>
            </a:pPr>
            <a:r>
              <a:rPr lang="en" sz="2400" b="0" i="0" u="none" strike="noStrike" cap="none">
                <a:solidFill>
                  <a:schemeClr val="dk1"/>
                </a:solidFill>
                <a:latin typeface="Rockwell"/>
                <a:ea typeface="Rockwell"/>
                <a:cs typeface="Rockwell"/>
                <a:sym typeface="Rockwell"/>
              </a:rPr>
              <a:t>Name</a:t>
            </a:r>
            <a:endParaRPr sz="2400" b="0" i="0" u="none" strike="noStrike" cap="none">
              <a:solidFill>
                <a:schemeClr val="dk1"/>
              </a:solidFill>
              <a:latin typeface="Rockwell"/>
              <a:ea typeface="Rockwell"/>
              <a:cs typeface="Rockwell"/>
              <a:sym typeface="Rockwell"/>
            </a:endParaRPr>
          </a:p>
        </p:txBody>
      </p:sp>
      <p:cxnSp>
        <p:nvCxnSpPr>
          <p:cNvPr id="367" name="Google Shape;367;p24"/>
          <p:cNvCxnSpPr>
            <a:endCxn id="365" idx="1"/>
          </p:cNvCxnSpPr>
          <p:nvPr/>
        </p:nvCxnSpPr>
        <p:spPr>
          <a:xfrm>
            <a:off x="8112800" y="2787048"/>
            <a:ext cx="562800" cy="0"/>
          </a:xfrm>
          <a:prstGeom prst="straightConnector1">
            <a:avLst/>
          </a:prstGeom>
          <a:noFill/>
          <a:ln w="9525" cap="flat" cmpd="sng">
            <a:solidFill>
              <a:schemeClr val="dk2"/>
            </a:solidFill>
            <a:prstDash val="solid"/>
            <a:round/>
            <a:headEnd type="none" w="sm" len="sm"/>
            <a:tailEnd type="triangle" w="med" len="med"/>
          </a:ln>
        </p:spPr>
      </p:cxnSp>
      <p:cxnSp>
        <p:nvCxnSpPr>
          <p:cNvPr id="368" name="Google Shape;368;p24"/>
          <p:cNvCxnSpPr>
            <a:stCxn id="365" idx="3"/>
          </p:cNvCxnSpPr>
          <p:nvPr/>
        </p:nvCxnSpPr>
        <p:spPr>
          <a:xfrm>
            <a:off x="9311600" y="2787048"/>
            <a:ext cx="812700" cy="0"/>
          </a:xfrm>
          <a:prstGeom prst="straightConnector1">
            <a:avLst/>
          </a:prstGeom>
          <a:noFill/>
          <a:ln w="9525" cap="flat" cmpd="sng">
            <a:solidFill>
              <a:schemeClr val="dk2"/>
            </a:solidFill>
            <a:prstDash val="solid"/>
            <a:round/>
            <a:headEnd type="none" w="sm" len="sm"/>
            <a:tailEnd type="triangle" w="med" len="med"/>
          </a:ln>
        </p:spPr>
      </p:cxnSp>
      <p:sp>
        <p:nvSpPr>
          <p:cNvPr id="369" name="Google Shape;369;p24"/>
          <p:cNvSpPr txBox="1"/>
          <p:nvPr/>
        </p:nvSpPr>
        <p:spPr>
          <a:xfrm>
            <a:off x="10113600" y="2539048"/>
            <a:ext cx="1468800" cy="496000"/>
          </a:xfrm>
          <a:prstGeom prst="rect">
            <a:avLst/>
          </a:prstGeom>
          <a:no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2400"/>
              <a:buFont typeface="Arial"/>
              <a:buNone/>
            </a:pPr>
            <a:r>
              <a:rPr lang="en" sz="2400" b="0" i="0" u="none" strike="noStrike" cap="none">
                <a:solidFill>
                  <a:schemeClr val="dk1"/>
                </a:solidFill>
                <a:latin typeface="Rockwell"/>
                <a:ea typeface="Rockwell"/>
                <a:cs typeface="Rockwell"/>
                <a:sym typeface="Rockwell"/>
              </a:rPr>
              <a:t>Series</a:t>
            </a:r>
            <a:endParaRPr sz="2400" b="0" i="0" u="none" strike="noStrike" cap="none">
              <a:solidFill>
                <a:schemeClr val="dk1"/>
              </a:solidFill>
              <a:latin typeface="Rockwell"/>
              <a:ea typeface="Rockwell"/>
              <a:cs typeface="Rockwell"/>
              <a:sym typeface="Rockwell"/>
            </a:endParaRPr>
          </a:p>
        </p:txBody>
      </p:sp>
      <p:sp>
        <p:nvSpPr>
          <p:cNvPr id="370" name="Google Shape;370;p24"/>
          <p:cNvSpPr txBox="1"/>
          <p:nvPr/>
        </p:nvSpPr>
        <p:spPr>
          <a:xfrm>
            <a:off x="7501400" y="3044248"/>
            <a:ext cx="2984400" cy="346000"/>
          </a:xfrm>
          <a:prstGeom prst="rect">
            <a:avLst/>
          </a:prstGeom>
          <a:noFill/>
          <a:ln>
            <a:noFill/>
          </a:ln>
        </p:spPr>
        <p:txBody>
          <a:bodyPr spcFirstLastPara="1" wrap="square" lIns="121900" tIns="121900" rIns="121900" bIns="121900" anchor="t"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chemeClr val="dk1"/>
                </a:solidFill>
                <a:latin typeface="Rockwell"/>
                <a:ea typeface="Rockwell"/>
                <a:cs typeface="Rockwell"/>
                <a:sym typeface="Rockwell"/>
              </a:rPr>
              <a:t>Single Column Selection</a:t>
            </a:r>
            <a:endParaRPr sz="2400" b="0" i="0" u="none" strike="noStrike" cap="none">
              <a:solidFill>
                <a:schemeClr val="dk1"/>
              </a:solidFill>
              <a:latin typeface="Rockwell"/>
              <a:ea typeface="Rockwell"/>
              <a:cs typeface="Rockwell"/>
              <a:sym typeface="Rockwell"/>
            </a:endParaRPr>
          </a:p>
        </p:txBody>
      </p:sp>
      <p:sp>
        <p:nvSpPr>
          <p:cNvPr id="371" name="Google Shape;371;p24"/>
          <p:cNvSpPr/>
          <p:nvPr/>
        </p:nvSpPr>
        <p:spPr>
          <a:xfrm>
            <a:off x="8711485" y="3941048"/>
            <a:ext cx="636000" cy="514400"/>
          </a:xfrm>
          <a:prstGeom prst="rect">
            <a:avLst/>
          </a:prstGeom>
          <a:solidFill>
            <a:srgbClr val="6D9EEB"/>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2667"/>
              <a:buFont typeface="Arial"/>
              <a:buNone/>
            </a:pPr>
            <a:r>
              <a:rPr lang="en" sz="2667" b="0" i="0" u="none" strike="noStrike" cap="none">
                <a:solidFill>
                  <a:schemeClr val="dk1"/>
                </a:solidFill>
                <a:latin typeface="Consolas"/>
                <a:ea typeface="Consolas"/>
                <a:cs typeface="Consolas"/>
                <a:sym typeface="Consolas"/>
              </a:rPr>
              <a:t>[]</a:t>
            </a:r>
            <a:endParaRPr sz="2667" b="0" i="0" u="none" strike="noStrike" cap="none">
              <a:solidFill>
                <a:schemeClr val="dk1"/>
              </a:solidFill>
              <a:latin typeface="Consolas"/>
              <a:ea typeface="Consolas"/>
              <a:cs typeface="Consolas"/>
              <a:sym typeface="Consolas"/>
            </a:endParaRPr>
          </a:p>
        </p:txBody>
      </p:sp>
      <p:sp>
        <p:nvSpPr>
          <p:cNvPr id="372" name="Google Shape;372;p24"/>
          <p:cNvSpPr txBox="1"/>
          <p:nvPr/>
        </p:nvSpPr>
        <p:spPr>
          <a:xfrm>
            <a:off x="7548718" y="3931536"/>
            <a:ext cx="748400" cy="496000"/>
          </a:xfrm>
          <a:prstGeom prst="rect">
            <a:avLst/>
          </a:prstGeom>
          <a:no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2400"/>
              <a:buFont typeface="Arial"/>
              <a:buNone/>
            </a:pPr>
            <a:r>
              <a:rPr lang="en" sz="2400" b="0" i="0" u="none" strike="noStrike" cap="none">
                <a:solidFill>
                  <a:schemeClr val="dk1"/>
                </a:solidFill>
                <a:latin typeface="Rockwell"/>
                <a:ea typeface="Rockwell"/>
                <a:cs typeface="Rockwell"/>
                <a:sym typeface="Rockwell"/>
              </a:rPr>
              <a:t>List</a:t>
            </a:r>
            <a:endParaRPr sz="2400" b="0" i="0" u="none" strike="noStrike" cap="none">
              <a:solidFill>
                <a:schemeClr val="dk1"/>
              </a:solidFill>
              <a:latin typeface="Rockwell"/>
              <a:ea typeface="Rockwell"/>
              <a:cs typeface="Rockwell"/>
              <a:sym typeface="Rockwell"/>
            </a:endParaRPr>
          </a:p>
        </p:txBody>
      </p:sp>
      <p:cxnSp>
        <p:nvCxnSpPr>
          <p:cNvPr id="373" name="Google Shape;373;p24"/>
          <p:cNvCxnSpPr>
            <a:endCxn id="371" idx="1"/>
          </p:cNvCxnSpPr>
          <p:nvPr/>
        </p:nvCxnSpPr>
        <p:spPr>
          <a:xfrm>
            <a:off x="8148685" y="4198248"/>
            <a:ext cx="562800" cy="0"/>
          </a:xfrm>
          <a:prstGeom prst="straightConnector1">
            <a:avLst/>
          </a:prstGeom>
          <a:noFill/>
          <a:ln w="9525" cap="flat" cmpd="sng">
            <a:solidFill>
              <a:schemeClr val="dk2"/>
            </a:solidFill>
            <a:prstDash val="solid"/>
            <a:round/>
            <a:headEnd type="none" w="sm" len="sm"/>
            <a:tailEnd type="triangle" w="med" len="med"/>
          </a:ln>
        </p:spPr>
      </p:cxnSp>
      <p:cxnSp>
        <p:nvCxnSpPr>
          <p:cNvPr id="374" name="Google Shape;374;p24"/>
          <p:cNvCxnSpPr>
            <a:stCxn id="371" idx="3"/>
          </p:cNvCxnSpPr>
          <p:nvPr/>
        </p:nvCxnSpPr>
        <p:spPr>
          <a:xfrm>
            <a:off x="9347485" y="4198248"/>
            <a:ext cx="812700" cy="0"/>
          </a:xfrm>
          <a:prstGeom prst="straightConnector1">
            <a:avLst/>
          </a:prstGeom>
          <a:noFill/>
          <a:ln w="9525" cap="flat" cmpd="sng">
            <a:solidFill>
              <a:schemeClr val="dk2"/>
            </a:solidFill>
            <a:prstDash val="solid"/>
            <a:round/>
            <a:headEnd type="none" w="sm" len="sm"/>
            <a:tailEnd type="triangle" w="med" len="med"/>
          </a:ln>
        </p:spPr>
      </p:cxnSp>
      <p:sp>
        <p:nvSpPr>
          <p:cNvPr id="375" name="Google Shape;375;p24"/>
          <p:cNvSpPr txBox="1"/>
          <p:nvPr/>
        </p:nvSpPr>
        <p:spPr>
          <a:xfrm>
            <a:off x="10149485" y="3931548"/>
            <a:ext cx="1856000" cy="496000"/>
          </a:xfrm>
          <a:prstGeom prst="rect">
            <a:avLst/>
          </a:prstGeom>
          <a:no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2400"/>
              <a:buFont typeface="Arial"/>
              <a:buNone/>
            </a:pPr>
            <a:r>
              <a:rPr lang="en" sz="2400" b="0" i="0" u="none" strike="noStrike" cap="none">
                <a:solidFill>
                  <a:schemeClr val="dk1"/>
                </a:solidFill>
                <a:latin typeface="Rockwell"/>
                <a:ea typeface="Rockwell"/>
                <a:cs typeface="Rockwell"/>
                <a:sym typeface="Rockwell"/>
              </a:rPr>
              <a:t>DataFrame</a:t>
            </a:r>
            <a:endParaRPr sz="2400" b="0" i="0" u="none" strike="noStrike" cap="none">
              <a:solidFill>
                <a:schemeClr val="dk1"/>
              </a:solidFill>
              <a:latin typeface="Rockwell"/>
              <a:ea typeface="Rockwell"/>
              <a:cs typeface="Rockwell"/>
              <a:sym typeface="Rockwell"/>
            </a:endParaRPr>
          </a:p>
        </p:txBody>
      </p:sp>
      <p:sp>
        <p:nvSpPr>
          <p:cNvPr id="376" name="Google Shape;376;p24"/>
          <p:cNvSpPr txBox="1"/>
          <p:nvPr/>
        </p:nvSpPr>
        <p:spPr>
          <a:xfrm>
            <a:off x="7537285" y="4455448"/>
            <a:ext cx="2984400" cy="346000"/>
          </a:xfrm>
          <a:prstGeom prst="rect">
            <a:avLst/>
          </a:prstGeom>
          <a:noFill/>
          <a:ln>
            <a:noFill/>
          </a:ln>
        </p:spPr>
        <p:txBody>
          <a:bodyPr spcFirstLastPara="1" wrap="square" lIns="121900" tIns="121900" rIns="121900" bIns="121900" anchor="t"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chemeClr val="dk1"/>
                </a:solidFill>
                <a:latin typeface="Rockwell"/>
                <a:ea typeface="Rockwell"/>
                <a:cs typeface="Rockwell"/>
                <a:sym typeface="Rockwell"/>
              </a:rPr>
              <a:t>Multiple Column Selection</a:t>
            </a:r>
            <a:endParaRPr sz="2400" b="0" i="0" u="none" strike="noStrike" cap="none">
              <a:solidFill>
                <a:schemeClr val="dk1"/>
              </a:solidFill>
              <a:latin typeface="Rockwell"/>
              <a:ea typeface="Rockwell"/>
              <a:cs typeface="Rockwell"/>
              <a:sym typeface="Rockwell"/>
            </a:endParaRPr>
          </a:p>
        </p:txBody>
      </p:sp>
      <p:sp>
        <p:nvSpPr>
          <p:cNvPr id="377" name="Google Shape;377;p24"/>
          <p:cNvSpPr/>
          <p:nvPr/>
        </p:nvSpPr>
        <p:spPr>
          <a:xfrm>
            <a:off x="8773077" y="5361748"/>
            <a:ext cx="636000" cy="514400"/>
          </a:xfrm>
          <a:prstGeom prst="rect">
            <a:avLst/>
          </a:prstGeom>
          <a:solidFill>
            <a:srgbClr val="6D9EEB"/>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2667"/>
              <a:buFont typeface="Arial"/>
              <a:buNone/>
            </a:pPr>
            <a:r>
              <a:rPr lang="en" sz="2667" b="0" i="0" u="none" strike="noStrike" cap="none">
                <a:solidFill>
                  <a:schemeClr val="dk1"/>
                </a:solidFill>
                <a:latin typeface="Consolas"/>
                <a:ea typeface="Consolas"/>
                <a:cs typeface="Consolas"/>
                <a:sym typeface="Consolas"/>
              </a:rPr>
              <a:t>[]</a:t>
            </a:r>
            <a:endParaRPr sz="2667" b="0" i="0" u="none" strike="noStrike" cap="none">
              <a:solidFill>
                <a:schemeClr val="dk1"/>
              </a:solidFill>
              <a:latin typeface="Consolas"/>
              <a:ea typeface="Consolas"/>
              <a:cs typeface="Consolas"/>
              <a:sym typeface="Consolas"/>
            </a:endParaRPr>
          </a:p>
        </p:txBody>
      </p:sp>
      <p:sp>
        <p:nvSpPr>
          <p:cNvPr id="378" name="Google Shape;378;p24"/>
          <p:cNvSpPr txBox="1"/>
          <p:nvPr/>
        </p:nvSpPr>
        <p:spPr>
          <a:xfrm>
            <a:off x="6545031" y="5352248"/>
            <a:ext cx="1710800" cy="496000"/>
          </a:xfrm>
          <a:prstGeom prst="rect">
            <a:avLst/>
          </a:prstGeom>
          <a:no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2400"/>
              <a:buFont typeface="Arial"/>
              <a:buNone/>
            </a:pPr>
            <a:r>
              <a:rPr lang="en" sz="2400" b="0" i="0" u="none" strike="noStrike" cap="none">
                <a:solidFill>
                  <a:schemeClr val="dk1"/>
                </a:solidFill>
                <a:latin typeface="Rockwell"/>
                <a:ea typeface="Rockwell"/>
                <a:cs typeface="Rockwell"/>
                <a:sym typeface="Rockwell"/>
              </a:rPr>
              <a:t>Numeric Slice</a:t>
            </a:r>
            <a:endParaRPr sz="2400" b="0" i="0" u="none" strike="noStrike" cap="none">
              <a:solidFill>
                <a:schemeClr val="dk1"/>
              </a:solidFill>
              <a:latin typeface="Rockwell"/>
              <a:ea typeface="Rockwell"/>
              <a:cs typeface="Rockwell"/>
              <a:sym typeface="Rockwell"/>
            </a:endParaRPr>
          </a:p>
        </p:txBody>
      </p:sp>
      <p:cxnSp>
        <p:nvCxnSpPr>
          <p:cNvPr id="379" name="Google Shape;379;p24"/>
          <p:cNvCxnSpPr>
            <a:endCxn id="377" idx="1"/>
          </p:cNvCxnSpPr>
          <p:nvPr/>
        </p:nvCxnSpPr>
        <p:spPr>
          <a:xfrm>
            <a:off x="8210277" y="5618948"/>
            <a:ext cx="562800" cy="0"/>
          </a:xfrm>
          <a:prstGeom prst="straightConnector1">
            <a:avLst/>
          </a:prstGeom>
          <a:noFill/>
          <a:ln w="9525" cap="flat" cmpd="sng">
            <a:solidFill>
              <a:schemeClr val="dk2"/>
            </a:solidFill>
            <a:prstDash val="solid"/>
            <a:round/>
            <a:headEnd type="none" w="sm" len="sm"/>
            <a:tailEnd type="triangle" w="med" len="med"/>
          </a:ln>
        </p:spPr>
      </p:cxnSp>
      <p:sp>
        <p:nvSpPr>
          <p:cNvPr id="380" name="Google Shape;380;p24"/>
          <p:cNvSpPr txBox="1"/>
          <p:nvPr/>
        </p:nvSpPr>
        <p:spPr>
          <a:xfrm>
            <a:off x="10211076" y="5370948"/>
            <a:ext cx="1855999" cy="496000"/>
          </a:xfrm>
          <a:prstGeom prst="rect">
            <a:avLst/>
          </a:prstGeom>
          <a:no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2400"/>
              <a:buFont typeface="Arial"/>
              <a:buNone/>
            </a:pPr>
            <a:r>
              <a:rPr lang="en" sz="2400" b="0" i="0" u="none" strike="noStrike" cap="none">
                <a:solidFill>
                  <a:schemeClr val="dk1"/>
                </a:solidFill>
                <a:latin typeface="Rockwell"/>
                <a:ea typeface="Rockwell"/>
                <a:cs typeface="Rockwell"/>
                <a:sym typeface="Rockwell"/>
              </a:rPr>
              <a:t>DataFrame</a:t>
            </a:r>
            <a:endParaRPr sz="2400" b="0" i="0" u="none" strike="noStrike" cap="none">
              <a:solidFill>
                <a:schemeClr val="dk1"/>
              </a:solidFill>
              <a:latin typeface="Rockwell"/>
              <a:ea typeface="Rockwell"/>
              <a:cs typeface="Rockwell"/>
              <a:sym typeface="Rockwell"/>
            </a:endParaRPr>
          </a:p>
        </p:txBody>
      </p:sp>
      <p:cxnSp>
        <p:nvCxnSpPr>
          <p:cNvPr id="381" name="Google Shape;381;p24"/>
          <p:cNvCxnSpPr>
            <a:stCxn id="377" idx="3"/>
            <a:endCxn id="380" idx="1"/>
          </p:cNvCxnSpPr>
          <p:nvPr/>
        </p:nvCxnSpPr>
        <p:spPr>
          <a:xfrm>
            <a:off x="9409077" y="5618948"/>
            <a:ext cx="801900" cy="0"/>
          </a:xfrm>
          <a:prstGeom prst="straightConnector1">
            <a:avLst/>
          </a:prstGeom>
          <a:noFill/>
          <a:ln w="9525" cap="flat" cmpd="sng">
            <a:solidFill>
              <a:schemeClr val="dk2"/>
            </a:solidFill>
            <a:prstDash val="solid"/>
            <a:round/>
            <a:headEnd type="none" w="sm" len="sm"/>
            <a:tailEnd type="triangle" w="med" len="med"/>
          </a:ln>
        </p:spPr>
      </p:cxnSp>
      <p:sp>
        <p:nvSpPr>
          <p:cNvPr id="382" name="Google Shape;382;p24"/>
          <p:cNvSpPr txBox="1"/>
          <p:nvPr/>
        </p:nvSpPr>
        <p:spPr>
          <a:xfrm>
            <a:off x="7598877" y="5876148"/>
            <a:ext cx="2984400" cy="346000"/>
          </a:xfrm>
          <a:prstGeom prst="rect">
            <a:avLst/>
          </a:prstGeom>
          <a:noFill/>
          <a:ln>
            <a:noFill/>
          </a:ln>
        </p:spPr>
        <p:txBody>
          <a:bodyPr spcFirstLastPara="1" wrap="square" lIns="121900" tIns="121900" rIns="121900" bIns="121900" anchor="t"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chemeClr val="dk1"/>
                </a:solidFill>
                <a:latin typeface="Rockwell"/>
                <a:ea typeface="Rockwell"/>
                <a:cs typeface="Rockwell"/>
                <a:sym typeface="Rockwell"/>
              </a:rPr>
              <a:t>(Multiple) Row Selection</a:t>
            </a:r>
            <a:endParaRPr sz="2400" b="0" i="0" u="none" strike="noStrike" cap="none">
              <a:solidFill>
                <a:schemeClr val="dk1"/>
              </a:solidFill>
              <a:latin typeface="Rockwell"/>
              <a:ea typeface="Rockwell"/>
              <a:cs typeface="Rockwell"/>
              <a:sym typeface="Rockwell"/>
            </a:endParaRPr>
          </a:p>
        </p:txBody>
      </p:sp>
      <p:pic>
        <p:nvPicPr>
          <p:cNvPr id="383" name="Google Shape;383;p24" descr="Icon&#10;&#10;Description automatically generated with low confidence"/>
          <p:cNvPicPr preferRelativeResize="0"/>
          <p:nvPr/>
        </p:nvPicPr>
        <p:blipFill rotWithShape="1">
          <a:blip r:embed="rId5">
            <a:alphaModFix/>
          </a:blip>
          <a:srcRect/>
          <a:stretch/>
        </p:blipFill>
        <p:spPr>
          <a:xfrm>
            <a:off x="1341243" y="5137388"/>
            <a:ext cx="1556669" cy="568447"/>
          </a:xfrm>
          <a:prstGeom prst="rect">
            <a:avLst/>
          </a:prstGeom>
          <a:noFill/>
          <a:ln>
            <a:noFill/>
          </a:ln>
        </p:spPr>
      </p:pic>
      <p:pic>
        <p:nvPicPr>
          <p:cNvPr id="384" name="Google Shape;384;p24" descr="A picture containing logo&#10;&#10;Description automatically generated"/>
          <p:cNvPicPr preferRelativeResize="0"/>
          <p:nvPr/>
        </p:nvPicPr>
        <p:blipFill rotWithShape="1">
          <a:blip r:embed="rId6">
            <a:alphaModFix/>
          </a:blip>
          <a:srcRect/>
          <a:stretch/>
        </p:blipFill>
        <p:spPr>
          <a:xfrm>
            <a:off x="4070765" y="4963333"/>
            <a:ext cx="1303054" cy="804570"/>
          </a:xfrm>
          <a:prstGeom prst="rect">
            <a:avLst/>
          </a:prstGeom>
          <a:noFill/>
          <a:ln>
            <a:noFill/>
          </a:ln>
        </p:spPr>
      </p:pic>
      <p:pic>
        <p:nvPicPr>
          <p:cNvPr id="385" name="Google Shape;385;p24" descr="Icon&#10;&#10;Description automatically generated with medium confidence"/>
          <p:cNvPicPr preferRelativeResize="0"/>
          <p:nvPr/>
        </p:nvPicPr>
        <p:blipFill rotWithShape="1">
          <a:blip r:embed="rId7">
            <a:alphaModFix/>
          </a:blip>
          <a:srcRect/>
          <a:stretch/>
        </p:blipFill>
        <p:spPr>
          <a:xfrm>
            <a:off x="860983" y="6117388"/>
            <a:ext cx="2422456" cy="533465"/>
          </a:xfrm>
          <a:prstGeom prst="rect">
            <a:avLst/>
          </a:prstGeom>
          <a:noFill/>
          <a:ln>
            <a:noFill/>
          </a:ln>
        </p:spPr>
      </p:pic>
      <p:pic>
        <p:nvPicPr>
          <p:cNvPr id="386" name="Google Shape;386;p24" descr="A picture containing diagram&#10;&#10;Description automatically generated"/>
          <p:cNvPicPr preferRelativeResize="0"/>
          <p:nvPr/>
        </p:nvPicPr>
        <p:blipFill rotWithShape="1">
          <a:blip r:embed="rId8">
            <a:alphaModFix/>
          </a:blip>
          <a:srcRect/>
          <a:stretch/>
        </p:blipFill>
        <p:spPr>
          <a:xfrm>
            <a:off x="4021349" y="6091152"/>
            <a:ext cx="2466183" cy="559701"/>
          </a:xfrm>
          <a:prstGeom prst="rect">
            <a:avLst/>
          </a:prstGeom>
          <a:noFill/>
          <a:ln>
            <a:noFill/>
          </a:ln>
        </p:spPr>
      </p:pic>
      <p:sp>
        <p:nvSpPr>
          <p:cNvPr id="387" name="Google Shape;387;p24"/>
          <p:cNvSpPr txBox="1"/>
          <p:nvPr/>
        </p:nvSpPr>
        <p:spPr>
          <a:xfrm>
            <a:off x="274811" y="5353616"/>
            <a:ext cx="413896"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 sz="1800" b="0" i="0" u="none" strike="noStrike" cap="none">
                <a:solidFill>
                  <a:schemeClr val="dk1"/>
                </a:solidFill>
                <a:latin typeface="Rockwell"/>
                <a:ea typeface="Rockwell"/>
                <a:cs typeface="Rockwell"/>
                <a:sym typeface="Rockwell"/>
              </a:rPr>
              <a:t>A.</a:t>
            </a:r>
            <a:endParaRPr sz="1400" b="0" i="0" u="none" strike="noStrike" cap="none">
              <a:solidFill>
                <a:srgbClr val="000000"/>
              </a:solidFill>
              <a:latin typeface="Arial"/>
              <a:ea typeface="Arial"/>
              <a:cs typeface="Arial"/>
              <a:sym typeface="Arial"/>
            </a:endParaRPr>
          </a:p>
        </p:txBody>
      </p:sp>
      <p:sp>
        <p:nvSpPr>
          <p:cNvPr id="388" name="Google Shape;388;p24"/>
          <p:cNvSpPr txBox="1"/>
          <p:nvPr/>
        </p:nvSpPr>
        <p:spPr>
          <a:xfrm>
            <a:off x="268793" y="6340585"/>
            <a:ext cx="417487"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 sz="1800" b="0" i="0" u="none" strike="noStrike" cap="none">
                <a:solidFill>
                  <a:schemeClr val="dk1"/>
                </a:solidFill>
                <a:latin typeface="Rockwell"/>
                <a:ea typeface="Rockwell"/>
                <a:cs typeface="Rockwell"/>
                <a:sym typeface="Rockwell"/>
              </a:rPr>
              <a:t>C.</a:t>
            </a:r>
            <a:endParaRPr sz="1400" b="0" i="0" u="none" strike="noStrike" cap="none">
              <a:solidFill>
                <a:srgbClr val="000000"/>
              </a:solidFill>
              <a:latin typeface="Arial"/>
              <a:ea typeface="Arial"/>
              <a:cs typeface="Arial"/>
              <a:sym typeface="Arial"/>
            </a:endParaRPr>
          </a:p>
        </p:txBody>
      </p:sp>
      <p:sp>
        <p:nvSpPr>
          <p:cNvPr id="389" name="Google Shape;389;p24"/>
          <p:cNvSpPr txBox="1"/>
          <p:nvPr/>
        </p:nvSpPr>
        <p:spPr>
          <a:xfrm>
            <a:off x="3473657" y="5352930"/>
            <a:ext cx="417487"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 sz="1800" b="0" i="0" u="none" strike="noStrike" cap="none">
                <a:solidFill>
                  <a:schemeClr val="dk1"/>
                </a:solidFill>
                <a:latin typeface="Rockwell"/>
                <a:ea typeface="Rockwell"/>
                <a:cs typeface="Rockwell"/>
                <a:sym typeface="Rockwell"/>
              </a:rPr>
              <a:t>B.</a:t>
            </a:r>
            <a:endParaRPr sz="1400" b="0" i="0" u="none" strike="noStrike" cap="none">
              <a:solidFill>
                <a:srgbClr val="000000"/>
              </a:solidFill>
              <a:latin typeface="Arial"/>
              <a:ea typeface="Arial"/>
              <a:cs typeface="Arial"/>
              <a:sym typeface="Arial"/>
            </a:endParaRPr>
          </a:p>
        </p:txBody>
      </p:sp>
      <p:sp>
        <p:nvSpPr>
          <p:cNvPr id="390" name="Google Shape;390;p24"/>
          <p:cNvSpPr txBox="1"/>
          <p:nvPr/>
        </p:nvSpPr>
        <p:spPr>
          <a:xfrm>
            <a:off x="3473657" y="6340585"/>
            <a:ext cx="406458"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 sz="1800" b="0" i="0" u="none" strike="noStrike" cap="none">
                <a:solidFill>
                  <a:schemeClr val="dk1"/>
                </a:solidFill>
                <a:latin typeface="Rockwell"/>
                <a:ea typeface="Rockwell"/>
                <a:cs typeface="Rockwell"/>
                <a:sym typeface="Rockwell"/>
              </a:rPr>
              <a:t>D.</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395"/>
        <p:cNvGrpSpPr/>
        <p:nvPr/>
      </p:nvGrpSpPr>
      <p:grpSpPr>
        <a:xfrm>
          <a:off x="0" y="0"/>
          <a:ext cx="0" cy="0"/>
          <a:chOff x="0" y="0"/>
          <a:chExt cx="0" cy="0"/>
        </a:xfrm>
      </p:grpSpPr>
      <p:graphicFrame>
        <p:nvGraphicFramePr>
          <p:cNvPr id="396" name="Google Shape;396;p25"/>
          <p:cNvGraphicFramePr/>
          <p:nvPr/>
        </p:nvGraphicFramePr>
        <p:xfrm>
          <a:off x="174792" y="5049647"/>
          <a:ext cx="6375800" cy="1660250"/>
        </p:xfrm>
        <a:graphic>
          <a:graphicData uri="http://schemas.openxmlformats.org/drawingml/2006/table">
            <a:tbl>
              <a:tblPr firstRow="1" bandRow="1">
                <a:noFill/>
              </a:tblPr>
              <a:tblGrid>
                <a:gridCol w="3187900">
                  <a:extLst>
                    <a:ext uri="{9D8B030D-6E8A-4147-A177-3AD203B41FA5}">
                      <a16:colId xmlns:a16="http://schemas.microsoft.com/office/drawing/2014/main" val="20000"/>
                    </a:ext>
                  </a:extLst>
                </a:gridCol>
                <a:gridCol w="3187900">
                  <a:extLst>
                    <a:ext uri="{9D8B030D-6E8A-4147-A177-3AD203B41FA5}">
                      <a16:colId xmlns:a16="http://schemas.microsoft.com/office/drawing/2014/main" val="20001"/>
                    </a:ext>
                  </a:extLst>
                </a:gridCol>
              </a:tblGrid>
              <a:tr h="830125">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830125">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dirty="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
        <p:nvSpPr>
          <p:cNvPr id="397" name="Google Shape;397;p25"/>
          <p:cNvSpPr txBox="1">
            <a:spLocks noGrp="1"/>
          </p:cNvSpPr>
          <p:nvPr>
            <p:ph type="title"/>
          </p:nvPr>
        </p:nvSpPr>
        <p:spPr>
          <a:xfrm>
            <a:off x="1069848" y="-556"/>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
              <a:t>QUESTION 2</a:t>
            </a:r>
            <a:endParaRPr/>
          </a:p>
        </p:txBody>
      </p:sp>
      <p:sp>
        <p:nvSpPr>
          <p:cNvPr id="398" name="Google Shape;398;p25"/>
          <p:cNvSpPr txBox="1">
            <a:spLocks noGrp="1"/>
          </p:cNvSpPr>
          <p:nvPr>
            <p:ph type="body" idx="1"/>
          </p:nvPr>
        </p:nvSpPr>
        <p:spPr>
          <a:xfrm>
            <a:off x="450067" y="1690485"/>
            <a:ext cx="10678181" cy="4050792"/>
          </a:xfrm>
          <a:prstGeom prst="rect">
            <a:avLst/>
          </a:prstGeom>
          <a:noFill/>
          <a:ln>
            <a:noFill/>
          </a:ln>
        </p:spPr>
        <p:txBody>
          <a:bodyPr spcFirstLastPara="1" wrap="square" lIns="91425" tIns="45700" rIns="91425" bIns="45700" anchor="t" anchorCtr="0">
            <a:normAutofit/>
          </a:bodyPr>
          <a:lstStyle/>
          <a:p>
            <a:pPr marL="182880" lvl="0" indent="-74928" algn="l" rtl="0">
              <a:lnSpc>
                <a:spcPct val="90000"/>
              </a:lnSpc>
              <a:spcBef>
                <a:spcPts val="0"/>
              </a:spcBef>
              <a:spcAft>
                <a:spcPts val="0"/>
              </a:spcAft>
              <a:buSzPts val="1700"/>
              <a:buNone/>
            </a:pPr>
            <a:endParaRPr dirty="0"/>
          </a:p>
          <a:p>
            <a:pPr marL="182880" lvl="0" indent="-74928" algn="l" rtl="0">
              <a:lnSpc>
                <a:spcPct val="90000"/>
              </a:lnSpc>
              <a:spcBef>
                <a:spcPts val="1200"/>
              </a:spcBef>
              <a:spcAft>
                <a:spcPts val="0"/>
              </a:spcAft>
              <a:buSzPts val="1700"/>
              <a:buNone/>
            </a:pPr>
            <a:endParaRPr dirty="0"/>
          </a:p>
          <a:p>
            <a:pPr marL="182880" lvl="0" indent="-74928" algn="l" rtl="0">
              <a:lnSpc>
                <a:spcPct val="90000"/>
              </a:lnSpc>
              <a:spcBef>
                <a:spcPts val="1200"/>
              </a:spcBef>
              <a:spcAft>
                <a:spcPts val="0"/>
              </a:spcAft>
              <a:buSzPts val="1700"/>
              <a:buNone/>
            </a:pPr>
            <a:endParaRPr dirty="0"/>
          </a:p>
          <a:p>
            <a:pPr marL="182880" lvl="0" indent="-74928" algn="l" rtl="0">
              <a:lnSpc>
                <a:spcPct val="90000"/>
              </a:lnSpc>
              <a:spcBef>
                <a:spcPts val="1200"/>
              </a:spcBef>
              <a:spcAft>
                <a:spcPts val="0"/>
              </a:spcAft>
              <a:buSzPts val="1700"/>
              <a:buNone/>
            </a:pPr>
            <a:endParaRPr dirty="0"/>
          </a:p>
          <a:p>
            <a:pPr marL="182880" lvl="0" indent="-74928" algn="l" rtl="0">
              <a:lnSpc>
                <a:spcPct val="90000"/>
              </a:lnSpc>
              <a:spcBef>
                <a:spcPts val="1200"/>
              </a:spcBef>
              <a:spcAft>
                <a:spcPts val="0"/>
              </a:spcAft>
              <a:buSzPts val="1700"/>
              <a:buNone/>
            </a:pPr>
            <a:endParaRPr dirty="0"/>
          </a:p>
          <a:p>
            <a:pPr marL="0" lvl="0" indent="0" algn="l" rtl="0">
              <a:lnSpc>
                <a:spcPct val="90000"/>
              </a:lnSpc>
              <a:spcBef>
                <a:spcPts val="1200"/>
              </a:spcBef>
              <a:spcAft>
                <a:spcPts val="0"/>
              </a:spcAft>
              <a:buSzPts val="1700"/>
              <a:buNone/>
            </a:pPr>
            <a:r>
              <a:rPr lang="en" dirty="0"/>
              <a:t>Try to predict the output of the following:</a:t>
            </a:r>
            <a:endParaRPr dirty="0"/>
          </a:p>
          <a:p>
            <a:pPr marL="182880" lvl="0" indent="-182880" algn="l" rtl="0">
              <a:lnSpc>
                <a:spcPct val="90000"/>
              </a:lnSpc>
              <a:spcBef>
                <a:spcPts val="1200"/>
              </a:spcBef>
              <a:spcAft>
                <a:spcPts val="0"/>
              </a:spcAft>
              <a:buSzPts val="1700"/>
              <a:buFont typeface="Consolas"/>
              <a:buChar char="●"/>
            </a:pPr>
            <a:r>
              <a:rPr lang="en" dirty="0">
                <a:latin typeface="Consolas"/>
                <a:ea typeface="Consolas"/>
                <a:cs typeface="Consolas"/>
                <a:sym typeface="Consolas"/>
              </a:rPr>
              <a:t>weird[“1”]</a:t>
            </a:r>
            <a:endParaRPr dirty="0"/>
          </a:p>
        </p:txBody>
      </p:sp>
      <p:pic>
        <p:nvPicPr>
          <p:cNvPr id="399" name="Google Shape;399;p25"/>
          <p:cNvPicPr preferRelativeResize="0"/>
          <p:nvPr/>
        </p:nvPicPr>
        <p:blipFill rotWithShape="1">
          <a:blip r:embed="rId3">
            <a:alphaModFix/>
          </a:blip>
          <a:srcRect/>
          <a:stretch/>
        </p:blipFill>
        <p:spPr>
          <a:xfrm>
            <a:off x="450067" y="1592592"/>
            <a:ext cx="11188867" cy="764733"/>
          </a:xfrm>
          <a:prstGeom prst="rect">
            <a:avLst/>
          </a:prstGeom>
          <a:noFill/>
          <a:ln w="9525" cap="flat" cmpd="sng">
            <a:solidFill>
              <a:srgbClr val="000000"/>
            </a:solidFill>
            <a:prstDash val="solid"/>
            <a:round/>
            <a:headEnd type="none" w="sm" len="sm"/>
            <a:tailEnd type="none" w="sm" len="sm"/>
          </a:ln>
        </p:spPr>
      </p:pic>
      <p:pic>
        <p:nvPicPr>
          <p:cNvPr id="400" name="Google Shape;400;p25"/>
          <p:cNvPicPr preferRelativeResize="0"/>
          <p:nvPr/>
        </p:nvPicPr>
        <p:blipFill rotWithShape="1">
          <a:blip r:embed="rId4">
            <a:alphaModFix/>
          </a:blip>
          <a:srcRect/>
          <a:stretch/>
        </p:blipFill>
        <p:spPr>
          <a:xfrm>
            <a:off x="450067" y="2385329"/>
            <a:ext cx="2768600" cy="1536700"/>
          </a:xfrm>
          <a:prstGeom prst="rect">
            <a:avLst/>
          </a:prstGeom>
          <a:noFill/>
          <a:ln w="9525" cap="flat" cmpd="sng">
            <a:solidFill>
              <a:srgbClr val="000000"/>
            </a:solidFill>
            <a:prstDash val="solid"/>
            <a:round/>
            <a:headEnd type="none" w="sm" len="sm"/>
            <a:tailEnd type="none" w="sm" len="sm"/>
          </a:ln>
        </p:spPr>
      </p:pic>
      <p:sp>
        <p:nvSpPr>
          <p:cNvPr id="401" name="Google Shape;401;p25"/>
          <p:cNvSpPr/>
          <p:nvPr/>
        </p:nvSpPr>
        <p:spPr>
          <a:xfrm>
            <a:off x="8675600" y="2529848"/>
            <a:ext cx="636000" cy="514400"/>
          </a:xfrm>
          <a:prstGeom prst="rect">
            <a:avLst/>
          </a:prstGeom>
          <a:solidFill>
            <a:srgbClr val="6D9EEB"/>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2667"/>
              <a:buFont typeface="Arial"/>
              <a:buNone/>
            </a:pPr>
            <a:r>
              <a:rPr lang="en" sz="2667" b="0" i="0" u="none" strike="noStrike" cap="none">
                <a:solidFill>
                  <a:schemeClr val="dk1"/>
                </a:solidFill>
                <a:latin typeface="Consolas"/>
                <a:ea typeface="Consolas"/>
                <a:cs typeface="Consolas"/>
                <a:sym typeface="Consolas"/>
              </a:rPr>
              <a:t>[]</a:t>
            </a:r>
            <a:endParaRPr sz="2667" b="0" i="0" u="none" strike="noStrike" cap="none">
              <a:solidFill>
                <a:schemeClr val="dk1"/>
              </a:solidFill>
              <a:latin typeface="Consolas"/>
              <a:ea typeface="Consolas"/>
              <a:cs typeface="Consolas"/>
              <a:sym typeface="Consolas"/>
            </a:endParaRPr>
          </a:p>
        </p:txBody>
      </p:sp>
      <p:sp>
        <p:nvSpPr>
          <p:cNvPr id="402" name="Google Shape;402;p25"/>
          <p:cNvSpPr txBox="1"/>
          <p:nvPr/>
        </p:nvSpPr>
        <p:spPr>
          <a:xfrm>
            <a:off x="7240200" y="2520348"/>
            <a:ext cx="1167600" cy="496000"/>
          </a:xfrm>
          <a:prstGeom prst="rect">
            <a:avLst/>
          </a:prstGeom>
          <a:no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2400"/>
              <a:buFont typeface="Arial"/>
              <a:buNone/>
            </a:pPr>
            <a:r>
              <a:rPr lang="en" sz="2400" b="0" i="0" u="none" strike="noStrike" cap="none">
                <a:solidFill>
                  <a:schemeClr val="dk1"/>
                </a:solidFill>
                <a:latin typeface="Rockwell"/>
                <a:ea typeface="Rockwell"/>
                <a:cs typeface="Rockwell"/>
                <a:sym typeface="Rockwell"/>
              </a:rPr>
              <a:t>Name</a:t>
            </a:r>
            <a:endParaRPr sz="2400" b="0" i="0" u="none" strike="noStrike" cap="none">
              <a:solidFill>
                <a:schemeClr val="dk1"/>
              </a:solidFill>
              <a:latin typeface="Rockwell"/>
              <a:ea typeface="Rockwell"/>
              <a:cs typeface="Rockwell"/>
              <a:sym typeface="Rockwell"/>
            </a:endParaRPr>
          </a:p>
        </p:txBody>
      </p:sp>
      <p:cxnSp>
        <p:nvCxnSpPr>
          <p:cNvPr id="403" name="Google Shape;403;p25"/>
          <p:cNvCxnSpPr>
            <a:endCxn id="401" idx="1"/>
          </p:cNvCxnSpPr>
          <p:nvPr/>
        </p:nvCxnSpPr>
        <p:spPr>
          <a:xfrm>
            <a:off x="8112800" y="2787048"/>
            <a:ext cx="562800" cy="0"/>
          </a:xfrm>
          <a:prstGeom prst="straightConnector1">
            <a:avLst/>
          </a:prstGeom>
          <a:noFill/>
          <a:ln w="9525" cap="flat" cmpd="sng">
            <a:solidFill>
              <a:schemeClr val="dk2"/>
            </a:solidFill>
            <a:prstDash val="solid"/>
            <a:round/>
            <a:headEnd type="none" w="sm" len="sm"/>
            <a:tailEnd type="triangle" w="med" len="med"/>
          </a:ln>
        </p:spPr>
      </p:cxnSp>
      <p:cxnSp>
        <p:nvCxnSpPr>
          <p:cNvPr id="404" name="Google Shape;404;p25"/>
          <p:cNvCxnSpPr>
            <a:stCxn id="401" idx="3"/>
          </p:cNvCxnSpPr>
          <p:nvPr/>
        </p:nvCxnSpPr>
        <p:spPr>
          <a:xfrm>
            <a:off x="9311600" y="2787048"/>
            <a:ext cx="812700" cy="0"/>
          </a:xfrm>
          <a:prstGeom prst="straightConnector1">
            <a:avLst/>
          </a:prstGeom>
          <a:noFill/>
          <a:ln w="9525" cap="flat" cmpd="sng">
            <a:solidFill>
              <a:schemeClr val="dk2"/>
            </a:solidFill>
            <a:prstDash val="solid"/>
            <a:round/>
            <a:headEnd type="none" w="sm" len="sm"/>
            <a:tailEnd type="triangle" w="med" len="med"/>
          </a:ln>
        </p:spPr>
      </p:cxnSp>
      <p:sp>
        <p:nvSpPr>
          <p:cNvPr id="405" name="Google Shape;405;p25"/>
          <p:cNvSpPr txBox="1"/>
          <p:nvPr/>
        </p:nvSpPr>
        <p:spPr>
          <a:xfrm>
            <a:off x="10113600" y="2539048"/>
            <a:ext cx="1468800" cy="496000"/>
          </a:xfrm>
          <a:prstGeom prst="rect">
            <a:avLst/>
          </a:prstGeom>
          <a:no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2400"/>
              <a:buFont typeface="Arial"/>
              <a:buNone/>
            </a:pPr>
            <a:r>
              <a:rPr lang="en" sz="2400" b="0" i="0" u="none" strike="noStrike" cap="none">
                <a:solidFill>
                  <a:schemeClr val="dk1"/>
                </a:solidFill>
                <a:latin typeface="Rockwell"/>
                <a:ea typeface="Rockwell"/>
                <a:cs typeface="Rockwell"/>
                <a:sym typeface="Rockwell"/>
              </a:rPr>
              <a:t>Series</a:t>
            </a:r>
            <a:endParaRPr sz="2400" b="0" i="0" u="none" strike="noStrike" cap="none">
              <a:solidFill>
                <a:schemeClr val="dk1"/>
              </a:solidFill>
              <a:latin typeface="Rockwell"/>
              <a:ea typeface="Rockwell"/>
              <a:cs typeface="Rockwell"/>
              <a:sym typeface="Rockwell"/>
            </a:endParaRPr>
          </a:p>
        </p:txBody>
      </p:sp>
      <p:sp>
        <p:nvSpPr>
          <p:cNvPr id="406" name="Google Shape;406;p25"/>
          <p:cNvSpPr txBox="1"/>
          <p:nvPr/>
        </p:nvSpPr>
        <p:spPr>
          <a:xfrm>
            <a:off x="7501400" y="3044248"/>
            <a:ext cx="2984400" cy="346000"/>
          </a:xfrm>
          <a:prstGeom prst="rect">
            <a:avLst/>
          </a:prstGeom>
          <a:noFill/>
          <a:ln>
            <a:noFill/>
          </a:ln>
        </p:spPr>
        <p:txBody>
          <a:bodyPr spcFirstLastPara="1" wrap="square" lIns="121900" tIns="121900" rIns="121900" bIns="121900" anchor="t"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chemeClr val="dk1"/>
                </a:solidFill>
                <a:latin typeface="Rockwell"/>
                <a:ea typeface="Rockwell"/>
                <a:cs typeface="Rockwell"/>
                <a:sym typeface="Rockwell"/>
              </a:rPr>
              <a:t>Single Column Selection</a:t>
            </a:r>
            <a:endParaRPr sz="2400" b="0" i="0" u="none" strike="noStrike" cap="none">
              <a:solidFill>
                <a:schemeClr val="dk1"/>
              </a:solidFill>
              <a:latin typeface="Rockwell"/>
              <a:ea typeface="Rockwell"/>
              <a:cs typeface="Rockwell"/>
              <a:sym typeface="Rockwell"/>
            </a:endParaRPr>
          </a:p>
        </p:txBody>
      </p:sp>
      <p:sp>
        <p:nvSpPr>
          <p:cNvPr id="407" name="Google Shape;407;p25"/>
          <p:cNvSpPr/>
          <p:nvPr/>
        </p:nvSpPr>
        <p:spPr>
          <a:xfrm>
            <a:off x="8711485" y="3941048"/>
            <a:ext cx="636000" cy="514400"/>
          </a:xfrm>
          <a:prstGeom prst="rect">
            <a:avLst/>
          </a:prstGeom>
          <a:solidFill>
            <a:srgbClr val="6D9EEB"/>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2667"/>
              <a:buFont typeface="Arial"/>
              <a:buNone/>
            </a:pPr>
            <a:r>
              <a:rPr lang="en" sz="2667" b="0" i="0" u="none" strike="noStrike" cap="none">
                <a:solidFill>
                  <a:schemeClr val="dk1"/>
                </a:solidFill>
                <a:latin typeface="Consolas"/>
                <a:ea typeface="Consolas"/>
                <a:cs typeface="Consolas"/>
                <a:sym typeface="Consolas"/>
              </a:rPr>
              <a:t>[]</a:t>
            </a:r>
            <a:endParaRPr sz="2667" b="0" i="0" u="none" strike="noStrike" cap="none">
              <a:solidFill>
                <a:schemeClr val="dk1"/>
              </a:solidFill>
              <a:latin typeface="Consolas"/>
              <a:ea typeface="Consolas"/>
              <a:cs typeface="Consolas"/>
              <a:sym typeface="Consolas"/>
            </a:endParaRPr>
          </a:p>
        </p:txBody>
      </p:sp>
      <p:sp>
        <p:nvSpPr>
          <p:cNvPr id="408" name="Google Shape;408;p25"/>
          <p:cNvSpPr txBox="1"/>
          <p:nvPr/>
        </p:nvSpPr>
        <p:spPr>
          <a:xfrm>
            <a:off x="7548718" y="3931536"/>
            <a:ext cx="748400" cy="496000"/>
          </a:xfrm>
          <a:prstGeom prst="rect">
            <a:avLst/>
          </a:prstGeom>
          <a:no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2400"/>
              <a:buFont typeface="Arial"/>
              <a:buNone/>
            </a:pPr>
            <a:r>
              <a:rPr lang="en" sz="2400" b="0" i="0" u="none" strike="noStrike" cap="none">
                <a:solidFill>
                  <a:schemeClr val="dk1"/>
                </a:solidFill>
                <a:latin typeface="Rockwell"/>
                <a:ea typeface="Rockwell"/>
                <a:cs typeface="Rockwell"/>
                <a:sym typeface="Rockwell"/>
              </a:rPr>
              <a:t>List</a:t>
            </a:r>
            <a:endParaRPr sz="2400" b="0" i="0" u="none" strike="noStrike" cap="none">
              <a:solidFill>
                <a:schemeClr val="dk1"/>
              </a:solidFill>
              <a:latin typeface="Rockwell"/>
              <a:ea typeface="Rockwell"/>
              <a:cs typeface="Rockwell"/>
              <a:sym typeface="Rockwell"/>
            </a:endParaRPr>
          </a:p>
        </p:txBody>
      </p:sp>
      <p:cxnSp>
        <p:nvCxnSpPr>
          <p:cNvPr id="409" name="Google Shape;409;p25"/>
          <p:cNvCxnSpPr>
            <a:endCxn id="407" idx="1"/>
          </p:cNvCxnSpPr>
          <p:nvPr/>
        </p:nvCxnSpPr>
        <p:spPr>
          <a:xfrm>
            <a:off x="8148685" y="4198248"/>
            <a:ext cx="562800" cy="0"/>
          </a:xfrm>
          <a:prstGeom prst="straightConnector1">
            <a:avLst/>
          </a:prstGeom>
          <a:noFill/>
          <a:ln w="9525" cap="flat" cmpd="sng">
            <a:solidFill>
              <a:schemeClr val="dk2"/>
            </a:solidFill>
            <a:prstDash val="solid"/>
            <a:round/>
            <a:headEnd type="none" w="sm" len="sm"/>
            <a:tailEnd type="triangle" w="med" len="med"/>
          </a:ln>
        </p:spPr>
      </p:cxnSp>
      <p:cxnSp>
        <p:nvCxnSpPr>
          <p:cNvPr id="410" name="Google Shape;410;p25"/>
          <p:cNvCxnSpPr>
            <a:stCxn id="407" idx="3"/>
          </p:cNvCxnSpPr>
          <p:nvPr/>
        </p:nvCxnSpPr>
        <p:spPr>
          <a:xfrm>
            <a:off x="9347485" y="4198248"/>
            <a:ext cx="812700" cy="0"/>
          </a:xfrm>
          <a:prstGeom prst="straightConnector1">
            <a:avLst/>
          </a:prstGeom>
          <a:noFill/>
          <a:ln w="9525" cap="flat" cmpd="sng">
            <a:solidFill>
              <a:schemeClr val="dk2"/>
            </a:solidFill>
            <a:prstDash val="solid"/>
            <a:round/>
            <a:headEnd type="none" w="sm" len="sm"/>
            <a:tailEnd type="triangle" w="med" len="med"/>
          </a:ln>
        </p:spPr>
      </p:cxnSp>
      <p:sp>
        <p:nvSpPr>
          <p:cNvPr id="411" name="Google Shape;411;p25"/>
          <p:cNvSpPr txBox="1"/>
          <p:nvPr/>
        </p:nvSpPr>
        <p:spPr>
          <a:xfrm>
            <a:off x="10149485" y="3931548"/>
            <a:ext cx="1856000" cy="496000"/>
          </a:xfrm>
          <a:prstGeom prst="rect">
            <a:avLst/>
          </a:prstGeom>
          <a:no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2400"/>
              <a:buFont typeface="Arial"/>
              <a:buNone/>
            </a:pPr>
            <a:r>
              <a:rPr lang="en" sz="2400" b="0" i="0" u="none" strike="noStrike" cap="none">
                <a:solidFill>
                  <a:schemeClr val="dk1"/>
                </a:solidFill>
                <a:latin typeface="Rockwell"/>
                <a:ea typeface="Rockwell"/>
                <a:cs typeface="Rockwell"/>
                <a:sym typeface="Rockwell"/>
              </a:rPr>
              <a:t>DataFrame</a:t>
            </a:r>
            <a:endParaRPr sz="2400" b="0" i="0" u="none" strike="noStrike" cap="none">
              <a:solidFill>
                <a:schemeClr val="dk1"/>
              </a:solidFill>
              <a:latin typeface="Rockwell"/>
              <a:ea typeface="Rockwell"/>
              <a:cs typeface="Rockwell"/>
              <a:sym typeface="Rockwell"/>
            </a:endParaRPr>
          </a:p>
        </p:txBody>
      </p:sp>
      <p:sp>
        <p:nvSpPr>
          <p:cNvPr id="412" name="Google Shape;412;p25"/>
          <p:cNvSpPr txBox="1"/>
          <p:nvPr/>
        </p:nvSpPr>
        <p:spPr>
          <a:xfrm>
            <a:off x="7537285" y="4455448"/>
            <a:ext cx="2984400" cy="346000"/>
          </a:xfrm>
          <a:prstGeom prst="rect">
            <a:avLst/>
          </a:prstGeom>
          <a:noFill/>
          <a:ln>
            <a:noFill/>
          </a:ln>
        </p:spPr>
        <p:txBody>
          <a:bodyPr spcFirstLastPara="1" wrap="square" lIns="121900" tIns="121900" rIns="121900" bIns="121900" anchor="t"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chemeClr val="dk1"/>
                </a:solidFill>
                <a:latin typeface="Rockwell"/>
                <a:ea typeface="Rockwell"/>
                <a:cs typeface="Rockwell"/>
                <a:sym typeface="Rockwell"/>
              </a:rPr>
              <a:t>Multiple Column Selection</a:t>
            </a:r>
            <a:endParaRPr sz="2400" b="0" i="0" u="none" strike="noStrike" cap="none">
              <a:solidFill>
                <a:schemeClr val="dk1"/>
              </a:solidFill>
              <a:latin typeface="Rockwell"/>
              <a:ea typeface="Rockwell"/>
              <a:cs typeface="Rockwell"/>
              <a:sym typeface="Rockwell"/>
            </a:endParaRPr>
          </a:p>
        </p:txBody>
      </p:sp>
      <p:sp>
        <p:nvSpPr>
          <p:cNvPr id="413" name="Google Shape;413;p25"/>
          <p:cNvSpPr/>
          <p:nvPr/>
        </p:nvSpPr>
        <p:spPr>
          <a:xfrm>
            <a:off x="8773077" y="5361748"/>
            <a:ext cx="636000" cy="514400"/>
          </a:xfrm>
          <a:prstGeom prst="rect">
            <a:avLst/>
          </a:prstGeom>
          <a:solidFill>
            <a:srgbClr val="6D9EEB"/>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2667"/>
              <a:buFont typeface="Arial"/>
              <a:buNone/>
            </a:pPr>
            <a:r>
              <a:rPr lang="en" sz="2667" b="0" i="0" u="none" strike="noStrike" cap="none">
                <a:solidFill>
                  <a:schemeClr val="dk1"/>
                </a:solidFill>
                <a:latin typeface="Consolas"/>
                <a:ea typeface="Consolas"/>
                <a:cs typeface="Consolas"/>
                <a:sym typeface="Consolas"/>
              </a:rPr>
              <a:t>[]</a:t>
            </a:r>
            <a:endParaRPr sz="2667" b="0" i="0" u="none" strike="noStrike" cap="none">
              <a:solidFill>
                <a:schemeClr val="dk1"/>
              </a:solidFill>
              <a:latin typeface="Consolas"/>
              <a:ea typeface="Consolas"/>
              <a:cs typeface="Consolas"/>
              <a:sym typeface="Consolas"/>
            </a:endParaRPr>
          </a:p>
        </p:txBody>
      </p:sp>
      <p:sp>
        <p:nvSpPr>
          <p:cNvPr id="414" name="Google Shape;414;p25"/>
          <p:cNvSpPr txBox="1"/>
          <p:nvPr/>
        </p:nvSpPr>
        <p:spPr>
          <a:xfrm>
            <a:off x="6545031" y="5352248"/>
            <a:ext cx="1710800" cy="496000"/>
          </a:xfrm>
          <a:prstGeom prst="rect">
            <a:avLst/>
          </a:prstGeom>
          <a:no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2400"/>
              <a:buFont typeface="Arial"/>
              <a:buNone/>
            </a:pPr>
            <a:r>
              <a:rPr lang="en" sz="2400" b="0" i="0" u="none" strike="noStrike" cap="none">
                <a:solidFill>
                  <a:schemeClr val="dk1"/>
                </a:solidFill>
                <a:latin typeface="Rockwell"/>
                <a:ea typeface="Rockwell"/>
                <a:cs typeface="Rockwell"/>
                <a:sym typeface="Rockwell"/>
              </a:rPr>
              <a:t>Numeric Slice</a:t>
            </a:r>
            <a:endParaRPr sz="2400" b="0" i="0" u="none" strike="noStrike" cap="none">
              <a:solidFill>
                <a:schemeClr val="dk1"/>
              </a:solidFill>
              <a:latin typeface="Rockwell"/>
              <a:ea typeface="Rockwell"/>
              <a:cs typeface="Rockwell"/>
              <a:sym typeface="Rockwell"/>
            </a:endParaRPr>
          </a:p>
        </p:txBody>
      </p:sp>
      <p:cxnSp>
        <p:nvCxnSpPr>
          <p:cNvPr id="415" name="Google Shape;415;p25"/>
          <p:cNvCxnSpPr>
            <a:endCxn id="413" idx="1"/>
          </p:cNvCxnSpPr>
          <p:nvPr/>
        </p:nvCxnSpPr>
        <p:spPr>
          <a:xfrm>
            <a:off x="8210277" y="5618948"/>
            <a:ext cx="562800" cy="0"/>
          </a:xfrm>
          <a:prstGeom prst="straightConnector1">
            <a:avLst/>
          </a:prstGeom>
          <a:noFill/>
          <a:ln w="9525" cap="flat" cmpd="sng">
            <a:solidFill>
              <a:schemeClr val="dk2"/>
            </a:solidFill>
            <a:prstDash val="solid"/>
            <a:round/>
            <a:headEnd type="none" w="sm" len="sm"/>
            <a:tailEnd type="triangle" w="med" len="med"/>
          </a:ln>
        </p:spPr>
      </p:cxnSp>
      <p:sp>
        <p:nvSpPr>
          <p:cNvPr id="416" name="Google Shape;416;p25"/>
          <p:cNvSpPr txBox="1"/>
          <p:nvPr/>
        </p:nvSpPr>
        <p:spPr>
          <a:xfrm>
            <a:off x="10211076" y="5370948"/>
            <a:ext cx="1855999" cy="496000"/>
          </a:xfrm>
          <a:prstGeom prst="rect">
            <a:avLst/>
          </a:prstGeom>
          <a:no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2400"/>
              <a:buFont typeface="Arial"/>
              <a:buNone/>
            </a:pPr>
            <a:r>
              <a:rPr lang="en" sz="2400" b="0" i="0" u="none" strike="noStrike" cap="none">
                <a:solidFill>
                  <a:schemeClr val="dk1"/>
                </a:solidFill>
                <a:latin typeface="Rockwell"/>
                <a:ea typeface="Rockwell"/>
                <a:cs typeface="Rockwell"/>
                <a:sym typeface="Rockwell"/>
              </a:rPr>
              <a:t>DataFrame</a:t>
            </a:r>
            <a:endParaRPr sz="2400" b="0" i="0" u="none" strike="noStrike" cap="none">
              <a:solidFill>
                <a:schemeClr val="dk1"/>
              </a:solidFill>
              <a:latin typeface="Rockwell"/>
              <a:ea typeface="Rockwell"/>
              <a:cs typeface="Rockwell"/>
              <a:sym typeface="Rockwell"/>
            </a:endParaRPr>
          </a:p>
        </p:txBody>
      </p:sp>
      <p:cxnSp>
        <p:nvCxnSpPr>
          <p:cNvPr id="417" name="Google Shape;417;p25"/>
          <p:cNvCxnSpPr>
            <a:stCxn id="413" idx="3"/>
            <a:endCxn id="416" idx="1"/>
          </p:cNvCxnSpPr>
          <p:nvPr/>
        </p:nvCxnSpPr>
        <p:spPr>
          <a:xfrm>
            <a:off x="9409077" y="5618948"/>
            <a:ext cx="801900" cy="0"/>
          </a:xfrm>
          <a:prstGeom prst="straightConnector1">
            <a:avLst/>
          </a:prstGeom>
          <a:noFill/>
          <a:ln w="9525" cap="flat" cmpd="sng">
            <a:solidFill>
              <a:schemeClr val="dk2"/>
            </a:solidFill>
            <a:prstDash val="solid"/>
            <a:round/>
            <a:headEnd type="none" w="sm" len="sm"/>
            <a:tailEnd type="triangle" w="med" len="med"/>
          </a:ln>
        </p:spPr>
      </p:cxnSp>
      <p:sp>
        <p:nvSpPr>
          <p:cNvPr id="418" name="Google Shape;418;p25"/>
          <p:cNvSpPr txBox="1"/>
          <p:nvPr/>
        </p:nvSpPr>
        <p:spPr>
          <a:xfrm>
            <a:off x="7598877" y="5876148"/>
            <a:ext cx="2984400" cy="346000"/>
          </a:xfrm>
          <a:prstGeom prst="rect">
            <a:avLst/>
          </a:prstGeom>
          <a:noFill/>
          <a:ln>
            <a:noFill/>
          </a:ln>
        </p:spPr>
        <p:txBody>
          <a:bodyPr spcFirstLastPara="1" wrap="square" lIns="121900" tIns="121900" rIns="121900" bIns="121900" anchor="t"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chemeClr val="dk1"/>
                </a:solidFill>
                <a:latin typeface="Rockwell"/>
                <a:ea typeface="Rockwell"/>
                <a:cs typeface="Rockwell"/>
                <a:sym typeface="Rockwell"/>
              </a:rPr>
              <a:t>(Multiple) Row Selection</a:t>
            </a:r>
            <a:endParaRPr sz="2400" b="0" i="0" u="none" strike="noStrike" cap="none">
              <a:solidFill>
                <a:schemeClr val="dk1"/>
              </a:solidFill>
              <a:latin typeface="Rockwell"/>
              <a:ea typeface="Rockwell"/>
              <a:cs typeface="Rockwell"/>
              <a:sym typeface="Rockwell"/>
            </a:endParaRPr>
          </a:p>
        </p:txBody>
      </p:sp>
      <p:pic>
        <p:nvPicPr>
          <p:cNvPr id="419" name="Google Shape;419;p25" descr="Icon&#10;&#10;Description automatically generated with medium confidence"/>
          <p:cNvPicPr preferRelativeResize="0"/>
          <p:nvPr/>
        </p:nvPicPr>
        <p:blipFill rotWithShape="1">
          <a:blip r:embed="rId5">
            <a:alphaModFix/>
          </a:blip>
          <a:srcRect/>
          <a:stretch/>
        </p:blipFill>
        <p:spPr>
          <a:xfrm>
            <a:off x="860983" y="6117388"/>
            <a:ext cx="2422456" cy="533465"/>
          </a:xfrm>
          <a:prstGeom prst="rect">
            <a:avLst/>
          </a:prstGeom>
          <a:noFill/>
          <a:ln>
            <a:noFill/>
          </a:ln>
        </p:spPr>
      </p:pic>
      <p:pic>
        <p:nvPicPr>
          <p:cNvPr id="420" name="Google Shape;420;p25" descr="A picture containing diagram&#10;&#10;Description automatically generated"/>
          <p:cNvPicPr preferRelativeResize="0"/>
          <p:nvPr/>
        </p:nvPicPr>
        <p:blipFill rotWithShape="1">
          <a:blip r:embed="rId6">
            <a:alphaModFix/>
          </a:blip>
          <a:srcRect/>
          <a:stretch/>
        </p:blipFill>
        <p:spPr>
          <a:xfrm>
            <a:off x="4029817" y="6091152"/>
            <a:ext cx="2466183" cy="559701"/>
          </a:xfrm>
          <a:prstGeom prst="rect">
            <a:avLst/>
          </a:prstGeom>
          <a:noFill/>
          <a:ln>
            <a:noFill/>
          </a:ln>
        </p:spPr>
      </p:pic>
      <p:sp>
        <p:nvSpPr>
          <p:cNvPr id="421" name="Google Shape;421;p25"/>
          <p:cNvSpPr txBox="1"/>
          <p:nvPr/>
        </p:nvSpPr>
        <p:spPr>
          <a:xfrm>
            <a:off x="274811" y="5353616"/>
            <a:ext cx="413896"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 sz="1800" b="0" i="0" u="none" strike="noStrike" cap="none">
                <a:solidFill>
                  <a:schemeClr val="dk1"/>
                </a:solidFill>
                <a:latin typeface="Rockwell"/>
                <a:ea typeface="Rockwell"/>
                <a:cs typeface="Rockwell"/>
                <a:sym typeface="Rockwell"/>
              </a:rPr>
              <a:t>A.</a:t>
            </a:r>
            <a:endParaRPr sz="1400" b="0" i="0" u="none" strike="noStrike" cap="none">
              <a:solidFill>
                <a:srgbClr val="000000"/>
              </a:solidFill>
              <a:latin typeface="Arial"/>
              <a:ea typeface="Arial"/>
              <a:cs typeface="Arial"/>
              <a:sym typeface="Arial"/>
            </a:endParaRPr>
          </a:p>
        </p:txBody>
      </p:sp>
      <p:sp>
        <p:nvSpPr>
          <p:cNvPr id="422" name="Google Shape;422;p25"/>
          <p:cNvSpPr txBox="1"/>
          <p:nvPr/>
        </p:nvSpPr>
        <p:spPr>
          <a:xfrm>
            <a:off x="268793" y="6340585"/>
            <a:ext cx="417487"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 sz="1800" b="0" i="0" u="none" strike="noStrike" cap="none">
                <a:solidFill>
                  <a:schemeClr val="dk1"/>
                </a:solidFill>
                <a:latin typeface="Rockwell"/>
                <a:ea typeface="Rockwell"/>
                <a:cs typeface="Rockwell"/>
                <a:sym typeface="Rockwell"/>
              </a:rPr>
              <a:t>C.</a:t>
            </a:r>
            <a:endParaRPr sz="1400" b="0" i="0" u="none" strike="noStrike" cap="none">
              <a:solidFill>
                <a:srgbClr val="000000"/>
              </a:solidFill>
              <a:latin typeface="Arial"/>
              <a:ea typeface="Arial"/>
              <a:cs typeface="Arial"/>
              <a:sym typeface="Arial"/>
            </a:endParaRPr>
          </a:p>
        </p:txBody>
      </p:sp>
      <p:sp>
        <p:nvSpPr>
          <p:cNvPr id="423" name="Google Shape;423;p25"/>
          <p:cNvSpPr txBox="1"/>
          <p:nvPr/>
        </p:nvSpPr>
        <p:spPr>
          <a:xfrm>
            <a:off x="3473657" y="5352930"/>
            <a:ext cx="417487"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 sz="1800" b="0" i="0" u="none" strike="noStrike" cap="none">
                <a:solidFill>
                  <a:schemeClr val="dk1"/>
                </a:solidFill>
                <a:latin typeface="Rockwell"/>
                <a:ea typeface="Rockwell"/>
                <a:cs typeface="Rockwell"/>
                <a:sym typeface="Rockwell"/>
              </a:rPr>
              <a:t>B.</a:t>
            </a:r>
            <a:endParaRPr sz="1400" b="0" i="0" u="none" strike="noStrike" cap="none">
              <a:solidFill>
                <a:srgbClr val="000000"/>
              </a:solidFill>
              <a:latin typeface="Arial"/>
              <a:ea typeface="Arial"/>
              <a:cs typeface="Arial"/>
              <a:sym typeface="Arial"/>
            </a:endParaRPr>
          </a:p>
        </p:txBody>
      </p:sp>
      <p:sp>
        <p:nvSpPr>
          <p:cNvPr id="424" name="Google Shape;424;p25"/>
          <p:cNvSpPr txBox="1"/>
          <p:nvPr/>
        </p:nvSpPr>
        <p:spPr>
          <a:xfrm>
            <a:off x="3473657" y="6340585"/>
            <a:ext cx="406458"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 sz="1800" b="0" i="0" u="none" strike="noStrike" cap="none">
                <a:solidFill>
                  <a:schemeClr val="dk1"/>
                </a:solidFill>
                <a:latin typeface="Rockwell"/>
                <a:ea typeface="Rockwell"/>
                <a:cs typeface="Rockwell"/>
                <a:sym typeface="Rockwell"/>
              </a:rPr>
              <a:t>D.</a:t>
            </a:r>
            <a:endParaRPr sz="1400" b="0" i="0" u="none" strike="noStrike" cap="none">
              <a:solidFill>
                <a:srgbClr val="000000"/>
              </a:solidFill>
              <a:latin typeface="Arial"/>
              <a:ea typeface="Arial"/>
              <a:cs typeface="Arial"/>
              <a:sym typeface="Arial"/>
            </a:endParaRPr>
          </a:p>
        </p:txBody>
      </p:sp>
      <p:pic>
        <p:nvPicPr>
          <p:cNvPr id="425" name="Google Shape;425;p25" descr="Icon&#10;&#10;Description automatically generated with low confidence"/>
          <p:cNvPicPr preferRelativeResize="0"/>
          <p:nvPr/>
        </p:nvPicPr>
        <p:blipFill rotWithShape="1">
          <a:blip r:embed="rId7">
            <a:alphaModFix/>
          </a:blip>
          <a:srcRect/>
          <a:stretch/>
        </p:blipFill>
        <p:spPr>
          <a:xfrm>
            <a:off x="4925692" y="5302422"/>
            <a:ext cx="1565414" cy="550956"/>
          </a:xfrm>
          <a:prstGeom prst="rect">
            <a:avLst/>
          </a:prstGeom>
          <a:noFill/>
          <a:ln>
            <a:noFill/>
          </a:ln>
        </p:spPr>
      </p:pic>
      <p:pic>
        <p:nvPicPr>
          <p:cNvPr id="426" name="Google Shape;426;p25" descr="Icon&#10;&#10;Description automatically generated with low confidence"/>
          <p:cNvPicPr preferRelativeResize="0"/>
          <p:nvPr/>
        </p:nvPicPr>
        <p:blipFill rotWithShape="1">
          <a:blip r:embed="rId8">
            <a:alphaModFix/>
          </a:blip>
          <a:srcRect/>
          <a:stretch/>
        </p:blipFill>
        <p:spPr>
          <a:xfrm>
            <a:off x="1696087" y="5298181"/>
            <a:ext cx="1556669" cy="568447"/>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431"/>
        <p:cNvGrpSpPr/>
        <p:nvPr/>
      </p:nvGrpSpPr>
      <p:grpSpPr>
        <a:xfrm>
          <a:off x="0" y="0"/>
          <a:ext cx="0" cy="0"/>
          <a:chOff x="0" y="0"/>
          <a:chExt cx="0" cy="0"/>
        </a:xfrm>
      </p:grpSpPr>
      <p:graphicFrame>
        <p:nvGraphicFramePr>
          <p:cNvPr id="432" name="Google Shape;432;p26"/>
          <p:cNvGraphicFramePr/>
          <p:nvPr/>
        </p:nvGraphicFramePr>
        <p:xfrm>
          <a:off x="174792" y="5049647"/>
          <a:ext cx="6375800" cy="1708900"/>
        </p:xfrm>
        <a:graphic>
          <a:graphicData uri="http://schemas.openxmlformats.org/drawingml/2006/table">
            <a:tbl>
              <a:tblPr firstRow="1" bandRow="1">
                <a:noFill/>
              </a:tblPr>
              <a:tblGrid>
                <a:gridCol w="3187900">
                  <a:extLst>
                    <a:ext uri="{9D8B030D-6E8A-4147-A177-3AD203B41FA5}">
                      <a16:colId xmlns:a16="http://schemas.microsoft.com/office/drawing/2014/main" val="20000"/>
                    </a:ext>
                  </a:extLst>
                </a:gridCol>
                <a:gridCol w="3187900">
                  <a:extLst>
                    <a:ext uri="{9D8B030D-6E8A-4147-A177-3AD203B41FA5}">
                      <a16:colId xmlns:a16="http://schemas.microsoft.com/office/drawing/2014/main" val="20001"/>
                    </a:ext>
                  </a:extLst>
                </a:gridCol>
              </a:tblGrid>
              <a:tr h="914375">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794525">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
        <p:nvSpPr>
          <p:cNvPr id="433" name="Google Shape;433;p26"/>
          <p:cNvSpPr txBox="1">
            <a:spLocks noGrp="1"/>
          </p:cNvSpPr>
          <p:nvPr>
            <p:ph type="title"/>
          </p:nvPr>
        </p:nvSpPr>
        <p:spPr>
          <a:xfrm>
            <a:off x="1069848" y="-556"/>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
              <a:t>QUESTION 3</a:t>
            </a:r>
            <a:endParaRPr/>
          </a:p>
        </p:txBody>
      </p:sp>
      <p:sp>
        <p:nvSpPr>
          <p:cNvPr id="434" name="Google Shape;434;p26"/>
          <p:cNvSpPr txBox="1">
            <a:spLocks noGrp="1"/>
          </p:cNvSpPr>
          <p:nvPr>
            <p:ph type="body" idx="1"/>
          </p:nvPr>
        </p:nvSpPr>
        <p:spPr>
          <a:xfrm>
            <a:off x="450067" y="1679975"/>
            <a:ext cx="10678181" cy="4050792"/>
          </a:xfrm>
          <a:prstGeom prst="rect">
            <a:avLst/>
          </a:prstGeom>
          <a:noFill/>
          <a:ln>
            <a:noFill/>
          </a:ln>
        </p:spPr>
        <p:txBody>
          <a:bodyPr spcFirstLastPara="1" wrap="square" lIns="91425" tIns="45700" rIns="91425" bIns="45700" anchor="t" anchorCtr="0">
            <a:normAutofit/>
          </a:bodyPr>
          <a:lstStyle/>
          <a:p>
            <a:pPr marL="182880" lvl="0" indent="-74928" algn="l" rtl="0">
              <a:lnSpc>
                <a:spcPct val="90000"/>
              </a:lnSpc>
              <a:spcBef>
                <a:spcPts val="0"/>
              </a:spcBef>
              <a:spcAft>
                <a:spcPts val="0"/>
              </a:spcAft>
              <a:buSzPts val="1700"/>
              <a:buNone/>
            </a:pPr>
            <a:endParaRPr dirty="0"/>
          </a:p>
          <a:p>
            <a:pPr marL="182880" lvl="0" indent="-74928" algn="l" rtl="0">
              <a:lnSpc>
                <a:spcPct val="90000"/>
              </a:lnSpc>
              <a:spcBef>
                <a:spcPts val="1200"/>
              </a:spcBef>
              <a:spcAft>
                <a:spcPts val="0"/>
              </a:spcAft>
              <a:buSzPts val="1700"/>
              <a:buNone/>
            </a:pPr>
            <a:endParaRPr dirty="0"/>
          </a:p>
          <a:p>
            <a:pPr marL="182880" lvl="0" indent="-74928" algn="l" rtl="0">
              <a:lnSpc>
                <a:spcPct val="90000"/>
              </a:lnSpc>
              <a:spcBef>
                <a:spcPts val="1200"/>
              </a:spcBef>
              <a:spcAft>
                <a:spcPts val="0"/>
              </a:spcAft>
              <a:buSzPts val="1700"/>
              <a:buNone/>
            </a:pPr>
            <a:endParaRPr dirty="0"/>
          </a:p>
          <a:p>
            <a:pPr marL="182880" lvl="0" indent="-74928" algn="l" rtl="0">
              <a:lnSpc>
                <a:spcPct val="90000"/>
              </a:lnSpc>
              <a:spcBef>
                <a:spcPts val="1200"/>
              </a:spcBef>
              <a:spcAft>
                <a:spcPts val="0"/>
              </a:spcAft>
              <a:buSzPts val="1700"/>
              <a:buNone/>
            </a:pPr>
            <a:endParaRPr dirty="0"/>
          </a:p>
          <a:p>
            <a:pPr marL="182880" lvl="0" indent="-74928" algn="l" rtl="0">
              <a:lnSpc>
                <a:spcPct val="90000"/>
              </a:lnSpc>
              <a:spcBef>
                <a:spcPts val="1200"/>
              </a:spcBef>
              <a:spcAft>
                <a:spcPts val="0"/>
              </a:spcAft>
              <a:buSzPts val="1700"/>
              <a:buNone/>
            </a:pPr>
            <a:endParaRPr dirty="0"/>
          </a:p>
          <a:p>
            <a:pPr marL="0" lvl="0" indent="0" algn="l" rtl="0">
              <a:lnSpc>
                <a:spcPct val="90000"/>
              </a:lnSpc>
              <a:spcBef>
                <a:spcPts val="1200"/>
              </a:spcBef>
              <a:spcAft>
                <a:spcPts val="0"/>
              </a:spcAft>
              <a:buSzPts val="1700"/>
              <a:buNone/>
            </a:pPr>
            <a:r>
              <a:rPr lang="en" dirty="0"/>
              <a:t>Try to predict the output of the following:</a:t>
            </a:r>
            <a:endParaRPr dirty="0"/>
          </a:p>
          <a:p>
            <a:pPr marL="182880" lvl="0" indent="-182880" algn="l" rtl="0">
              <a:lnSpc>
                <a:spcPct val="90000"/>
              </a:lnSpc>
              <a:spcBef>
                <a:spcPts val="1200"/>
              </a:spcBef>
              <a:spcAft>
                <a:spcPts val="0"/>
              </a:spcAft>
              <a:buSzPts val="1700"/>
              <a:buFont typeface="Consolas"/>
              <a:buChar char="●"/>
            </a:pPr>
            <a:r>
              <a:rPr lang="en" dirty="0">
                <a:latin typeface="Consolas"/>
                <a:ea typeface="Consolas"/>
                <a:cs typeface="Consolas"/>
                <a:sym typeface="Consolas"/>
              </a:rPr>
              <a:t>weird[1:]</a:t>
            </a:r>
            <a:endParaRPr dirty="0"/>
          </a:p>
        </p:txBody>
      </p:sp>
      <p:pic>
        <p:nvPicPr>
          <p:cNvPr id="435" name="Google Shape;435;p26"/>
          <p:cNvPicPr preferRelativeResize="0"/>
          <p:nvPr/>
        </p:nvPicPr>
        <p:blipFill rotWithShape="1">
          <a:blip r:embed="rId3">
            <a:alphaModFix/>
          </a:blip>
          <a:srcRect/>
          <a:stretch/>
        </p:blipFill>
        <p:spPr>
          <a:xfrm>
            <a:off x="450067" y="1592592"/>
            <a:ext cx="11188867" cy="764733"/>
          </a:xfrm>
          <a:prstGeom prst="rect">
            <a:avLst/>
          </a:prstGeom>
          <a:noFill/>
          <a:ln w="9525" cap="flat" cmpd="sng">
            <a:solidFill>
              <a:srgbClr val="000000"/>
            </a:solidFill>
            <a:prstDash val="solid"/>
            <a:round/>
            <a:headEnd type="none" w="sm" len="sm"/>
            <a:tailEnd type="none" w="sm" len="sm"/>
          </a:ln>
        </p:spPr>
      </p:pic>
      <p:pic>
        <p:nvPicPr>
          <p:cNvPr id="436" name="Google Shape;436;p26"/>
          <p:cNvPicPr preferRelativeResize="0"/>
          <p:nvPr/>
        </p:nvPicPr>
        <p:blipFill rotWithShape="1">
          <a:blip r:embed="rId4">
            <a:alphaModFix/>
          </a:blip>
          <a:srcRect/>
          <a:stretch/>
        </p:blipFill>
        <p:spPr>
          <a:xfrm>
            <a:off x="450067" y="2385329"/>
            <a:ext cx="2768600" cy="1536700"/>
          </a:xfrm>
          <a:prstGeom prst="rect">
            <a:avLst/>
          </a:prstGeom>
          <a:noFill/>
          <a:ln w="9525" cap="flat" cmpd="sng">
            <a:solidFill>
              <a:srgbClr val="000000"/>
            </a:solidFill>
            <a:prstDash val="solid"/>
            <a:round/>
            <a:headEnd type="none" w="sm" len="sm"/>
            <a:tailEnd type="none" w="sm" len="sm"/>
          </a:ln>
        </p:spPr>
      </p:pic>
      <p:sp>
        <p:nvSpPr>
          <p:cNvPr id="437" name="Google Shape;437;p26"/>
          <p:cNvSpPr/>
          <p:nvPr/>
        </p:nvSpPr>
        <p:spPr>
          <a:xfrm>
            <a:off x="8675600" y="2529848"/>
            <a:ext cx="636000" cy="514400"/>
          </a:xfrm>
          <a:prstGeom prst="rect">
            <a:avLst/>
          </a:prstGeom>
          <a:solidFill>
            <a:srgbClr val="6D9EEB"/>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2667"/>
              <a:buFont typeface="Arial"/>
              <a:buNone/>
            </a:pPr>
            <a:r>
              <a:rPr lang="en" sz="2667" b="0" i="0" u="none" strike="noStrike" cap="none">
                <a:solidFill>
                  <a:schemeClr val="dk1"/>
                </a:solidFill>
                <a:latin typeface="Consolas"/>
                <a:ea typeface="Consolas"/>
                <a:cs typeface="Consolas"/>
                <a:sym typeface="Consolas"/>
              </a:rPr>
              <a:t>[]</a:t>
            </a:r>
            <a:endParaRPr sz="2667" b="0" i="0" u="none" strike="noStrike" cap="none">
              <a:solidFill>
                <a:schemeClr val="dk1"/>
              </a:solidFill>
              <a:latin typeface="Consolas"/>
              <a:ea typeface="Consolas"/>
              <a:cs typeface="Consolas"/>
              <a:sym typeface="Consolas"/>
            </a:endParaRPr>
          </a:p>
        </p:txBody>
      </p:sp>
      <p:sp>
        <p:nvSpPr>
          <p:cNvPr id="438" name="Google Shape;438;p26"/>
          <p:cNvSpPr txBox="1"/>
          <p:nvPr/>
        </p:nvSpPr>
        <p:spPr>
          <a:xfrm>
            <a:off x="7240200" y="2520348"/>
            <a:ext cx="1167600" cy="496000"/>
          </a:xfrm>
          <a:prstGeom prst="rect">
            <a:avLst/>
          </a:prstGeom>
          <a:no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2400"/>
              <a:buFont typeface="Arial"/>
              <a:buNone/>
            </a:pPr>
            <a:r>
              <a:rPr lang="en" sz="2400" b="0" i="0" u="none" strike="noStrike" cap="none">
                <a:solidFill>
                  <a:schemeClr val="dk1"/>
                </a:solidFill>
                <a:latin typeface="Rockwell"/>
                <a:ea typeface="Rockwell"/>
                <a:cs typeface="Rockwell"/>
                <a:sym typeface="Rockwell"/>
              </a:rPr>
              <a:t>Name</a:t>
            </a:r>
            <a:endParaRPr sz="2400" b="0" i="0" u="none" strike="noStrike" cap="none">
              <a:solidFill>
                <a:schemeClr val="dk1"/>
              </a:solidFill>
              <a:latin typeface="Rockwell"/>
              <a:ea typeface="Rockwell"/>
              <a:cs typeface="Rockwell"/>
              <a:sym typeface="Rockwell"/>
            </a:endParaRPr>
          </a:p>
        </p:txBody>
      </p:sp>
      <p:cxnSp>
        <p:nvCxnSpPr>
          <p:cNvPr id="439" name="Google Shape;439;p26"/>
          <p:cNvCxnSpPr>
            <a:endCxn id="437" idx="1"/>
          </p:cNvCxnSpPr>
          <p:nvPr/>
        </p:nvCxnSpPr>
        <p:spPr>
          <a:xfrm>
            <a:off x="8112800" y="2787048"/>
            <a:ext cx="562800" cy="0"/>
          </a:xfrm>
          <a:prstGeom prst="straightConnector1">
            <a:avLst/>
          </a:prstGeom>
          <a:noFill/>
          <a:ln w="9525" cap="flat" cmpd="sng">
            <a:solidFill>
              <a:schemeClr val="dk2"/>
            </a:solidFill>
            <a:prstDash val="solid"/>
            <a:round/>
            <a:headEnd type="none" w="sm" len="sm"/>
            <a:tailEnd type="triangle" w="med" len="med"/>
          </a:ln>
        </p:spPr>
      </p:cxnSp>
      <p:cxnSp>
        <p:nvCxnSpPr>
          <p:cNvPr id="440" name="Google Shape;440;p26"/>
          <p:cNvCxnSpPr>
            <a:stCxn id="437" idx="3"/>
          </p:cNvCxnSpPr>
          <p:nvPr/>
        </p:nvCxnSpPr>
        <p:spPr>
          <a:xfrm>
            <a:off x="9311600" y="2787048"/>
            <a:ext cx="812700" cy="0"/>
          </a:xfrm>
          <a:prstGeom prst="straightConnector1">
            <a:avLst/>
          </a:prstGeom>
          <a:noFill/>
          <a:ln w="9525" cap="flat" cmpd="sng">
            <a:solidFill>
              <a:schemeClr val="dk2"/>
            </a:solidFill>
            <a:prstDash val="solid"/>
            <a:round/>
            <a:headEnd type="none" w="sm" len="sm"/>
            <a:tailEnd type="triangle" w="med" len="med"/>
          </a:ln>
        </p:spPr>
      </p:cxnSp>
      <p:sp>
        <p:nvSpPr>
          <p:cNvPr id="441" name="Google Shape;441;p26"/>
          <p:cNvSpPr txBox="1"/>
          <p:nvPr/>
        </p:nvSpPr>
        <p:spPr>
          <a:xfrm>
            <a:off x="10113600" y="2539048"/>
            <a:ext cx="1468800" cy="496000"/>
          </a:xfrm>
          <a:prstGeom prst="rect">
            <a:avLst/>
          </a:prstGeom>
          <a:no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2400"/>
              <a:buFont typeface="Arial"/>
              <a:buNone/>
            </a:pPr>
            <a:r>
              <a:rPr lang="en" sz="2400" b="0" i="0" u="none" strike="noStrike" cap="none">
                <a:solidFill>
                  <a:schemeClr val="dk1"/>
                </a:solidFill>
                <a:latin typeface="Rockwell"/>
                <a:ea typeface="Rockwell"/>
                <a:cs typeface="Rockwell"/>
                <a:sym typeface="Rockwell"/>
              </a:rPr>
              <a:t>Series</a:t>
            </a:r>
            <a:endParaRPr sz="2400" b="0" i="0" u="none" strike="noStrike" cap="none">
              <a:solidFill>
                <a:schemeClr val="dk1"/>
              </a:solidFill>
              <a:latin typeface="Rockwell"/>
              <a:ea typeface="Rockwell"/>
              <a:cs typeface="Rockwell"/>
              <a:sym typeface="Rockwell"/>
            </a:endParaRPr>
          </a:p>
        </p:txBody>
      </p:sp>
      <p:sp>
        <p:nvSpPr>
          <p:cNvPr id="442" name="Google Shape;442;p26"/>
          <p:cNvSpPr txBox="1"/>
          <p:nvPr/>
        </p:nvSpPr>
        <p:spPr>
          <a:xfrm>
            <a:off x="7501400" y="3044248"/>
            <a:ext cx="2984400" cy="346000"/>
          </a:xfrm>
          <a:prstGeom prst="rect">
            <a:avLst/>
          </a:prstGeom>
          <a:noFill/>
          <a:ln>
            <a:noFill/>
          </a:ln>
        </p:spPr>
        <p:txBody>
          <a:bodyPr spcFirstLastPara="1" wrap="square" lIns="121900" tIns="121900" rIns="121900" bIns="121900" anchor="t"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chemeClr val="dk1"/>
                </a:solidFill>
                <a:latin typeface="Rockwell"/>
                <a:ea typeface="Rockwell"/>
                <a:cs typeface="Rockwell"/>
                <a:sym typeface="Rockwell"/>
              </a:rPr>
              <a:t>Single Column Selection</a:t>
            </a:r>
            <a:endParaRPr sz="2400" b="0" i="0" u="none" strike="noStrike" cap="none">
              <a:solidFill>
                <a:schemeClr val="dk1"/>
              </a:solidFill>
              <a:latin typeface="Rockwell"/>
              <a:ea typeface="Rockwell"/>
              <a:cs typeface="Rockwell"/>
              <a:sym typeface="Rockwell"/>
            </a:endParaRPr>
          </a:p>
        </p:txBody>
      </p:sp>
      <p:sp>
        <p:nvSpPr>
          <p:cNvPr id="443" name="Google Shape;443;p26"/>
          <p:cNvSpPr/>
          <p:nvPr/>
        </p:nvSpPr>
        <p:spPr>
          <a:xfrm>
            <a:off x="8711485" y="3941048"/>
            <a:ext cx="636000" cy="514400"/>
          </a:xfrm>
          <a:prstGeom prst="rect">
            <a:avLst/>
          </a:prstGeom>
          <a:solidFill>
            <a:srgbClr val="6D9EEB"/>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2667"/>
              <a:buFont typeface="Arial"/>
              <a:buNone/>
            </a:pPr>
            <a:r>
              <a:rPr lang="en" sz="2667" b="0" i="0" u="none" strike="noStrike" cap="none">
                <a:solidFill>
                  <a:schemeClr val="dk1"/>
                </a:solidFill>
                <a:latin typeface="Consolas"/>
                <a:ea typeface="Consolas"/>
                <a:cs typeface="Consolas"/>
                <a:sym typeface="Consolas"/>
              </a:rPr>
              <a:t>[]</a:t>
            </a:r>
            <a:endParaRPr sz="2667" b="0" i="0" u="none" strike="noStrike" cap="none">
              <a:solidFill>
                <a:schemeClr val="dk1"/>
              </a:solidFill>
              <a:latin typeface="Consolas"/>
              <a:ea typeface="Consolas"/>
              <a:cs typeface="Consolas"/>
              <a:sym typeface="Consolas"/>
            </a:endParaRPr>
          </a:p>
        </p:txBody>
      </p:sp>
      <p:sp>
        <p:nvSpPr>
          <p:cNvPr id="444" name="Google Shape;444;p26"/>
          <p:cNvSpPr txBox="1"/>
          <p:nvPr/>
        </p:nvSpPr>
        <p:spPr>
          <a:xfrm>
            <a:off x="7548718" y="3931536"/>
            <a:ext cx="748400" cy="496000"/>
          </a:xfrm>
          <a:prstGeom prst="rect">
            <a:avLst/>
          </a:prstGeom>
          <a:no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2400"/>
              <a:buFont typeface="Arial"/>
              <a:buNone/>
            </a:pPr>
            <a:r>
              <a:rPr lang="en" sz="2400" b="0" i="0" u="none" strike="noStrike" cap="none">
                <a:solidFill>
                  <a:schemeClr val="dk1"/>
                </a:solidFill>
                <a:latin typeface="Rockwell"/>
                <a:ea typeface="Rockwell"/>
                <a:cs typeface="Rockwell"/>
                <a:sym typeface="Rockwell"/>
              </a:rPr>
              <a:t>List</a:t>
            </a:r>
            <a:endParaRPr sz="2400" b="0" i="0" u="none" strike="noStrike" cap="none">
              <a:solidFill>
                <a:schemeClr val="dk1"/>
              </a:solidFill>
              <a:latin typeface="Rockwell"/>
              <a:ea typeface="Rockwell"/>
              <a:cs typeface="Rockwell"/>
              <a:sym typeface="Rockwell"/>
            </a:endParaRPr>
          </a:p>
        </p:txBody>
      </p:sp>
      <p:cxnSp>
        <p:nvCxnSpPr>
          <p:cNvPr id="445" name="Google Shape;445;p26"/>
          <p:cNvCxnSpPr>
            <a:endCxn id="443" idx="1"/>
          </p:cNvCxnSpPr>
          <p:nvPr/>
        </p:nvCxnSpPr>
        <p:spPr>
          <a:xfrm>
            <a:off x="8148685" y="4198248"/>
            <a:ext cx="562800" cy="0"/>
          </a:xfrm>
          <a:prstGeom prst="straightConnector1">
            <a:avLst/>
          </a:prstGeom>
          <a:noFill/>
          <a:ln w="9525" cap="flat" cmpd="sng">
            <a:solidFill>
              <a:schemeClr val="dk2"/>
            </a:solidFill>
            <a:prstDash val="solid"/>
            <a:round/>
            <a:headEnd type="none" w="sm" len="sm"/>
            <a:tailEnd type="triangle" w="med" len="med"/>
          </a:ln>
        </p:spPr>
      </p:cxnSp>
      <p:cxnSp>
        <p:nvCxnSpPr>
          <p:cNvPr id="446" name="Google Shape;446;p26"/>
          <p:cNvCxnSpPr>
            <a:stCxn id="443" idx="3"/>
          </p:cNvCxnSpPr>
          <p:nvPr/>
        </p:nvCxnSpPr>
        <p:spPr>
          <a:xfrm>
            <a:off x="9347485" y="4198248"/>
            <a:ext cx="812700" cy="0"/>
          </a:xfrm>
          <a:prstGeom prst="straightConnector1">
            <a:avLst/>
          </a:prstGeom>
          <a:noFill/>
          <a:ln w="9525" cap="flat" cmpd="sng">
            <a:solidFill>
              <a:schemeClr val="dk2"/>
            </a:solidFill>
            <a:prstDash val="solid"/>
            <a:round/>
            <a:headEnd type="none" w="sm" len="sm"/>
            <a:tailEnd type="triangle" w="med" len="med"/>
          </a:ln>
        </p:spPr>
      </p:cxnSp>
      <p:sp>
        <p:nvSpPr>
          <p:cNvPr id="447" name="Google Shape;447;p26"/>
          <p:cNvSpPr txBox="1"/>
          <p:nvPr/>
        </p:nvSpPr>
        <p:spPr>
          <a:xfrm>
            <a:off x="10149485" y="3931548"/>
            <a:ext cx="1856000" cy="496000"/>
          </a:xfrm>
          <a:prstGeom prst="rect">
            <a:avLst/>
          </a:prstGeom>
          <a:no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2400"/>
              <a:buFont typeface="Arial"/>
              <a:buNone/>
            </a:pPr>
            <a:r>
              <a:rPr lang="en" sz="2400" b="0" i="0" u="none" strike="noStrike" cap="none">
                <a:solidFill>
                  <a:schemeClr val="dk1"/>
                </a:solidFill>
                <a:latin typeface="Rockwell"/>
                <a:ea typeface="Rockwell"/>
                <a:cs typeface="Rockwell"/>
                <a:sym typeface="Rockwell"/>
              </a:rPr>
              <a:t>DataFrame</a:t>
            </a:r>
            <a:endParaRPr sz="2400" b="0" i="0" u="none" strike="noStrike" cap="none">
              <a:solidFill>
                <a:schemeClr val="dk1"/>
              </a:solidFill>
              <a:latin typeface="Rockwell"/>
              <a:ea typeface="Rockwell"/>
              <a:cs typeface="Rockwell"/>
              <a:sym typeface="Rockwell"/>
            </a:endParaRPr>
          </a:p>
        </p:txBody>
      </p:sp>
      <p:sp>
        <p:nvSpPr>
          <p:cNvPr id="448" name="Google Shape;448;p26"/>
          <p:cNvSpPr txBox="1"/>
          <p:nvPr/>
        </p:nvSpPr>
        <p:spPr>
          <a:xfrm>
            <a:off x="7537285" y="4455448"/>
            <a:ext cx="2984400" cy="346000"/>
          </a:xfrm>
          <a:prstGeom prst="rect">
            <a:avLst/>
          </a:prstGeom>
          <a:noFill/>
          <a:ln>
            <a:noFill/>
          </a:ln>
        </p:spPr>
        <p:txBody>
          <a:bodyPr spcFirstLastPara="1" wrap="square" lIns="121900" tIns="121900" rIns="121900" bIns="121900" anchor="t"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chemeClr val="dk1"/>
                </a:solidFill>
                <a:latin typeface="Rockwell"/>
                <a:ea typeface="Rockwell"/>
                <a:cs typeface="Rockwell"/>
                <a:sym typeface="Rockwell"/>
              </a:rPr>
              <a:t>Multiple Column Selection</a:t>
            </a:r>
            <a:endParaRPr sz="2400" b="0" i="0" u="none" strike="noStrike" cap="none">
              <a:solidFill>
                <a:schemeClr val="dk1"/>
              </a:solidFill>
              <a:latin typeface="Rockwell"/>
              <a:ea typeface="Rockwell"/>
              <a:cs typeface="Rockwell"/>
              <a:sym typeface="Rockwell"/>
            </a:endParaRPr>
          </a:p>
        </p:txBody>
      </p:sp>
      <p:sp>
        <p:nvSpPr>
          <p:cNvPr id="449" name="Google Shape;449;p26"/>
          <p:cNvSpPr/>
          <p:nvPr/>
        </p:nvSpPr>
        <p:spPr>
          <a:xfrm>
            <a:off x="8773077" y="5361748"/>
            <a:ext cx="636000" cy="514400"/>
          </a:xfrm>
          <a:prstGeom prst="rect">
            <a:avLst/>
          </a:prstGeom>
          <a:solidFill>
            <a:srgbClr val="6D9EEB"/>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2667"/>
              <a:buFont typeface="Arial"/>
              <a:buNone/>
            </a:pPr>
            <a:r>
              <a:rPr lang="en" sz="2667" b="0" i="0" u="none" strike="noStrike" cap="none">
                <a:solidFill>
                  <a:schemeClr val="dk1"/>
                </a:solidFill>
                <a:latin typeface="Consolas"/>
                <a:ea typeface="Consolas"/>
                <a:cs typeface="Consolas"/>
                <a:sym typeface="Consolas"/>
              </a:rPr>
              <a:t>[]</a:t>
            </a:r>
            <a:endParaRPr sz="2667" b="0" i="0" u="none" strike="noStrike" cap="none">
              <a:solidFill>
                <a:schemeClr val="dk1"/>
              </a:solidFill>
              <a:latin typeface="Consolas"/>
              <a:ea typeface="Consolas"/>
              <a:cs typeface="Consolas"/>
              <a:sym typeface="Consolas"/>
            </a:endParaRPr>
          </a:p>
        </p:txBody>
      </p:sp>
      <p:sp>
        <p:nvSpPr>
          <p:cNvPr id="450" name="Google Shape;450;p26"/>
          <p:cNvSpPr txBox="1"/>
          <p:nvPr/>
        </p:nvSpPr>
        <p:spPr>
          <a:xfrm>
            <a:off x="6545031" y="5352248"/>
            <a:ext cx="1710800" cy="496000"/>
          </a:xfrm>
          <a:prstGeom prst="rect">
            <a:avLst/>
          </a:prstGeom>
          <a:no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2400"/>
              <a:buFont typeface="Arial"/>
              <a:buNone/>
            </a:pPr>
            <a:r>
              <a:rPr lang="en" sz="2400" b="0" i="0" u="none" strike="noStrike" cap="none">
                <a:solidFill>
                  <a:schemeClr val="dk1"/>
                </a:solidFill>
                <a:latin typeface="Rockwell"/>
                <a:ea typeface="Rockwell"/>
                <a:cs typeface="Rockwell"/>
                <a:sym typeface="Rockwell"/>
              </a:rPr>
              <a:t>Numeric Slice</a:t>
            </a:r>
            <a:endParaRPr sz="2400" b="0" i="0" u="none" strike="noStrike" cap="none">
              <a:solidFill>
                <a:schemeClr val="dk1"/>
              </a:solidFill>
              <a:latin typeface="Rockwell"/>
              <a:ea typeface="Rockwell"/>
              <a:cs typeface="Rockwell"/>
              <a:sym typeface="Rockwell"/>
            </a:endParaRPr>
          </a:p>
        </p:txBody>
      </p:sp>
      <p:cxnSp>
        <p:nvCxnSpPr>
          <p:cNvPr id="451" name="Google Shape;451;p26"/>
          <p:cNvCxnSpPr>
            <a:endCxn id="449" idx="1"/>
          </p:cNvCxnSpPr>
          <p:nvPr/>
        </p:nvCxnSpPr>
        <p:spPr>
          <a:xfrm>
            <a:off x="8210277" y="5618948"/>
            <a:ext cx="562800" cy="0"/>
          </a:xfrm>
          <a:prstGeom prst="straightConnector1">
            <a:avLst/>
          </a:prstGeom>
          <a:noFill/>
          <a:ln w="9525" cap="flat" cmpd="sng">
            <a:solidFill>
              <a:schemeClr val="dk2"/>
            </a:solidFill>
            <a:prstDash val="solid"/>
            <a:round/>
            <a:headEnd type="none" w="sm" len="sm"/>
            <a:tailEnd type="triangle" w="med" len="med"/>
          </a:ln>
        </p:spPr>
      </p:cxnSp>
      <p:sp>
        <p:nvSpPr>
          <p:cNvPr id="452" name="Google Shape;452;p26"/>
          <p:cNvSpPr txBox="1"/>
          <p:nvPr/>
        </p:nvSpPr>
        <p:spPr>
          <a:xfrm>
            <a:off x="10211076" y="5370948"/>
            <a:ext cx="1855999" cy="496000"/>
          </a:xfrm>
          <a:prstGeom prst="rect">
            <a:avLst/>
          </a:prstGeom>
          <a:no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2400"/>
              <a:buFont typeface="Arial"/>
              <a:buNone/>
            </a:pPr>
            <a:r>
              <a:rPr lang="en" sz="2400" b="0" i="0" u="none" strike="noStrike" cap="none">
                <a:solidFill>
                  <a:schemeClr val="dk1"/>
                </a:solidFill>
                <a:latin typeface="Rockwell"/>
                <a:ea typeface="Rockwell"/>
                <a:cs typeface="Rockwell"/>
                <a:sym typeface="Rockwell"/>
              </a:rPr>
              <a:t>DataFrame</a:t>
            </a:r>
            <a:endParaRPr sz="2400" b="0" i="0" u="none" strike="noStrike" cap="none">
              <a:solidFill>
                <a:schemeClr val="dk1"/>
              </a:solidFill>
              <a:latin typeface="Rockwell"/>
              <a:ea typeface="Rockwell"/>
              <a:cs typeface="Rockwell"/>
              <a:sym typeface="Rockwell"/>
            </a:endParaRPr>
          </a:p>
        </p:txBody>
      </p:sp>
      <p:cxnSp>
        <p:nvCxnSpPr>
          <p:cNvPr id="453" name="Google Shape;453;p26"/>
          <p:cNvCxnSpPr>
            <a:stCxn id="449" idx="3"/>
            <a:endCxn id="452" idx="1"/>
          </p:cNvCxnSpPr>
          <p:nvPr/>
        </p:nvCxnSpPr>
        <p:spPr>
          <a:xfrm>
            <a:off x="9409077" y="5618948"/>
            <a:ext cx="801900" cy="0"/>
          </a:xfrm>
          <a:prstGeom prst="straightConnector1">
            <a:avLst/>
          </a:prstGeom>
          <a:noFill/>
          <a:ln w="9525" cap="flat" cmpd="sng">
            <a:solidFill>
              <a:schemeClr val="dk2"/>
            </a:solidFill>
            <a:prstDash val="solid"/>
            <a:round/>
            <a:headEnd type="none" w="sm" len="sm"/>
            <a:tailEnd type="triangle" w="med" len="med"/>
          </a:ln>
        </p:spPr>
      </p:cxnSp>
      <p:sp>
        <p:nvSpPr>
          <p:cNvPr id="454" name="Google Shape;454;p26"/>
          <p:cNvSpPr txBox="1"/>
          <p:nvPr/>
        </p:nvSpPr>
        <p:spPr>
          <a:xfrm>
            <a:off x="7598877" y="5876148"/>
            <a:ext cx="2984400" cy="346000"/>
          </a:xfrm>
          <a:prstGeom prst="rect">
            <a:avLst/>
          </a:prstGeom>
          <a:noFill/>
          <a:ln>
            <a:noFill/>
          </a:ln>
        </p:spPr>
        <p:txBody>
          <a:bodyPr spcFirstLastPara="1" wrap="square" lIns="121900" tIns="121900" rIns="121900" bIns="121900" anchor="t"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chemeClr val="dk1"/>
                </a:solidFill>
                <a:latin typeface="Rockwell"/>
                <a:ea typeface="Rockwell"/>
                <a:cs typeface="Rockwell"/>
                <a:sym typeface="Rockwell"/>
              </a:rPr>
              <a:t>(Multiple) Row Selection</a:t>
            </a:r>
            <a:endParaRPr sz="2400" b="0" i="0" u="none" strike="noStrike" cap="none">
              <a:solidFill>
                <a:schemeClr val="dk1"/>
              </a:solidFill>
              <a:latin typeface="Rockwell"/>
              <a:ea typeface="Rockwell"/>
              <a:cs typeface="Rockwell"/>
              <a:sym typeface="Rockwell"/>
            </a:endParaRPr>
          </a:p>
        </p:txBody>
      </p:sp>
      <p:pic>
        <p:nvPicPr>
          <p:cNvPr id="455" name="Google Shape;455;p26" descr="Icon&#10;&#10;Description automatically generated with medium confidence"/>
          <p:cNvPicPr preferRelativeResize="0"/>
          <p:nvPr/>
        </p:nvPicPr>
        <p:blipFill rotWithShape="1">
          <a:blip r:embed="rId5">
            <a:alphaModFix/>
          </a:blip>
          <a:srcRect/>
          <a:stretch/>
        </p:blipFill>
        <p:spPr>
          <a:xfrm>
            <a:off x="860983" y="6117388"/>
            <a:ext cx="2422456" cy="533465"/>
          </a:xfrm>
          <a:prstGeom prst="rect">
            <a:avLst/>
          </a:prstGeom>
          <a:noFill/>
          <a:ln>
            <a:noFill/>
          </a:ln>
        </p:spPr>
      </p:pic>
      <p:pic>
        <p:nvPicPr>
          <p:cNvPr id="456" name="Google Shape;456;p26" descr="A picture containing diagram&#10;&#10;Description automatically generated"/>
          <p:cNvPicPr preferRelativeResize="0"/>
          <p:nvPr/>
        </p:nvPicPr>
        <p:blipFill rotWithShape="1">
          <a:blip r:embed="rId6">
            <a:alphaModFix/>
          </a:blip>
          <a:srcRect/>
          <a:stretch/>
        </p:blipFill>
        <p:spPr>
          <a:xfrm>
            <a:off x="4084409" y="6091152"/>
            <a:ext cx="2466183" cy="559701"/>
          </a:xfrm>
          <a:prstGeom prst="rect">
            <a:avLst/>
          </a:prstGeom>
          <a:noFill/>
          <a:ln>
            <a:noFill/>
          </a:ln>
        </p:spPr>
      </p:pic>
      <p:sp>
        <p:nvSpPr>
          <p:cNvPr id="457" name="Google Shape;457;p26"/>
          <p:cNvSpPr txBox="1"/>
          <p:nvPr/>
        </p:nvSpPr>
        <p:spPr>
          <a:xfrm>
            <a:off x="274811" y="5353616"/>
            <a:ext cx="413896"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 sz="1800" b="0" i="0" u="none" strike="noStrike" cap="none">
                <a:solidFill>
                  <a:schemeClr val="dk1"/>
                </a:solidFill>
                <a:latin typeface="Rockwell"/>
                <a:ea typeface="Rockwell"/>
                <a:cs typeface="Rockwell"/>
                <a:sym typeface="Rockwell"/>
              </a:rPr>
              <a:t>A.</a:t>
            </a:r>
            <a:endParaRPr sz="1400" b="0" i="0" u="none" strike="noStrike" cap="none">
              <a:solidFill>
                <a:srgbClr val="000000"/>
              </a:solidFill>
              <a:latin typeface="Arial"/>
              <a:ea typeface="Arial"/>
              <a:cs typeface="Arial"/>
              <a:sym typeface="Arial"/>
            </a:endParaRPr>
          </a:p>
        </p:txBody>
      </p:sp>
      <p:sp>
        <p:nvSpPr>
          <p:cNvPr id="458" name="Google Shape;458;p26"/>
          <p:cNvSpPr txBox="1"/>
          <p:nvPr/>
        </p:nvSpPr>
        <p:spPr>
          <a:xfrm>
            <a:off x="268793" y="6340585"/>
            <a:ext cx="417487"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 sz="1800" b="0" i="0" u="none" strike="noStrike" cap="none">
                <a:solidFill>
                  <a:schemeClr val="dk1"/>
                </a:solidFill>
                <a:latin typeface="Rockwell"/>
                <a:ea typeface="Rockwell"/>
                <a:cs typeface="Rockwell"/>
                <a:sym typeface="Rockwell"/>
              </a:rPr>
              <a:t>C.</a:t>
            </a:r>
            <a:endParaRPr sz="1400" b="0" i="0" u="none" strike="noStrike" cap="none">
              <a:solidFill>
                <a:srgbClr val="000000"/>
              </a:solidFill>
              <a:latin typeface="Arial"/>
              <a:ea typeface="Arial"/>
              <a:cs typeface="Arial"/>
              <a:sym typeface="Arial"/>
            </a:endParaRPr>
          </a:p>
        </p:txBody>
      </p:sp>
      <p:sp>
        <p:nvSpPr>
          <p:cNvPr id="459" name="Google Shape;459;p26"/>
          <p:cNvSpPr txBox="1"/>
          <p:nvPr/>
        </p:nvSpPr>
        <p:spPr>
          <a:xfrm>
            <a:off x="3473657" y="5352930"/>
            <a:ext cx="417487"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 sz="1800" b="0" i="0" u="none" strike="noStrike" cap="none">
                <a:solidFill>
                  <a:schemeClr val="dk1"/>
                </a:solidFill>
                <a:latin typeface="Rockwell"/>
                <a:ea typeface="Rockwell"/>
                <a:cs typeface="Rockwell"/>
                <a:sym typeface="Rockwell"/>
              </a:rPr>
              <a:t>B.</a:t>
            </a:r>
            <a:endParaRPr sz="1400" b="0" i="0" u="none" strike="noStrike" cap="none">
              <a:solidFill>
                <a:srgbClr val="000000"/>
              </a:solidFill>
              <a:latin typeface="Arial"/>
              <a:ea typeface="Arial"/>
              <a:cs typeface="Arial"/>
              <a:sym typeface="Arial"/>
            </a:endParaRPr>
          </a:p>
        </p:txBody>
      </p:sp>
      <p:sp>
        <p:nvSpPr>
          <p:cNvPr id="460" name="Google Shape;460;p26"/>
          <p:cNvSpPr txBox="1"/>
          <p:nvPr/>
        </p:nvSpPr>
        <p:spPr>
          <a:xfrm>
            <a:off x="3473657" y="6340585"/>
            <a:ext cx="406458"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 sz="1800" b="0" i="0" u="none" strike="noStrike" cap="none">
                <a:solidFill>
                  <a:schemeClr val="dk1"/>
                </a:solidFill>
                <a:latin typeface="Rockwell"/>
                <a:ea typeface="Rockwell"/>
                <a:cs typeface="Rockwell"/>
                <a:sym typeface="Rockwell"/>
              </a:rPr>
              <a:t>D.</a:t>
            </a:r>
            <a:endParaRPr sz="1400" b="0" i="0" u="none" strike="noStrike" cap="none">
              <a:solidFill>
                <a:srgbClr val="000000"/>
              </a:solidFill>
              <a:latin typeface="Arial"/>
              <a:ea typeface="Arial"/>
              <a:cs typeface="Arial"/>
              <a:sym typeface="Arial"/>
            </a:endParaRPr>
          </a:p>
        </p:txBody>
      </p:sp>
      <p:pic>
        <p:nvPicPr>
          <p:cNvPr id="461" name="Google Shape;461;p26" descr="A picture containing icon&#10;&#10;Description automatically generated"/>
          <p:cNvPicPr preferRelativeResize="0"/>
          <p:nvPr/>
        </p:nvPicPr>
        <p:blipFill rotWithShape="1">
          <a:blip r:embed="rId7">
            <a:alphaModFix/>
          </a:blip>
          <a:srcRect/>
          <a:stretch/>
        </p:blipFill>
        <p:spPr>
          <a:xfrm>
            <a:off x="4031884" y="5060696"/>
            <a:ext cx="2470679" cy="862071"/>
          </a:xfrm>
          <a:prstGeom prst="rect">
            <a:avLst/>
          </a:prstGeom>
          <a:noFill/>
          <a:ln>
            <a:noFill/>
          </a:ln>
        </p:spPr>
      </p:pic>
      <p:pic>
        <p:nvPicPr>
          <p:cNvPr id="462" name="Google Shape;462;p26" descr="A picture containing logo&#10;&#10;Description automatically generated"/>
          <p:cNvPicPr preferRelativeResize="0"/>
          <p:nvPr/>
        </p:nvPicPr>
        <p:blipFill rotWithShape="1">
          <a:blip r:embed="rId8">
            <a:alphaModFix/>
          </a:blip>
          <a:srcRect/>
          <a:stretch/>
        </p:blipFill>
        <p:spPr>
          <a:xfrm>
            <a:off x="1929059" y="5089631"/>
            <a:ext cx="1330612" cy="800165"/>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466"/>
        <p:cNvGrpSpPr/>
        <p:nvPr/>
      </p:nvGrpSpPr>
      <p:grpSpPr>
        <a:xfrm>
          <a:off x="0" y="0"/>
          <a:ext cx="0" cy="0"/>
          <a:chOff x="0" y="0"/>
          <a:chExt cx="0" cy="0"/>
        </a:xfrm>
      </p:grpSpPr>
      <p:sp>
        <p:nvSpPr>
          <p:cNvPr id="467" name="Google Shape;467;p27"/>
          <p:cNvSpPr txBox="1">
            <a:spLocks noGrp="1"/>
          </p:cNvSpPr>
          <p:nvPr>
            <p:ph type="ctrTitle"/>
          </p:nvPr>
        </p:nvSpPr>
        <p:spPr>
          <a:xfrm>
            <a:off x="1051560" y="1432223"/>
            <a:ext cx="9966960" cy="3035808"/>
          </a:xfrm>
          <a:prstGeom prst="rect">
            <a:avLst/>
          </a:prstGeom>
          <a:noFill/>
          <a:ln>
            <a:noFill/>
          </a:ln>
        </p:spPr>
        <p:txBody>
          <a:bodyPr spcFirstLastPara="1" wrap="square" lIns="91425" tIns="45700" rIns="91425" bIns="45700" anchor="ctr" anchorCtr="0">
            <a:noAutofit/>
          </a:bodyPr>
          <a:lstStyle/>
          <a:p>
            <a:pPr marL="0" lvl="0" indent="0" algn="l" rtl="0">
              <a:lnSpc>
                <a:spcPct val="80000"/>
              </a:lnSpc>
              <a:spcBef>
                <a:spcPts val="0"/>
              </a:spcBef>
              <a:spcAft>
                <a:spcPts val="0"/>
              </a:spcAft>
              <a:buSzPts val="4800"/>
              <a:buFont typeface="Rockwell"/>
              <a:buNone/>
            </a:pPr>
            <a:r>
              <a:rPr lang="en" sz="4800"/>
              <a:t>BOOLEAN ARRAY SELECTION</a:t>
            </a:r>
            <a:endParaRPr sz="4800"/>
          </a:p>
        </p:txBody>
      </p:sp>
      <p:sp>
        <p:nvSpPr>
          <p:cNvPr id="468" name="Google Shape;468;p27"/>
          <p:cNvSpPr txBox="1">
            <a:spLocks noGrp="1"/>
          </p:cNvSpPr>
          <p:nvPr>
            <p:ph type="subTitle" idx="1"/>
          </p:nvPr>
        </p:nvSpPr>
        <p:spPr>
          <a:xfrm>
            <a:off x="1069848" y="4389120"/>
            <a:ext cx="7891272" cy="1069848"/>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SzPts val="1870"/>
              <a:buNone/>
            </a:pPr>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472"/>
        <p:cNvGrpSpPr/>
        <p:nvPr/>
      </p:nvGrpSpPr>
      <p:grpSpPr>
        <a:xfrm>
          <a:off x="0" y="0"/>
          <a:ext cx="0" cy="0"/>
          <a:chOff x="0" y="0"/>
          <a:chExt cx="0" cy="0"/>
        </a:xfrm>
      </p:grpSpPr>
      <p:sp>
        <p:nvSpPr>
          <p:cNvPr id="473" name="Google Shape;473;p28"/>
          <p:cNvSpPr txBox="1">
            <a:spLocks noGrp="1"/>
          </p:cNvSpPr>
          <p:nvPr>
            <p:ph type="title"/>
          </p:nvPr>
        </p:nvSpPr>
        <p:spPr>
          <a:xfrm>
            <a:off x="1069848" y="-558"/>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
              <a:t>BOOLEAN ARRAY INPUT</a:t>
            </a:r>
            <a:endParaRPr/>
          </a:p>
        </p:txBody>
      </p:sp>
      <p:sp>
        <p:nvSpPr>
          <p:cNvPr id="474" name="Google Shape;474;p28"/>
          <p:cNvSpPr txBox="1">
            <a:spLocks noGrp="1"/>
          </p:cNvSpPr>
          <p:nvPr>
            <p:ph type="body" idx="1"/>
          </p:nvPr>
        </p:nvSpPr>
        <p:spPr>
          <a:xfrm>
            <a:off x="8475457" y="1767153"/>
            <a:ext cx="3716543" cy="4050792"/>
          </a:xfrm>
          <a:prstGeom prst="rect">
            <a:avLst/>
          </a:prstGeom>
          <a:noFill/>
          <a:ln>
            <a:noFill/>
          </a:ln>
        </p:spPr>
        <p:txBody>
          <a:bodyPr spcFirstLastPara="1" wrap="square" lIns="91425" tIns="45700" rIns="91425" bIns="45700" anchor="t" anchorCtr="0">
            <a:normAutofit/>
          </a:bodyPr>
          <a:lstStyle/>
          <a:p>
            <a:pPr marL="182880" lvl="0" indent="-182880" algn="l" rtl="0">
              <a:lnSpc>
                <a:spcPct val="90000"/>
              </a:lnSpc>
              <a:spcBef>
                <a:spcPts val="0"/>
              </a:spcBef>
              <a:spcAft>
                <a:spcPts val="0"/>
              </a:spcAft>
              <a:buSzPts val="2040"/>
              <a:buChar char="▪"/>
            </a:pPr>
            <a:r>
              <a:rPr lang="en" sz="2400" dirty="0"/>
              <a:t>Yet another input type supported by [] is the </a:t>
            </a:r>
            <a:r>
              <a:rPr lang="en" sz="2400" dirty="0" err="1"/>
              <a:t>boolean</a:t>
            </a:r>
            <a:r>
              <a:rPr lang="en" sz="2400" dirty="0"/>
              <a:t> array.</a:t>
            </a:r>
            <a:endParaRPr dirty="0"/>
          </a:p>
          <a:p>
            <a:pPr marL="0" lvl="0" indent="0" algn="l" rtl="0">
              <a:lnSpc>
                <a:spcPct val="90000"/>
              </a:lnSpc>
              <a:spcBef>
                <a:spcPts val="1200"/>
              </a:spcBef>
              <a:spcAft>
                <a:spcPts val="0"/>
              </a:spcAft>
              <a:buSzPts val="1700"/>
              <a:buNone/>
            </a:pPr>
            <a:endParaRPr dirty="0"/>
          </a:p>
        </p:txBody>
      </p:sp>
      <p:pic>
        <p:nvPicPr>
          <p:cNvPr id="475" name="Google Shape;475;p28"/>
          <p:cNvPicPr preferRelativeResize="0"/>
          <p:nvPr/>
        </p:nvPicPr>
        <p:blipFill rotWithShape="1">
          <a:blip r:embed="rId3">
            <a:alphaModFix/>
          </a:blip>
          <a:srcRect/>
          <a:stretch/>
        </p:blipFill>
        <p:spPr>
          <a:xfrm>
            <a:off x="497985" y="1820300"/>
            <a:ext cx="7785100" cy="1955800"/>
          </a:xfrm>
          <a:prstGeom prst="rect">
            <a:avLst/>
          </a:prstGeom>
          <a:noFill/>
          <a:ln w="9525" cap="flat" cmpd="sng">
            <a:solidFill>
              <a:srgbClr val="000000"/>
            </a:solidFill>
            <a:prstDash val="solid"/>
            <a:round/>
            <a:headEnd type="none" w="sm" len="sm"/>
            <a:tailEnd type="none" w="sm" len="sm"/>
          </a:ln>
        </p:spPr>
      </p:pic>
      <p:pic>
        <p:nvPicPr>
          <p:cNvPr id="476" name="Google Shape;476;p28"/>
          <p:cNvPicPr preferRelativeResize="0"/>
          <p:nvPr/>
        </p:nvPicPr>
        <p:blipFill rotWithShape="1">
          <a:blip r:embed="rId4">
            <a:alphaModFix/>
          </a:blip>
          <a:srcRect/>
          <a:stretch/>
        </p:blipFill>
        <p:spPr>
          <a:xfrm>
            <a:off x="8283090" y="4251706"/>
            <a:ext cx="3716543" cy="2392733"/>
          </a:xfrm>
          <a:prstGeom prst="rect">
            <a:avLst/>
          </a:prstGeom>
          <a:noFill/>
          <a:ln>
            <a:noFill/>
          </a:ln>
        </p:spPr>
      </p:pic>
      <p:pic>
        <p:nvPicPr>
          <p:cNvPr id="477" name="Google Shape;477;p28"/>
          <p:cNvPicPr preferRelativeResize="0"/>
          <p:nvPr/>
        </p:nvPicPr>
        <p:blipFill rotWithShape="1">
          <a:blip r:embed="rId5">
            <a:alphaModFix/>
          </a:blip>
          <a:srcRect/>
          <a:stretch/>
        </p:blipFill>
        <p:spPr>
          <a:xfrm>
            <a:off x="497985" y="3790645"/>
            <a:ext cx="6616700" cy="2717800"/>
          </a:xfrm>
          <a:prstGeom prst="rect">
            <a:avLst/>
          </a:prstGeom>
          <a:noFill/>
          <a:ln w="9525" cap="flat" cmpd="sng">
            <a:solidFill>
              <a:srgbClr val="000000"/>
            </a:solidFill>
            <a:prstDash val="solid"/>
            <a:round/>
            <a:headEnd type="none" w="sm" len="sm"/>
            <a:tailEnd type="none" w="sm" len="sm"/>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76"/>
                                        </p:tgtEl>
                                        <p:attrNameLst>
                                          <p:attrName>style.visibility</p:attrName>
                                        </p:attrNameLst>
                                      </p:cBhvr>
                                      <p:to>
                                        <p:strVal val="visible"/>
                                      </p:to>
                                    </p:set>
                                    <p:animEffect transition="in" filter="fade">
                                      <p:cBhvr>
                                        <p:cTn id="7" dur="1"/>
                                        <p:tgtEl>
                                          <p:spTgt spid="4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481"/>
        <p:cNvGrpSpPr/>
        <p:nvPr/>
      </p:nvGrpSpPr>
      <p:grpSpPr>
        <a:xfrm>
          <a:off x="0" y="0"/>
          <a:ext cx="0" cy="0"/>
          <a:chOff x="0" y="0"/>
          <a:chExt cx="0" cy="0"/>
        </a:xfrm>
      </p:grpSpPr>
      <p:sp>
        <p:nvSpPr>
          <p:cNvPr id="482" name="Google Shape;482;p29"/>
          <p:cNvSpPr txBox="1">
            <a:spLocks noGrp="1"/>
          </p:cNvSpPr>
          <p:nvPr>
            <p:ph type="title"/>
          </p:nvPr>
        </p:nvSpPr>
        <p:spPr>
          <a:xfrm>
            <a:off x="1069848" y="-557"/>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
              <a:t>BOOLEAN ARRAY INPUT</a:t>
            </a:r>
            <a:endParaRPr/>
          </a:p>
        </p:txBody>
      </p:sp>
      <p:sp>
        <p:nvSpPr>
          <p:cNvPr id="483" name="Google Shape;483;p29"/>
          <p:cNvSpPr txBox="1">
            <a:spLocks noGrp="1"/>
          </p:cNvSpPr>
          <p:nvPr>
            <p:ph type="body" idx="1"/>
          </p:nvPr>
        </p:nvSpPr>
        <p:spPr>
          <a:xfrm>
            <a:off x="1069848" y="1337640"/>
            <a:ext cx="10058400" cy="4050792"/>
          </a:xfrm>
          <a:prstGeom prst="rect">
            <a:avLst/>
          </a:prstGeom>
          <a:noFill/>
          <a:ln>
            <a:noFill/>
          </a:ln>
        </p:spPr>
        <p:txBody>
          <a:bodyPr spcFirstLastPara="1" wrap="square" lIns="91425" tIns="45700" rIns="91425" bIns="45700" anchor="t" anchorCtr="0">
            <a:normAutofit/>
          </a:bodyPr>
          <a:lstStyle/>
          <a:p>
            <a:pPr marL="182880" lvl="0" indent="-182880" algn="l" rtl="0">
              <a:lnSpc>
                <a:spcPct val="90000"/>
              </a:lnSpc>
              <a:spcBef>
                <a:spcPts val="0"/>
              </a:spcBef>
              <a:spcAft>
                <a:spcPts val="0"/>
              </a:spcAft>
              <a:buSzPts val="2040"/>
              <a:buChar char="▪"/>
            </a:pPr>
            <a:r>
              <a:rPr lang="en" sz="2400" dirty="0"/>
              <a:t>Useful because </a:t>
            </a:r>
            <a:r>
              <a:rPr lang="en" sz="2400" dirty="0" err="1"/>
              <a:t>boolean</a:t>
            </a:r>
            <a:r>
              <a:rPr lang="en" sz="2400" dirty="0"/>
              <a:t> arrays can be generated by using logical operators on Series.</a:t>
            </a:r>
            <a:endParaRPr sz="2400" dirty="0"/>
          </a:p>
        </p:txBody>
      </p:sp>
      <p:pic>
        <p:nvPicPr>
          <p:cNvPr id="484" name="Google Shape;484;p29"/>
          <p:cNvPicPr preferRelativeResize="0"/>
          <p:nvPr/>
        </p:nvPicPr>
        <p:blipFill rotWithShape="1">
          <a:blip r:embed="rId3">
            <a:alphaModFix/>
          </a:blip>
          <a:srcRect/>
          <a:stretch/>
        </p:blipFill>
        <p:spPr>
          <a:xfrm>
            <a:off x="1918133" y="3978054"/>
            <a:ext cx="7721568" cy="517233"/>
          </a:xfrm>
          <a:prstGeom prst="rect">
            <a:avLst/>
          </a:prstGeom>
          <a:noFill/>
          <a:ln w="9525" cap="flat" cmpd="sng">
            <a:solidFill>
              <a:srgbClr val="000000"/>
            </a:solidFill>
            <a:prstDash val="solid"/>
            <a:round/>
            <a:headEnd type="none" w="sm" len="sm"/>
            <a:tailEnd type="none" w="sm" len="sm"/>
          </a:ln>
        </p:spPr>
      </p:pic>
      <p:pic>
        <p:nvPicPr>
          <p:cNvPr id="485" name="Google Shape;485;p29"/>
          <p:cNvPicPr preferRelativeResize="0"/>
          <p:nvPr/>
        </p:nvPicPr>
        <p:blipFill rotWithShape="1">
          <a:blip r:embed="rId4">
            <a:alphaModFix/>
          </a:blip>
          <a:srcRect/>
          <a:stretch/>
        </p:blipFill>
        <p:spPr>
          <a:xfrm>
            <a:off x="1918133" y="4504643"/>
            <a:ext cx="6807200" cy="2311400"/>
          </a:xfrm>
          <a:prstGeom prst="rect">
            <a:avLst/>
          </a:prstGeom>
          <a:noFill/>
          <a:ln w="9525" cap="flat" cmpd="sng">
            <a:solidFill>
              <a:srgbClr val="000000"/>
            </a:solidFill>
            <a:prstDash val="solid"/>
            <a:round/>
            <a:headEnd type="none" w="sm" len="sm"/>
            <a:tailEnd type="none" w="sm" len="sm"/>
          </a:ln>
        </p:spPr>
      </p:pic>
      <p:sp>
        <p:nvSpPr>
          <p:cNvPr id="486" name="Google Shape;486;p29"/>
          <p:cNvSpPr/>
          <p:nvPr/>
        </p:nvSpPr>
        <p:spPr>
          <a:xfrm rot="-5400000">
            <a:off x="4888933" y="2367163"/>
            <a:ext cx="336800" cy="3008000"/>
          </a:xfrm>
          <a:prstGeom prst="rightBrace">
            <a:avLst>
              <a:gd name="adj1" fmla="val 8333"/>
              <a:gd name="adj2" fmla="val 50000"/>
            </a:avLst>
          </a:prstGeom>
          <a:noFill/>
          <a:ln w="9525" cap="flat" cmpd="sng">
            <a:solidFill>
              <a:srgbClr val="BE0712"/>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Rockwell"/>
              <a:ea typeface="Rockwell"/>
              <a:cs typeface="Rockwell"/>
              <a:sym typeface="Rockwell"/>
            </a:endParaRPr>
          </a:p>
        </p:txBody>
      </p:sp>
      <p:cxnSp>
        <p:nvCxnSpPr>
          <p:cNvPr id="487" name="Google Shape;487;p29"/>
          <p:cNvCxnSpPr/>
          <p:nvPr/>
        </p:nvCxnSpPr>
        <p:spPr>
          <a:xfrm rot="10800000">
            <a:off x="2620737" y="3232237"/>
            <a:ext cx="951328" cy="569983"/>
          </a:xfrm>
          <a:prstGeom prst="straightConnector1">
            <a:avLst/>
          </a:prstGeom>
          <a:noFill/>
          <a:ln w="9525" cap="flat" cmpd="sng">
            <a:solidFill>
              <a:srgbClr val="BE0712"/>
            </a:solidFill>
            <a:prstDash val="solid"/>
            <a:round/>
            <a:headEnd type="none" w="sm" len="sm"/>
            <a:tailEnd type="triangle" w="med" len="med"/>
          </a:ln>
        </p:spPr>
      </p:cxnSp>
      <p:sp>
        <p:nvSpPr>
          <p:cNvPr id="488" name="Google Shape;488;p29"/>
          <p:cNvSpPr txBox="1"/>
          <p:nvPr/>
        </p:nvSpPr>
        <p:spPr>
          <a:xfrm>
            <a:off x="172032" y="1994729"/>
            <a:ext cx="4603167" cy="1061200"/>
          </a:xfrm>
          <a:prstGeom prst="rect">
            <a:avLst/>
          </a:prstGeom>
          <a:noFill/>
          <a:ln>
            <a:noFill/>
          </a:ln>
        </p:spPr>
        <p:txBody>
          <a:bodyPr spcFirstLastPara="1" wrap="square" lIns="121900" tIns="121900" rIns="121900" bIns="1219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 sz="2400" b="0" i="0" u="none" strike="noStrike" cap="none">
                <a:solidFill>
                  <a:srgbClr val="BE0712"/>
                </a:solidFill>
                <a:latin typeface="Rockwell"/>
                <a:ea typeface="Rockwell"/>
                <a:cs typeface="Rockwell"/>
                <a:sym typeface="Rockwell"/>
              </a:rPr>
              <a:t>Length 23 Series where every entry is “Republican”, “Democrat” or “Independent.”</a:t>
            </a:r>
            <a:endParaRPr sz="2400" b="0" i="0" u="none" strike="noStrike" cap="none">
              <a:solidFill>
                <a:srgbClr val="BE0712"/>
              </a:solidFill>
              <a:latin typeface="Rockwell"/>
              <a:ea typeface="Rockwell"/>
              <a:cs typeface="Rockwell"/>
              <a:sym typeface="Rockwell"/>
            </a:endParaRPr>
          </a:p>
        </p:txBody>
      </p:sp>
      <p:sp>
        <p:nvSpPr>
          <p:cNvPr id="489" name="Google Shape;489;p29"/>
          <p:cNvSpPr/>
          <p:nvPr/>
        </p:nvSpPr>
        <p:spPr>
          <a:xfrm rot="-5400000">
            <a:off x="6403265" y="435809"/>
            <a:ext cx="336800" cy="5999200"/>
          </a:xfrm>
          <a:prstGeom prst="rightBrace">
            <a:avLst>
              <a:gd name="adj1" fmla="val 8333"/>
              <a:gd name="adj2" fmla="val 69053"/>
            </a:avLst>
          </a:prstGeom>
          <a:noFill/>
          <a:ln w="9525" cap="flat" cmpd="sng">
            <a:solidFill>
              <a:srgbClr val="BE0712"/>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Rockwell"/>
              <a:ea typeface="Rockwell"/>
              <a:cs typeface="Rockwell"/>
              <a:sym typeface="Rockwell"/>
            </a:endParaRPr>
          </a:p>
        </p:txBody>
      </p:sp>
      <p:sp>
        <p:nvSpPr>
          <p:cNvPr id="490" name="Google Shape;490;p29"/>
          <p:cNvSpPr txBox="1"/>
          <p:nvPr/>
        </p:nvSpPr>
        <p:spPr>
          <a:xfrm>
            <a:off x="6096000" y="1967801"/>
            <a:ext cx="6113283" cy="1061200"/>
          </a:xfrm>
          <a:prstGeom prst="rect">
            <a:avLst/>
          </a:prstGeom>
          <a:noFill/>
          <a:ln>
            <a:noFill/>
          </a:ln>
        </p:spPr>
        <p:txBody>
          <a:bodyPr spcFirstLastPara="1" wrap="square" lIns="121900" tIns="121900" rIns="121900" bIns="1219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 sz="2400" b="0" i="0" u="none" strike="noStrike" cap="none" dirty="0">
                <a:solidFill>
                  <a:srgbClr val="BE0712"/>
                </a:solidFill>
                <a:latin typeface="Rockwell"/>
                <a:ea typeface="Rockwell"/>
                <a:cs typeface="Rockwell"/>
                <a:sym typeface="Rockwell"/>
              </a:rPr>
              <a:t>Length 23 Series where every entry is either “True” or “False”, where “True” occurs for every independent candidate.</a:t>
            </a:r>
            <a:endParaRPr sz="2400" b="0" i="0" u="none" strike="noStrike" cap="none" dirty="0">
              <a:solidFill>
                <a:srgbClr val="BE0712"/>
              </a:solidFill>
              <a:latin typeface="Rockwell"/>
              <a:ea typeface="Rockwell"/>
              <a:cs typeface="Rockwell"/>
              <a:sym typeface="Rockwell"/>
            </a:endParaRPr>
          </a:p>
        </p:txBody>
      </p:sp>
      <p:cxnSp>
        <p:nvCxnSpPr>
          <p:cNvPr id="491" name="Google Shape;491;p29"/>
          <p:cNvCxnSpPr>
            <a:stCxn id="489" idx="1"/>
          </p:cNvCxnSpPr>
          <p:nvPr/>
        </p:nvCxnSpPr>
        <p:spPr>
          <a:xfrm rot="10800000">
            <a:off x="7714693" y="3181509"/>
            <a:ext cx="0" cy="85500"/>
          </a:xfrm>
          <a:prstGeom prst="straightConnector1">
            <a:avLst/>
          </a:prstGeom>
          <a:noFill/>
          <a:ln w="9525" cap="flat" cmpd="sng">
            <a:solidFill>
              <a:srgbClr val="BE0712"/>
            </a:solidFill>
            <a:prstDash val="solid"/>
            <a:round/>
            <a:headEnd type="none" w="sm" len="sm"/>
            <a:tailEnd type="triangle" w="med" len="med"/>
          </a:ln>
        </p:spPr>
      </p:cxn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495"/>
        <p:cNvGrpSpPr/>
        <p:nvPr/>
      </p:nvGrpSpPr>
      <p:grpSpPr>
        <a:xfrm>
          <a:off x="0" y="0"/>
          <a:ext cx="0" cy="0"/>
          <a:chOff x="0" y="0"/>
          <a:chExt cx="0" cy="0"/>
        </a:xfrm>
      </p:grpSpPr>
      <p:sp>
        <p:nvSpPr>
          <p:cNvPr id="496" name="Google Shape;496;p30"/>
          <p:cNvSpPr txBox="1">
            <a:spLocks noGrp="1"/>
          </p:cNvSpPr>
          <p:nvPr>
            <p:ph type="title"/>
          </p:nvPr>
        </p:nvSpPr>
        <p:spPr>
          <a:xfrm>
            <a:off x="1063752" y="530725"/>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
              <a:t>BOOLEAN ARRAY INPUT</a:t>
            </a:r>
            <a:endParaRPr/>
          </a:p>
        </p:txBody>
      </p:sp>
      <p:sp>
        <p:nvSpPr>
          <p:cNvPr id="497" name="Google Shape;497;p30"/>
          <p:cNvSpPr txBox="1">
            <a:spLocks noGrp="1"/>
          </p:cNvSpPr>
          <p:nvPr>
            <p:ph type="body" idx="1"/>
          </p:nvPr>
        </p:nvSpPr>
        <p:spPr>
          <a:xfrm>
            <a:off x="1069848" y="2009442"/>
            <a:ext cx="10058400" cy="4050792"/>
          </a:xfrm>
          <a:prstGeom prst="rect">
            <a:avLst/>
          </a:prstGeom>
          <a:noFill/>
          <a:ln>
            <a:noFill/>
          </a:ln>
        </p:spPr>
        <p:txBody>
          <a:bodyPr spcFirstLastPara="1" wrap="square" lIns="91425" tIns="45700" rIns="91425" bIns="45700" anchor="t" anchorCtr="0">
            <a:normAutofit/>
          </a:bodyPr>
          <a:lstStyle/>
          <a:p>
            <a:pPr marL="182880" lvl="0" indent="-182880" algn="l" rtl="0">
              <a:lnSpc>
                <a:spcPct val="90000"/>
              </a:lnSpc>
              <a:spcBef>
                <a:spcPts val="0"/>
              </a:spcBef>
              <a:spcAft>
                <a:spcPts val="0"/>
              </a:spcAft>
              <a:buSzPts val="2040"/>
              <a:buChar char="▪"/>
            </a:pPr>
            <a:r>
              <a:rPr lang="en" sz="2400"/>
              <a:t>Boolean Series can be combined using the &amp; operator, allowing filtering of results by multiple criteria. </a:t>
            </a:r>
            <a:endParaRPr/>
          </a:p>
          <a:p>
            <a:pPr marL="182880" lvl="0" indent="-53338" algn="l" rtl="0">
              <a:lnSpc>
                <a:spcPct val="90000"/>
              </a:lnSpc>
              <a:spcBef>
                <a:spcPts val="1200"/>
              </a:spcBef>
              <a:spcAft>
                <a:spcPts val="0"/>
              </a:spcAft>
              <a:buSzPts val="2040"/>
              <a:buNone/>
            </a:pPr>
            <a:endParaRPr sz="2400"/>
          </a:p>
        </p:txBody>
      </p:sp>
      <p:pic>
        <p:nvPicPr>
          <p:cNvPr id="498" name="Google Shape;498;p30"/>
          <p:cNvPicPr preferRelativeResize="0"/>
          <p:nvPr/>
        </p:nvPicPr>
        <p:blipFill rotWithShape="1">
          <a:blip r:embed="rId3">
            <a:alphaModFix/>
          </a:blip>
          <a:srcRect/>
          <a:stretch/>
        </p:blipFill>
        <p:spPr>
          <a:xfrm>
            <a:off x="2649367" y="2940833"/>
            <a:ext cx="6972300" cy="863600"/>
          </a:xfrm>
          <a:prstGeom prst="rect">
            <a:avLst/>
          </a:prstGeom>
          <a:noFill/>
          <a:ln w="9525" cap="flat" cmpd="sng">
            <a:solidFill>
              <a:srgbClr val="434343"/>
            </a:solidFill>
            <a:prstDash val="solid"/>
            <a:round/>
            <a:headEnd type="none" w="sm" len="sm"/>
            <a:tailEnd type="none" w="sm" len="sm"/>
          </a:ln>
        </p:spPr>
      </p:pic>
      <p:pic>
        <p:nvPicPr>
          <p:cNvPr id="499" name="Google Shape;499;p30"/>
          <p:cNvPicPr preferRelativeResize="0"/>
          <p:nvPr/>
        </p:nvPicPr>
        <p:blipFill rotWithShape="1">
          <a:blip r:embed="rId4">
            <a:alphaModFix/>
          </a:blip>
          <a:srcRect/>
          <a:stretch/>
        </p:blipFill>
        <p:spPr>
          <a:xfrm>
            <a:off x="2649367" y="3823145"/>
            <a:ext cx="6705600" cy="2882900"/>
          </a:xfrm>
          <a:prstGeom prst="rect">
            <a:avLst/>
          </a:prstGeom>
          <a:noFill/>
          <a:ln w="9525" cap="flat" cmpd="sng">
            <a:solidFill>
              <a:srgbClr val="434343"/>
            </a:solidFill>
            <a:prstDash val="solid"/>
            <a:round/>
            <a:headEnd type="none" w="sm" len="sm"/>
            <a:tailEnd type="none" w="sm" len="sm"/>
          </a:ln>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503"/>
        <p:cNvGrpSpPr/>
        <p:nvPr/>
      </p:nvGrpSpPr>
      <p:grpSpPr>
        <a:xfrm>
          <a:off x="0" y="0"/>
          <a:ext cx="0" cy="0"/>
          <a:chOff x="0" y="0"/>
          <a:chExt cx="0" cy="0"/>
        </a:xfrm>
      </p:grpSpPr>
      <p:sp>
        <p:nvSpPr>
          <p:cNvPr id="504" name="Google Shape;504;p38"/>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
              <a:t>LOC SUPPORTS BOOLEAN ARRAYS</a:t>
            </a:r>
            <a:endParaRPr/>
          </a:p>
        </p:txBody>
      </p:sp>
      <p:sp>
        <p:nvSpPr>
          <p:cNvPr id="505" name="Google Shape;505;p38"/>
          <p:cNvSpPr txBox="1">
            <a:spLocks noGrp="1"/>
          </p:cNvSpPr>
          <p:nvPr>
            <p:ph type="body" idx="1"/>
          </p:nvPr>
        </p:nvSpPr>
        <p:spPr>
          <a:xfrm>
            <a:off x="1069848" y="2121408"/>
            <a:ext cx="10058400" cy="4050792"/>
          </a:xfrm>
          <a:prstGeom prst="rect">
            <a:avLst/>
          </a:prstGeom>
          <a:noFill/>
          <a:ln>
            <a:noFill/>
          </a:ln>
        </p:spPr>
        <p:txBody>
          <a:bodyPr spcFirstLastPara="1" wrap="square" lIns="91425" tIns="45700" rIns="91425" bIns="45700" anchor="t" anchorCtr="0">
            <a:normAutofit/>
          </a:bodyPr>
          <a:lstStyle/>
          <a:p>
            <a:pPr marL="182880" lvl="0" indent="-182880" algn="l" rtl="0">
              <a:lnSpc>
                <a:spcPct val="90000"/>
              </a:lnSpc>
              <a:spcBef>
                <a:spcPts val="0"/>
              </a:spcBef>
              <a:spcAft>
                <a:spcPts val="0"/>
              </a:spcAft>
              <a:buSzPts val="2040"/>
              <a:buChar char="▪"/>
            </a:pPr>
            <a:r>
              <a:rPr lang="en" sz="2400"/>
              <a:t>Loc supports Boolean Arrays exactly as you’d expect.</a:t>
            </a:r>
            <a:endParaRPr/>
          </a:p>
          <a:p>
            <a:pPr marL="182880" lvl="0" indent="-74928" algn="l" rtl="0">
              <a:lnSpc>
                <a:spcPct val="90000"/>
              </a:lnSpc>
              <a:spcBef>
                <a:spcPts val="1200"/>
              </a:spcBef>
              <a:spcAft>
                <a:spcPts val="0"/>
              </a:spcAft>
              <a:buSzPts val="1700"/>
              <a:buNone/>
            </a:pPr>
            <a:endParaRPr/>
          </a:p>
        </p:txBody>
      </p:sp>
      <p:pic>
        <p:nvPicPr>
          <p:cNvPr id="506" name="Google Shape;506;p38"/>
          <p:cNvPicPr preferRelativeResize="0"/>
          <p:nvPr/>
        </p:nvPicPr>
        <p:blipFill rotWithShape="1">
          <a:blip r:embed="rId3">
            <a:alphaModFix/>
          </a:blip>
          <a:srcRect/>
          <a:stretch/>
        </p:blipFill>
        <p:spPr>
          <a:xfrm>
            <a:off x="634266" y="2977850"/>
            <a:ext cx="11258399" cy="412713"/>
          </a:xfrm>
          <a:prstGeom prst="rect">
            <a:avLst/>
          </a:prstGeom>
          <a:noFill/>
          <a:ln w="9525" cap="flat" cmpd="sng">
            <a:solidFill>
              <a:srgbClr val="000000"/>
            </a:solidFill>
            <a:prstDash val="solid"/>
            <a:round/>
            <a:headEnd type="none" w="sm" len="sm"/>
            <a:tailEnd type="none" w="sm" len="sm"/>
          </a:ln>
        </p:spPr>
      </p:pic>
      <p:pic>
        <p:nvPicPr>
          <p:cNvPr id="507" name="Google Shape;507;p38"/>
          <p:cNvPicPr preferRelativeResize="0"/>
          <p:nvPr/>
        </p:nvPicPr>
        <p:blipFill rotWithShape="1">
          <a:blip r:embed="rId4">
            <a:alphaModFix/>
          </a:blip>
          <a:srcRect/>
          <a:stretch/>
        </p:blipFill>
        <p:spPr>
          <a:xfrm>
            <a:off x="634265" y="3409245"/>
            <a:ext cx="4749800" cy="2730500"/>
          </a:xfrm>
          <a:prstGeom prst="rect">
            <a:avLst/>
          </a:prstGeom>
          <a:noFill/>
          <a:ln w="9525" cap="flat" cmpd="sng">
            <a:solidFill>
              <a:srgbClr val="000000"/>
            </a:solidFill>
            <a:prstDash val="solid"/>
            <a:round/>
            <a:headEnd type="none" w="sm" len="sm"/>
            <a:tailEnd type="none" w="sm" len="sm"/>
          </a:ln>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512"/>
        <p:cNvGrpSpPr/>
        <p:nvPr/>
      </p:nvGrpSpPr>
      <p:grpSpPr>
        <a:xfrm>
          <a:off x="0" y="0"/>
          <a:ext cx="0" cy="0"/>
          <a:chOff x="0" y="0"/>
          <a:chExt cx="0" cy="0"/>
        </a:xfrm>
      </p:grpSpPr>
      <p:sp>
        <p:nvSpPr>
          <p:cNvPr id="513" name="Google Shape;513;g1fcaa18c86e_1_117"/>
          <p:cNvSpPr txBox="1">
            <a:spLocks noGrp="1"/>
          </p:cNvSpPr>
          <p:nvPr>
            <p:ph type="title"/>
          </p:nvPr>
        </p:nvSpPr>
        <p:spPr>
          <a:xfrm>
            <a:off x="151850" y="92750"/>
            <a:ext cx="11919300" cy="16095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0000"/>
              </a:buClr>
              <a:buSzPts val="5400"/>
              <a:buFont typeface="Rockwell"/>
              <a:buNone/>
            </a:pPr>
            <a:r>
              <a:rPr lang="en"/>
              <a:t>ANNOYING QUESTION CHALLENGE</a:t>
            </a:r>
            <a:endParaRPr/>
          </a:p>
        </p:txBody>
      </p:sp>
      <p:sp>
        <p:nvSpPr>
          <p:cNvPr id="514" name="Google Shape;514;g1fcaa18c86e_1_117"/>
          <p:cNvSpPr txBox="1">
            <a:spLocks noGrp="1"/>
          </p:cNvSpPr>
          <p:nvPr>
            <p:ph type="body" idx="1"/>
          </p:nvPr>
        </p:nvSpPr>
        <p:spPr>
          <a:xfrm>
            <a:off x="282300" y="1729525"/>
            <a:ext cx="11705100" cy="2232000"/>
          </a:xfrm>
          <a:prstGeom prst="rect">
            <a:avLst/>
          </a:prstGeom>
          <a:noFill/>
          <a:ln>
            <a:noFill/>
          </a:ln>
        </p:spPr>
        <p:txBody>
          <a:bodyPr spcFirstLastPara="1" wrap="square" lIns="91425" tIns="45700" rIns="91425" bIns="45700" anchor="t" anchorCtr="0">
            <a:spAutoFit/>
          </a:bodyPr>
          <a:lstStyle/>
          <a:p>
            <a:pPr marL="274320" lvl="0" indent="0" algn="l" rtl="0">
              <a:lnSpc>
                <a:spcPct val="100000"/>
              </a:lnSpc>
              <a:spcBef>
                <a:spcPts val="800"/>
              </a:spcBef>
              <a:spcAft>
                <a:spcPts val="0"/>
              </a:spcAft>
              <a:buClr>
                <a:schemeClr val="dk1"/>
              </a:buClr>
              <a:buSzPts val="275"/>
              <a:buFont typeface="Arial"/>
              <a:buNone/>
            </a:pPr>
            <a:r>
              <a:rPr lang="en" sz="2266" dirty="0">
                <a:latin typeface="Calibri"/>
                <a:ea typeface="Calibri"/>
                <a:cs typeface="Calibri"/>
                <a:sym typeface="Calibri"/>
              </a:rPr>
              <a:t>Which of the following pandas statements returns a </a:t>
            </a:r>
            <a:r>
              <a:rPr lang="en" sz="2266" dirty="0" err="1">
                <a:latin typeface="Calibri"/>
                <a:ea typeface="Calibri"/>
                <a:cs typeface="Calibri"/>
                <a:sym typeface="Calibri"/>
              </a:rPr>
              <a:t>DataFrame</a:t>
            </a:r>
            <a:r>
              <a:rPr lang="en" sz="2266" dirty="0">
                <a:latin typeface="Calibri"/>
                <a:ea typeface="Calibri"/>
                <a:cs typeface="Calibri"/>
                <a:sym typeface="Calibri"/>
              </a:rPr>
              <a:t> of the first 3 Candidate names only for candidates that won with more than 50% of the vote?</a:t>
            </a:r>
            <a:endParaRPr sz="2266" dirty="0">
              <a:latin typeface="Calibri"/>
              <a:ea typeface="Calibri"/>
              <a:cs typeface="Calibri"/>
              <a:sym typeface="Calibri"/>
            </a:endParaRPr>
          </a:p>
          <a:p>
            <a:pPr marL="274320" lvl="0" indent="-138112" algn="l" rtl="0">
              <a:lnSpc>
                <a:spcPct val="100000"/>
              </a:lnSpc>
              <a:spcBef>
                <a:spcPts val="800"/>
              </a:spcBef>
              <a:spcAft>
                <a:spcPts val="0"/>
              </a:spcAft>
              <a:buSzPts val="2175"/>
              <a:buFont typeface="Consolas"/>
              <a:buAutoNum type="arabicPeriod"/>
            </a:pPr>
            <a:r>
              <a:rPr lang="en" sz="2175" dirty="0">
                <a:latin typeface="Consolas"/>
                <a:ea typeface="Consolas"/>
                <a:cs typeface="Consolas"/>
                <a:sym typeface="Consolas"/>
              </a:rPr>
              <a:t>elections2.iloc[[0, 3, 5], [0, 3]]</a:t>
            </a:r>
            <a:endParaRPr sz="2175" dirty="0">
              <a:latin typeface="Consolas"/>
              <a:ea typeface="Consolas"/>
              <a:cs typeface="Consolas"/>
              <a:sym typeface="Consolas"/>
            </a:endParaRPr>
          </a:p>
          <a:p>
            <a:pPr marL="274320" lvl="0" indent="-138112" algn="l" rtl="0">
              <a:lnSpc>
                <a:spcPct val="100000"/>
              </a:lnSpc>
              <a:spcBef>
                <a:spcPts val="0"/>
              </a:spcBef>
              <a:spcAft>
                <a:spcPts val="0"/>
              </a:spcAft>
              <a:buSzPts val="2175"/>
              <a:buFont typeface="Consolas"/>
              <a:buAutoNum type="arabicPeriod"/>
            </a:pPr>
            <a:r>
              <a:rPr lang="en" sz="2175" dirty="0">
                <a:latin typeface="Consolas"/>
                <a:ea typeface="Consolas"/>
                <a:cs typeface="Consolas"/>
                <a:sym typeface="Consolas"/>
              </a:rPr>
              <a:t>elections2.loc[[0, 3, 5], "</a:t>
            </a:r>
            <a:r>
              <a:rPr lang="en" sz="2175" dirty="0" err="1">
                <a:latin typeface="Consolas"/>
                <a:ea typeface="Consolas"/>
                <a:cs typeface="Consolas"/>
                <a:sym typeface="Consolas"/>
              </a:rPr>
              <a:t>Candidate":"Year</a:t>
            </a:r>
            <a:r>
              <a:rPr lang="en" sz="2175" dirty="0">
                <a:latin typeface="Consolas"/>
                <a:ea typeface="Consolas"/>
                <a:cs typeface="Consolas"/>
                <a:sym typeface="Consolas"/>
              </a:rPr>
              <a:t>"]</a:t>
            </a:r>
            <a:endParaRPr sz="2175" dirty="0">
              <a:latin typeface="Consolas"/>
              <a:ea typeface="Consolas"/>
              <a:cs typeface="Consolas"/>
              <a:sym typeface="Consolas"/>
            </a:endParaRPr>
          </a:p>
          <a:p>
            <a:pPr marL="274320" lvl="0" indent="-138112" algn="l" rtl="0">
              <a:lnSpc>
                <a:spcPct val="100000"/>
              </a:lnSpc>
              <a:spcBef>
                <a:spcPts val="0"/>
              </a:spcBef>
              <a:spcAft>
                <a:spcPts val="0"/>
              </a:spcAft>
              <a:buSzPts val="2175"/>
              <a:buFont typeface="Consolas"/>
              <a:buAutoNum type="arabicPeriod"/>
            </a:pPr>
            <a:r>
              <a:rPr lang="en" sz="2175" dirty="0">
                <a:latin typeface="Consolas"/>
                <a:ea typeface="Consolas"/>
                <a:cs typeface="Consolas"/>
                <a:sym typeface="Consolas"/>
              </a:rPr>
              <a:t>elections2.loc[elections2["%"] &gt; 50, ["Candidate", "Year"]].head(3)</a:t>
            </a:r>
            <a:endParaRPr sz="2175" dirty="0">
              <a:latin typeface="Consolas"/>
              <a:ea typeface="Consolas"/>
              <a:cs typeface="Consolas"/>
              <a:sym typeface="Consolas"/>
            </a:endParaRPr>
          </a:p>
          <a:p>
            <a:pPr marL="274320" lvl="0" indent="-138112" algn="l" rtl="0">
              <a:lnSpc>
                <a:spcPct val="100000"/>
              </a:lnSpc>
              <a:spcBef>
                <a:spcPts val="0"/>
              </a:spcBef>
              <a:spcAft>
                <a:spcPts val="0"/>
              </a:spcAft>
              <a:buSzPts val="2175"/>
              <a:buFont typeface="Consolas"/>
              <a:buAutoNum type="arabicPeriod"/>
            </a:pPr>
            <a:r>
              <a:rPr lang="en" sz="2175" dirty="0">
                <a:latin typeface="Consolas"/>
                <a:ea typeface="Consolas"/>
                <a:cs typeface="Consolas"/>
                <a:sym typeface="Consolas"/>
              </a:rPr>
              <a:t>elections2.loc[elections2["%"] &gt; 50, ["Candidate", "Year"]].</a:t>
            </a:r>
            <a:r>
              <a:rPr lang="en" sz="2175" dirty="0" err="1">
                <a:latin typeface="Consolas"/>
                <a:ea typeface="Consolas"/>
                <a:cs typeface="Consolas"/>
                <a:sym typeface="Consolas"/>
              </a:rPr>
              <a:t>iloc</a:t>
            </a:r>
            <a:r>
              <a:rPr lang="en" sz="2175" dirty="0">
                <a:latin typeface="Consolas"/>
                <a:ea typeface="Consolas"/>
                <a:cs typeface="Consolas"/>
                <a:sym typeface="Consolas"/>
              </a:rPr>
              <a:t>[0:2, :]</a:t>
            </a:r>
            <a:endParaRPr sz="1900" dirty="0"/>
          </a:p>
        </p:txBody>
      </p:sp>
      <p:pic>
        <p:nvPicPr>
          <p:cNvPr id="515" name="Google Shape;515;g1fcaa18c86e_1_117"/>
          <p:cNvPicPr preferRelativeResize="0"/>
          <p:nvPr/>
        </p:nvPicPr>
        <p:blipFill rotWithShape="1">
          <a:blip r:embed="rId3">
            <a:alphaModFix/>
          </a:blip>
          <a:srcRect/>
          <a:stretch/>
        </p:blipFill>
        <p:spPr>
          <a:xfrm>
            <a:off x="6940830" y="4256897"/>
            <a:ext cx="3177300" cy="2390700"/>
          </a:xfrm>
          <a:prstGeom prst="rect">
            <a:avLst/>
          </a:prstGeom>
          <a:noFill/>
          <a:ln w="9525" cap="flat" cmpd="sng">
            <a:solidFill>
              <a:srgbClr val="000000"/>
            </a:solidFill>
            <a:prstDash val="solid"/>
            <a:round/>
            <a:headEnd type="none" w="sm" len="sm"/>
            <a:tailEnd type="none" w="sm" len="sm"/>
          </a:ln>
        </p:spPr>
      </p:pic>
      <p:pic>
        <p:nvPicPr>
          <p:cNvPr id="516" name="Google Shape;516;g1fcaa18c86e_1_117"/>
          <p:cNvPicPr preferRelativeResize="0"/>
          <p:nvPr/>
        </p:nvPicPr>
        <p:blipFill rotWithShape="1">
          <a:blip r:embed="rId4">
            <a:alphaModFix/>
          </a:blip>
          <a:srcRect/>
          <a:stretch/>
        </p:blipFill>
        <p:spPr>
          <a:xfrm>
            <a:off x="1466998" y="4079931"/>
            <a:ext cx="3898599" cy="2567667"/>
          </a:xfrm>
          <a:prstGeom prst="rect">
            <a:avLst/>
          </a:prstGeom>
          <a:noFill/>
          <a:ln w="9525" cap="flat" cmpd="sng">
            <a:solidFill>
              <a:srgbClr val="000000"/>
            </a:solidFill>
            <a:prstDash val="solid"/>
            <a:round/>
            <a:headEnd type="none" w="sm" len="sm"/>
            <a:tailEnd type="none" w="sm" len="sm"/>
          </a:ln>
        </p:spPr>
      </p:pic>
      <p:cxnSp>
        <p:nvCxnSpPr>
          <p:cNvPr id="517" name="Google Shape;517;g1fcaa18c86e_1_117"/>
          <p:cNvCxnSpPr/>
          <p:nvPr/>
        </p:nvCxnSpPr>
        <p:spPr>
          <a:xfrm>
            <a:off x="5620968" y="5452250"/>
            <a:ext cx="1021200" cy="0"/>
          </a:xfrm>
          <a:prstGeom prst="straightConnector1">
            <a:avLst/>
          </a:prstGeom>
          <a:noFill/>
          <a:ln w="28575" cap="flat" cmpd="sng">
            <a:solidFill>
              <a:schemeClr val="dk1"/>
            </a:solidFill>
            <a:prstDash val="solid"/>
            <a:round/>
            <a:headEnd type="none" w="sm" len="sm"/>
            <a:tailEnd type="triangle" w="med" len="med"/>
          </a:ln>
        </p:spPr>
      </p:cxn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522"/>
        <p:cNvGrpSpPr/>
        <p:nvPr/>
      </p:nvGrpSpPr>
      <p:grpSpPr>
        <a:xfrm>
          <a:off x="0" y="0"/>
          <a:ext cx="0" cy="0"/>
          <a:chOff x="0" y="0"/>
          <a:chExt cx="0" cy="0"/>
        </a:xfrm>
      </p:grpSpPr>
      <p:sp>
        <p:nvSpPr>
          <p:cNvPr id="523" name="Google Shape;523;p40"/>
          <p:cNvSpPr txBox="1">
            <a:spLocks noGrp="1"/>
          </p:cNvSpPr>
          <p:nvPr>
            <p:ph type="ctrTitle"/>
          </p:nvPr>
        </p:nvSpPr>
        <p:spPr>
          <a:xfrm>
            <a:off x="1051560" y="1432223"/>
            <a:ext cx="9966960" cy="3035808"/>
          </a:xfrm>
          <a:prstGeom prst="rect">
            <a:avLst/>
          </a:prstGeom>
          <a:noFill/>
          <a:ln>
            <a:noFill/>
          </a:ln>
        </p:spPr>
        <p:txBody>
          <a:bodyPr spcFirstLastPara="1" wrap="square" lIns="91425" tIns="45700" rIns="91425" bIns="45700" anchor="ctr" anchorCtr="0">
            <a:noAutofit/>
          </a:bodyPr>
          <a:lstStyle/>
          <a:p>
            <a:pPr marL="0" lvl="0" indent="0" algn="l" rtl="0">
              <a:lnSpc>
                <a:spcPct val="80000"/>
              </a:lnSpc>
              <a:spcBef>
                <a:spcPts val="0"/>
              </a:spcBef>
              <a:spcAft>
                <a:spcPts val="0"/>
              </a:spcAft>
              <a:buSzPts val="4400"/>
              <a:buFont typeface="Rockwell"/>
              <a:buNone/>
            </a:pPr>
            <a:r>
              <a:rPr lang="en" sz="4400"/>
              <a:t>HANDY PROPERTIES AND UTILITY FUNCTIONS </a:t>
            </a:r>
            <a:br>
              <a:rPr lang="en" sz="4400"/>
            </a:br>
            <a:r>
              <a:rPr lang="en" sz="4400"/>
              <a:t>FOR SERIES AND DATAFRAMES</a:t>
            </a:r>
            <a:endParaRPr sz="4400"/>
          </a:p>
        </p:txBody>
      </p:sp>
      <p:sp>
        <p:nvSpPr>
          <p:cNvPr id="524" name="Google Shape;524;p40"/>
          <p:cNvSpPr txBox="1">
            <a:spLocks noGrp="1"/>
          </p:cNvSpPr>
          <p:nvPr>
            <p:ph type="subTitle" idx="1"/>
          </p:nvPr>
        </p:nvSpPr>
        <p:spPr>
          <a:xfrm>
            <a:off x="1069848" y="4389120"/>
            <a:ext cx="7891272" cy="1069848"/>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SzPts val="1870"/>
              <a:buNone/>
            </a:pPr>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536"/>
        <p:cNvGrpSpPr/>
        <p:nvPr/>
      </p:nvGrpSpPr>
      <p:grpSpPr>
        <a:xfrm>
          <a:off x="0" y="0"/>
          <a:ext cx="0" cy="0"/>
          <a:chOff x="0" y="0"/>
          <a:chExt cx="0" cy="0"/>
        </a:xfrm>
      </p:grpSpPr>
      <p:sp>
        <p:nvSpPr>
          <p:cNvPr id="537" name="Google Shape;537;p42"/>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
              <a:t>THE </a:t>
            </a:r>
            <a:r>
              <a:rPr lang="en">
                <a:latin typeface="Consolas"/>
                <a:ea typeface="Consolas"/>
                <a:cs typeface="Consolas"/>
                <a:sym typeface="Consolas"/>
              </a:rPr>
              <a:t>SORT_VALUES</a:t>
            </a:r>
            <a:r>
              <a:rPr lang="en"/>
              <a:t> METHOD</a:t>
            </a:r>
            <a:endParaRPr/>
          </a:p>
        </p:txBody>
      </p:sp>
      <p:sp>
        <p:nvSpPr>
          <p:cNvPr id="538" name="Google Shape;538;p42"/>
          <p:cNvSpPr txBox="1">
            <a:spLocks noGrp="1"/>
          </p:cNvSpPr>
          <p:nvPr>
            <p:ph type="body" idx="1"/>
          </p:nvPr>
        </p:nvSpPr>
        <p:spPr>
          <a:xfrm>
            <a:off x="1063752" y="1892808"/>
            <a:ext cx="10058400" cy="4050792"/>
          </a:xfrm>
          <a:prstGeom prst="rect">
            <a:avLst/>
          </a:prstGeom>
          <a:noFill/>
          <a:ln>
            <a:noFill/>
          </a:ln>
        </p:spPr>
        <p:txBody>
          <a:bodyPr spcFirstLastPara="1" wrap="square" lIns="91425" tIns="45700" rIns="91425" bIns="45700" anchor="t" anchorCtr="0">
            <a:normAutofit/>
          </a:bodyPr>
          <a:lstStyle/>
          <a:p>
            <a:pPr marL="182880" lvl="0" indent="-182880" algn="l" rtl="0">
              <a:lnSpc>
                <a:spcPct val="90000"/>
              </a:lnSpc>
              <a:spcBef>
                <a:spcPts val="0"/>
              </a:spcBef>
              <a:spcAft>
                <a:spcPts val="0"/>
              </a:spcAft>
              <a:buSzPts val="1700"/>
              <a:buChar char="▪"/>
            </a:pPr>
            <a:r>
              <a:rPr lang="en" dirty="0"/>
              <a:t>One incredibly useful method for </a:t>
            </a:r>
            <a:r>
              <a:rPr lang="en" dirty="0" err="1"/>
              <a:t>DataFrames</a:t>
            </a:r>
            <a:r>
              <a:rPr lang="en" dirty="0"/>
              <a:t> is </a:t>
            </a:r>
            <a:r>
              <a:rPr lang="en" dirty="0" err="1">
                <a:latin typeface="Consolas"/>
                <a:ea typeface="Consolas"/>
                <a:cs typeface="Consolas"/>
                <a:sym typeface="Consolas"/>
              </a:rPr>
              <a:t>sort_values</a:t>
            </a:r>
            <a:r>
              <a:rPr lang="en" dirty="0"/>
              <a:t>, which creates a copy of a </a:t>
            </a:r>
            <a:r>
              <a:rPr lang="en" dirty="0" err="1"/>
              <a:t>DataFrame</a:t>
            </a:r>
            <a:r>
              <a:rPr lang="en" dirty="0"/>
              <a:t> sorted by a specific column</a:t>
            </a:r>
            <a:endParaRPr dirty="0"/>
          </a:p>
        </p:txBody>
      </p:sp>
      <p:pic>
        <p:nvPicPr>
          <p:cNvPr id="539" name="Google Shape;539;p42"/>
          <p:cNvPicPr preferRelativeResize="0"/>
          <p:nvPr/>
        </p:nvPicPr>
        <p:blipFill rotWithShape="1">
          <a:blip r:embed="rId3">
            <a:alphaModFix/>
          </a:blip>
          <a:srcRect/>
          <a:stretch/>
        </p:blipFill>
        <p:spPr>
          <a:xfrm>
            <a:off x="1271301" y="2643900"/>
            <a:ext cx="7480300" cy="533400"/>
          </a:xfrm>
          <a:prstGeom prst="rect">
            <a:avLst/>
          </a:prstGeom>
          <a:noFill/>
          <a:ln w="9525" cap="flat" cmpd="sng">
            <a:solidFill>
              <a:srgbClr val="000000"/>
            </a:solidFill>
            <a:prstDash val="solid"/>
            <a:round/>
            <a:headEnd type="none" w="sm" len="sm"/>
            <a:tailEnd type="none" w="sm" len="sm"/>
          </a:ln>
        </p:spPr>
      </p:pic>
      <p:pic>
        <p:nvPicPr>
          <p:cNvPr id="540" name="Google Shape;540;p42"/>
          <p:cNvPicPr preferRelativeResize="0"/>
          <p:nvPr/>
        </p:nvPicPr>
        <p:blipFill rotWithShape="1">
          <a:blip r:embed="rId4">
            <a:alphaModFix/>
          </a:blip>
          <a:srcRect/>
          <a:stretch/>
        </p:blipFill>
        <p:spPr>
          <a:xfrm>
            <a:off x="1271301" y="3192053"/>
            <a:ext cx="6718300" cy="3378200"/>
          </a:xfrm>
          <a:prstGeom prst="rect">
            <a:avLst/>
          </a:prstGeom>
          <a:noFill/>
          <a:ln w="9525" cap="flat" cmpd="sng">
            <a:solidFill>
              <a:srgbClr val="000000"/>
            </a:solidFill>
            <a:prstDash val="solid"/>
            <a:round/>
            <a:headEnd type="none" w="sm" len="sm"/>
            <a:tailEnd type="none" w="sm" len="sm"/>
          </a:ln>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545"/>
        <p:cNvGrpSpPr/>
        <p:nvPr/>
      </p:nvGrpSpPr>
      <p:grpSpPr>
        <a:xfrm>
          <a:off x="0" y="0"/>
          <a:ext cx="0" cy="0"/>
          <a:chOff x="0" y="0"/>
          <a:chExt cx="0" cy="0"/>
        </a:xfrm>
      </p:grpSpPr>
      <p:sp>
        <p:nvSpPr>
          <p:cNvPr id="546" name="Google Shape;546;p43"/>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
              <a:t>THE </a:t>
            </a:r>
            <a:r>
              <a:rPr lang="en">
                <a:latin typeface="Consolas"/>
                <a:ea typeface="Consolas"/>
                <a:cs typeface="Consolas"/>
                <a:sym typeface="Consolas"/>
              </a:rPr>
              <a:t>SORT_VALUES</a:t>
            </a:r>
            <a:r>
              <a:rPr lang="en"/>
              <a:t> METHOD</a:t>
            </a:r>
            <a:endParaRPr/>
          </a:p>
        </p:txBody>
      </p:sp>
      <p:sp>
        <p:nvSpPr>
          <p:cNvPr id="547" name="Google Shape;547;p43"/>
          <p:cNvSpPr txBox="1">
            <a:spLocks noGrp="1"/>
          </p:cNvSpPr>
          <p:nvPr>
            <p:ph type="body" idx="1"/>
          </p:nvPr>
        </p:nvSpPr>
        <p:spPr>
          <a:xfrm>
            <a:off x="1069848" y="2121408"/>
            <a:ext cx="10058400" cy="4050792"/>
          </a:xfrm>
          <a:prstGeom prst="rect">
            <a:avLst/>
          </a:prstGeom>
          <a:noFill/>
          <a:ln>
            <a:noFill/>
          </a:ln>
        </p:spPr>
        <p:txBody>
          <a:bodyPr spcFirstLastPara="1" wrap="square" lIns="91425" tIns="45700" rIns="91425" bIns="45700" anchor="t" anchorCtr="0">
            <a:normAutofit/>
          </a:bodyPr>
          <a:lstStyle/>
          <a:p>
            <a:pPr marL="182880" lvl="0" indent="-182880" algn="l" rtl="0">
              <a:lnSpc>
                <a:spcPct val="90000"/>
              </a:lnSpc>
              <a:spcBef>
                <a:spcPts val="0"/>
              </a:spcBef>
              <a:spcAft>
                <a:spcPts val="0"/>
              </a:spcAft>
              <a:buSzPts val="2040"/>
              <a:buChar char="▪"/>
            </a:pPr>
            <a:r>
              <a:rPr lang="en" sz="2400"/>
              <a:t>We can also use </a:t>
            </a:r>
            <a:r>
              <a:rPr lang="en" sz="2400">
                <a:latin typeface="Consolas"/>
                <a:ea typeface="Consolas"/>
                <a:cs typeface="Consolas"/>
                <a:sym typeface="Consolas"/>
              </a:rPr>
              <a:t>sort_values</a:t>
            </a:r>
            <a:r>
              <a:rPr lang="en" sz="2400"/>
              <a:t> on a Series, which returns a copy with the values in order.</a:t>
            </a:r>
            <a:endParaRPr/>
          </a:p>
          <a:p>
            <a:pPr marL="182880" lvl="0" indent="-74928" algn="l" rtl="0">
              <a:lnSpc>
                <a:spcPct val="90000"/>
              </a:lnSpc>
              <a:spcBef>
                <a:spcPts val="1200"/>
              </a:spcBef>
              <a:spcAft>
                <a:spcPts val="0"/>
              </a:spcAft>
              <a:buSzPts val="1700"/>
              <a:buNone/>
            </a:pPr>
            <a:endParaRPr/>
          </a:p>
        </p:txBody>
      </p:sp>
      <p:pic>
        <p:nvPicPr>
          <p:cNvPr id="548" name="Google Shape;548;p43"/>
          <p:cNvPicPr preferRelativeResize="0"/>
          <p:nvPr/>
        </p:nvPicPr>
        <p:blipFill rotWithShape="1">
          <a:blip r:embed="rId3">
            <a:alphaModFix/>
          </a:blip>
          <a:srcRect/>
          <a:stretch/>
        </p:blipFill>
        <p:spPr>
          <a:xfrm>
            <a:off x="1372900" y="2972633"/>
            <a:ext cx="7693301" cy="505400"/>
          </a:xfrm>
          <a:prstGeom prst="rect">
            <a:avLst/>
          </a:prstGeom>
          <a:noFill/>
          <a:ln w="9525" cap="flat" cmpd="sng">
            <a:solidFill>
              <a:srgbClr val="000000"/>
            </a:solidFill>
            <a:prstDash val="solid"/>
            <a:round/>
            <a:headEnd type="none" w="sm" len="sm"/>
            <a:tailEnd type="none" w="sm" len="sm"/>
          </a:ln>
        </p:spPr>
      </p:pic>
      <p:pic>
        <p:nvPicPr>
          <p:cNvPr id="549" name="Google Shape;549;p43"/>
          <p:cNvPicPr preferRelativeResize="0"/>
          <p:nvPr/>
        </p:nvPicPr>
        <p:blipFill rotWithShape="1">
          <a:blip r:embed="rId4">
            <a:alphaModFix/>
          </a:blip>
          <a:srcRect/>
          <a:stretch/>
        </p:blipFill>
        <p:spPr>
          <a:xfrm>
            <a:off x="1372901" y="3487389"/>
            <a:ext cx="5549900" cy="2667000"/>
          </a:xfrm>
          <a:prstGeom prst="rect">
            <a:avLst/>
          </a:prstGeom>
          <a:noFill/>
          <a:ln w="9525" cap="flat" cmpd="sng">
            <a:solidFill>
              <a:srgbClr val="000000"/>
            </a:solidFill>
            <a:prstDash val="solid"/>
            <a:round/>
            <a:headEnd type="none" w="sm" len="sm"/>
            <a:tailEnd type="none" w="sm" len="sm"/>
          </a:ln>
        </p:spPr>
      </p:pic>
      <p:sp>
        <p:nvSpPr>
          <p:cNvPr id="550" name="Google Shape;550;p43"/>
          <p:cNvSpPr txBox="1"/>
          <p:nvPr/>
        </p:nvSpPr>
        <p:spPr>
          <a:xfrm>
            <a:off x="7632441" y="3937518"/>
            <a:ext cx="4278928" cy="23083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 sz="1800" b="0" i="0" u="none" strike="noStrike" cap="none">
                <a:solidFill>
                  <a:schemeClr val="dk1"/>
                </a:solidFill>
                <a:latin typeface="Rockwell"/>
                <a:ea typeface="Rockwell"/>
                <a:cs typeface="Rockwell"/>
                <a:sym typeface="Rockwell"/>
              </a:rPr>
              <a:t>Assuming mottos is a DataFrame, what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 sz="1800" b="0" i="0" u="none" strike="noStrike" cap="none">
                <a:solidFill>
                  <a:schemeClr val="dk1"/>
                </a:solidFill>
                <a:latin typeface="Rockwell"/>
                <a:ea typeface="Rockwell"/>
                <a:cs typeface="Rockwell"/>
                <a:sym typeface="Rockwell"/>
              </a:rPr>
              <a:t>would happen if I run</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ckwell"/>
              <a:ea typeface="Rockwell"/>
              <a:cs typeface="Rockwell"/>
              <a:sym typeface="Rockwell"/>
            </a:endParaRPr>
          </a:p>
          <a:p>
            <a:pPr marL="0" marR="0" lvl="0" indent="0" algn="l" rtl="0">
              <a:lnSpc>
                <a:spcPct val="100000"/>
              </a:lnSpc>
              <a:spcBef>
                <a:spcPts val="0"/>
              </a:spcBef>
              <a:spcAft>
                <a:spcPts val="0"/>
              </a:spcAft>
              <a:buClr>
                <a:srgbClr val="000000"/>
              </a:buClr>
              <a:buSzPts val="1800"/>
              <a:buFont typeface="Arial"/>
              <a:buNone/>
            </a:pPr>
            <a:r>
              <a:rPr lang="en" sz="1800" b="0" i="0" u="none" strike="noStrike" cap="none">
                <a:solidFill>
                  <a:schemeClr val="dk1"/>
                </a:solidFill>
                <a:latin typeface="Rockwell"/>
                <a:ea typeface="Rockwell"/>
                <a:cs typeface="Rockwell"/>
                <a:sym typeface="Rockwell"/>
              </a:rPr>
              <a:t>mottos[[‘Language’]].sort_values()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ckwell"/>
              <a:ea typeface="Rockwell"/>
              <a:cs typeface="Rockwell"/>
              <a:sym typeface="Rockwel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ckwell"/>
              <a:ea typeface="Rockwell"/>
              <a:cs typeface="Rockwell"/>
              <a:sym typeface="Rockwel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ckwell"/>
              <a:ea typeface="Rockwell"/>
              <a:cs typeface="Rockwell"/>
              <a:sym typeface="Rockwel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Rockwell"/>
              <a:ea typeface="Rockwell"/>
              <a:cs typeface="Rockwell"/>
              <a:sym typeface="Rockwell"/>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554"/>
        <p:cNvGrpSpPr/>
        <p:nvPr/>
      </p:nvGrpSpPr>
      <p:grpSpPr>
        <a:xfrm>
          <a:off x="0" y="0"/>
          <a:ext cx="0" cy="0"/>
          <a:chOff x="0" y="0"/>
          <a:chExt cx="0" cy="0"/>
        </a:xfrm>
      </p:grpSpPr>
      <p:sp>
        <p:nvSpPr>
          <p:cNvPr id="555" name="Google Shape;555;p44"/>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
              <a:t>THE </a:t>
            </a:r>
            <a:r>
              <a:rPr lang="en">
                <a:latin typeface="Consolas"/>
                <a:ea typeface="Consolas"/>
                <a:cs typeface="Consolas"/>
                <a:sym typeface="Consolas"/>
              </a:rPr>
              <a:t>VALUE_COUNTS</a:t>
            </a:r>
            <a:r>
              <a:rPr lang="en"/>
              <a:t> METHOD</a:t>
            </a:r>
            <a:endParaRPr/>
          </a:p>
        </p:txBody>
      </p:sp>
      <p:sp>
        <p:nvSpPr>
          <p:cNvPr id="556" name="Google Shape;556;p44"/>
          <p:cNvSpPr txBox="1">
            <a:spLocks noGrp="1"/>
          </p:cNvSpPr>
          <p:nvPr>
            <p:ph type="body" idx="1"/>
          </p:nvPr>
        </p:nvSpPr>
        <p:spPr>
          <a:xfrm>
            <a:off x="1069848" y="2121408"/>
            <a:ext cx="10058400" cy="4050792"/>
          </a:xfrm>
          <a:prstGeom prst="rect">
            <a:avLst/>
          </a:prstGeom>
          <a:noFill/>
          <a:ln>
            <a:noFill/>
          </a:ln>
        </p:spPr>
        <p:txBody>
          <a:bodyPr spcFirstLastPara="1" wrap="square" lIns="91425" tIns="45700" rIns="91425" bIns="45700" anchor="t" anchorCtr="0">
            <a:normAutofit/>
          </a:bodyPr>
          <a:lstStyle/>
          <a:p>
            <a:pPr marL="182880" lvl="0" indent="-182880" algn="l" rtl="0">
              <a:lnSpc>
                <a:spcPct val="90000"/>
              </a:lnSpc>
              <a:spcBef>
                <a:spcPts val="0"/>
              </a:spcBef>
              <a:spcAft>
                <a:spcPts val="0"/>
              </a:spcAft>
              <a:buSzPts val="2040"/>
              <a:buChar char="▪"/>
            </a:pPr>
            <a:r>
              <a:rPr lang="en" sz="2400"/>
              <a:t>Series also has the function </a:t>
            </a:r>
            <a:r>
              <a:rPr lang="en" sz="2400">
                <a:latin typeface="Consolas"/>
                <a:ea typeface="Consolas"/>
                <a:cs typeface="Consolas"/>
                <a:sym typeface="Consolas"/>
              </a:rPr>
              <a:t>value_counts</a:t>
            </a:r>
            <a:r>
              <a:rPr lang="en" sz="2400"/>
              <a:t>, which creates a new Series showing the counts of every value.</a:t>
            </a:r>
            <a:endParaRPr/>
          </a:p>
          <a:p>
            <a:pPr marL="182880" lvl="0" indent="-74928" algn="l" rtl="0">
              <a:lnSpc>
                <a:spcPct val="90000"/>
              </a:lnSpc>
              <a:spcBef>
                <a:spcPts val="1200"/>
              </a:spcBef>
              <a:spcAft>
                <a:spcPts val="0"/>
              </a:spcAft>
              <a:buSzPts val="1700"/>
              <a:buNone/>
            </a:pPr>
            <a:endParaRPr/>
          </a:p>
        </p:txBody>
      </p:sp>
      <p:pic>
        <p:nvPicPr>
          <p:cNvPr id="557" name="Google Shape;557;p44"/>
          <p:cNvPicPr preferRelativeResize="0"/>
          <p:nvPr/>
        </p:nvPicPr>
        <p:blipFill rotWithShape="1">
          <a:blip r:embed="rId3">
            <a:alphaModFix/>
          </a:blip>
          <a:srcRect/>
          <a:stretch/>
        </p:blipFill>
        <p:spPr>
          <a:xfrm>
            <a:off x="1255601" y="2986622"/>
            <a:ext cx="4840399" cy="423667"/>
          </a:xfrm>
          <a:prstGeom prst="rect">
            <a:avLst/>
          </a:prstGeom>
          <a:noFill/>
          <a:ln w="9525" cap="flat" cmpd="sng">
            <a:solidFill>
              <a:srgbClr val="000000"/>
            </a:solidFill>
            <a:prstDash val="solid"/>
            <a:round/>
            <a:headEnd type="none" w="sm" len="sm"/>
            <a:tailEnd type="none" w="sm" len="sm"/>
          </a:ln>
        </p:spPr>
      </p:pic>
      <p:pic>
        <p:nvPicPr>
          <p:cNvPr id="558" name="Google Shape;558;p44"/>
          <p:cNvPicPr preferRelativeResize="0"/>
          <p:nvPr/>
        </p:nvPicPr>
        <p:blipFill rotWithShape="1">
          <a:blip r:embed="rId4">
            <a:alphaModFix/>
          </a:blip>
          <a:srcRect/>
          <a:stretch/>
        </p:blipFill>
        <p:spPr>
          <a:xfrm>
            <a:off x="1255601" y="3429000"/>
            <a:ext cx="4660900" cy="1600200"/>
          </a:xfrm>
          <a:prstGeom prst="rect">
            <a:avLst/>
          </a:prstGeom>
          <a:noFill/>
          <a:ln w="9525" cap="flat" cmpd="sng">
            <a:solidFill>
              <a:srgbClr val="000000"/>
            </a:solidFill>
            <a:prstDash val="solid"/>
            <a:round/>
            <a:headEnd type="none" w="sm" len="sm"/>
            <a:tailEnd type="none" w="sm" len="sm"/>
          </a:ln>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563"/>
        <p:cNvGrpSpPr/>
        <p:nvPr/>
      </p:nvGrpSpPr>
      <p:grpSpPr>
        <a:xfrm>
          <a:off x="0" y="0"/>
          <a:ext cx="0" cy="0"/>
          <a:chOff x="0" y="0"/>
          <a:chExt cx="0" cy="0"/>
        </a:xfrm>
      </p:grpSpPr>
      <p:sp>
        <p:nvSpPr>
          <p:cNvPr id="564" name="Google Shape;564;p45"/>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
              <a:t>THE </a:t>
            </a:r>
            <a:r>
              <a:rPr lang="en">
                <a:latin typeface="Consolas"/>
                <a:ea typeface="Consolas"/>
                <a:cs typeface="Consolas"/>
                <a:sym typeface="Consolas"/>
              </a:rPr>
              <a:t>UNIQUE</a:t>
            </a:r>
            <a:r>
              <a:rPr lang="en"/>
              <a:t> METHOD</a:t>
            </a:r>
            <a:endParaRPr/>
          </a:p>
        </p:txBody>
      </p:sp>
      <p:sp>
        <p:nvSpPr>
          <p:cNvPr id="565" name="Google Shape;565;p45"/>
          <p:cNvSpPr txBox="1">
            <a:spLocks noGrp="1"/>
          </p:cNvSpPr>
          <p:nvPr>
            <p:ph type="body" idx="1"/>
          </p:nvPr>
        </p:nvSpPr>
        <p:spPr>
          <a:xfrm>
            <a:off x="1069848" y="2121408"/>
            <a:ext cx="10058400" cy="4050792"/>
          </a:xfrm>
          <a:prstGeom prst="rect">
            <a:avLst/>
          </a:prstGeom>
          <a:noFill/>
          <a:ln>
            <a:noFill/>
          </a:ln>
        </p:spPr>
        <p:txBody>
          <a:bodyPr spcFirstLastPara="1" wrap="square" lIns="91425" tIns="45700" rIns="91425" bIns="45700" anchor="t" anchorCtr="0">
            <a:normAutofit/>
          </a:bodyPr>
          <a:lstStyle/>
          <a:p>
            <a:pPr marL="182880" lvl="0" indent="-182880" algn="l" rtl="0">
              <a:lnSpc>
                <a:spcPct val="90000"/>
              </a:lnSpc>
              <a:spcBef>
                <a:spcPts val="0"/>
              </a:spcBef>
              <a:spcAft>
                <a:spcPts val="0"/>
              </a:spcAft>
              <a:buSzPts val="1700"/>
              <a:buChar char="▪"/>
            </a:pPr>
            <a:r>
              <a:rPr lang="en"/>
              <a:t>Another handy method for Series  is </a:t>
            </a:r>
            <a:r>
              <a:rPr lang="en">
                <a:latin typeface="Consolas"/>
                <a:ea typeface="Consolas"/>
                <a:cs typeface="Consolas"/>
                <a:sym typeface="Consolas"/>
              </a:rPr>
              <a:t>unique</a:t>
            </a:r>
            <a:r>
              <a:rPr lang="en"/>
              <a:t>, which returns all unique values as an array.</a:t>
            </a:r>
            <a:endParaRPr/>
          </a:p>
          <a:p>
            <a:pPr marL="182880" lvl="0" indent="-74928" algn="l" rtl="0">
              <a:lnSpc>
                <a:spcPct val="90000"/>
              </a:lnSpc>
              <a:spcBef>
                <a:spcPts val="1200"/>
              </a:spcBef>
              <a:spcAft>
                <a:spcPts val="0"/>
              </a:spcAft>
              <a:buSzPts val="1700"/>
              <a:buNone/>
            </a:pPr>
            <a:endParaRPr/>
          </a:p>
        </p:txBody>
      </p:sp>
      <p:pic>
        <p:nvPicPr>
          <p:cNvPr id="566" name="Google Shape;566;p45"/>
          <p:cNvPicPr preferRelativeResize="0"/>
          <p:nvPr/>
        </p:nvPicPr>
        <p:blipFill rotWithShape="1">
          <a:blip r:embed="rId3">
            <a:alphaModFix/>
          </a:blip>
          <a:srcRect/>
          <a:stretch/>
        </p:blipFill>
        <p:spPr>
          <a:xfrm>
            <a:off x="455843" y="2895599"/>
            <a:ext cx="4749800" cy="533400"/>
          </a:xfrm>
          <a:prstGeom prst="rect">
            <a:avLst/>
          </a:prstGeom>
          <a:noFill/>
          <a:ln w="9525" cap="flat" cmpd="sng">
            <a:solidFill>
              <a:srgbClr val="000000"/>
            </a:solidFill>
            <a:prstDash val="solid"/>
            <a:round/>
            <a:headEnd type="none" w="sm" len="sm"/>
            <a:tailEnd type="none" w="sm" len="sm"/>
          </a:ln>
        </p:spPr>
      </p:pic>
      <p:pic>
        <p:nvPicPr>
          <p:cNvPr id="567" name="Google Shape;567;p45"/>
          <p:cNvPicPr preferRelativeResize="0"/>
          <p:nvPr/>
        </p:nvPicPr>
        <p:blipFill rotWithShape="1">
          <a:blip r:embed="rId4">
            <a:alphaModFix/>
          </a:blip>
          <a:srcRect/>
          <a:stretch/>
        </p:blipFill>
        <p:spPr>
          <a:xfrm>
            <a:off x="455834" y="3429000"/>
            <a:ext cx="11548001" cy="760733"/>
          </a:xfrm>
          <a:prstGeom prst="rect">
            <a:avLst/>
          </a:prstGeom>
          <a:noFill/>
          <a:ln w="9525" cap="flat" cmpd="sng">
            <a:solidFill>
              <a:srgbClr val="000000"/>
            </a:solidFill>
            <a:prstDash val="solid"/>
            <a:round/>
            <a:headEnd type="none" w="sm" len="sm"/>
            <a:tailEnd type="none" w="sm" len="sm"/>
          </a:ln>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572"/>
        <p:cNvGrpSpPr/>
        <p:nvPr/>
      </p:nvGrpSpPr>
      <p:grpSpPr>
        <a:xfrm>
          <a:off x="0" y="0"/>
          <a:ext cx="0" cy="0"/>
          <a:chOff x="0" y="0"/>
          <a:chExt cx="0" cy="0"/>
        </a:xfrm>
      </p:grpSpPr>
      <p:sp>
        <p:nvSpPr>
          <p:cNvPr id="573" name="Google Shape;573;p54"/>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Consolas"/>
              <a:buNone/>
            </a:pPr>
            <a:r>
              <a:rPr lang="en">
                <a:latin typeface="Consolas"/>
                <a:ea typeface="Consolas"/>
                <a:cs typeface="Consolas"/>
                <a:sym typeface="Consolas"/>
              </a:rPr>
              <a:t>ISIN</a:t>
            </a:r>
            <a:endParaRPr/>
          </a:p>
        </p:txBody>
      </p:sp>
      <p:sp>
        <p:nvSpPr>
          <p:cNvPr id="574" name="Google Shape;574;p54"/>
          <p:cNvSpPr txBox="1">
            <a:spLocks noGrp="1"/>
          </p:cNvSpPr>
          <p:nvPr>
            <p:ph type="body" idx="1"/>
          </p:nvPr>
        </p:nvSpPr>
        <p:spPr>
          <a:xfrm>
            <a:off x="1069848" y="2121408"/>
            <a:ext cx="10058400" cy="4050792"/>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SzPts val="1700"/>
              <a:buNone/>
            </a:pPr>
            <a:r>
              <a:rPr lang="en" dirty="0"/>
              <a:t>We saw how to build </a:t>
            </a:r>
            <a:r>
              <a:rPr lang="en" dirty="0" err="1"/>
              <a:t>boolean</a:t>
            </a:r>
            <a:r>
              <a:rPr lang="en" dirty="0"/>
              <a:t> arrays for filtering, e.g.</a:t>
            </a:r>
            <a:endParaRPr dirty="0"/>
          </a:p>
          <a:p>
            <a:pPr marL="0" lvl="0" indent="0" algn="l" rtl="0">
              <a:lnSpc>
                <a:spcPct val="90000"/>
              </a:lnSpc>
              <a:spcBef>
                <a:spcPts val="1200"/>
              </a:spcBef>
              <a:spcAft>
                <a:spcPts val="0"/>
              </a:spcAft>
              <a:buSzPts val="1700"/>
              <a:buNone/>
            </a:pPr>
            <a:endParaRPr dirty="0"/>
          </a:p>
          <a:p>
            <a:pPr marL="0" lvl="0" indent="0" algn="l" rtl="0">
              <a:lnSpc>
                <a:spcPct val="90000"/>
              </a:lnSpc>
              <a:spcBef>
                <a:spcPts val="1200"/>
              </a:spcBef>
              <a:spcAft>
                <a:spcPts val="0"/>
              </a:spcAft>
              <a:buSzPts val="1700"/>
              <a:buNone/>
            </a:pPr>
            <a:endParaRPr dirty="0"/>
          </a:p>
          <a:p>
            <a:pPr marL="0" lvl="0" indent="0" algn="l" rtl="0">
              <a:lnSpc>
                <a:spcPct val="90000"/>
              </a:lnSpc>
              <a:spcBef>
                <a:spcPts val="1200"/>
              </a:spcBef>
              <a:spcAft>
                <a:spcPts val="0"/>
              </a:spcAft>
              <a:buSzPts val="1700"/>
              <a:buNone/>
            </a:pPr>
            <a:r>
              <a:rPr lang="en" dirty="0"/>
              <a:t>If we have a list of valid items, e.g. “Republican” or “Democratic”, we could use the | operator (| means or), but a better way is to use </a:t>
            </a:r>
            <a:r>
              <a:rPr lang="en" dirty="0" err="1">
                <a:latin typeface="Consolas"/>
                <a:ea typeface="Consolas"/>
                <a:cs typeface="Consolas"/>
                <a:sym typeface="Consolas"/>
              </a:rPr>
              <a:t>isin</a:t>
            </a:r>
            <a:r>
              <a:rPr lang="en" dirty="0"/>
              <a:t>.</a:t>
            </a:r>
            <a:endParaRPr dirty="0"/>
          </a:p>
          <a:p>
            <a:pPr marL="182880" lvl="0" indent="-182880" algn="l" rtl="0">
              <a:lnSpc>
                <a:spcPct val="90000"/>
              </a:lnSpc>
              <a:spcBef>
                <a:spcPts val="1200"/>
              </a:spcBef>
              <a:spcAft>
                <a:spcPts val="0"/>
              </a:spcAft>
              <a:buSzPts val="1700"/>
              <a:buChar char="▪"/>
            </a:pPr>
            <a:r>
              <a:rPr lang="en" dirty="0"/>
              <a:t>Ugly:</a:t>
            </a:r>
            <a:endParaRPr dirty="0"/>
          </a:p>
          <a:p>
            <a:pPr marL="182880" lvl="0" indent="-74928" algn="l" rtl="0">
              <a:lnSpc>
                <a:spcPct val="90000"/>
              </a:lnSpc>
              <a:spcBef>
                <a:spcPts val="0"/>
              </a:spcBef>
              <a:spcAft>
                <a:spcPts val="0"/>
              </a:spcAft>
              <a:buSzPts val="1700"/>
              <a:buNone/>
            </a:pPr>
            <a:endParaRPr dirty="0"/>
          </a:p>
          <a:p>
            <a:pPr marL="182880" lvl="0" indent="-74928" algn="l" rtl="0">
              <a:lnSpc>
                <a:spcPct val="90000"/>
              </a:lnSpc>
              <a:spcBef>
                <a:spcPts val="0"/>
              </a:spcBef>
              <a:spcAft>
                <a:spcPts val="0"/>
              </a:spcAft>
              <a:buSzPts val="1700"/>
              <a:buNone/>
            </a:pPr>
            <a:endParaRPr dirty="0"/>
          </a:p>
          <a:p>
            <a:pPr marL="182880" lvl="0" indent="-182880" algn="l" rtl="0">
              <a:lnSpc>
                <a:spcPct val="90000"/>
              </a:lnSpc>
              <a:spcBef>
                <a:spcPts val="0"/>
              </a:spcBef>
              <a:spcAft>
                <a:spcPts val="0"/>
              </a:spcAft>
              <a:buSzPts val="1700"/>
              <a:buChar char="▪"/>
            </a:pPr>
            <a:r>
              <a:rPr lang="en" dirty="0"/>
              <a:t>Better:</a:t>
            </a:r>
            <a:endParaRPr dirty="0"/>
          </a:p>
          <a:p>
            <a:pPr marL="182880" lvl="0" indent="-74928" algn="l" rtl="0">
              <a:lnSpc>
                <a:spcPct val="90000"/>
              </a:lnSpc>
              <a:spcBef>
                <a:spcPts val="1200"/>
              </a:spcBef>
              <a:spcAft>
                <a:spcPts val="0"/>
              </a:spcAft>
              <a:buSzPts val="1700"/>
              <a:buNone/>
            </a:pPr>
            <a:endParaRPr dirty="0"/>
          </a:p>
        </p:txBody>
      </p:sp>
      <p:pic>
        <p:nvPicPr>
          <p:cNvPr id="575" name="Google Shape;575;p54"/>
          <p:cNvPicPr preferRelativeResize="0"/>
          <p:nvPr/>
        </p:nvPicPr>
        <p:blipFill rotWithShape="1">
          <a:blip r:embed="rId3">
            <a:alphaModFix/>
          </a:blip>
          <a:srcRect/>
          <a:stretch/>
        </p:blipFill>
        <p:spPr>
          <a:xfrm>
            <a:off x="1669700" y="2586500"/>
            <a:ext cx="4074800" cy="414067"/>
          </a:xfrm>
          <a:prstGeom prst="rect">
            <a:avLst/>
          </a:prstGeom>
          <a:noFill/>
          <a:ln w="9525" cap="flat" cmpd="sng">
            <a:solidFill>
              <a:srgbClr val="000000"/>
            </a:solidFill>
            <a:prstDash val="solid"/>
            <a:round/>
            <a:headEnd type="none" w="sm" len="sm"/>
            <a:tailEnd type="none" w="sm" len="sm"/>
          </a:ln>
        </p:spPr>
      </p:pic>
      <p:pic>
        <p:nvPicPr>
          <p:cNvPr id="576" name="Google Shape;576;p54"/>
          <p:cNvPicPr preferRelativeResize="0"/>
          <p:nvPr/>
        </p:nvPicPr>
        <p:blipFill rotWithShape="1">
          <a:blip r:embed="rId4">
            <a:alphaModFix/>
          </a:blip>
          <a:srcRect/>
          <a:stretch/>
        </p:blipFill>
        <p:spPr>
          <a:xfrm>
            <a:off x="2029385" y="4319302"/>
            <a:ext cx="9092767" cy="473667"/>
          </a:xfrm>
          <a:prstGeom prst="rect">
            <a:avLst/>
          </a:prstGeom>
          <a:noFill/>
          <a:ln w="9525" cap="flat" cmpd="sng">
            <a:solidFill>
              <a:srgbClr val="000000"/>
            </a:solidFill>
            <a:prstDash val="solid"/>
            <a:round/>
            <a:headEnd type="none" w="sm" len="sm"/>
            <a:tailEnd type="none" w="sm" len="sm"/>
          </a:ln>
        </p:spPr>
      </p:pic>
      <p:pic>
        <p:nvPicPr>
          <p:cNvPr id="577" name="Google Shape;577;p54"/>
          <p:cNvPicPr preferRelativeResize="0"/>
          <p:nvPr/>
        </p:nvPicPr>
        <p:blipFill rotWithShape="1">
          <a:blip r:embed="rId5">
            <a:alphaModFix/>
          </a:blip>
          <a:srcRect/>
          <a:stretch/>
        </p:blipFill>
        <p:spPr>
          <a:xfrm>
            <a:off x="2291221" y="5287793"/>
            <a:ext cx="7800899" cy="576540"/>
          </a:xfrm>
          <a:prstGeom prst="rect">
            <a:avLst/>
          </a:prstGeom>
          <a:noFill/>
          <a:ln w="9525" cap="flat" cmpd="sng">
            <a:solidFill>
              <a:srgbClr val="000000"/>
            </a:solidFill>
            <a:prstDash val="solid"/>
            <a:round/>
            <a:headEnd type="none" w="sm" len="sm"/>
            <a:tailEnd type="none" w="sm" len="sm"/>
          </a:ln>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581"/>
        <p:cNvGrpSpPr/>
        <p:nvPr/>
      </p:nvGrpSpPr>
      <p:grpSpPr>
        <a:xfrm>
          <a:off x="0" y="0"/>
          <a:ext cx="0" cy="0"/>
          <a:chOff x="0" y="0"/>
          <a:chExt cx="0" cy="0"/>
        </a:xfrm>
      </p:grpSpPr>
      <p:sp>
        <p:nvSpPr>
          <p:cNvPr id="582" name="Google Shape;582;p47"/>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Consolas"/>
              <a:buNone/>
            </a:pPr>
            <a:r>
              <a:rPr lang="en">
                <a:latin typeface="Consolas"/>
                <a:ea typeface="Consolas"/>
                <a:cs typeface="Consolas"/>
                <a:sym typeface="Consolas"/>
              </a:rPr>
              <a:t>GROUPBY</a:t>
            </a:r>
            <a:endParaRPr/>
          </a:p>
        </p:txBody>
      </p:sp>
      <p:sp>
        <p:nvSpPr>
          <p:cNvPr id="583" name="Google Shape;583;p47"/>
          <p:cNvSpPr txBox="1">
            <a:spLocks noGrp="1"/>
          </p:cNvSpPr>
          <p:nvPr>
            <p:ph type="body" idx="1"/>
          </p:nvPr>
        </p:nvSpPr>
        <p:spPr>
          <a:xfrm>
            <a:off x="1069848" y="2121408"/>
            <a:ext cx="10058400" cy="4050792"/>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SzPts val="1700"/>
              <a:buNone/>
            </a:pPr>
            <a:r>
              <a:rPr lang="en" dirty="0"/>
              <a:t>Often we want to perform aggregate analysis across data points that share some feature, for example:</a:t>
            </a:r>
            <a:endParaRPr dirty="0"/>
          </a:p>
          <a:p>
            <a:pPr marL="182880" lvl="0" indent="-182880" algn="l" rtl="0">
              <a:lnSpc>
                <a:spcPct val="90000"/>
              </a:lnSpc>
              <a:spcBef>
                <a:spcPts val="1200"/>
              </a:spcBef>
              <a:spcAft>
                <a:spcPts val="0"/>
              </a:spcAft>
              <a:buSzPts val="1700"/>
              <a:buChar char="▪"/>
            </a:pPr>
            <a:r>
              <a:rPr lang="en" dirty="0"/>
              <a:t>What was the average share of the vote across all U.S. elections for each political </a:t>
            </a:r>
            <a:r>
              <a:rPr lang="en" b="1" dirty="0"/>
              <a:t>party</a:t>
            </a:r>
            <a:r>
              <a:rPr lang="en" dirty="0"/>
              <a:t>?</a:t>
            </a:r>
            <a:endParaRPr dirty="0"/>
          </a:p>
          <a:p>
            <a:pPr marL="182880" lvl="0" indent="-182880" algn="l" rtl="0">
              <a:lnSpc>
                <a:spcPct val="90000"/>
              </a:lnSpc>
              <a:spcBef>
                <a:spcPts val="0"/>
              </a:spcBef>
              <a:spcAft>
                <a:spcPts val="0"/>
              </a:spcAft>
              <a:buSzPts val="1700"/>
              <a:buChar char="▪"/>
            </a:pPr>
            <a:r>
              <a:rPr lang="en" dirty="0"/>
              <a:t>What was the size of the average class in </a:t>
            </a:r>
            <a:r>
              <a:rPr lang="en" b="1" dirty="0"/>
              <a:t>each department </a:t>
            </a:r>
            <a:r>
              <a:rPr lang="en" dirty="0"/>
              <a:t>at UIC in </a:t>
            </a:r>
            <a:r>
              <a:rPr lang="en" b="1" dirty="0"/>
              <a:t>each term?</a:t>
            </a:r>
            <a:endParaRPr dirty="0"/>
          </a:p>
          <a:p>
            <a:pPr marL="182880" lvl="0" indent="-182880" algn="l" rtl="0">
              <a:lnSpc>
                <a:spcPct val="90000"/>
              </a:lnSpc>
              <a:spcBef>
                <a:spcPts val="0"/>
              </a:spcBef>
              <a:spcAft>
                <a:spcPts val="0"/>
              </a:spcAft>
              <a:buSzPts val="1700"/>
              <a:buChar char="▪"/>
            </a:pPr>
            <a:r>
              <a:rPr lang="en" dirty="0"/>
              <a:t>Which </a:t>
            </a:r>
            <a:r>
              <a:rPr lang="en" b="1" dirty="0"/>
              <a:t>instructors</a:t>
            </a:r>
            <a:r>
              <a:rPr lang="en" dirty="0"/>
              <a:t> taught the largest classes at UIC and how large were they?</a:t>
            </a:r>
            <a:endParaRPr dirty="0"/>
          </a:p>
          <a:p>
            <a:pPr marL="0" lvl="0" indent="0" algn="l" rtl="0">
              <a:lnSpc>
                <a:spcPct val="90000"/>
              </a:lnSpc>
              <a:spcBef>
                <a:spcPts val="1200"/>
              </a:spcBef>
              <a:spcAft>
                <a:spcPts val="0"/>
              </a:spcAft>
              <a:buSzPts val="1700"/>
              <a:buNone/>
            </a:pPr>
            <a:endParaRPr dirty="0"/>
          </a:p>
          <a:p>
            <a:pPr marL="0" lvl="0" indent="0" algn="l" rtl="0">
              <a:lnSpc>
                <a:spcPct val="90000"/>
              </a:lnSpc>
              <a:spcBef>
                <a:spcPts val="1200"/>
              </a:spcBef>
              <a:spcAft>
                <a:spcPts val="0"/>
              </a:spcAft>
              <a:buSzPts val="1700"/>
              <a:buNone/>
            </a:pPr>
            <a:r>
              <a:rPr lang="en" dirty="0" err="1">
                <a:latin typeface="Consolas"/>
                <a:ea typeface="Consolas"/>
                <a:cs typeface="Consolas"/>
                <a:sym typeface="Consolas"/>
              </a:rPr>
              <a:t>groupby</a:t>
            </a:r>
            <a:r>
              <a:rPr lang="en" dirty="0"/>
              <a:t> is an incredibly powerful tool for these sorts of questions.</a:t>
            </a:r>
            <a:endParaRPr dirty="0"/>
          </a:p>
          <a:p>
            <a:pPr marL="182880" lvl="0" indent="-74928" algn="l" rtl="0">
              <a:lnSpc>
                <a:spcPct val="90000"/>
              </a:lnSpc>
              <a:spcBef>
                <a:spcPts val="1200"/>
              </a:spcBef>
              <a:spcAft>
                <a:spcPts val="0"/>
              </a:spcAft>
              <a:buSzPts val="1700"/>
              <a:buNone/>
            </a:pPr>
            <a:endParaRPr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588"/>
        <p:cNvGrpSpPr/>
        <p:nvPr/>
      </p:nvGrpSpPr>
      <p:grpSpPr>
        <a:xfrm>
          <a:off x="0" y="0"/>
          <a:ext cx="0" cy="0"/>
          <a:chOff x="0" y="0"/>
          <a:chExt cx="0" cy="0"/>
        </a:xfrm>
      </p:grpSpPr>
      <p:sp>
        <p:nvSpPr>
          <p:cNvPr id="589" name="Google Shape;589;p48"/>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Consolas"/>
              <a:buNone/>
            </a:pPr>
            <a:r>
              <a:rPr lang="en">
                <a:latin typeface="Consolas"/>
                <a:ea typeface="Consolas"/>
                <a:cs typeface="Consolas"/>
                <a:sym typeface="Consolas"/>
              </a:rPr>
              <a:t>GROUPBY</a:t>
            </a:r>
            <a:r>
              <a:rPr lang="en"/>
              <a:t> KEY CONCEPTS: SERIES</a:t>
            </a:r>
            <a:endParaRPr/>
          </a:p>
        </p:txBody>
      </p:sp>
      <p:sp>
        <p:nvSpPr>
          <p:cNvPr id="590" name="Google Shape;590;p48"/>
          <p:cNvSpPr txBox="1">
            <a:spLocks noGrp="1"/>
          </p:cNvSpPr>
          <p:nvPr>
            <p:ph type="body" idx="1"/>
          </p:nvPr>
        </p:nvSpPr>
        <p:spPr>
          <a:xfrm>
            <a:off x="1069847" y="1764059"/>
            <a:ext cx="10736717" cy="4050792"/>
          </a:xfrm>
          <a:prstGeom prst="rect">
            <a:avLst/>
          </a:prstGeom>
          <a:noFill/>
          <a:ln>
            <a:noFill/>
          </a:ln>
        </p:spPr>
        <p:txBody>
          <a:bodyPr spcFirstLastPara="1" wrap="square" lIns="91425" tIns="45700" rIns="91425" bIns="45700" anchor="t" anchorCtr="0">
            <a:normAutofit lnSpcReduction="10000"/>
          </a:bodyPr>
          <a:lstStyle/>
          <a:p>
            <a:pPr marL="0" lvl="0" indent="0" algn="l" rtl="0">
              <a:lnSpc>
                <a:spcPct val="90000"/>
              </a:lnSpc>
              <a:spcBef>
                <a:spcPts val="0"/>
              </a:spcBef>
              <a:spcAft>
                <a:spcPts val="0"/>
              </a:spcAft>
              <a:buSzPts val="1700"/>
              <a:buNone/>
            </a:pPr>
            <a:r>
              <a:rPr lang="en" dirty="0"/>
              <a:t>If we call </a:t>
            </a:r>
            <a:r>
              <a:rPr lang="en" dirty="0" err="1">
                <a:latin typeface="Consolas"/>
                <a:ea typeface="Consolas"/>
                <a:cs typeface="Consolas"/>
                <a:sym typeface="Consolas"/>
              </a:rPr>
              <a:t>groupby</a:t>
            </a:r>
            <a:r>
              <a:rPr lang="en" dirty="0"/>
              <a:t> on a Series:</a:t>
            </a:r>
            <a:endParaRPr dirty="0"/>
          </a:p>
          <a:p>
            <a:pPr marL="182880" lvl="0" indent="-182880" algn="l" rtl="0">
              <a:lnSpc>
                <a:spcPct val="90000"/>
              </a:lnSpc>
              <a:spcBef>
                <a:spcPts val="1200"/>
              </a:spcBef>
              <a:spcAft>
                <a:spcPts val="0"/>
              </a:spcAft>
              <a:buSzPts val="1700"/>
              <a:buChar char="▪"/>
            </a:pPr>
            <a:r>
              <a:rPr lang="en" dirty="0"/>
              <a:t>The resulting output is a </a:t>
            </a:r>
            <a:r>
              <a:rPr lang="en" dirty="0" err="1">
                <a:latin typeface="Consolas"/>
                <a:ea typeface="Consolas"/>
                <a:cs typeface="Consolas"/>
                <a:sym typeface="Consolas"/>
              </a:rPr>
              <a:t>SeriesGroupBy</a:t>
            </a:r>
            <a:r>
              <a:rPr lang="en" dirty="0"/>
              <a:t> object.</a:t>
            </a:r>
            <a:endParaRPr dirty="0"/>
          </a:p>
          <a:p>
            <a:pPr marL="182880" lvl="0" indent="-182880" algn="l" rtl="0">
              <a:lnSpc>
                <a:spcPct val="90000"/>
              </a:lnSpc>
              <a:spcBef>
                <a:spcPts val="0"/>
              </a:spcBef>
              <a:spcAft>
                <a:spcPts val="0"/>
              </a:spcAft>
              <a:buSzPts val="1700"/>
              <a:buChar char="▪"/>
            </a:pPr>
            <a:r>
              <a:rPr lang="en" dirty="0"/>
              <a:t>The Series passed as arguments to </a:t>
            </a:r>
            <a:r>
              <a:rPr lang="en" dirty="0" err="1">
                <a:latin typeface="Consolas"/>
                <a:ea typeface="Consolas"/>
                <a:cs typeface="Consolas"/>
                <a:sym typeface="Consolas"/>
              </a:rPr>
              <a:t>groupby</a:t>
            </a:r>
            <a:r>
              <a:rPr lang="en" dirty="0"/>
              <a:t> must share an index with the calling Series.</a:t>
            </a:r>
            <a:endParaRPr dirty="0"/>
          </a:p>
          <a:p>
            <a:pPr marL="182880" lvl="0" indent="-74928" algn="l" rtl="0">
              <a:lnSpc>
                <a:spcPct val="90000"/>
              </a:lnSpc>
              <a:spcBef>
                <a:spcPts val="0"/>
              </a:spcBef>
              <a:spcAft>
                <a:spcPts val="0"/>
              </a:spcAft>
              <a:buSzPts val="1700"/>
              <a:buNone/>
            </a:pPr>
            <a:endParaRPr dirty="0"/>
          </a:p>
          <a:p>
            <a:pPr marL="0" lvl="0" indent="0" algn="l" rtl="0">
              <a:lnSpc>
                <a:spcPct val="90000"/>
              </a:lnSpc>
              <a:spcBef>
                <a:spcPts val="1200"/>
              </a:spcBef>
              <a:spcAft>
                <a:spcPts val="0"/>
              </a:spcAft>
              <a:buSzPts val="1700"/>
              <a:buNone/>
            </a:pPr>
            <a:endParaRPr dirty="0"/>
          </a:p>
          <a:p>
            <a:pPr marL="0" lvl="0" indent="0" algn="l" rtl="0">
              <a:lnSpc>
                <a:spcPct val="90000"/>
              </a:lnSpc>
              <a:spcBef>
                <a:spcPts val="1200"/>
              </a:spcBef>
              <a:spcAft>
                <a:spcPts val="0"/>
              </a:spcAft>
              <a:buSzPts val="1700"/>
              <a:buNone/>
            </a:pPr>
            <a:endParaRPr dirty="0"/>
          </a:p>
          <a:p>
            <a:pPr marL="0" lvl="0" indent="0" algn="l" rtl="0">
              <a:lnSpc>
                <a:spcPct val="90000"/>
              </a:lnSpc>
              <a:spcBef>
                <a:spcPts val="1200"/>
              </a:spcBef>
              <a:spcAft>
                <a:spcPts val="0"/>
              </a:spcAft>
              <a:buSzPts val="1700"/>
              <a:buNone/>
            </a:pPr>
            <a:endParaRPr dirty="0"/>
          </a:p>
          <a:p>
            <a:pPr marL="182880" lvl="0" indent="-182880" algn="l" rtl="0">
              <a:lnSpc>
                <a:spcPct val="90000"/>
              </a:lnSpc>
              <a:spcBef>
                <a:spcPts val="1200"/>
              </a:spcBef>
              <a:spcAft>
                <a:spcPts val="0"/>
              </a:spcAft>
              <a:buSzPts val="1700"/>
              <a:buChar char="▪"/>
            </a:pPr>
            <a:r>
              <a:rPr lang="en" dirty="0" err="1">
                <a:latin typeface="Consolas"/>
                <a:ea typeface="Consolas"/>
                <a:cs typeface="Consolas"/>
                <a:sym typeface="Consolas"/>
              </a:rPr>
              <a:t>SeriesGroupBy</a:t>
            </a:r>
            <a:r>
              <a:rPr lang="en" dirty="0"/>
              <a:t> objects can then be aggregated back into a </a:t>
            </a:r>
            <a:r>
              <a:rPr lang="en" dirty="0">
                <a:latin typeface="Consolas"/>
                <a:ea typeface="Consolas"/>
                <a:cs typeface="Consolas"/>
                <a:sym typeface="Consolas"/>
              </a:rPr>
              <a:t>Series</a:t>
            </a:r>
            <a:r>
              <a:rPr lang="en" dirty="0"/>
              <a:t> using an aggregation method.</a:t>
            </a:r>
            <a:endParaRPr dirty="0"/>
          </a:p>
          <a:p>
            <a:pPr marL="182880" lvl="0" indent="-74928" algn="l" rtl="0">
              <a:lnSpc>
                <a:spcPct val="90000"/>
              </a:lnSpc>
              <a:spcBef>
                <a:spcPts val="1200"/>
              </a:spcBef>
              <a:spcAft>
                <a:spcPts val="0"/>
              </a:spcAft>
              <a:buSzPts val="1700"/>
              <a:buNone/>
            </a:pPr>
            <a:endParaRPr dirty="0"/>
          </a:p>
        </p:txBody>
      </p:sp>
      <p:pic>
        <p:nvPicPr>
          <p:cNvPr id="591" name="Google Shape;591;p48"/>
          <p:cNvPicPr preferRelativeResize="0"/>
          <p:nvPr/>
        </p:nvPicPr>
        <p:blipFill rotWithShape="1">
          <a:blip r:embed="rId3">
            <a:alphaModFix/>
          </a:blip>
          <a:srcRect/>
          <a:stretch/>
        </p:blipFill>
        <p:spPr>
          <a:xfrm>
            <a:off x="1185535" y="3253134"/>
            <a:ext cx="6609368" cy="564000"/>
          </a:xfrm>
          <a:prstGeom prst="rect">
            <a:avLst/>
          </a:prstGeom>
          <a:noFill/>
          <a:ln w="9525" cap="flat" cmpd="sng">
            <a:solidFill>
              <a:srgbClr val="000000"/>
            </a:solidFill>
            <a:prstDash val="solid"/>
            <a:round/>
            <a:headEnd type="none" w="sm" len="sm"/>
            <a:tailEnd type="none" w="sm" len="sm"/>
          </a:ln>
        </p:spPr>
      </p:pic>
      <p:pic>
        <p:nvPicPr>
          <p:cNvPr id="592" name="Google Shape;592;p48"/>
          <p:cNvPicPr preferRelativeResize="0"/>
          <p:nvPr/>
        </p:nvPicPr>
        <p:blipFill rotWithShape="1">
          <a:blip r:embed="rId4">
            <a:alphaModFix/>
          </a:blip>
          <a:srcRect/>
          <a:stretch/>
        </p:blipFill>
        <p:spPr>
          <a:xfrm>
            <a:off x="1185536" y="3861560"/>
            <a:ext cx="9936618" cy="862830"/>
          </a:xfrm>
          <a:prstGeom prst="rect">
            <a:avLst/>
          </a:prstGeom>
          <a:noFill/>
          <a:ln w="9525" cap="flat" cmpd="sng">
            <a:solidFill>
              <a:srgbClr val="000000"/>
            </a:solidFill>
            <a:prstDash val="solid"/>
            <a:round/>
            <a:headEnd type="none" w="sm" len="sm"/>
            <a:tailEnd type="none" w="sm" len="sm"/>
          </a:ln>
        </p:spPr>
      </p:pic>
      <p:pic>
        <p:nvPicPr>
          <p:cNvPr id="593" name="Google Shape;593;p48"/>
          <p:cNvPicPr preferRelativeResize="0"/>
          <p:nvPr/>
        </p:nvPicPr>
        <p:blipFill rotWithShape="1">
          <a:blip r:embed="rId5">
            <a:alphaModFix/>
          </a:blip>
          <a:srcRect/>
          <a:stretch/>
        </p:blipFill>
        <p:spPr>
          <a:xfrm>
            <a:off x="1229626" y="5658336"/>
            <a:ext cx="5124281" cy="445067"/>
          </a:xfrm>
          <a:prstGeom prst="rect">
            <a:avLst/>
          </a:prstGeom>
          <a:noFill/>
          <a:ln w="9525" cap="flat" cmpd="sng">
            <a:solidFill>
              <a:srgbClr val="000000"/>
            </a:solidFill>
            <a:prstDash val="solid"/>
            <a:round/>
            <a:headEnd type="none" w="sm" len="sm"/>
            <a:tailEnd type="none" w="sm" len="sm"/>
          </a:ln>
        </p:spPr>
      </p:pic>
      <p:pic>
        <p:nvPicPr>
          <p:cNvPr id="594" name="Google Shape;594;p48"/>
          <p:cNvPicPr preferRelativeResize="0"/>
          <p:nvPr/>
        </p:nvPicPr>
        <p:blipFill rotWithShape="1">
          <a:blip r:embed="rId6">
            <a:alphaModFix/>
          </a:blip>
          <a:srcRect/>
          <a:stretch/>
        </p:blipFill>
        <p:spPr>
          <a:xfrm>
            <a:off x="7112000" y="5222283"/>
            <a:ext cx="3626718" cy="1542709"/>
          </a:xfrm>
          <a:prstGeom prst="rect">
            <a:avLst/>
          </a:prstGeom>
          <a:noFill/>
          <a:ln w="9525" cap="flat" cmpd="sng">
            <a:solidFill>
              <a:srgbClr val="000000"/>
            </a:solidFill>
            <a:prstDash val="solid"/>
            <a:round/>
            <a:headEnd type="none" w="sm" len="sm"/>
            <a:tailEnd type="none" w="sm" len="sm"/>
          </a:ln>
        </p:spPr>
      </p:pic>
      <p:cxnSp>
        <p:nvCxnSpPr>
          <p:cNvPr id="595" name="Google Shape;595;p48"/>
          <p:cNvCxnSpPr/>
          <p:nvPr/>
        </p:nvCxnSpPr>
        <p:spPr>
          <a:xfrm>
            <a:off x="6438205" y="5870044"/>
            <a:ext cx="505200" cy="0"/>
          </a:xfrm>
          <a:prstGeom prst="straightConnector1">
            <a:avLst/>
          </a:prstGeom>
          <a:noFill/>
          <a:ln w="9525" cap="flat" cmpd="sng">
            <a:solidFill>
              <a:srgbClr val="000000"/>
            </a:solidFill>
            <a:prstDash val="solid"/>
            <a:round/>
            <a:headEnd type="none" w="sm" len="sm"/>
            <a:tailEnd type="triangle" w="med" len="med"/>
          </a:ln>
        </p:spPr>
      </p:cxnSp>
      <p:pic>
        <p:nvPicPr>
          <p:cNvPr id="596" name="Google Shape;596;p48"/>
          <p:cNvPicPr preferRelativeResize="0"/>
          <p:nvPr/>
        </p:nvPicPr>
        <p:blipFill rotWithShape="1">
          <a:blip r:embed="rId7">
            <a:alphaModFix/>
          </a:blip>
          <a:srcRect/>
          <a:stretch/>
        </p:blipFill>
        <p:spPr>
          <a:xfrm>
            <a:off x="4197350" y="3555393"/>
            <a:ext cx="1238250" cy="271236"/>
          </a:xfrm>
          <a:prstGeom prst="rect">
            <a:avLst/>
          </a:prstGeom>
          <a:noFill/>
          <a:ln>
            <a:noFill/>
          </a:ln>
        </p:spPr>
      </p:pic>
      <p:sp>
        <p:nvSpPr>
          <p:cNvPr id="597" name="Google Shape;597;p48"/>
          <p:cNvSpPr txBox="1"/>
          <p:nvPr/>
        </p:nvSpPr>
        <p:spPr>
          <a:xfrm>
            <a:off x="4164607" y="3492551"/>
            <a:ext cx="912429" cy="35394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en" sz="1700" b="0" i="0" u="none" strike="noStrike" cap="none">
                <a:solidFill>
                  <a:srgbClr val="3F3F3F"/>
                </a:solidFill>
                <a:latin typeface="Rockwell"/>
                <a:ea typeface="Rockwell"/>
                <a:cs typeface="Rockwell"/>
                <a:sym typeface="Rockwell"/>
              </a:rPr>
              <a:t>indices</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602"/>
        <p:cNvGrpSpPr/>
        <p:nvPr/>
      </p:nvGrpSpPr>
      <p:grpSpPr>
        <a:xfrm>
          <a:off x="0" y="0"/>
          <a:ext cx="0" cy="0"/>
          <a:chOff x="0" y="0"/>
          <a:chExt cx="0" cy="0"/>
        </a:xfrm>
      </p:grpSpPr>
      <p:sp>
        <p:nvSpPr>
          <p:cNvPr id="603" name="Google Shape;603;p49"/>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Consolas"/>
              <a:buNone/>
            </a:pPr>
            <a:r>
              <a:rPr lang="en">
                <a:latin typeface="Consolas"/>
                <a:ea typeface="Consolas"/>
                <a:cs typeface="Consolas"/>
                <a:sym typeface="Consolas"/>
              </a:rPr>
              <a:t>GROUPBY</a:t>
            </a:r>
            <a:r>
              <a:rPr lang="en"/>
              <a:t> ON DATAFRAME</a:t>
            </a:r>
            <a:endParaRPr/>
          </a:p>
        </p:txBody>
      </p:sp>
      <p:sp>
        <p:nvSpPr>
          <p:cNvPr id="604" name="Google Shape;604;p49"/>
          <p:cNvSpPr txBox="1">
            <a:spLocks noGrp="1"/>
          </p:cNvSpPr>
          <p:nvPr>
            <p:ph type="body" idx="1"/>
          </p:nvPr>
        </p:nvSpPr>
        <p:spPr>
          <a:xfrm>
            <a:off x="1069848" y="2007108"/>
            <a:ext cx="10512552" cy="4050792"/>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SzPts val="1700"/>
              <a:buNone/>
            </a:pPr>
            <a:r>
              <a:rPr lang="en" dirty="0"/>
              <a:t>If we call </a:t>
            </a:r>
            <a:r>
              <a:rPr lang="en" dirty="0" err="1">
                <a:latin typeface="Consolas"/>
                <a:ea typeface="Consolas"/>
                <a:cs typeface="Consolas"/>
                <a:sym typeface="Consolas"/>
              </a:rPr>
              <a:t>groupby</a:t>
            </a:r>
            <a:r>
              <a:rPr lang="en" dirty="0"/>
              <a:t> on a </a:t>
            </a:r>
            <a:r>
              <a:rPr lang="en" dirty="0" err="1">
                <a:latin typeface="Consolas"/>
                <a:ea typeface="Consolas"/>
                <a:cs typeface="Consolas"/>
                <a:sym typeface="Consolas"/>
              </a:rPr>
              <a:t>DataFrame</a:t>
            </a:r>
            <a:r>
              <a:rPr lang="en" dirty="0">
                <a:latin typeface="Consolas"/>
                <a:ea typeface="Consolas"/>
                <a:cs typeface="Consolas"/>
                <a:sym typeface="Consolas"/>
              </a:rPr>
              <a:t>, t</a:t>
            </a:r>
            <a:r>
              <a:rPr lang="en" dirty="0"/>
              <a:t>he resulting output is a </a:t>
            </a:r>
            <a:r>
              <a:rPr lang="en" dirty="0" err="1">
                <a:latin typeface="Consolas"/>
                <a:ea typeface="Consolas"/>
                <a:cs typeface="Consolas"/>
                <a:sym typeface="Consolas"/>
              </a:rPr>
              <a:t>DataFrameGroupBy</a:t>
            </a:r>
            <a:r>
              <a:rPr lang="en" dirty="0"/>
              <a:t> object.</a:t>
            </a:r>
            <a:endParaRPr dirty="0"/>
          </a:p>
          <a:p>
            <a:pPr marL="0" lvl="0" indent="0" algn="l" rtl="0">
              <a:lnSpc>
                <a:spcPct val="90000"/>
              </a:lnSpc>
              <a:spcBef>
                <a:spcPts val="1200"/>
              </a:spcBef>
              <a:spcAft>
                <a:spcPts val="0"/>
              </a:spcAft>
              <a:buSzPts val="1700"/>
              <a:buNone/>
            </a:pPr>
            <a:r>
              <a:rPr lang="en" dirty="0" err="1">
                <a:latin typeface="Consolas"/>
                <a:ea typeface="Consolas"/>
                <a:cs typeface="Consolas"/>
                <a:sym typeface="Consolas"/>
              </a:rPr>
              <a:t>DataFrameGroupBy</a:t>
            </a:r>
            <a:r>
              <a:rPr lang="en" dirty="0"/>
              <a:t> objects can then be aggregated back into a </a:t>
            </a:r>
            <a:r>
              <a:rPr lang="en" dirty="0" err="1">
                <a:latin typeface="Consolas"/>
                <a:ea typeface="Consolas"/>
                <a:cs typeface="Consolas"/>
                <a:sym typeface="Consolas"/>
              </a:rPr>
              <a:t>DataFrame</a:t>
            </a:r>
            <a:r>
              <a:rPr lang="en" dirty="0"/>
              <a:t> or a </a:t>
            </a:r>
            <a:r>
              <a:rPr lang="en" dirty="0">
                <a:latin typeface="Consolas"/>
                <a:ea typeface="Consolas"/>
                <a:cs typeface="Consolas"/>
                <a:sym typeface="Consolas"/>
              </a:rPr>
              <a:t>Series</a:t>
            </a:r>
            <a:r>
              <a:rPr lang="en" dirty="0"/>
              <a:t> using an aggregation method.</a:t>
            </a:r>
            <a:endParaRPr dirty="0"/>
          </a:p>
          <a:p>
            <a:pPr marL="182880" lvl="0" indent="-74928" algn="l" rtl="0">
              <a:lnSpc>
                <a:spcPct val="90000"/>
              </a:lnSpc>
              <a:spcBef>
                <a:spcPts val="1200"/>
              </a:spcBef>
              <a:spcAft>
                <a:spcPts val="0"/>
              </a:spcAft>
              <a:buSzPts val="1700"/>
              <a:buNone/>
            </a:pPr>
            <a:endParaRPr dirty="0"/>
          </a:p>
        </p:txBody>
      </p:sp>
      <p:pic>
        <p:nvPicPr>
          <p:cNvPr id="605" name="Google Shape;605;p49"/>
          <p:cNvPicPr preferRelativeResize="0"/>
          <p:nvPr/>
        </p:nvPicPr>
        <p:blipFill rotWithShape="1">
          <a:blip r:embed="rId3">
            <a:alphaModFix/>
          </a:blip>
          <a:srcRect/>
          <a:stretch/>
        </p:blipFill>
        <p:spPr>
          <a:xfrm>
            <a:off x="745424" y="3610130"/>
            <a:ext cx="10701152" cy="899174"/>
          </a:xfrm>
          <a:prstGeom prst="rect">
            <a:avLst/>
          </a:prstGeom>
          <a:noFill/>
          <a:ln w="9525" cap="flat" cmpd="sng">
            <a:solidFill>
              <a:srgbClr val="000000"/>
            </a:solidFill>
            <a:prstDash val="solid"/>
            <a:round/>
            <a:headEnd type="none" w="sm" len="sm"/>
            <a:tailEnd type="none" w="sm" len="sm"/>
          </a:ln>
        </p:spPr>
      </p:pic>
      <p:cxnSp>
        <p:nvCxnSpPr>
          <p:cNvPr id="606" name="Google Shape;606;p49"/>
          <p:cNvCxnSpPr/>
          <p:nvPr/>
        </p:nvCxnSpPr>
        <p:spPr>
          <a:xfrm>
            <a:off x="6669732" y="5440533"/>
            <a:ext cx="505200" cy="0"/>
          </a:xfrm>
          <a:prstGeom prst="straightConnector1">
            <a:avLst/>
          </a:prstGeom>
          <a:noFill/>
          <a:ln w="9525" cap="flat" cmpd="sng">
            <a:solidFill>
              <a:srgbClr val="000000"/>
            </a:solidFill>
            <a:prstDash val="solid"/>
            <a:round/>
            <a:headEnd type="none" w="sm" len="sm"/>
            <a:tailEnd type="triangle" w="med" len="med"/>
          </a:ln>
        </p:spPr>
      </p:cxnSp>
      <p:pic>
        <p:nvPicPr>
          <p:cNvPr id="607" name="Google Shape;607;p49"/>
          <p:cNvPicPr preferRelativeResize="0"/>
          <p:nvPr/>
        </p:nvPicPr>
        <p:blipFill rotWithShape="1">
          <a:blip r:embed="rId4">
            <a:alphaModFix/>
          </a:blip>
          <a:srcRect/>
          <a:stretch/>
        </p:blipFill>
        <p:spPr>
          <a:xfrm>
            <a:off x="745424" y="3184369"/>
            <a:ext cx="6647891" cy="329627"/>
          </a:xfrm>
          <a:prstGeom prst="rect">
            <a:avLst/>
          </a:prstGeom>
          <a:noFill/>
          <a:ln w="9525" cap="flat" cmpd="sng">
            <a:solidFill>
              <a:srgbClr val="000000"/>
            </a:solidFill>
            <a:prstDash val="solid"/>
            <a:round/>
            <a:headEnd type="none" w="sm" len="sm"/>
            <a:tailEnd type="none" w="sm" len="sm"/>
          </a:ln>
        </p:spPr>
      </p:pic>
      <p:pic>
        <p:nvPicPr>
          <p:cNvPr id="608" name="Google Shape;608;p49"/>
          <p:cNvPicPr preferRelativeResize="0"/>
          <p:nvPr/>
        </p:nvPicPr>
        <p:blipFill rotWithShape="1">
          <a:blip r:embed="rId5">
            <a:alphaModFix/>
          </a:blip>
          <a:srcRect/>
          <a:stretch/>
        </p:blipFill>
        <p:spPr>
          <a:xfrm>
            <a:off x="1397567" y="5218000"/>
            <a:ext cx="5162773" cy="445067"/>
          </a:xfrm>
          <a:prstGeom prst="rect">
            <a:avLst/>
          </a:prstGeom>
          <a:noFill/>
          <a:ln w="9525" cap="flat" cmpd="sng">
            <a:solidFill>
              <a:srgbClr val="000000"/>
            </a:solidFill>
            <a:prstDash val="solid"/>
            <a:round/>
            <a:headEnd type="none" w="sm" len="sm"/>
            <a:tailEnd type="none" w="sm" len="sm"/>
          </a:ln>
        </p:spPr>
      </p:pic>
      <p:pic>
        <p:nvPicPr>
          <p:cNvPr id="609" name="Google Shape;609;p49"/>
          <p:cNvPicPr preferRelativeResize="0"/>
          <p:nvPr/>
        </p:nvPicPr>
        <p:blipFill rotWithShape="1">
          <a:blip r:embed="rId6">
            <a:alphaModFix/>
          </a:blip>
          <a:srcRect/>
          <a:stretch/>
        </p:blipFill>
        <p:spPr>
          <a:xfrm>
            <a:off x="7581300" y="4726705"/>
            <a:ext cx="3046533" cy="1847367"/>
          </a:xfrm>
          <a:prstGeom prst="rect">
            <a:avLst/>
          </a:prstGeom>
          <a:noFill/>
          <a:ln w="9525" cap="flat" cmpd="sng">
            <a:solidFill>
              <a:srgbClr val="000000"/>
            </a:solidFill>
            <a:prstDash val="solid"/>
            <a:round/>
            <a:headEnd type="none" w="sm" len="sm"/>
            <a:tailEnd type="none" w="sm" len="sm"/>
          </a:ln>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613"/>
        <p:cNvGrpSpPr/>
        <p:nvPr/>
      </p:nvGrpSpPr>
      <p:grpSpPr>
        <a:xfrm>
          <a:off x="0" y="0"/>
          <a:ext cx="0" cy="0"/>
          <a:chOff x="0" y="0"/>
          <a:chExt cx="0" cy="0"/>
        </a:xfrm>
      </p:grpSpPr>
      <p:sp>
        <p:nvSpPr>
          <p:cNvPr id="614" name="Google Shape;614;p50"/>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Consolas"/>
              <a:buNone/>
            </a:pPr>
            <a:r>
              <a:rPr lang="en" dirty="0">
                <a:latin typeface="Consolas"/>
                <a:ea typeface="Consolas"/>
                <a:cs typeface="Consolas"/>
                <a:sym typeface="Consolas"/>
              </a:rPr>
              <a:t>GROUPBY</a:t>
            </a:r>
            <a:r>
              <a:rPr lang="en" dirty="0"/>
              <a:t> AND </a:t>
            </a:r>
            <a:r>
              <a:rPr lang="en" dirty="0">
                <a:latin typeface="Consolas"/>
                <a:ea typeface="Consolas"/>
                <a:cs typeface="Consolas"/>
                <a:sym typeface="Consolas"/>
              </a:rPr>
              <a:t>AGG</a:t>
            </a:r>
            <a:r>
              <a:rPr lang="en" dirty="0"/>
              <a:t> </a:t>
            </a:r>
            <a:endParaRPr dirty="0"/>
          </a:p>
        </p:txBody>
      </p:sp>
      <p:sp>
        <p:nvSpPr>
          <p:cNvPr id="615" name="Google Shape;615;p50"/>
          <p:cNvSpPr txBox="1">
            <a:spLocks noGrp="1"/>
          </p:cNvSpPr>
          <p:nvPr>
            <p:ph type="body" idx="1"/>
          </p:nvPr>
        </p:nvSpPr>
        <p:spPr>
          <a:xfrm>
            <a:off x="1069848" y="1994408"/>
            <a:ext cx="10058400" cy="4050792"/>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SzPts val="1700"/>
              <a:buNone/>
            </a:pPr>
            <a:r>
              <a:rPr lang="en" dirty="0"/>
              <a:t>Most of the built-in handy aggregation methods are just shorthand for a universal aggregation method called </a:t>
            </a:r>
            <a:r>
              <a:rPr lang="en" dirty="0" err="1">
                <a:latin typeface="Consolas"/>
                <a:ea typeface="Consolas"/>
                <a:cs typeface="Consolas"/>
                <a:sym typeface="Consolas"/>
              </a:rPr>
              <a:t>agg</a:t>
            </a:r>
            <a:r>
              <a:rPr lang="en" dirty="0"/>
              <a:t>.</a:t>
            </a:r>
            <a:endParaRPr dirty="0"/>
          </a:p>
          <a:p>
            <a:pPr marL="182880" lvl="0" indent="-182880" algn="l" rtl="0">
              <a:lnSpc>
                <a:spcPct val="90000"/>
              </a:lnSpc>
              <a:spcBef>
                <a:spcPts val="1200"/>
              </a:spcBef>
              <a:spcAft>
                <a:spcPts val="0"/>
              </a:spcAft>
              <a:buSzPts val="1700"/>
              <a:buChar char="▪"/>
            </a:pPr>
            <a:r>
              <a:rPr lang="en" dirty="0"/>
              <a:t>Example, </a:t>
            </a:r>
            <a:r>
              <a:rPr lang="en" dirty="0">
                <a:latin typeface="Consolas"/>
                <a:ea typeface="Consolas"/>
                <a:cs typeface="Consolas"/>
                <a:sym typeface="Consolas"/>
              </a:rPr>
              <a:t>.mean()</a:t>
            </a:r>
            <a:r>
              <a:rPr lang="en" dirty="0"/>
              <a:t> is just </a:t>
            </a:r>
            <a:r>
              <a:rPr lang="en" dirty="0">
                <a:latin typeface="Consolas"/>
                <a:ea typeface="Consolas"/>
                <a:cs typeface="Consolas"/>
                <a:sym typeface="Consolas"/>
              </a:rPr>
              <a:t>.</a:t>
            </a:r>
            <a:r>
              <a:rPr lang="en" dirty="0" err="1">
                <a:latin typeface="Consolas"/>
                <a:ea typeface="Consolas"/>
                <a:cs typeface="Consolas"/>
                <a:sym typeface="Consolas"/>
              </a:rPr>
              <a:t>agg</a:t>
            </a:r>
            <a:r>
              <a:rPr lang="en" dirty="0">
                <a:latin typeface="Consolas"/>
                <a:ea typeface="Consolas"/>
                <a:cs typeface="Consolas"/>
                <a:sym typeface="Consolas"/>
              </a:rPr>
              <a:t>(</a:t>
            </a:r>
            <a:r>
              <a:rPr lang="en" dirty="0" err="1">
                <a:latin typeface="Consolas"/>
                <a:ea typeface="Consolas"/>
                <a:cs typeface="Consolas"/>
                <a:sym typeface="Consolas"/>
              </a:rPr>
              <a:t>np.mean</a:t>
            </a:r>
            <a:r>
              <a:rPr lang="en" dirty="0">
                <a:latin typeface="Consolas"/>
                <a:ea typeface="Consolas"/>
                <a:cs typeface="Consolas"/>
                <a:sym typeface="Consolas"/>
              </a:rPr>
              <a:t>)</a:t>
            </a:r>
            <a:r>
              <a:rPr lang="en" dirty="0"/>
              <a:t>.</a:t>
            </a:r>
            <a:endParaRPr dirty="0"/>
          </a:p>
          <a:p>
            <a:pPr marL="182880" lvl="0" indent="-74928" algn="l" rtl="0">
              <a:lnSpc>
                <a:spcPct val="90000"/>
              </a:lnSpc>
              <a:spcBef>
                <a:spcPts val="1200"/>
              </a:spcBef>
              <a:spcAft>
                <a:spcPts val="0"/>
              </a:spcAft>
              <a:buSzPts val="1700"/>
              <a:buNone/>
            </a:pPr>
            <a:endParaRPr dirty="0"/>
          </a:p>
        </p:txBody>
      </p:sp>
      <p:pic>
        <p:nvPicPr>
          <p:cNvPr id="616" name="Google Shape;616;p50"/>
          <p:cNvPicPr preferRelativeResize="0"/>
          <p:nvPr/>
        </p:nvPicPr>
        <p:blipFill rotWithShape="1">
          <a:blip r:embed="rId3">
            <a:alphaModFix/>
          </a:blip>
          <a:srcRect/>
          <a:stretch/>
        </p:blipFill>
        <p:spPr>
          <a:xfrm>
            <a:off x="745424" y="3610130"/>
            <a:ext cx="10701152" cy="899174"/>
          </a:xfrm>
          <a:prstGeom prst="rect">
            <a:avLst/>
          </a:prstGeom>
          <a:noFill/>
          <a:ln w="9525" cap="flat" cmpd="sng">
            <a:solidFill>
              <a:srgbClr val="000000"/>
            </a:solidFill>
            <a:prstDash val="solid"/>
            <a:round/>
            <a:headEnd type="none" w="sm" len="sm"/>
            <a:tailEnd type="none" w="sm" len="sm"/>
          </a:ln>
        </p:spPr>
      </p:pic>
      <p:cxnSp>
        <p:nvCxnSpPr>
          <p:cNvPr id="617" name="Google Shape;617;p50"/>
          <p:cNvCxnSpPr/>
          <p:nvPr/>
        </p:nvCxnSpPr>
        <p:spPr>
          <a:xfrm>
            <a:off x="6669732" y="5440533"/>
            <a:ext cx="505200" cy="0"/>
          </a:xfrm>
          <a:prstGeom prst="straightConnector1">
            <a:avLst/>
          </a:prstGeom>
          <a:noFill/>
          <a:ln w="9525" cap="flat" cmpd="sng">
            <a:solidFill>
              <a:srgbClr val="000000"/>
            </a:solidFill>
            <a:prstDash val="solid"/>
            <a:round/>
            <a:headEnd type="none" w="sm" len="sm"/>
            <a:tailEnd type="triangle" w="med" len="med"/>
          </a:ln>
        </p:spPr>
      </p:cxnSp>
      <p:pic>
        <p:nvPicPr>
          <p:cNvPr id="618" name="Google Shape;618;p50"/>
          <p:cNvPicPr preferRelativeResize="0"/>
          <p:nvPr/>
        </p:nvPicPr>
        <p:blipFill rotWithShape="1">
          <a:blip r:embed="rId4">
            <a:alphaModFix/>
          </a:blip>
          <a:srcRect/>
          <a:stretch/>
        </p:blipFill>
        <p:spPr>
          <a:xfrm>
            <a:off x="745424" y="3184369"/>
            <a:ext cx="6647891" cy="329627"/>
          </a:xfrm>
          <a:prstGeom prst="rect">
            <a:avLst/>
          </a:prstGeom>
          <a:noFill/>
          <a:ln w="9525" cap="flat" cmpd="sng">
            <a:solidFill>
              <a:srgbClr val="000000"/>
            </a:solidFill>
            <a:prstDash val="solid"/>
            <a:round/>
            <a:headEnd type="none" w="sm" len="sm"/>
            <a:tailEnd type="none" w="sm" len="sm"/>
          </a:ln>
        </p:spPr>
      </p:pic>
      <p:pic>
        <p:nvPicPr>
          <p:cNvPr id="619" name="Google Shape;619;p50"/>
          <p:cNvPicPr preferRelativeResize="0"/>
          <p:nvPr/>
        </p:nvPicPr>
        <p:blipFill rotWithShape="1">
          <a:blip r:embed="rId5">
            <a:alphaModFix/>
          </a:blip>
          <a:srcRect/>
          <a:stretch/>
        </p:blipFill>
        <p:spPr>
          <a:xfrm>
            <a:off x="1397567" y="5218000"/>
            <a:ext cx="5162773" cy="445067"/>
          </a:xfrm>
          <a:prstGeom prst="rect">
            <a:avLst/>
          </a:prstGeom>
          <a:noFill/>
          <a:ln w="9525" cap="flat" cmpd="sng">
            <a:solidFill>
              <a:srgbClr val="000000"/>
            </a:solidFill>
            <a:prstDash val="solid"/>
            <a:round/>
            <a:headEnd type="none" w="sm" len="sm"/>
            <a:tailEnd type="none" w="sm" len="sm"/>
          </a:ln>
        </p:spPr>
      </p:pic>
      <p:pic>
        <p:nvPicPr>
          <p:cNvPr id="620" name="Google Shape;620;p50"/>
          <p:cNvPicPr preferRelativeResize="0"/>
          <p:nvPr/>
        </p:nvPicPr>
        <p:blipFill rotWithShape="1">
          <a:blip r:embed="rId6">
            <a:alphaModFix/>
          </a:blip>
          <a:srcRect/>
          <a:stretch/>
        </p:blipFill>
        <p:spPr>
          <a:xfrm>
            <a:off x="7581300" y="4726705"/>
            <a:ext cx="3046533" cy="1847367"/>
          </a:xfrm>
          <a:prstGeom prst="rect">
            <a:avLst/>
          </a:prstGeom>
          <a:noFill/>
          <a:ln w="9525" cap="flat" cmpd="sng">
            <a:solidFill>
              <a:srgbClr val="000000"/>
            </a:solidFill>
            <a:prstDash val="solid"/>
            <a:round/>
            <a:headEnd type="none" w="sm" len="sm"/>
            <a:tailEnd type="none" w="sm" len="sm"/>
          </a:ln>
        </p:spPr>
      </p:pic>
      <p:pic>
        <p:nvPicPr>
          <p:cNvPr id="621" name="Google Shape;621;p50"/>
          <p:cNvPicPr preferRelativeResize="0"/>
          <p:nvPr/>
        </p:nvPicPr>
        <p:blipFill rotWithShape="1">
          <a:blip r:embed="rId7">
            <a:alphaModFix/>
          </a:blip>
          <a:srcRect/>
          <a:stretch/>
        </p:blipFill>
        <p:spPr>
          <a:xfrm>
            <a:off x="1095948" y="5950301"/>
            <a:ext cx="5655000" cy="388500"/>
          </a:xfrm>
          <a:prstGeom prst="rect">
            <a:avLst/>
          </a:prstGeom>
          <a:noFill/>
          <a:ln w="9525" cap="flat" cmpd="sng">
            <a:solidFill>
              <a:srgbClr val="000000"/>
            </a:solidFill>
            <a:prstDash val="solid"/>
            <a:round/>
            <a:headEnd type="none" w="sm" len="sm"/>
            <a:tailEnd type="none" w="sm" len="sm"/>
          </a:ln>
        </p:spPr>
      </p:pic>
      <p:cxnSp>
        <p:nvCxnSpPr>
          <p:cNvPr id="622" name="Google Shape;622;p50"/>
          <p:cNvCxnSpPr/>
          <p:nvPr/>
        </p:nvCxnSpPr>
        <p:spPr>
          <a:xfrm>
            <a:off x="6888115" y="6144551"/>
            <a:ext cx="505200" cy="0"/>
          </a:xfrm>
          <a:prstGeom prst="straightConnector1">
            <a:avLst/>
          </a:prstGeom>
          <a:noFill/>
          <a:ln w="9525" cap="flat" cmpd="sng">
            <a:solidFill>
              <a:srgbClr val="000000"/>
            </a:solidFill>
            <a:prstDash val="solid"/>
            <a:round/>
            <a:headEnd type="none" w="sm" len="sm"/>
            <a:tailEnd type="triangle" w="med" len="med"/>
          </a:ln>
        </p:spPr>
      </p:cxn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626"/>
        <p:cNvGrpSpPr/>
        <p:nvPr/>
      </p:nvGrpSpPr>
      <p:grpSpPr>
        <a:xfrm>
          <a:off x="0" y="0"/>
          <a:ext cx="0" cy="0"/>
          <a:chOff x="0" y="0"/>
          <a:chExt cx="0" cy="0"/>
        </a:xfrm>
      </p:grpSpPr>
      <p:sp>
        <p:nvSpPr>
          <p:cNvPr id="627" name="Google Shape;627;p51"/>
          <p:cNvSpPr txBox="1">
            <a:spLocks noGrp="1"/>
          </p:cNvSpPr>
          <p:nvPr>
            <p:ph type="title"/>
          </p:nvPr>
        </p:nvSpPr>
        <p:spPr>
          <a:xfrm>
            <a:off x="828743" y="-149703"/>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
              <a:t>SERIES </a:t>
            </a:r>
            <a:r>
              <a:rPr lang="en">
                <a:latin typeface="Consolas"/>
                <a:ea typeface="Consolas"/>
                <a:cs typeface="Consolas"/>
                <a:sym typeface="Consolas"/>
              </a:rPr>
              <a:t>GROUPBY/AGG</a:t>
            </a:r>
            <a:r>
              <a:rPr lang="en"/>
              <a:t> SUMMARY</a:t>
            </a:r>
            <a:endParaRPr/>
          </a:p>
        </p:txBody>
      </p:sp>
      <p:sp>
        <p:nvSpPr>
          <p:cNvPr id="628" name="Google Shape;628;p51"/>
          <p:cNvSpPr txBox="1">
            <a:spLocks noGrp="1"/>
          </p:cNvSpPr>
          <p:nvPr>
            <p:ph type="body" idx="1"/>
          </p:nvPr>
        </p:nvSpPr>
        <p:spPr>
          <a:xfrm>
            <a:off x="1069848" y="2121408"/>
            <a:ext cx="10058400" cy="4050792"/>
          </a:xfrm>
          <a:prstGeom prst="rect">
            <a:avLst/>
          </a:prstGeom>
          <a:noFill/>
          <a:ln>
            <a:noFill/>
          </a:ln>
        </p:spPr>
        <p:txBody>
          <a:bodyPr spcFirstLastPara="1" wrap="square" lIns="91425" tIns="45700" rIns="91425" bIns="45700" anchor="t" anchorCtr="0">
            <a:normAutofit/>
          </a:bodyPr>
          <a:lstStyle/>
          <a:p>
            <a:pPr marL="182880" lvl="0" indent="-74928" algn="l" rtl="0">
              <a:lnSpc>
                <a:spcPct val="90000"/>
              </a:lnSpc>
              <a:spcBef>
                <a:spcPts val="0"/>
              </a:spcBef>
              <a:spcAft>
                <a:spcPts val="0"/>
              </a:spcAft>
              <a:buSzPts val="1700"/>
              <a:buNone/>
            </a:pPr>
            <a:endParaRPr/>
          </a:p>
        </p:txBody>
      </p:sp>
      <p:sp>
        <p:nvSpPr>
          <p:cNvPr id="629" name="Google Shape;629;p51"/>
          <p:cNvSpPr/>
          <p:nvPr/>
        </p:nvSpPr>
        <p:spPr>
          <a:xfrm>
            <a:off x="2765809" y="1922867"/>
            <a:ext cx="477200" cy="410800"/>
          </a:xfrm>
          <a:prstGeom prst="rect">
            <a:avLst/>
          </a:prstGeom>
          <a:solidFill>
            <a:srgbClr val="A4C2F4"/>
          </a:solidFill>
          <a:ln w="952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chemeClr val="dk1"/>
                </a:solidFill>
                <a:latin typeface="Rockwell"/>
                <a:ea typeface="Rockwell"/>
                <a:cs typeface="Rockwell"/>
                <a:sym typeface="Rockwell"/>
              </a:rPr>
              <a:t>A</a:t>
            </a:r>
            <a:endParaRPr sz="2400" b="0" i="0" u="none" strike="noStrike" cap="none">
              <a:solidFill>
                <a:schemeClr val="dk1"/>
              </a:solidFill>
              <a:latin typeface="Rockwell"/>
              <a:ea typeface="Rockwell"/>
              <a:cs typeface="Rockwell"/>
              <a:sym typeface="Rockwell"/>
            </a:endParaRPr>
          </a:p>
        </p:txBody>
      </p:sp>
      <p:sp>
        <p:nvSpPr>
          <p:cNvPr id="630" name="Google Shape;630;p51"/>
          <p:cNvSpPr/>
          <p:nvPr/>
        </p:nvSpPr>
        <p:spPr>
          <a:xfrm>
            <a:off x="3301931" y="1922867"/>
            <a:ext cx="596000" cy="410800"/>
          </a:xfrm>
          <a:prstGeom prst="rect">
            <a:avLst/>
          </a:prstGeom>
          <a:solidFill>
            <a:srgbClr val="FFFFFF"/>
          </a:solidFill>
          <a:ln w="952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chemeClr val="dk1"/>
                </a:solidFill>
                <a:latin typeface="Rockwell"/>
                <a:ea typeface="Rockwell"/>
                <a:cs typeface="Rockwell"/>
                <a:sym typeface="Rockwell"/>
              </a:rPr>
              <a:t>3</a:t>
            </a:r>
            <a:endParaRPr sz="2400" b="0" i="0" u="none" strike="noStrike" cap="none">
              <a:solidFill>
                <a:schemeClr val="dk1"/>
              </a:solidFill>
              <a:latin typeface="Rockwell"/>
              <a:ea typeface="Rockwell"/>
              <a:cs typeface="Rockwell"/>
              <a:sym typeface="Rockwell"/>
            </a:endParaRPr>
          </a:p>
        </p:txBody>
      </p:sp>
      <p:sp>
        <p:nvSpPr>
          <p:cNvPr id="631" name="Google Shape;631;p51"/>
          <p:cNvSpPr/>
          <p:nvPr/>
        </p:nvSpPr>
        <p:spPr>
          <a:xfrm>
            <a:off x="2765809" y="2444059"/>
            <a:ext cx="477200" cy="410800"/>
          </a:xfrm>
          <a:prstGeom prst="rect">
            <a:avLst/>
          </a:prstGeom>
          <a:solidFill>
            <a:srgbClr val="A4C2F4"/>
          </a:solidFill>
          <a:ln w="952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chemeClr val="dk1"/>
                </a:solidFill>
                <a:latin typeface="Rockwell"/>
                <a:ea typeface="Rockwell"/>
                <a:cs typeface="Rockwell"/>
                <a:sym typeface="Rockwell"/>
              </a:rPr>
              <a:t>B</a:t>
            </a:r>
            <a:endParaRPr sz="2400" b="0" i="0" u="none" strike="noStrike" cap="none">
              <a:solidFill>
                <a:schemeClr val="dk1"/>
              </a:solidFill>
              <a:latin typeface="Rockwell"/>
              <a:ea typeface="Rockwell"/>
              <a:cs typeface="Rockwell"/>
              <a:sym typeface="Rockwell"/>
            </a:endParaRPr>
          </a:p>
        </p:txBody>
      </p:sp>
      <p:sp>
        <p:nvSpPr>
          <p:cNvPr id="632" name="Google Shape;632;p51"/>
          <p:cNvSpPr/>
          <p:nvPr/>
        </p:nvSpPr>
        <p:spPr>
          <a:xfrm>
            <a:off x="3301931" y="2444059"/>
            <a:ext cx="596000" cy="410800"/>
          </a:xfrm>
          <a:prstGeom prst="rect">
            <a:avLst/>
          </a:prstGeom>
          <a:solidFill>
            <a:srgbClr val="FFFFFF"/>
          </a:solidFill>
          <a:ln w="952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chemeClr val="dk1"/>
                </a:solidFill>
                <a:latin typeface="Rockwell"/>
                <a:ea typeface="Rockwell"/>
                <a:cs typeface="Rockwell"/>
                <a:sym typeface="Rockwell"/>
              </a:rPr>
              <a:t>1</a:t>
            </a:r>
            <a:endParaRPr sz="2400" b="0" i="0" u="none" strike="noStrike" cap="none">
              <a:solidFill>
                <a:schemeClr val="dk1"/>
              </a:solidFill>
              <a:latin typeface="Rockwell"/>
              <a:ea typeface="Rockwell"/>
              <a:cs typeface="Rockwell"/>
              <a:sym typeface="Rockwell"/>
            </a:endParaRPr>
          </a:p>
        </p:txBody>
      </p:sp>
      <p:sp>
        <p:nvSpPr>
          <p:cNvPr id="633" name="Google Shape;633;p51"/>
          <p:cNvSpPr/>
          <p:nvPr/>
        </p:nvSpPr>
        <p:spPr>
          <a:xfrm>
            <a:off x="2765809" y="2965251"/>
            <a:ext cx="477200" cy="410800"/>
          </a:xfrm>
          <a:prstGeom prst="rect">
            <a:avLst/>
          </a:prstGeom>
          <a:solidFill>
            <a:srgbClr val="A4C2F4"/>
          </a:solidFill>
          <a:ln w="952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chemeClr val="dk1"/>
                </a:solidFill>
                <a:latin typeface="Rockwell"/>
                <a:ea typeface="Rockwell"/>
                <a:cs typeface="Rockwell"/>
                <a:sym typeface="Rockwell"/>
              </a:rPr>
              <a:t>C</a:t>
            </a:r>
            <a:endParaRPr sz="2400" b="0" i="0" u="none" strike="noStrike" cap="none">
              <a:solidFill>
                <a:schemeClr val="dk1"/>
              </a:solidFill>
              <a:latin typeface="Rockwell"/>
              <a:ea typeface="Rockwell"/>
              <a:cs typeface="Rockwell"/>
              <a:sym typeface="Rockwell"/>
            </a:endParaRPr>
          </a:p>
        </p:txBody>
      </p:sp>
      <p:sp>
        <p:nvSpPr>
          <p:cNvPr id="634" name="Google Shape;634;p51"/>
          <p:cNvSpPr/>
          <p:nvPr/>
        </p:nvSpPr>
        <p:spPr>
          <a:xfrm>
            <a:off x="3301931" y="2965251"/>
            <a:ext cx="596000" cy="410800"/>
          </a:xfrm>
          <a:prstGeom prst="rect">
            <a:avLst/>
          </a:prstGeom>
          <a:solidFill>
            <a:srgbClr val="FFFFFF"/>
          </a:solidFill>
          <a:ln w="952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chemeClr val="dk1"/>
                </a:solidFill>
                <a:latin typeface="Rockwell"/>
                <a:ea typeface="Rockwell"/>
                <a:cs typeface="Rockwell"/>
                <a:sym typeface="Rockwell"/>
              </a:rPr>
              <a:t>4</a:t>
            </a:r>
            <a:endParaRPr sz="2400" b="0" i="0" u="none" strike="noStrike" cap="none">
              <a:solidFill>
                <a:schemeClr val="dk1"/>
              </a:solidFill>
              <a:latin typeface="Rockwell"/>
              <a:ea typeface="Rockwell"/>
              <a:cs typeface="Rockwell"/>
              <a:sym typeface="Rockwell"/>
            </a:endParaRPr>
          </a:p>
        </p:txBody>
      </p:sp>
      <p:sp>
        <p:nvSpPr>
          <p:cNvPr id="635" name="Google Shape;635;p51"/>
          <p:cNvSpPr/>
          <p:nvPr/>
        </p:nvSpPr>
        <p:spPr>
          <a:xfrm>
            <a:off x="2765809" y="3486441"/>
            <a:ext cx="477200" cy="410800"/>
          </a:xfrm>
          <a:prstGeom prst="rect">
            <a:avLst/>
          </a:prstGeom>
          <a:solidFill>
            <a:srgbClr val="A4C2F4"/>
          </a:solidFill>
          <a:ln w="952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chemeClr val="dk1"/>
                </a:solidFill>
                <a:latin typeface="Rockwell"/>
                <a:ea typeface="Rockwell"/>
                <a:cs typeface="Rockwell"/>
                <a:sym typeface="Rockwell"/>
              </a:rPr>
              <a:t>A</a:t>
            </a:r>
            <a:endParaRPr sz="2400" b="0" i="0" u="none" strike="noStrike" cap="none">
              <a:solidFill>
                <a:schemeClr val="dk1"/>
              </a:solidFill>
              <a:latin typeface="Rockwell"/>
              <a:ea typeface="Rockwell"/>
              <a:cs typeface="Rockwell"/>
              <a:sym typeface="Rockwell"/>
            </a:endParaRPr>
          </a:p>
        </p:txBody>
      </p:sp>
      <p:sp>
        <p:nvSpPr>
          <p:cNvPr id="636" name="Google Shape;636;p51"/>
          <p:cNvSpPr/>
          <p:nvPr/>
        </p:nvSpPr>
        <p:spPr>
          <a:xfrm>
            <a:off x="3301931" y="3486441"/>
            <a:ext cx="596000" cy="410800"/>
          </a:xfrm>
          <a:prstGeom prst="rect">
            <a:avLst/>
          </a:prstGeom>
          <a:solidFill>
            <a:srgbClr val="FFFFFF"/>
          </a:solidFill>
          <a:ln w="952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chemeClr val="dk1"/>
                </a:solidFill>
                <a:latin typeface="Rockwell"/>
                <a:ea typeface="Rockwell"/>
                <a:cs typeface="Rockwell"/>
                <a:sym typeface="Rockwell"/>
              </a:rPr>
              <a:t>1</a:t>
            </a:r>
            <a:endParaRPr sz="2400" b="0" i="0" u="none" strike="noStrike" cap="none">
              <a:solidFill>
                <a:schemeClr val="dk1"/>
              </a:solidFill>
              <a:latin typeface="Rockwell"/>
              <a:ea typeface="Rockwell"/>
              <a:cs typeface="Rockwell"/>
              <a:sym typeface="Rockwell"/>
            </a:endParaRPr>
          </a:p>
        </p:txBody>
      </p:sp>
      <p:sp>
        <p:nvSpPr>
          <p:cNvPr id="637" name="Google Shape;637;p51"/>
          <p:cNvSpPr/>
          <p:nvPr/>
        </p:nvSpPr>
        <p:spPr>
          <a:xfrm>
            <a:off x="2765809" y="4007633"/>
            <a:ext cx="477200" cy="410800"/>
          </a:xfrm>
          <a:prstGeom prst="rect">
            <a:avLst/>
          </a:prstGeom>
          <a:solidFill>
            <a:srgbClr val="A4C2F4"/>
          </a:solidFill>
          <a:ln w="952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chemeClr val="dk1"/>
                </a:solidFill>
                <a:latin typeface="Rockwell"/>
                <a:ea typeface="Rockwell"/>
                <a:cs typeface="Rockwell"/>
                <a:sym typeface="Rockwell"/>
              </a:rPr>
              <a:t>B</a:t>
            </a:r>
            <a:endParaRPr sz="2400" b="0" i="0" u="none" strike="noStrike" cap="none">
              <a:solidFill>
                <a:schemeClr val="dk1"/>
              </a:solidFill>
              <a:latin typeface="Rockwell"/>
              <a:ea typeface="Rockwell"/>
              <a:cs typeface="Rockwell"/>
              <a:sym typeface="Rockwell"/>
            </a:endParaRPr>
          </a:p>
        </p:txBody>
      </p:sp>
      <p:sp>
        <p:nvSpPr>
          <p:cNvPr id="638" name="Google Shape;638;p51"/>
          <p:cNvSpPr/>
          <p:nvPr/>
        </p:nvSpPr>
        <p:spPr>
          <a:xfrm>
            <a:off x="3301931" y="4007633"/>
            <a:ext cx="596000" cy="410800"/>
          </a:xfrm>
          <a:prstGeom prst="rect">
            <a:avLst/>
          </a:prstGeom>
          <a:solidFill>
            <a:srgbClr val="FFFFFF"/>
          </a:solidFill>
          <a:ln w="952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chemeClr val="dk1"/>
                </a:solidFill>
                <a:latin typeface="Rockwell"/>
                <a:ea typeface="Rockwell"/>
                <a:cs typeface="Rockwell"/>
                <a:sym typeface="Rockwell"/>
              </a:rPr>
              <a:t>5</a:t>
            </a:r>
            <a:endParaRPr sz="2400" b="0" i="0" u="none" strike="noStrike" cap="none">
              <a:solidFill>
                <a:schemeClr val="dk1"/>
              </a:solidFill>
              <a:latin typeface="Rockwell"/>
              <a:ea typeface="Rockwell"/>
              <a:cs typeface="Rockwell"/>
              <a:sym typeface="Rockwell"/>
            </a:endParaRPr>
          </a:p>
        </p:txBody>
      </p:sp>
      <p:sp>
        <p:nvSpPr>
          <p:cNvPr id="639" name="Google Shape;639;p51"/>
          <p:cNvSpPr/>
          <p:nvPr/>
        </p:nvSpPr>
        <p:spPr>
          <a:xfrm>
            <a:off x="2765809" y="4528825"/>
            <a:ext cx="477200" cy="410800"/>
          </a:xfrm>
          <a:prstGeom prst="rect">
            <a:avLst/>
          </a:prstGeom>
          <a:solidFill>
            <a:srgbClr val="A4C2F4"/>
          </a:solidFill>
          <a:ln w="952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chemeClr val="dk1"/>
                </a:solidFill>
                <a:latin typeface="Rockwell"/>
                <a:ea typeface="Rockwell"/>
                <a:cs typeface="Rockwell"/>
                <a:sym typeface="Rockwell"/>
              </a:rPr>
              <a:t>C</a:t>
            </a:r>
            <a:endParaRPr sz="2400" b="0" i="0" u="none" strike="noStrike" cap="none">
              <a:solidFill>
                <a:schemeClr val="dk1"/>
              </a:solidFill>
              <a:latin typeface="Rockwell"/>
              <a:ea typeface="Rockwell"/>
              <a:cs typeface="Rockwell"/>
              <a:sym typeface="Rockwell"/>
            </a:endParaRPr>
          </a:p>
        </p:txBody>
      </p:sp>
      <p:sp>
        <p:nvSpPr>
          <p:cNvPr id="640" name="Google Shape;640;p51"/>
          <p:cNvSpPr/>
          <p:nvPr/>
        </p:nvSpPr>
        <p:spPr>
          <a:xfrm>
            <a:off x="3301931" y="4528825"/>
            <a:ext cx="596000" cy="410800"/>
          </a:xfrm>
          <a:prstGeom prst="rect">
            <a:avLst/>
          </a:prstGeom>
          <a:solidFill>
            <a:srgbClr val="FFFFFF"/>
          </a:solidFill>
          <a:ln w="952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chemeClr val="dk1"/>
                </a:solidFill>
                <a:latin typeface="Rockwell"/>
                <a:ea typeface="Rockwell"/>
                <a:cs typeface="Rockwell"/>
                <a:sym typeface="Rockwell"/>
              </a:rPr>
              <a:t>9</a:t>
            </a:r>
            <a:endParaRPr sz="2400" b="0" i="0" u="none" strike="noStrike" cap="none">
              <a:solidFill>
                <a:schemeClr val="dk1"/>
              </a:solidFill>
              <a:latin typeface="Rockwell"/>
              <a:ea typeface="Rockwell"/>
              <a:cs typeface="Rockwell"/>
              <a:sym typeface="Rockwell"/>
            </a:endParaRPr>
          </a:p>
        </p:txBody>
      </p:sp>
      <p:sp>
        <p:nvSpPr>
          <p:cNvPr id="641" name="Google Shape;641;p51"/>
          <p:cNvSpPr/>
          <p:nvPr/>
        </p:nvSpPr>
        <p:spPr>
          <a:xfrm>
            <a:off x="2765809" y="5050017"/>
            <a:ext cx="477200" cy="410800"/>
          </a:xfrm>
          <a:prstGeom prst="rect">
            <a:avLst/>
          </a:prstGeom>
          <a:solidFill>
            <a:srgbClr val="A4C2F4"/>
          </a:solidFill>
          <a:ln w="952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chemeClr val="dk1"/>
                </a:solidFill>
                <a:latin typeface="Rockwell"/>
                <a:ea typeface="Rockwell"/>
                <a:cs typeface="Rockwell"/>
                <a:sym typeface="Rockwell"/>
              </a:rPr>
              <a:t>A</a:t>
            </a:r>
            <a:endParaRPr sz="2400" b="0" i="0" u="none" strike="noStrike" cap="none">
              <a:solidFill>
                <a:schemeClr val="dk1"/>
              </a:solidFill>
              <a:latin typeface="Rockwell"/>
              <a:ea typeface="Rockwell"/>
              <a:cs typeface="Rockwell"/>
              <a:sym typeface="Rockwell"/>
            </a:endParaRPr>
          </a:p>
        </p:txBody>
      </p:sp>
      <p:sp>
        <p:nvSpPr>
          <p:cNvPr id="642" name="Google Shape;642;p51"/>
          <p:cNvSpPr/>
          <p:nvPr/>
        </p:nvSpPr>
        <p:spPr>
          <a:xfrm>
            <a:off x="3301931" y="5050017"/>
            <a:ext cx="596000" cy="410800"/>
          </a:xfrm>
          <a:prstGeom prst="rect">
            <a:avLst/>
          </a:prstGeom>
          <a:solidFill>
            <a:srgbClr val="FFFFFF"/>
          </a:solidFill>
          <a:ln w="952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chemeClr val="dk1"/>
                </a:solidFill>
                <a:latin typeface="Rockwell"/>
                <a:ea typeface="Rockwell"/>
                <a:cs typeface="Rockwell"/>
                <a:sym typeface="Rockwell"/>
              </a:rPr>
              <a:t>2</a:t>
            </a:r>
            <a:endParaRPr sz="2400" b="0" i="0" u="none" strike="noStrike" cap="none">
              <a:solidFill>
                <a:schemeClr val="dk1"/>
              </a:solidFill>
              <a:latin typeface="Rockwell"/>
              <a:ea typeface="Rockwell"/>
              <a:cs typeface="Rockwell"/>
              <a:sym typeface="Rockwell"/>
            </a:endParaRPr>
          </a:p>
        </p:txBody>
      </p:sp>
      <p:sp>
        <p:nvSpPr>
          <p:cNvPr id="643" name="Google Shape;643;p51"/>
          <p:cNvSpPr/>
          <p:nvPr/>
        </p:nvSpPr>
        <p:spPr>
          <a:xfrm>
            <a:off x="2765809" y="5571208"/>
            <a:ext cx="477200" cy="410800"/>
          </a:xfrm>
          <a:prstGeom prst="rect">
            <a:avLst/>
          </a:prstGeom>
          <a:solidFill>
            <a:srgbClr val="A4C2F4"/>
          </a:solidFill>
          <a:ln w="952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chemeClr val="dk1"/>
                </a:solidFill>
                <a:latin typeface="Rockwell"/>
                <a:ea typeface="Rockwell"/>
                <a:cs typeface="Rockwell"/>
                <a:sym typeface="Rockwell"/>
              </a:rPr>
              <a:t>D</a:t>
            </a:r>
            <a:endParaRPr sz="2400" b="0" i="0" u="none" strike="noStrike" cap="none">
              <a:solidFill>
                <a:schemeClr val="dk1"/>
              </a:solidFill>
              <a:latin typeface="Rockwell"/>
              <a:ea typeface="Rockwell"/>
              <a:cs typeface="Rockwell"/>
              <a:sym typeface="Rockwell"/>
            </a:endParaRPr>
          </a:p>
        </p:txBody>
      </p:sp>
      <p:sp>
        <p:nvSpPr>
          <p:cNvPr id="644" name="Google Shape;644;p51"/>
          <p:cNvSpPr/>
          <p:nvPr/>
        </p:nvSpPr>
        <p:spPr>
          <a:xfrm>
            <a:off x="3301931" y="5571208"/>
            <a:ext cx="596000" cy="410800"/>
          </a:xfrm>
          <a:prstGeom prst="rect">
            <a:avLst/>
          </a:prstGeom>
          <a:solidFill>
            <a:srgbClr val="FFFFFF"/>
          </a:solidFill>
          <a:ln w="952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chemeClr val="dk1"/>
                </a:solidFill>
                <a:latin typeface="Rockwell"/>
                <a:ea typeface="Rockwell"/>
                <a:cs typeface="Rockwell"/>
                <a:sym typeface="Rockwell"/>
              </a:rPr>
              <a:t>5</a:t>
            </a:r>
            <a:endParaRPr sz="2400" b="0" i="0" u="none" strike="noStrike" cap="none">
              <a:solidFill>
                <a:schemeClr val="dk1"/>
              </a:solidFill>
              <a:latin typeface="Rockwell"/>
              <a:ea typeface="Rockwell"/>
              <a:cs typeface="Rockwell"/>
              <a:sym typeface="Rockwell"/>
            </a:endParaRPr>
          </a:p>
        </p:txBody>
      </p:sp>
      <p:sp>
        <p:nvSpPr>
          <p:cNvPr id="645" name="Google Shape;645;p51"/>
          <p:cNvSpPr/>
          <p:nvPr/>
        </p:nvSpPr>
        <p:spPr>
          <a:xfrm>
            <a:off x="2765809" y="6092400"/>
            <a:ext cx="477200" cy="410800"/>
          </a:xfrm>
          <a:prstGeom prst="rect">
            <a:avLst/>
          </a:prstGeom>
          <a:solidFill>
            <a:srgbClr val="A4C2F4"/>
          </a:solidFill>
          <a:ln w="952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chemeClr val="dk1"/>
                </a:solidFill>
                <a:latin typeface="Rockwell"/>
                <a:ea typeface="Rockwell"/>
                <a:cs typeface="Rockwell"/>
                <a:sym typeface="Rockwell"/>
              </a:rPr>
              <a:t>B</a:t>
            </a:r>
            <a:endParaRPr sz="2400" b="0" i="0" u="none" strike="noStrike" cap="none">
              <a:solidFill>
                <a:schemeClr val="dk1"/>
              </a:solidFill>
              <a:latin typeface="Rockwell"/>
              <a:ea typeface="Rockwell"/>
              <a:cs typeface="Rockwell"/>
              <a:sym typeface="Rockwell"/>
            </a:endParaRPr>
          </a:p>
        </p:txBody>
      </p:sp>
      <p:sp>
        <p:nvSpPr>
          <p:cNvPr id="646" name="Google Shape;646;p51"/>
          <p:cNvSpPr/>
          <p:nvPr/>
        </p:nvSpPr>
        <p:spPr>
          <a:xfrm>
            <a:off x="3301931" y="6092400"/>
            <a:ext cx="596000" cy="410800"/>
          </a:xfrm>
          <a:prstGeom prst="rect">
            <a:avLst/>
          </a:prstGeom>
          <a:solidFill>
            <a:srgbClr val="FFFFFF"/>
          </a:solidFill>
          <a:ln w="952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chemeClr val="dk1"/>
                </a:solidFill>
                <a:latin typeface="Rockwell"/>
                <a:ea typeface="Rockwell"/>
                <a:cs typeface="Rockwell"/>
                <a:sym typeface="Rockwell"/>
              </a:rPr>
              <a:t>6</a:t>
            </a:r>
            <a:endParaRPr sz="2400" b="0" i="0" u="none" strike="noStrike" cap="none">
              <a:solidFill>
                <a:schemeClr val="dk1"/>
              </a:solidFill>
              <a:latin typeface="Rockwell"/>
              <a:ea typeface="Rockwell"/>
              <a:cs typeface="Rockwell"/>
              <a:sym typeface="Rockwell"/>
            </a:endParaRPr>
          </a:p>
        </p:txBody>
      </p:sp>
      <p:sp>
        <p:nvSpPr>
          <p:cNvPr id="647" name="Google Shape;647;p51"/>
          <p:cNvSpPr/>
          <p:nvPr/>
        </p:nvSpPr>
        <p:spPr>
          <a:xfrm>
            <a:off x="5631543" y="1516467"/>
            <a:ext cx="477200" cy="410800"/>
          </a:xfrm>
          <a:prstGeom prst="rect">
            <a:avLst/>
          </a:prstGeom>
          <a:solidFill>
            <a:srgbClr val="A4C2F4"/>
          </a:solidFill>
          <a:ln w="952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chemeClr val="dk1"/>
                </a:solidFill>
                <a:latin typeface="Rockwell"/>
                <a:ea typeface="Rockwell"/>
                <a:cs typeface="Rockwell"/>
                <a:sym typeface="Rockwell"/>
              </a:rPr>
              <a:t>A</a:t>
            </a:r>
            <a:endParaRPr sz="2400" b="0" i="0" u="none" strike="noStrike" cap="none">
              <a:solidFill>
                <a:schemeClr val="dk1"/>
              </a:solidFill>
              <a:latin typeface="Rockwell"/>
              <a:ea typeface="Rockwell"/>
              <a:cs typeface="Rockwell"/>
              <a:sym typeface="Rockwell"/>
            </a:endParaRPr>
          </a:p>
        </p:txBody>
      </p:sp>
      <p:sp>
        <p:nvSpPr>
          <p:cNvPr id="648" name="Google Shape;648;p51"/>
          <p:cNvSpPr/>
          <p:nvPr/>
        </p:nvSpPr>
        <p:spPr>
          <a:xfrm>
            <a:off x="6167664" y="1516467"/>
            <a:ext cx="596000" cy="410800"/>
          </a:xfrm>
          <a:prstGeom prst="rect">
            <a:avLst/>
          </a:prstGeom>
          <a:solidFill>
            <a:srgbClr val="FFFFFF"/>
          </a:solidFill>
          <a:ln w="952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chemeClr val="dk1"/>
                </a:solidFill>
                <a:latin typeface="Rockwell"/>
                <a:ea typeface="Rockwell"/>
                <a:cs typeface="Rockwell"/>
                <a:sym typeface="Rockwell"/>
              </a:rPr>
              <a:t>3</a:t>
            </a:r>
            <a:endParaRPr sz="2400" b="0" i="0" u="none" strike="noStrike" cap="none">
              <a:solidFill>
                <a:schemeClr val="dk1"/>
              </a:solidFill>
              <a:latin typeface="Rockwell"/>
              <a:ea typeface="Rockwell"/>
              <a:cs typeface="Rockwell"/>
              <a:sym typeface="Rockwell"/>
            </a:endParaRPr>
          </a:p>
        </p:txBody>
      </p:sp>
      <p:sp>
        <p:nvSpPr>
          <p:cNvPr id="649" name="Google Shape;649;p51"/>
          <p:cNvSpPr/>
          <p:nvPr/>
        </p:nvSpPr>
        <p:spPr>
          <a:xfrm>
            <a:off x="5631543" y="2037659"/>
            <a:ext cx="477200" cy="410800"/>
          </a:xfrm>
          <a:prstGeom prst="rect">
            <a:avLst/>
          </a:prstGeom>
          <a:solidFill>
            <a:srgbClr val="A4C2F4"/>
          </a:solidFill>
          <a:ln w="952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chemeClr val="dk1"/>
                </a:solidFill>
                <a:latin typeface="Rockwell"/>
                <a:ea typeface="Rockwell"/>
                <a:cs typeface="Rockwell"/>
                <a:sym typeface="Rockwell"/>
              </a:rPr>
              <a:t>A</a:t>
            </a:r>
            <a:endParaRPr sz="2400" b="0" i="0" u="none" strike="noStrike" cap="none">
              <a:solidFill>
                <a:schemeClr val="dk1"/>
              </a:solidFill>
              <a:latin typeface="Rockwell"/>
              <a:ea typeface="Rockwell"/>
              <a:cs typeface="Rockwell"/>
              <a:sym typeface="Rockwell"/>
            </a:endParaRPr>
          </a:p>
        </p:txBody>
      </p:sp>
      <p:sp>
        <p:nvSpPr>
          <p:cNvPr id="650" name="Google Shape;650;p51"/>
          <p:cNvSpPr/>
          <p:nvPr/>
        </p:nvSpPr>
        <p:spPr>
          <a:xfrm>
            <a:off x="6167664" y="2037659"/>
            <a:ext cx="596000" cy="410800"/>
          </a:xfrm>
          <a:prstGeom prst="rect">
            <a:avLst/>
          </a:prstGeom>
          <a:solidFill>
            <a:srgbClr val="FFFFFF"/>
          </a:solidFill>
          <a:ln w="952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chemeClr val="dk1"/>
                </a:solidFill>
                <a:latin typeface="Rockwell"/>
                <a:ea typeface="Rockwell"/>
                <a:cs typeface="Rockwell"/>
                <a:sym typeface="Rockwell"/>
              </a:rPr>
              <a:t>1</a:t>
            </a:r>
            <a:endParaRPr sz="2400" b="0" i="0" u="none" strike="noStrike" cap="none">
              <a:solidFill>
                <a:schemeClr val="dk1"/>
              </a:solidFill>
              <a:latin typeface="Rockwell"/>
              <a:ea typeface="Rockwell"/>
              <a:cs typeface="Rockwell"/>
              <a:sym typeface="Rockwell"/>
            </a:endParaRPr>
          </a:p>
        </p:txBody>
      </p:sp>
      <p:sp>
        <p:nvSpPr>
          <p:cNvPr id="651" name="Google Shape;651;p51"/>
          <p:cNvSpPr/>
          <p:nvPr/>
        </p:nvSpPr>
        <p:spPr>
          <a:xfrm>
            <a:off x="5631543" y="2558851"/>
            <a:ext cx="477200" cy="410800"/>
          </a:xfrm>
          <a:prstGeom prst="rect">
            <a:avLst/>
          </a:prstGeom>
          <a:solidFill>
            <a:srgbClr val="A4C2F4"/>
          </a:solidFill>
          <a:ln w="952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chemeClr val="dk1"/>
                </a:solidFill>
                <a:latin typeface="Rockwell"/>
                <a:ea typeface="Rockwell"/>
                <a:cs typeface="Rockwell"/>
                <a:sym typeface="Rockwell"/>
              </a:rPr>
              <a:t>A</a:t>
            </a:r>
            <a:endParaRPr sz="2400" b="0" i="0" u="none" strike="noStrike" cap="none">
              <a:solidFill>
                <a:schemeClr val="dk1"/>
              </a:solidFill>
              <a:latin typeface="Rockwell"/>
              <a:ea typeface="Rockwell"/>
              <a:cs typeface="Rockwell"/>
              <a:sym typeface="Rockwell"/>
            </a:endParaRPr>
          </a:p>
        </p:txBody>
      </p:sp>
      <p:sp>
        <p:nvSpPr>
          <p:cNvPr id="652" name="Google Shape;652;p51"/>
          <p:cNvSpPr/>
          <p:nvPr/>
        </p:nvSpPr>
        <p:spPr>
          <a:xfrm>
            <a:off x="6167664" y="2558851"/>
            <a:ext cx="596000" cy="410800"/>
          </a:xfrm>
          <a:prstGeom prst="rect">
            <a:avLst/>
          </a:prstGeom>
          <a:solidFill>
            <a:srgbClr val="FFFFFF"/>
          </a:solidFill>
          <a:ln w="952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chemeClr val="dk1"/>
                </a:solidFill>
                <a:latin typeface="Rockwell"/>
                <a:ea typeface="Rockwell"/>
                <a:cs typeface="Rockwell"/>
                <a:sym typeface="Rockwell"/>
              </a:rPr>
              <a:t>2</a:t>
            </a:r>
            <a:endParaRPr sz="2400" b="0" i="0" u="none" strike="noStrike" cap="none">
              <a:solidFill>
                <a:schemeClr val="dk1"/>
              </a:solidFill>
              <a:latin typeface="Rockwell"/>
              <a:ea typeface="Rockwell"/>
              <a:cs typeface="Rockwell"/>
              <a:sym typeface="Rockwell"/>
            </a:endParaRPr>
          </a:p>
        </p:txBody>
      </p:sp>
      <p:sp>
        <p:nvSpPr>
          <p:cNvPr id="653" name="Google Shape;653;p51"/>
          <p:cNvSpPr/>
          <p:nvPr/>
        </p:nvSpPr>
        <p:spPr>
          <a:xfrm>
            <a:off x="5631543" y="3301793"/>
            <a:ext cx="477200" cy="410800"/>
          </a:xfrm>
          <a:prstGeom prst="rect">
            <a:avLst/>
          </a:prstGeom>
          <a:solidFill>
            <a:srgbClr val="A4C2F4"/>
          </a:solidFill>
          <a:ln w="952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chemeClr val="dk1"/>
                </a:solidFill>
                <a:latin typeface="Rockwell"/>
                <a:ea typeface="Rockwell"/>
                <a:cs typeface="Rockwell"/>
                <a:sym typeface="Rockwell"/>
              </a:rPr>
              <a:t>B</a:t>
            </a:r>
            <a:endParaRPr sz="2400" b="0" i="0" u="none" strike="noStrike" cap="none">
              <a:solidFill>
                <a:schemeClr val="dk1"/>
              </a:solidFill>
              <a:latin typeface="Rockwell"/>
              <a:ea typeface="Rockwell"/>
              <a:cs typeface="Rockwell"/>
              <a:sym typeface="Rockwell"/>
            </a:endParaRPr>
          </a:p>
        </p:txBody>
      </p:sp>
      <p:sp>
        <p:nvSpPr>
          <p:cNvPr id="654" name="Google Shape;654;p51"/>
          <p:cNvSpPr/>
          <p:nvPr/>
        </p:nvSpPr>
        <p:spPr>
          <a:xfrm>
            <a:off x="6167664" y="3301793"/>
            <a:ext cx="596000" cy="410800"/>
          </a:xfrm>
          <a:prstGeom prst="rect">
            <a:avLst/>
          </a:prstGeom>
          <a:solidFill>
            <a:srgbClr val="FFFFFF"/>
          </a:solidFill>
          <a:ln w="952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chemeClr val="dk1"/>
                </a:solidFill>
                <a:latin typeface="Rockwell"/>
                <a:ea typeface="Rockwell"/>
                <a:cs typeface="Rockwell"/>
                <a:sym typeface="Rockwell"/>
              </a:rPr>
              <a:t>1</a:t>
            </a:r>
            <a:endParaRPr sz="2400" b="0" i="0" u="none" strike="noStrike" cap="none">
              <a:solidFill>
                <a:schemeClr val="dk1"/>
              </a:solidFill>
              <a:latin typeface="Rockwell"/>
              <a:ea typeface="Rockwell"/>
              <a:cs typeface="Rockwell"/>
              <a:sym typeface="Rockwell"/>
            </a:endParaRPr>
          </a:p>
        </p:txBody>
      </p:sp>
      <p:sp>
        <p:nvSpPr>
          <p:cNvPr id="655" name="Google Shape;655;p51"/>
          <p:cNvSpPr/>
          <p:nvPr/>
        </p:nvSpPr>
        <p:spPr>
          <a:xfrm>
            <a:off x="5631543" y="3822985"/>
            <a:ext cx="477200" cy="410800"/>
          </a:xfrm>
          <a:prstGeom prst="rect">
            <a:avLst/>
          </a:prstGeom>
          <a:solidFill>
            <a:srgbClr val="A4C2F4"/>
          </a:solidFill>
          <a:ln w="952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chemeClr val="dk1"/>
                </a:solidFill>
                <a:latin typeface="Rockwell"/>
                <a:ea typeface="Rockwell"/>
                <a:cs typeface="Rockwell"/>
                <a:sym typeface="Rockwell"/>
              </a:rPr>
              <a:t>B</a:t>
            </a:r>
            <a:endParaRPr sz="2400" b="0" i="0" u="none" strike="noStrike" cap="none">
              <a:solidFill>
                <a:schemeClr val="dk1"/>
              </a:solidFill>
              <a:latin typeface="Rockwell"/>
              <a:ea typeface="Rockwell"/>
              <a:cs typeface="Rockwell"/>
              <a:sym typeface="Rockwell"/>
            </a:endParaRPr>
          </a:p>
        </p:txBody>
      </p:sp>
      <p:sp>
        <p:nvSpPr>
          <p:cNvPr id="656" name="Google Shape;656;p51"/>
          <p:cNvSpPr/>
          <p:nvPr/>
        </p:nvSpPr>
        <p:spPr>
          <a:xfrm>
            <a:off x="6167664" y="3822985"/>
            <a:ext cx="596000" cy="410800"/>
          </a:xfrm>
          <a:prstGeom prst="rect">
            <a:avLst/>
          </a:prstGeom>
          <a:solidFill>
            <a:srgbClr val="FFFFFF"/>
          </a:solidFill>
          <a:ln w="952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chemeClr val="dk1"/>
                </a:solidFill>
                <a:latin typeface="Rockwell"/>
                <a:ea typeface="Rockwell"/>
                <a:cs typeface="Rockwell"/>
                <a:sym typeface="Rockwell"/>
              </a:rPr>
              <a:t>5</a:t>
            </a:r>
            <a:endParaRPr sz="2400" b="0" i="0" u="none" strike="noStrike" cap="none">
              <a:solidFill>
                <a:schemeClr val="dk1"/>
              </a:solidFill>
              <a:latin typeface="Rockwell"/>
              <a:ea typeface="Rockwell"/>
              <a:cs typeface="Rockwell"/>
              <a:sym typeface="Rockwell"/>
            </a:endParaRPr>
          </a:p>
        </p:txBody>
      </p:sp>
      <p:sp>
        <p:nvSpPr>
          <p:cNvPr id="657" name="Google Shape;657;p51"/>
          <p:cNvSpPr/>
          <p:nvPr/>
        </p:nvSpPr>
        <p:spPr>
          <a:xfrm>
            <a:off x="5631543" y="4344177"/>
            <a:ext cx="477200" cy="410800"/>
          </a:xfrm>
          <a:prstGeom prst="rect">
            <a:avLst/>
          </a:prstGeom>
          <a:solidFill>
            <a:srgbClr val="A4C2F4"/>
          </a:solidFill>
          <a:ln w="952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chemeClr val="dk1"/>
                </a:solidFill>
                <a:latin typeface="Rockwell"/>
                <a:ea typeface="Rockwell"/>
                <a:cs typeface="Rockwell"/>
                <a:sym typeface="Rockwell"/>
              </a:rPr>
              <a:t>B</a:t>
            </a:r>
            <a:endParaRPr sz="2400" b="0" i="0" u="none" strike="noStrike" cap="none">
              <a:solidFill>
                <a:schemeClr val="dk1"/>
              </a:solidFill>
              <a:latin typeface="Rockwell"/>
              <a:ea typeface="Rockwell"/>
              <a:cs typeface="Rockwell"/>
              <a:sym typeface="Rockwell"/>
            </a:endParaRPr>
          </a:p>
        </p:txBody>
      </p:sp>
      <p:sp>
        <p:nvSpPr>
          <p:cNvPr id="658" name="Google Shape;658;p51"/>
          <p:cNvSpPr/>
          <p:nvPr/>
        </p:nvSpPr>
        <p:spPr>
          <a:xfrm>
            <a:off x="6167664" y="4344177"/>
            <a:ext cx="596000" cy="410800"/>
          </a:xfrm>
          <a:prstGeom prst="rect">
            <a:avLst/>
          </a:prstGeom>
          <a:solidFill>
            <a:srgbClr val="FFFFFF"/>
          </a:solidFill>
          <a:ln w="952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chemeClr val="dk1"/>
                </a:solidFill>
                <a:latin typeface="Rockwell"/>
                <a:ea typeface="Rockwell"/>
                <a:cs typeface="Rockwell"/>
                <a:sym typeface="Rockwell"/>
              </a:rPr>
              <a:t>6</a:t>
            </a:r>
            <a:endParaRPr sz="2400" b="0" i="0" u="none" strike="noStrike" cap="none">
              <a:solidFill>
                <a:schemeClr val="dk1"/>
              </a:solidFill>
              <a:latin typeface="Rockwell"/>
              <a:ea typeface="Rockwell"/>
              <a:cs typeface="Rockwell"/>
              <a:sym typeface="Rockwell"/>
            </a:endParaRPr>
          </a:p>
        </p:txBody>
      </p:sp>
      <p:sp>
        <p:nvSpPr>
          <p:cNvPr id="659" name="Google Shape;659;p51"/>
          <p:cNvSpPr/>
          <p:nvPr/>
        </p:nvSpPr>
        <p:spPr>
          <a:xfrm>
            <a:off x="5619343" y="5087132"/>
            <a:ext cx="477200" cy="410800"/>
          </a:xfrm>
          <a:prstGeom prst="rect">
            <a:avLst/>
          </a:prstGeom>
          <a:solidFill>
            <a:srgbClr val="A4C2F4"/>
          </a:solidFill>
          <a:ln w="952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chemeClr val="dk1"/>
                </a:solidFill>
                <a:latin typeface="Rockwell"/>
                <a:ea typeface="Rockwell"/>
                <a:cs typeface="Rockwell"/>
                <a:sym typeface="Rockwell"/>
              </a:rPr>
              <a:t>C</a:t>
            </a:r>
            <a:endParaRPr sz="2400" b="0" i="0" u="none" strike="noStrike" cap="none">
              <a:solidFill>
                <a:schemeClr val="dk1"/>
              </a:solidFill>
              <a:latin typeface="Rockwell"/>
              <a:ea typeface="Rockwell"/>
              <a:cs typeface="Rockwell"/>
              <a:sym typeface="Rockwell"/>
            </a:endParaRPr>
          </a:p>
        </p:txBody>
      </p:sp>
      <p:sp>
        <p:nvSpPr>
          <p:cNvPr id="660" name="Google Shape;660;p51"/>
          <p:cNvSpPr/>
          <p:nvPr/>
        </p:nvSpPr>
        <p:spPr>
          <a:xfrm>
            <a:off x="6155464" y="5087132"/>
            <a:ext cx="596000" cy="410800"/>
          </a:xfrm>
          <a:prstGeom prst="rect">
            <a:avLst/>
          </a:prstGeom>
          <a:solidFill>
            <a:srgbClr val="FFFFFF"/>
          </a:solidFill>
          <a:ln w="952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chemeClr val="dk1"/>
                </a:solidFill>
                <a:latin typeface="Rockwell"/>
                <a:ea typeface="Rockwell"/>
                <a:cs typeface="Rockwell"/>
                <a:sym typeface="Rockwell"/>
              </a:rPr>
              <a:t>4</a:t>
            </a:r>
            <a:endParaRPr sz="2400" b="0" i="0" u="none" strike="noStrike" cap="none">
              <a:solidFill>
                <a:schemeClr val="dk1"/>
              </a:solidFill>
              <a:latin typeface="Rockwell"/>
              <a:ea typeface="Rockwell"/>
              <a:cs typeface="Rockwell"/>
              <a:sym typeface="Rockwell"/>
            </a:endParaRPr>
          </a:p>
        </p:txBody>
      </p:sp>
      <p:sp>
        <p:nvSpPr>
          <p:cNvPr id="661" name="Google Shape;661;p51"/>
          <p:cNvSpPr/>
          <p:nvPr/>
        </p:nvSpPr>
        <p:spPr>
          <a:xfrm>
            <a:off x="5619343" y="5608323"/>
            <a:ext cx="477200" cy="410800"/>
          </a:xfrm>
          <a:prstGeom prst="rect">
            <a:avLst/>
          </a:prstGeom>
          <a:solidFill>
            <a:srgbClr val="A4C2F4"/>
          </a:solidFill>
          <a:ln w="952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chemeClr val="dk1"/>
                </a:solidFill>
                <a:latin typeface="Rockwell"/>
                <a:ea typeface="Rockwell"/>
                <a:cs typeface="Rockwell"/>
                <a:sym typeface="Rockwell"/>
              </a:rPr>
              <a:t>C</a:t>
            </a:r>
            <a:endParaRPr sz="2400" b="0" i="0" u="none" strike="noStrike" cap="none">
              <a:solidFill>
                <a:schemeClr val="dk1"/>
              </a:solidFill>
              <a:latin typeface="Rockwell"/>
              <a:ea typeface="Rockwell"/>
              <a:cs typeface="Rockwell"/>
              <a:sym typeface="Rockwell"/>
            </a:endParaRPr>
          </a:p>
        </p:txBody>
      </p:sp>
      <p:sp>
        <p:nvSpPr>
          <p:cNvPr id="662" name="Google Shape;662;p51"/>
          <p:cNvSpPr/>
          <p:nvPr/>
        </p:nvSpPr>
        <p:spPr>
          <a:xfrm>
            <a:off x="6155464" y="5608323"/>
            <a:ext cx="596000" cy="410800"/>
          </a:xfrm>
          <a:prstGeom prst="rect">
            <a:avLst/>
          </a:prstGeom>
          <a:solidFill>
            <a:srgbClr val="FFFFFF"/>
          </a:solidFill>
          <a:ln w="952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chemeClr val="dk1"/>
                </a:solidFill>
                <a:latin typeface="Rockwell"/>
                <a:ea typeface="Rockwell"/>
                <a:cs typeface="Rockwell"/>
                <a:sym typeface="Rockwell"/>
              </a:rPr>
              <a:t>9</a:t>
            </a:r>
            <a:endParaRPr sz="2400" b="0" i="0" u="none" strike="noStrike" cap="none">
              <a:solidFill>
                <a:schemeClr val="dk1"/>
              </a:solidFill>
              <a:latin typeface="Rockwell"/>
              <a:ea typeface="Rockwell"/>
              <a:cs typeface="Rockwell"/>
              <a:sym typeface="Rockwell"/>
            </a:endParaRPr>
          </a:p>
        </p:txBody>
      </p:sp>
      <p:sp>
        <p:nvSpPr>
          <p:cNvPr id="663" name="Google Shape;663;p51"/>
          <p:cNvSpPr/>
          <p:nvPr/>
        </p:nvSpPr>
        <p:spPr>
          <a:xfrm>
            <a:off x="5619343" y="6351267"/>
            <a:ext cx="477200" cy="410800"/>
          </a:xfrm>
          <a:prstGeom prst="rect">
            <a:avLst/>
          </a:prstGeom>
          <a:solidFill>
            <a:srgbClr val="A4C2F4"/>
          </a:solidFill>
          <a:ln w="952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chemeClr val="dk1"/>
                </a:solidFill>
                <a:latin typeface="Rockwell"/>
                <a:ea typeface="Rockwell"/>
                <a:cs typeface="Rockwell"/>
                <a:sym typeface="Rockwell"/>
              </a:rPr>
              <a:t>D</a:t>
            </a:r>
            <a:endParaRPr sz="2400" b="0" i="0" u="none" strike="noStrike" cap="none">
              <a:solidFill>
                <a:schemeClr val="dk1"/>
              </a:solidFill>
              <a:latin typeface="Rockwell"/>
              <a:ea typeface="Rockwell"/>
              <a:cs typeface="Rockwell"/>
              <a:sym typeface="Rockwell"/>
            </a:endParaRPr>
          </a:p>
        </p:txBody>
      </p:sp>
      <p:sp>
        <p:nvSpPr>
          <p:cNvPr id="664" name="Google Shape;664;p51"/>
          <p:cNvSpPr/>
          <p:nvPr/>
        </p:nvSpPr>
        <p:spPr>
          <a:xfrm>
            <a:off x="6155464" y="6351267"/>
            <a:ext cx="596000" cy="410800"/>
          </a:xfrm>
          <a:prstGeom prst="rect">
            <a:avLst/>
          </a:prstGeom>
          <a:solidFill>
            <a:srgbClr val="FFFFFF"/>
          </a:solidFill>
          <a:ln w="952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chemeClr val="dk1"/>
                </a:solidFill>
                <a:latin typeface="Rockwell"/>
                <a:ea typeface="Rockwell"/>
                <a:cs typeface="Rockwell"/>
                <a:sym typeface="Rockwell"/>
              </a:rPr>
              <a:t>5</a:t>
            </a:r>
            <a:endParaRPr sz="2400" b="0" i="0" u="none" strike="noStrike" cap="none">
              <a:solidFill>
                <a:schemeClr val="dk1"/>
              </a:solidFill>
              <a:latin typeface="Rockwell"/>
              <a:ea typeface="Rockwell"/>
              <a:cs typeface="Rockwell"/>
              <a:sym typeface="Rockwell"/>
            </a:endParaRPr>
          </a:p>
        </p:txBody>
      </p:sp>
      <p:sp>
        <p:nvSpPr>
          <p:cNvPr id="665" name="Google Shape;665;p51"/>
          <p:cNvSpPr/>
          <p:nvPr/>
        </p:nvSpPr>
        <p:spPr>
          <a:xfrm>
            <a:off x="8294076" y="3486425"/>
            <a:ext cx="477200" cy="410800"/>
          </a:xfrm>
          <a:prstGeom prst="rect">
            <a:avLst/>
          </a:prstGeom>
          <a:solidFill>
            <a:srgbClr val="A4C2F4"/>
          </a:solidFill>
          <a:ln w="952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chemeClr val="dk1"/>
                </a:solidFill>
                <a:latin typeface="Rockwell"/>
                <a:ea typeface="Rockwell"/>
                <a:cs typeface="Rockwell"/>
                <a:sym typeface="Rockwell"/>
              </a:rPr>
              <a:t>A</a:t>
            </a:r>
            <a:endParaRPr sz="2400" b="0" i="0" u="none" strike="noStrike" cap="none">
              <a:solidFill>
                <a:schemeClr val="dk1"/>
              </a:solidFill>
              <a:latin typeface="Rockwell"/>
              <a:ea typeface="Rockwell"/>
              <a:cs typeface="Rockwell"/>
              <a:sym typeface="Rockwell"/>
            </a:endParaRPr>
          </a:p>
        </p:txBody>
      </p:sp>
      <p:sp>
        <p:nvSpPr>
          <p:cNvPr id="666" name="Google Shape;666;p51"/>
          <p:cNvSpPr/>
          <p:nvPr/>
        </p:nvSpPr>
        <p:spPr>
          <a:xfrm>
            <a:off x="8830197" y="3486425"/>
            <a:ext cx="596000" cy="410800"/>
          </a:xfrm>
          <a:prstGeom prst="rect">
            <a:avLst/>
          </a:prstGeom>
          <a:solidFill>
            <a:srgbClr val="FFFFFF"/>
          </a:solidFill>
          <a:ln w="952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chemeClr val="dk1"/>
                </a:solidFill>
                <a:latin typeface="Rockwell"/>
                <a:ea typeface="Rockwell"/>
                <a:cs typeface="Rockwell"/>
                <a:sym typeface="Rockwell"/>
              </a:rPr>
              <a:t>6</a:t>
            </a:r>
            <a:endParaRPr sz="2400" b="0" i="0" u="none" strike="noStrike" cap="none">
              <a:solidFill>
                <a:schemeClr val="dk1"/>
              </a:solidFill>
              <a:latin typeface="Rockwell"/>
              <a:ea typeface="Rockwell"/>
              <a:cs typeface="Rockwell"/>
              <a:sym typeface="Rockwell"/>
            </a:endParaRPr>
          </a:p>
        </p:txBody>
      </p:sp>
      <p:sp>
        <p:nvSpPr>
          <p:cNvPr id="667" name="Google Shape;667;p51"/>
          <p:cNvSpPr/>
          <p:nvPr/>
        </p:nvSpPr>
        <p:spPr>
          <a:xfrm>
            <a:off x="8294076" y="4007633"/>
            <a:ext cx="477200" cy="410800"/>
          </a:xfrm>
          <a:prstGeom prst="rect">
            <a:avLst/>
          </a:prstGeom>
          <a:solidFill>
            <a:srgbClr val="A4C2F4"/>
          </a:solidFill>
          <a:ln w="952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chemeClr val="dk1"/>
                </a:solidFill>
                <a:latin typeface="Rockwell"/>
                <a:ea typeface="Rockwell"/>
                <a:cs typeface="Rockwell"/>
                <a:sym typeface="Rockwell"/>
              </a:rPr>
              <a:t>B</a:t>
            </a:r>
            <a:endParaRPr sz="2400" b="0" i="0" u="none" strike="noStrike" cap="none">
              <a:solidFill>
                <a:schemeClr val="dk1"/>
              </a:solidFill>
              <a:latin typeface="Rockwell"/>
              <a:ea typeface="Rockwell"/>
              <a:cs typeface="Rockwell"/>
              <a:sym typeface="Rockwell"/>
            </a:endParaRPr>
          </a:p>
        </p:txBody>
      </p:sp>
      <p:sp>
        <p:nvSpPr>
          <p:cNvPr id="668" name="Google Shape;668;p51"/>
          <p:cNvSpPr/>
          <p:nvPr/>
        </p:nvSpPr>
        <p:spPr>
          <a:xfrm>
            <a:off x="8830197" y="4007633"/>
            <a:ext cx="596000" cy="410800"/>
          </a:xfrm>
          <a:prstGeom prst="rect">
            <a:avLst/>
          </a:prstGeom>
          <a:solidFill>
            <a:srgbClr val="FFFFFF"/>
          </a:solidFill>
          <a:ln w="952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chemeClr val="dk1"/>
                </a:solidFill>
                <a:latin typeface="Rockwell"/>
                <a:ea typeface="Rockwell"/>
                <a:cs typeface="Rockwell"/>
                <a:sym typeface="Rockwell"/>
              </a:rPr>
              <a:t>12</a:t>
            </a:r>
            <a:endParaRPr sz="2400" b="0" i="0" u="none" strike="noStrike" cap="none">
              <a:solidFill>
                <a:schemeClr val="dk1"/>
              </a:solidFill>
              <a:latin typeface="Rockwell"/>
              <a:ea typeface="Rockwell"/>
              <a:cs typeface="Rockwell"/>
              <a:sym typeface="Rockwell"/>
            </a:endParaRPr>
          </a:p>
        </p:txBody>
      </p:sp>
      <p:sp>
        <p:nvSpPr>
          <p:cNvPr id="669" name="Google Shape;669;p51"/>
          <p:cNvSpPr/>
          <p:nvPr/>
        </p:nvSpPr>
        <p:spPr>
          <a:xfrm>
            <a:off x="8294076" y="4528841"/>
            <a:ext cx="477200" cy="410800"/>
          </a:xfrm>
          <a:prstGeom prst="rect">
            <a:avLst/>
          </a:prstGeom>
          <a:solidFill>
            <a:srgbClr val="A4C2F4"/>
          </a:solidFill>
          <a:ln w="952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chemeClr val="dk1"/>
                </a:solidFill>
                <a:latin typeface="Rockwell"/>
                <a:ea typeface="Rockwell"/>
                <a:cs typeface="Rockwell"/>
                <a:sym typeface="Rockwell"/>
              </a:rPr>
              <a:t>C</a:t>
            </a:r>
            <a:endParaRPr sz="2400" b="0" i="0" u="none" strike="noStrike" cap="none">
              <a:solidFill>
                <a:schemeClr val="dk1"/>
              </a:solidFill>
              <a:latin typeface="Rockwell"/>
              <a:ea typeface="Rockwell"/>
              <a:cs typeface="Rockwell"/>
              <a:sym typeface="Rockwell"/>
            </a:endParaRPr>
          </a:p>
        </p:txBody>
      </p:sp>
      <p:sp>
        <p:nvSpPr>
          <p:cNvPr id="670" name="Google Shape;670;p51"/>
          <p:cNvSpPr/>
          <p:nvPr/>
        </p:nvSpPr>
        <p:spPr>
          <a:xfrm>
            <a:off x="8830197" y="4528841"/>
            <a:ext cx="596000" cy="410800"/>
          </a:xfrm>
          <a:prstGeom prst="rect">
            <a:avLst/>
          </a:prstGeom>
          <a:solidFill>
            <a:srgbClr val="FFFFFF"/>
          </a:solidFill>
          <a:ln w="952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chemeClr val="dk1"/>
                </a:solidFill>
                <a:latin typeface="Rockwell"/>
                <a:ea typeface="Rockwell"/>
                <a:cs typeface="Rockwell"/>
                <a:sym typeface="Rockwell"/>
              </a:rPr>
              <a:t>13</a:t>
            </a:r>
            <a:endParaRPr sz="2400" b="0" i="0" u="none" strike="noStrike" cap="none">
              <a:solidFill>
                <a:schemeClr val="dk1"/>
              </a:solidFill>
              <a:latin typeface="Rockwell"/>
              <a:ea typeface="Rockwell"/>
              <a:cs typeface="Rockwell"/>
              <a:sym typeface="Rockwell"/>
            </a:endParaRPr>
          </a:p>
        </p:txBody>
      </p:sp>
      <p:cxnSp>
        <p:nvCxnSpPr>
          <p:cNvPr id="671" name="Google Shape;671;p51"/>
          <p:cNvCxnSpPr/>
          <p:nvPr/>
        </p:nvCxnSpPr>
        <p:spPr>
          <a:xfrm>
            <a:off x="4409900" y="4249067"/>
            <a:ext cx="588000" cy="0"/>
          </a:xfrm>
          <a:prstGeom prst="straightConnector1">
            <a:avLst/>
          </a:prstGeom>
          <a:noFill/>
          <a:ln w="28575" cap="flat" cmpd="sng">
            <a:solidFill>
              <a:srgbClr val="000000"/>
            </a:solidFill>
            <a:prstDash val="solid"/>
            <a:round/>
            <a:headEnd type="none" w="sm" len="sm"/>
            <a:tailEnd type="triangle" w="med" len="med"/>
          </a:ln>
        </p:spPr>
      </p:cxnSp>
      <p:cxnSp>
        <p:nvCxnSpPr>
          <p:cNvPr id="672" name="Google Shape;672;p51"/>
          <p:cNvCxnSpPr/>
          <p:nvPr/>
        </p:nvCxnSpPr>
        <p:spPr>
          <a:xfrm>
            <a:off x="6962793" y="2399679"/>
            <a:ext cx="1131200" cy="1283600"/>
          </a:xfrm>
          <a:prstGeom prst="straightConnector1">
            <a:avLst/>
          </a:prstGeom>
          <a:noFill/>
          <a:ln w="28575" cap="flat" cmpd="sng">
            <a:solidFill>
              <a:srgbClr val="000000"/>
            </a:solidFill>
            <a:prstDash val="solid"/>
            <a:round/>
            <a:headEnd type="none" w="sm" len="sm"/>
            <a:tailEnd type="triangle" w="med" len="med"/>
          </a:ln>
        </p:spPr>
      </p:cxnSp>
      <p:cxnSp>
        <p:nvCxnSpPr>
          <p:cNvPr id="673" name="Google Shape;673;p51"/>
          <p:cNvCxnSpPr/>
          <p:nvPr/>
        </p:nvCxnSpPr>
        <p:spPr>
          <a:xfrm>
            <a:off x="6956060" y="4213045"/>
            <a:ext cx="1145600" cy="0"/>
          </a:xfrm>
          <a:prstGeom prst="straightConnector1">
            <a:avLst/>
          </a:prstGeom>
          <a:noFill/>
          <a:ln w="28575" cap="flat" cmpd="sng">
            <a:solidFill>
              <a:srgbClr val="000000"/>
            </a:solidFill>
            <a:prstDash val="solid"/>
            <a:round/>
            <a:headEnd type="none" w="sm" len="sm"/>
            <a:tailEnd type="triangle" w="med" len="med"/>
          </a:ln>
        </p:spPr>
      </p:cxnSp>
      <p:cxnSp>
        <p:nvCxnSpPr>
          <p:cNvPr id="674" name="Google Shape;674;p51"/>
          <p:cNvCxnSpPr/>
          <p:nvPr/>
        </p:nvCxnSpPr>
        <p:spPr>
          <a:xfrm rot="10800000" flipH="1">
            <a:off x="6975500" y="4736900"/>
            <a:ext cx="1118400" cy="875600"/>
          </a:xfrm>
          <a:prstGeom prst="straightConnector1">
            <a:avLst/>
          </a:prstGeom>
          <a:noFill/>
          <a:ln w="28575" cap="flat" cmpd="sng">
            <a:solidFill>
              <a:srgbClr val="000000"/>
            </a:solidFill>
            <a:prstDash val="solid"/>
            <a:round/>
            <a:headEnd type="none" w="sm" len="sm"/>
            <a:tailEnd type="triangle" w="med" len="med"/>
          </a:ln>
        </p:spPr>
      </p:cxnSp>
      <p:sp>
        <p:nvSpPr>
          <p:cNvPr id="675" name="Google Shape;675;p51"/>
          <p:cNvSpPr/>
          <p:nvPr/>
        </p:nvSpPr>
        <p:spPr>
          <a:xfrm rot="-5400000">
            <a:off x="4536267" y="1024833"/>
            <a:ext cx="477200" cy="1290400"/>
          </a:xfrm>
          <a:prstGeom prst="rightBrace">
            <a:avLst>
              <a:gd name="adj1" fmla="val 8333"/>
              <a:gd name="adj2" fmla="val 50000"/>
            </a:avLst>
          </a:prstGeom>
          <a:noFill/>
          <a:ln w="2857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Rockwell"/>
              <a:ea typeface="Rockwell"/>
              <a:cs typeface="Rockwell"/>
              <a:sym typeface="Rockwell"/>
            </a:endParaRPr>
          </a:p>
        </p:txBody>
      </p:sp>
      <p:sp>
        <p:nvSpPr>
          <p:cNvPr id="676" name="Google Shape;676;p51"/>
          <p:cNvSpPr/>
          <p:nvPr/>
        </p:nvSpPr>
        <p:spPr>
          <a:xfrm rot="-5400000">
            <a:off x="7362667" y="1024833"/>
            <a:ext cx="477200" cy="1290400"/>
          </a:xfrm>
          <a:prstGeom prst="rightBrace">
            <a:avLst>
              <a:gd name="adj1" fmla="val 8333"/>
              <a:gd name="adj2" fmla="val 50000"/>
            </a:avLst>
          </a:prstGeom>
          <a:noFill/>
          <a:ln w="2857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Rockwell"/>
              <a:ea typeface="Rockwell"/>
              <a:cs typeface="Rockwell"/>
              <a:sym typeface="Rockwell"/>
            </a:endParaRPr>
          </a:p>
        </p:txBody>
      </p:sp>
      <p:sp>
        <p:nvSpPr>
          <p:cNvPr id="677" name="Google Shape;677;p51"/>
          <p:cNvSpPr txBox="1"/>
          <p:nvPr/>
        </p:nvSpPr>
        <p:spPr>
          <a:xfrm>
            <a:off x="4040767" y="972833"/>
            <a:ext cx="1501876" cy="520400"/>
          </a:xfrm>
          <a:prstGeom prst="rect">
            <a:avLst/>
          </a:prstGeom>
          <a:noFill/>
          <a:ln>
            <a:noFill/>
          </a:ln>
        </p:spPr>
        <p:txBody>
          <a:bodyPr spcFirstLastPara="1" wrap="square" lIns="121900" tIns="121900" rIns="121900" bIns="121900" anchor="t"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rgbClr val="BE0712"/>
                </a:solidFill>
                <a:latin typeface="Consolas"/>
                <a:ea typeface="Consolas"/>
                <a:cs typeface="Consolas"/>
                <a:sym typeface="Consolas"/>
              </a:rPr>
              <a:t>groupby</a:t>
            </a:r>
            <a:endParaRPr sz="2400" b="0" i="0" u="none" strike="noStrike" cap="none">
              <a:solidFill>
                <a:srgbClr val="BE0712"/>
              </a:solidFill>
              <a:latin typeface="Consolas"/>
              <a:ea typeface="Consolas"/>
              <a:cs typeface="Consolas"/>
              <a:sym typeface="Consolas"/>
            </a:endParaRPr>
          </a:p>
        </p:txBody>
      </p:sp>
      <p:sp>
        <p:nvSpPr>
          <p:cNvPr id="678" name="Google Shape;678;p51"/>
          <p:cNvSpPr txBox="1"/>
          <p:nvPr/>
        </p:nvSpPr>
        <p:spPr>
          <a:xfrm>
            <a:off x="7057000" y="972833"/>
            <a:ext cx="4160400" cy="520400"/>
          </a:xfrm>
          <a:prstGeom prst="rect">
            <a:avLst/>
          </a:prstGeom>
          <a:noFill/>
          <a:ln>
            <a:noFill/>
          </a:ln>
        </p:spPr>
        <p:txBody>
          <a:bodyPr spcFirstLastPara="1" wrap="square" lIns="121900" tIns="121900" rIns="121900" bIns="1219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 sz="2400" b="0" i="0" u="none" strike="noStrike" cap="none">
                <a:solidFill>
                  <a:srgbClr val="BE0712"/>
                </a:solidFill>
                <a:latin typeface="Consolas"/>
                <a:ea typeface="Consolas"/>
                <a:cs typeface="Consolas"/>
                <a:sym typeface="Consolas"/>
              </a:rPr>
              <a:t>.agg(f)</a:t>
            </a:r>
            <a:r>
              <a:rPr lang="en" sz="2400" b="0" i="0" u="none" strike="noStrike" cap="none">
                <a:solidFill>
                  <a:srgbClr val="BE0712"/>
                </a:solidFill>
                <a:latin typeface="Calibri"/>
                <a:ea typeface="Calibri"/>
                <a:cs typeface="Calibri"/>
                <a:sym typeface="Calibri"/>
              </a:rPr>
              <a:t>, where </a:t>
            </a:r>
            <a:r>
              <a:rPr lang="en" sz="2400" b="0" i="0" u="none" strike="noStrike" cap="none">
                <a:solidFill>
                  <a:srgbClr val="BE0712"/>
                </a:solidFill>
                <a:latin typeface="Consolas"/>
                <a:ea typeface="Consolas"/>
                <a:cs typeface="Consolas"/>
                <a:sym typeface="Consolas"/>
              </a:rPr>
              <a:t>f = sum</a:t>
            </a:r>
            <a:endParaRPr sz="2400" b="0" i="0" u="none" strike="noStrike" cap="none">
              <a:solidFill>
                <a:srgbClr val="BE0712"/>
              </a:solidFill>
              <a:latin typeface="Consolas"/>
              <a:ea typeface="Consolas"/>
              <a:cs typeface="Consolas"/>
              <a:sym typeface="Consolas"/>
            </a:endParaRPr>
          </a:p>
        </p:txBody>
      </p:sp>
      <p:sp>
        <p:nvSpPr>
          <p:cNvPr id="679" name="Google Shape;679;p51"/>
          <p:cNvSpPr/>
          <p:nvPr/>
        </p:nvSpPr>
        <p:spPr>
          <a:xfrm>
            <a:off x="8294076" y="5050041"/>
            <a:ext cx="477200" cy="410800"/>
          </a:xfrm>
          <a:prstGeom prst="rect">
            <a:avLst/>
          </a:prstGeom>
          <a:solidFill>
            <a:srgbClr val="A4C2F4"/>
          </a:solidFill>
          <a:ln w="952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chemeClr val="dk1"/>
                </a:solidFill>
                <a:latin typeface="Rockwell"/>
                <a:ea typeface="Rockwell"/>
                <a:cs typeface="Rockwell"/>
                <a:sym typeface="Rockwell"/>
              </a:rPr>
              <a:t>D</a:t>
            </a:r>
            <a:endParaRPr sz="2400" b="0" i="0" u="none" strike="noStrike" cap="none">
              <a:solidFill>
                <a:schemeClr val="dk1"/>
              </a:solidFill>
              <a:latin typeface="Rockwell"/>
              <a:ea typeface="Rockwell"/>
              <a:cs typeface="Rockwell"/>
              <a:sym typeface="Rockwell"/>
            </a:endParaRPr>
          </a:p>
        </p:txBody>
      </p:sp>
      <p:sp>
        <p:nvSpPr>
          <p:cNvPr id="680" name="Google Shape;680;p51"/>
          <p:cNvSpPr/>
          <p:nvPr/>
        </p:nvSpPr>
        <p:spPr>
          <a:xfrm>
            <a:off x="8830197" y="5050041"/>
            <a:ext cx="596000" cy="410800"/>
          </a:xfrm>
          <a:prstGeom prst="rect">
            <a:avLst/>
          </a:prstGeom>
          <a:solidFill>
            <a:srgbClr val="FFFFFF"/>
          </a:solidFill>
          <a:ln w="952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chemeClr val="dk1"/>
                </a:solidFill>
                <a:latin typeface="Rockwell"/>
                <a:ea typeface="Rockwell"/>
                <a:cs typeface="Rockwell"/>
                <a:sym typeface="Rockwell"/>
              </a:rPr>
              <a:t>5</a:t>
            </a:r>
            <a:endParaRPr sz="2400" b="0" i="0" u="none" strike="noStrike" cap="none">
              <a:solidFill>
                <a:schemeClr val="dk1"/>
              </a:solidFill>
              <a:latin typeface="Rockwell"/>
              <a:ea typeface="Rockwell"/>
              <a:cs typeface="Rockwell"/>
              <a:sym typeface="Rockwell"/>
            </a:endParaRPr>
          </a:p>
        </p:txBody>
      </p:sp>
      <p:cxnSp>
        <p:nvCxnSpPr>
          <p:cNvPr id="681" name="Google Shape;681;p51"/>
          <p:cNvCxnSpPr/>
          <p:nvPr/>
        </p:nvCxnSpPr>
        <p:spPr>
          <a:xfrm rot="10800000" flipH="1">
            <a:off x="6963133" y="5296800"/>
            <a:ext cx="1131600" cy="1280400"/>
          </a:xfrm>
          <a:prstGeom prst="straightConnector1">
            <a:avLst/>
          </a:prstGeom>
          <a:noFill/>
          <a:ln w="28575" cap="flat" cmpd="sng">
            <a:solidFill>
              <a:srgbClr val="000000"/>
            </a:solidFill>
            <a:prstDash val="solid"/>
            <a:round/>
            <a:headEnd type="none" w="sm" len="sm"/>
            <a:tailEnd type="triangle" w="med" len="med"/>
          </a:ln>
        </p:spPr>
      </p:cxn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685"/>
        <p:cNvGrpSpPr/>
        <p:nvPr/>
      </p:nvGrpSpPr>
      <p:grpSpPr>
        <a:xfrm>
          <a:off x="0" y="0"/>
          <a:ext cx="0" cy="0"/>
          <a:chOff x="0" y="0"/>
          <a:chExt cx="0" cy="0"/>
        </a:xfrm>
      </p:grpSpPr>
      <p:sp>
        <p:nvSpPr>
          <p:cNvPr id="686" name="Google Shape;686;p52"/>
          <p:cNvSpPr txBox="1">
            <a:spLocks noGrp="1"/>
          </p:cNvSpPr>
          <p:nvPr>
            <p:ph type="title"/>
          </p:nvPr>
        </p:nvSpPr>
        <p:spPr>
          <a:xfrm>
            <a:off x="828743" y="-149703"/>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
              <a:t>DATAFRAME </a:t>
            </a:r>
            <a:r>
              <a:rPr lang="en">
                <a:latin typeface="Consolas"/>
                <a:ea typeface="Consolas"/>
                <a:cs typeface="Consolas"/>
                <a:sym typeface="Consolas"/>
              </a:rPr>
              <a:t>GROUPBY/AGG</a:t>
            </a:r>
            <a:r>
              <a:rPr lang="en"/>
              <a:t> SUMMARY</a:t>
            </a:r>
            <a:endParaRPr/>
          </a:p>
        </p:txBody>
      </p:sp>
      <p:sp>
        <p:nvSpPr>
          <p:cNvPr id="687" name="Google Shape;687;p52"/>
          <p:cNvSpPr/>
          <p:nvPr/>
        </p:nvSpPr>
        <p:spPr>
          <a:xfrm>
            <a:off x="1850743" y="1872067"/>
            <a:ext cx="477200" cy="410800"/>
          </a:xfrm>
          <a:prstGeom prst="rect">
            <a:avLst/>
          </a:prstGeom>
          <a:solidFill>
            <a:srgbClr val="A4C2F4"/>
          </a:solidFill>
          <a:ln w="952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chemeClr val="dk1"/>
                </a:solidFill>
                <a:latin typeface="Rockwell"/>
                <a:ea typeface="Rockwell"/>
                <a:cs typeface="Rockwell"/>
                <a:sym typeface="Rockwell"/>
              </a:rPr>
              <a:t>A</a:t>
            </a:r>
            <a:endParaRPr sz="2400" b="0" i="0" u="none" strike="noStrike" cap="none">
              <a:solidFill>
                <a:schemeClr val="dk1"/>
              </a:solidFill>
              <a:latin typeface="Rockwell"/>
              <a:ea typeface="Rockwell"/>
              <a:cs typeface="Rockwell"/>
              <a:sym typeface="Rockwell"/>
            </a:endParaRPr>
          </a:p>
        </p:txBody>
      </p:sp>
      <p:sp>
        <p:nvSpPr>
          <p:cNvPr id="688" name="Google Shape;688;p52"/>
          <p:cNvSpPr/>
          <p:nvPr/>
        </p:nvSpPr>
        <p:spPr>
          <a:xfrm>
            <a:off x="2386864" y="1872067"/>
            <a:ext cx="596000" cy="410800"/>
          </a:xfrm>
          <a:prstGeom prst="rect">
            <a:avLst/>
          </a:prstGeom>
          <a:solidFill>
            <a:srgbClr val="FFFFFF"/>
          </a:solidFill>
          <a:ln w="952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chemeClr val="dk1"/>
                </a:solidFill>
                <a:latin typeface="Rockwell"/>
                <a:ea typeface="Rockwell"/>
                <a:cs typeface="Rockwell"/>
                <a:sym typeface="Rockwell"/>
              </a:rPr>
              <a:t>3</a:t>
            </a:r>
            <a:endParaRPr sz="2400" b="0" i="0" u="none" strike="noStrike" cap="none">
              <a:solidFill>
                <a:schemeClr val="dk1"/>
              </a:solidFill>
              <a:latin typeface="Rockwell"/>
              <a:ea typeface="Rockwell"/>
              <a:cs typeface="Rockwell"/>
              <a:sym typeface="Rockwell"/>
            </a:endParaRPr>
          </a:p>
        </p:txBody>
      </p:sp>
      <p:sp>
        <p:nvSpPr>
          <p:cNvPr id="689" name="Google Shape;689;p52"/>
          <p:cNvSpPr/>
          <p:nvPr/>
        </p:nvSpPr>
        <p:spPr>
          <a:xfrm>
            <a:off x="1850743" y="2393259"/>
            <a:ext cx="477200" cy="410800"/>
          </a:xfrm>
          <a:prstGeom prst="rect">
            <a:avLst/>
          </a:prstGeom>
          <a:solidFill>
            <a:srgbClr val="A4C2F4"/>
          </a:solidFill>
          <a:ln w="952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chemeClr val="dk1"/>
                </a:solidFill>
                <a:latin typeface="Rockwell"/>
                <a:ea typeface="Rockwell"/>
                <a:cs typeface="Rockwell"/>
                <a:sym typeface="Rockwell"/>
              </a:rPr>
              <a:t>B</a:t>
            </a:r>
            <a:endParaRPr sz="2400" b="0" i="0" u="none" strike="noStrike" cap="none">
              <a:solidFill>
                <a:schemeClr val="dk1"/>
              </a:solidFill>
              <a:latin typeface="Rockwell"/>
              <a:ea typeface="Rockwell"/>
              <a:cs typeface="Rockwell"/>
              <a:sym typeface="Rockwell"/>
            </a:endParaRPr>
          </a:p>
        </p:txBody>
      </p:sp>
      <p:sp>
        <p:nvSpPr>
          <p:cNvPr id="690" name="Google Shape;690;p52"/>
          <p:cNvSpPr/>
          <p:nvPr/>
        </p:nvSpPr>
        <p:spPr>
          <a:xfrm>
            <a:off x="2386864" y="2393259"/>
            <a:ext cx="596000" cy="410800"/>
          </a:xfrm>
          <a:prstGeom prst="rect">
            <a:avLst/>
          </a:prstGeom>
          <a:solidFill>
            <a:srgbClr val="FFFFFF"/>
          </a:solidFill>
          <a:ln w="952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chemeClr val="dk1"/>
                </a:solidFill>
                <a:latin typeface="Rockwell"/>
                <a:ea typeface="Rockwell"/>
                <a:cs typeface="Rockwell"/>
                <a:sym typeface="Rockwell"/>
              </a:rPr>
              <a:t>1</a:t>
            </a:r>
            <a:endParaRPr sz="2400" b="0" i="0" u="none" strike="noStrike" cap="none">
              <a:solidFill>
                <a:schemeClr val="dk1"/>
              </a:solidFill>
              <a:latin typeface="Rockwell"/>
              <a:ea typeface="Rockwell"/>
              <a:cs typeface="Rockwell"/>
              <a:sym typeface="Rockwell"/>
            </a:endParaRPr>
          </a:p>
        </p:txBody>
      </p:sp>
      <p:sp>
        <p:nvSpPr>
          <p:cNvPr id="691" name="Google Shape;691;p52"/>
          <p:cNvSpPr/>
          <p:nvPr/>
        </p:nvSpPr>
        <p:spPr>
          <a:xfrm>
            <a:off x="1850743" y="2914451"/>
            <a:ext cx="477200" cy="410800"/>
          </a:xfrm>
          <a:prstGeom prst="rect">
            <a:avLst/>
          </a:prstGeom>
          <a:solidFill>
            <a:srgbClr val="A4C2F4"/>
          </a:solidFill>
          <a:ln w="952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chemeClr val="dk1"/>
                </a:solidFill>
                <a:latin typeface="Rockwell"/>
                <a:ea typeface="Rockwell"/>
                <a:cs typeface="Rockwell"/>
                <a:sym typeface="Rockwell"/>
              </a:rPr>
              <a:t>C</a:t>
            </a:r>
            <a:endParaRPr sz="2400" b="0" i="0" u="none" strike="noStrike" cap="none">
              <a:solidFill>
                <a:schemeClr val="dk1"/>
              </a:solidFill>
              <a:latin typeface="Rockwell"/>
              <a:ea typeface="Rockwell"/>
              <a:cs typeface="Rockwell"/>
              <a:sym typeface="Rockwell"/>
            </a:endParaRPr>
          </a:p>
        </p:txBody>
      </p:sp>
      <p:sp>
        <p:nvSpPr>
          <p:cNvPr id="692" name="Google Shape;692;p52"/>
          <p:cNvSpPr/>
          <p:nvPr/>
        </p:nvSpPr>
        <p:spPr>
          <a:xfrm>
            <a:off x="2386864" y="2914451"/>
            <a:ext cx="596000" cy="410800"/>
          </a:xfrm>
          <a:prstGeom prst="rect">
            <a:avLst/>
          </a:prstGeom>
          <a:solidFill>
            <a:srgbClr val="FFFFFF"/>
          </a:solidFill>
          <a:ln w="952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chemeClr val="dk1"/>
                </a:solidFill>
                <a:latin typeface="Rockwell"/>
                <a:ea typeface="Rockwell"/>
                <a:cs typeface="Rockwell"/>
                <a:sym typeface="Rockwell"/>
              </a:rPr>
              <a:t>4</a:t>
            </a:r>
            <a:endParaRPr sz="2400" b="0" i="0" u="none" strike="noStrike" cap="none">
              <a:solidFill>
                <a:schemeClr val="dk1"/>
              </a:solidFill>
              <a:latin typeface="Rockwell"/>
              <a:ea typeface="Rockwell"/>
              <a:cs typeface="Rockwell"/>
              <a:sym typeface="Rockwell"/>
            </a:endParaRPr>
          </a:p>
        </p:txBody>
      </p:sp>
      <p:sp>
        <p:nvSpPr>
          <p:cNvPr id="693" name="Google Shape;693;p52"/>
          <p:cNvSpPr/>
          <p:nvPr/>
        </p:nvSpPr>
        <p:spPr>
          <a:xfrm>
            <a:off x="1850743" y="3435641"/>
            <a:ext cx="477200" cy="410800"/>
          </a:xfrm>
          <a:prstGeom prst="rect">
            <a:avLst/>
          </a:prstGeom>
          <a:solidFill>
            <a:srgbClr val="A4C2F4"/>
          </a:solidFill>
          <a:ln w="952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chemeClr val="dk1"/>
                </a:solidFill>
                <a:latin typeface="Rockwell"/>
                <a:ea typeface="Rockwell"/>
                <a:cs typeface="Rockwell"/>
                <a:sym typeface="Rockwell"/>
              </a:rPr>
              <a:t>A</a:t>
            </a:r>
            <a:endParaRPr sz="2400" b="0" i="0" u="none" strike="noStrike" cap="none">
              <a:solidFill>
                <a:schemeClr val="dk1"/>
              </a:solidFill>
              <a:latin typeface="Rockwell"/>
              <a:ea typeface="Rockwell"/>
              <a:cs typeface="Rockwell"/>
              <a:sym typeface="Rockwell"/>
            </a:endParaRPr>
          </a:p>
        </p:txBody>
      </p:sp>
      <p:sp>
        <p:nvSpPr>
          <p:cNvPr id="694" name="Google Shape;694;p52"/>
          <p:cNvSpPr/>
          <p:nvPr/>
        </p:nvSpPr>
        <p:spPr>
          <a:xfrm>
            <a:off x="2386864" y="3435641"/>
            <a:ext cx="596000" cy="410800"/>
          </a:xfrm>
          <a:prstGeom prst="rect">
            <a:avLst/>
          </a:prstGeom>
          <a:solidFill>
            <a:srgbClr val="FFFFFF"/>
          </a:solidFill>
          <a:ln w="952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chemeClr val="dk1"/>
                </a:solidFill>
                <a:latin typeface="Rockwell"/>
                <a:ea typeface="Rockwell"/>
                <a:cs typeface="Rockwell"/>
                <a:sym typeface="Rockwell"/>
              </a:rPr>
              <a:t>1</a:t>
            </a:r>
            <a:endParaRPr sz="2400" b="0" i="0" u="none" strike="noStrike" cap="none">
              <a:solidFill>
                <a:schemeClr val="dk1"/>
              </a:solidFill>
              <a:latin typeface="Rockwell"/>
              <a:ea typeface="Rockwell"/>
              <a:cs typeface="Rockwell"/>
              <a:sym typeface="Rockwell"/>
            </a:endParaRPr>
          </a:p>
        </p:txBody>
      </p:sp>
      <p:sp>
        <p:nvSpPr>
          <p:cNvPr id="695" name="Google Shape;695;p52"/>
          <p:cNvSpPr/>
          <p:nvPr/>
        </p:nvSpPr>
        <p:spPr>
          <a:xfrm>
            <a:off x="1850743" y="3956833"/>
            <a:ext cx="477200" cy="410800"/>
          </a:xfrm>
          <a:prstGeom prst="rect">
            <a:avLst/>
          </a:prstGeom>
          <a:solidFill>
            <a:srgbClr val="A4C2F4"/>
          </a:solidFill>
          <a:ln w="952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chemeClr val="dk1"/>
                </a:solidFill>
                <a:latin typeface="Rockwell"/>
                <a:ea typeface="Rockwell"/>
                <a:cs typeface="Rockwell"/>
                <a:sym typeface="Rockwell"/>
              </a:rPr>
              <a:t>B</a:t>
            </a:r>
            <a:endParaRPr sz="2400" b="0" i="0" u="none" strike="noStrike" cap="none">
              <a:solidFill>
                <a:schemeClr val="dk1"/>
              </a:solidFill>
              <a:latin typeface="Rockwell"/>
              <a:ea typeface="Rockwell"/>
              <a:cs typeface="Rockwell"/>
              <a:sym typeface="Rockwell"/>
            </a:endParaRPr>
          </a:p>
        </p:txBody>
      </p:sp>
      <p:sp>
        <p:nvSpPr>
          <p:cNvPr id="696" name="Google Shape;696;p52"/>
          <p:cNvSpPr/>
          <p:nvPr/>
        </p:nvSpPr>
        <p:spPr>
          <a:xfrm>
            <a:off x="2386864" y="3956833"/>
            <a:ext cx="596000" cy="410800"/>
          </a:xfrm>
          <a:prstGeom prst="rect">
            <a:avLst/>
          </a:prstGeom>
          <a:solidFill>
            <a:srgbClr val="FFFFFF"/>
          </a:solidFill>
          <a:ln w="952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chemeClr val="dk1"/>
                </a:solidFill>
                <a:latin typeface="Rockwell"/>
                <a:ea typeface="Rockwell"/>
                <a:cs typeface="Rockwell"/>
                <a:sym typeface="Rockwell"/>
              </a:rPr>
              <a:t>5</a:t>
            </a:r>
            <a:endParaRPr sz="2400" b="0" i="0" u="none" strike="noStrike" cap="none">
              <a:solidFill>
                <a:schemeClr val="dk1"/>
              </a:solidFill>
              <a:latin typeface="Rockwell"/>
              <a:ea typeface="Rockwell"/>
              <a:cs typeface="Rockwell"/>
              <a:sym typeface="Rockwell"/>
            </a:endParaRPr>
          </a:p>
        </p:txBody>
      </p:sp>
      <p:sp>
        <p:nvSpPr>
          <p:cNvPr id="697" name="Google Shape;697;p52"/>
          <p:cNvSpPr/>
          <p:nvPr/>
        </p:nvSpPr>
        <p:spPr>
          <a:xfrm>
            <a:off x="1850743" y="4478025"/>
            <a:ext cx="477200" cy="410800"/>
          </a:xfrm>
          <a:prstGeom prst="rect">
            <a:avLst/>
          </a:prstGeom>
          <a:solidFill>
            <a:srgbClr val="A4C2F4"/>
          </a:solidFill>
          <a:ln w="952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chemeClr val="dk1"/>
                </a:solidFill>
                <a:latin typeface="Rockwell"/>
                <a:ea typeface="Rockwell"/>
                <a:cs typeface="Rockwell"/>
                <a:sym typeface="Rockwell"/>
              </a:rPr>
              <a:t>C</a:t>
            </a:r>
            <a:endParaRPr sz="2400" b="0" i="0" u="none" strike="noStrike" cap="none">
              <a:solidFill>
                <a:schemeClr val="dk1"/>
              </a:solidFill>
              <a:latin typeface="Rockwell"/>
              <a:ea typeface="Rockwell"/>
              <a:cs typeface="Rockwell"/>
              <a:sym typeface="Rockwell"/>
            </a:endParaRPr>
          </a:p>
        </p:txBody>
      </p:sp>
      <p:sp>
        <p:nvSpPr>
          <p:cNvPr id="698" name="Google Shape;698;p52"/>
          <p:cNvSpPr/>
          <p:nvPr/>
        </p:nvSpPr>
        <p:spPr>
          <a:xfrm>
            <a:off x="2386864" y="4478025"/>
            <a:ext cx="596000" cy="410800"/>
          </a:xfrm>
          <a:prstGeom prst="rect">
            <a:avLst/>
          </a:prstGeom>
          <a:solidFill>
            <a:srgbClr val="FFFFFF"/>
          </a:solidFill>
          <a:ln w="952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chemeClr val="dk1"/>
                </a:solidFill>
                <a:latin typeface="Rockwell"/>
                <a:ea typeface="Rockwell"/>
                <a:cs typeface="Rockwell"/>
                <a:sym typeface="Rockwell"/>
              </a:rPr>
              <a:t>9</a:t>
            </a:r>
            <a:endParaRPr sz="2400" b="0" i="0" u="none" strike="noStrike" cap="none">
              <a:solidFill>
                <a:schemeClr val="dk1"/>
              </a:solidFill>
              <a:latin typeface="Rockwell"/>
              <a:ea typeface="Rockwell"/>
              <a:cs typeface="Rockwell"/>
              <a:sym typeface="Rockwell"/>
            </a:endParaRPr>
          </a:p>
        </p:txBody>
      </p:sp>
      <p:sp>
        <p:nvSpPr>
          <p:cNvPr id="699" name="Google Shape;699;p52"/>
          <p:cNvSpPr/>
          <p:nvPr/>
        </p:nvSpPr>
        <p:spPr>
          <a:xfrm>
            <a:off x="1850743" y="4999217"/>
            <a:ext cx="477200" cy="410800"/>
          </a:xfrm>
          <a:prstGeom prst="rect">
            <a:avLst/>
          </a:prstGeom>
          <a:solidFill>
            <a:srgbClr val="A4C2F4"/>
          </a:solidFill>
          <a:ln w="952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chemeClr val="dk1"/>
                </a:solidFill>
                <a:latin typeface="Rockwell"/>
                <a:ea typeface="Rockwell"/>
                <a:cs typeface="Rockwell"/>
                <a:sym typeface="Rockwell"/>
              </a:rPr>
              <a:t>A</a:t>
            </a:r>
            <a:endParaRPr sz="2400" b="0" i="0" u="none" strike="noStrike" cap="none">
              <a:solidFill>
                <a:schemeClr val="dk1"/>
              </a:solidFill>
              <a:latin typeface="Rockwell"/>
              <a:ea typeface="Rockwell"/>
              <a:cs typeface="Rockwell"/>
              <a:sym typeface="Rockwell"/>
            </a:endParaRPr>
          </a:p>
        </p:txBody>
      </p:sp>
      <p:sp>
        <p:nvSpPr>
          <p:cNvPr id="700" name="Google Shape;700;p52"/>
          <p:cNvSpPr/>
          <p:nvPr/>
        </p:nvSpPr>
        <p:spPr>
          <a:xfrm>
            <a:off x="2386864" y="4999217"/>
            <a:ext cx="596000" cy="410800"/>
          </a:xfrm>
          <a:prstGeom prst="rect">
            <a:avLst/>
          </a:prstGeom>
          <a:solidFill>
            <a:srgbClr val="FFFFFF"/>
          </a:solidFill>
          <a:ln w="952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chemeClr val="dk1"/>
                </a:solidFill>
                <a:latin typeface="Rockwell"/>
                <a:ea typeface="Rockwell"/>
                <a:cs typeface="Rockwell"/>
                <a:sym typeface="Rockwell"/>
              </a:rPr>
              <a:t>2</a:t>
            </a:r>
            <a:endParaRPr sz="2400" b="0" i="0" u="none" strike="noStrike" cap="none">
              <a:solidFill>
                <a:schemeClr val="dk1"/>
              </a:solidFill>
              <a:latin typeface="Rockwell"/>
              <a:ea typeface="Rockwell"/>
              <a:cs typeface="Rockwell"/>
              <a:sym typeface="Rockwell"/>
            </a:endParaRPr>
          </a:p>
        </p:txBody>
      </p:sp>
      <p:sp>
        <p:nvSpPr>
          <p:cNvPr id="701" name="Google Shape;701;p52"/>
          <p:cNvSpPr/>
          <p:nvPr/>
        </p:nvSpPr>
        <p:spPr>
          <a:xfrm>
            <a:off x="1850743" y="5520408"/>
            <a:ext cx="477200" cy="410800"/>
          </a:xfrm>
          <a:prstGeom prst="rect">
            <a:avLst/>
          </a:prstGeom>
          <a:solidFill>
            <a:srgbClr val="A4C2F4"/>
          </a:solidFill>
          <a:ln w="952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chemeClr val="dk1"/>
                </a:solidFill>
                <a:latin typeface="Rockwell"/>
                <a:ea typeface="Rockwell"/>
                <a:cs typeface="Rockwell"/>
                <a:sym typeface="Rockwell"/>
              </a:rPr>
              <a:t>C</a:t>
            </a:r>
            <a:endParaRPr sz="2400" b="0" i="0" u="none" strike="noStrike" cap="none">
              <a:solidFill>
                <a:schemeClr val="dk1"/>
              </a:solidFill>
              <a:latin typeface="Rockwell"/>
              <a:ea typeface="Rockwell"/>
              <a:cs typeface="Rockwell"/>
              <a:sym typeface="Rockwell"/>
            </a:endParaRPr>
          </a:p>
        </p:txBody>
      </p:sp>
      <p:sp>
        <p:nvSpPr>
          <p:cNvPr id="702" name="Google Shape;702;p52"/>
          <p:cNvSpPr/>
          <p:nvPr/>
        </p:nvSpPr>
        <p:spPr>
          <a:xfrm>
            <a:off x="2386864" y="5520408"/>
            <a:ext cx="596000" cy="410800"/>
          </a:xfrm>
          <a:prstGeom prst="rect">
            <a:avLst/>
          </a:prstGeom>
          <a:solidFill>
            <a:srgbClr val="FFFFFF"/>
          </a:solidFill>
          <a:ln w="952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chemeClr val="dk1"/>
                </a:solidFill>
                <a:latin typeface="Rockwell"/>
                <a:ea typeface="Rockwell"/>
                <a:cs typeface="Rockwell"/>
                <a:sym typeface="Rockwell"/>
              </a:rPr>
              <a:t>5</a:t>
            </a:r>
            <a:endParaRPr sz="2400" b="0" i="0" u="none" strike="noStrike" cap="none">
              <a:solidFill>
                <a:schemeClr val="dk1"/>
              </a:solidFill>
              <a:latin typeface="Rockwell"/>
              <a:ea typeface="Rockwell"/>
              <a:cs typeface="Rockwell"/>
              <a:sym typeface="Rockwell"/>
            </a:endParaRPr>
          </a:p>
        </p:txBody>
      </p:sp>
      <p:sp>
        <p:nvSpPr>
          <p:cNvPr id="703" name="Google Shape;703;p52"/>
          <p:cNvSpPr/>
          <p:nvPr/>
        </p:nvSpPr>
        <p:spPr>
          <a:xfrm>
            <a:off x="1850743" y="6041600"/>
            <a:ext cx="477200" cy="410800"/>
          </a:xfrm>
          <a:prstGeom prst="rect">
            <a:avLst/>
          </a:prstGeom>
          <a:solidFill>
            <a:srgbClr val="A4C2F4"/>
          </a:solidFill>
          <a:ln w="952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chemeClr val="dk1"/>
                </a:solidFill>
                <a:latin typeface="Rockwell"/>
                <a:ea typeface="Rockwell"/>
                <a:cs typeface="Rockwell"/>
                <a:sym typeface="Rockwell"/>
              </a:rPr>
              <a:t>B</a:t>
            </a:r>
            <a:endParaRPr sz="2400" b="0" i="0" u="none" strike="noStrike" cap="none">
              <a:solidFill>
                <a:schemeClr val="dk1"/>
              </a:solidFill>
              <a:latin typeface="Rockwell"/>
              <a:ea typeface="Rockwell"/>
              <a:cs typeface="Rockwell"/>
              <a:sym typeface="Rockwell"/>
            </a:endParaRPr>
          </a:p>
        </p:txBody>
      </p:sp>
      <p:sp>
        <p:nvSpPr>
          <p:cNvPr id="704" name="Google Shape;704;p52"/>
          <p:cNvSpPr/>
          <p:nvPr/>
        </p:nvSpPr>
        <p:spPr>
          <a:xfrm>
            <a:off x="2386864" y="6041600"/>
            <a:ext cx="596000" cy="410800"/>
          </a:xfrm>
          <a:prstGeom prst="rect">
            <a:avLst/>
          </a:prstGeom>
          <a:solidFill>
            <a:srgbClr val="FFFFFF"/>
          </a:solidFill>
          <a:ln w="952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chemeClr val="dk1"/>
                </a:solidFill>
                <a:latin typeface="Rockwell"/>
                <a:ea typeface="Rockwell"/>
                <a:cs typeface="Rockwell"/>
                <a:sym typeface="Rockwell"/>
              </a:rPr>
              <a:t>6</a:t>
            </a:r>
            <a:endParaRPr sz="2400" b="0" i="0" u="none" strike="noStrike" cap="none">
              <a:solidFill>
                <a:schemeClr val="dk1"/>
              </a:solidFill>
              <a:latin typeface="Rockwell"/>
              <a:ea typeface="Rockwell"/>
              <a:cs typeface="Rockwell"/>
              <a:sym typeface="Rockwell"/>
            </a:endParaRPr>
          </a:p>
        </p:txBody>
      </p:sp>
      <p:sp>
        <p:nvSpPr>
          <p:cNvPr id="705" name="Google Shape;705;p52"/>
          <p:cNvSpPr/>
          <p:nvPr/>
        </p:nvSpPr>
        <p:spPr>
          <a:xfrm>
            <a:off x="5427676" y="1567267"/>
            <a:ext cx="477200" cy="410800"/>
          </a:xfrm>
          <a:prstGeom prst="rect">
            <a:avLst/>
          </a:prstGeom>
          <a:solidFill>
            <a:srgbClr val="A4C2F4"/>
          </a:solidFill>
          <a:ln w="952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chemeClr val="dk1"/>
                </a:solidFill>
                <a:latin typeface="Rockwell"/>
                <a:ea typeface="Rockwell"/>
                <a:cs typeface="Rockwell"/>
                <a:sym typeface="Rockwell"/>
              </a:rPr>
              <a:t>A</a:t>
            </a:r>
            <a:endParaRPr sz="2400" b="0" i="0" u="none" strike="noStrike" cap="none">
              <a:solidFill>
                <a:schemeClr val="dk1"/>
              </a:solidFill>
              <a:latin typeface="Rockwell"/>
              <a:ea typeface="Rockwell"/>
              <a:cs typeface="Rockwell"/>
              <a:sym typeface="Rockwell"/>
            </a:endParaRPr>
          </a:p>
        </p:txBody>
      </p:sp>
      <p:sp>
        <p:nvSpPr>
          <p:cNvPr id="706" name="Google Shape;706;p52"/>
          <p:cNvSpPr/>
          <p:nvPr/>
        </p:nvSpPr>
        <p:spPr>
          <a:xfrm>
            <a:off x="5963797" y="1567267"/>
            <a:ext cx="596000" cy="410800"/>
          </a:xfrm>
          <a:prstGeom prst="rect">
            <a:avLst/>
          </a:prstGeom>
          <a:solidFill>
            <a:srgbClr val="FFFFFF"/>
          </a:solidFill>
          <a:ln w="952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chemeClr val="dk1"/>
                </a:solidFill>
                <a:latin typeface="Rockwell"/>
                <a:ea typeface="Rockwell"/>
                <a:cs typeface="Rockwell"/>
                <a:sym typeface="Rockwell"/>
              </a:rPr>
              <a:t>3</a:t>
            </a:r>
            <a:endParaRPr sz="2400" b="0" i="0" u="none" strike="noStrike" cap="none">
              <a:solidFill>
                <a:schemeClr val="dk1"/>
              </a:solidFill>
              <a:latin typeface="Rockwell"/>
              <a:ea typeface="Rockwell"/>
              <a:cs typeface="Rockwell"/>
              <a:sym typeface="Rockwell"/>
            </a:endParaRPr>
          </a:p>
        </p:txBody>
      </p:sp>
      <p:sp>
        <p:nvSpPr>
          <p:cNvPr id="707" name="Google Shape;707;p52"/>
          <p:cNvSpPr/>
          <p:nvPr/>
        </p:nvSpPr>
        <p:spPr>
          <a:xfrm>
            <a:off x="5427676" y="2088459"/>
            <a:ext cx="477200" cy="410800"/>
          </a:xfrm>
          <a:prstGeom prst="rect">
            <a:avLst/>
          </a:prstGeom>
          <a:solidFill>
            <a:srgbClr val="A4C2F4"/>
          </a:solidFill>
          <a:ln w="952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chemeClr val="dk1"/>
                </a:solidFill>
                <a:latin typeface="Rockwell"/>
                <a:ea typeface="Rockwell"/>
                <a:cs typeface="Rockwell"/>
                <a:sym typeface="Rockwell"/>
              </a:rPr>
              <a:t>A</a:t>
            </a:r>
            <a:endParaRPr sz="2400" b="0" i="0" u="none" strike="noStrike" cap="none">
              <a:solidFill>
                <a:schemeClr val="dk1"/>
              </a:solidFill>
              <a:latin typeface="Rockwell"/>
              <a:ea typeface="Rockwell"/>
              <a:cs typeface="Rockwell"/>
              <a:sym typeface="Rockwell"/>
            </a:endParaRPr>
          </a:p>
        </p:txBody>
      </p:sp>
      <p:sp>
        <p:nvSpPr>
          <p:cNvPr id="708" name="Google Shape;708;p52"/>
          <p:cNvSpPr/>
          <p:nvPr/>
        </p:nvSpPr>
        <p:spPr>
          <a:xfrm>
            <a:off x="5963797" y="2088459"/>
            <a:ext cx="596000" cy="410800"/>
          </a:xfrm>
          <a:prstGeom prst="rect">
            <a:avLst/>
          </a:prstGeom>
          <a:solidFill>
            <a:srgbClr val="FFFFFF"/>
          </a:solidFill>
          <a:ln w="952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chemeClr val="dk1"/>
                </a:solidFill>
                <a:latin typeface="Rockwell"/>
                <a:ea typeface="Rockwell"/>
                <a:cs typeface="Rockwell"/>
                <a:sym typeface="Rockwell"/>
              </a:rPr>
              <a:t>1</a:t>
            </a:r>
            <a:endParaRPr sz="2400" b="0" i="0" u="none" strike="noStrike" cap="none">
              <a:solidFill>
                <a:schemeClr val="dk1"/>
              </a:solidFill>
              <a:latin typeface="Rockwell"/>
              <a:ea typeface="Rockwell"/>
              <a:cs typeface="Rockwell"/>
              <a:sym typeface="Rockwell"/>
            </a:endParaRPr>
          </a:p>
        </p:txBody>
      </p:sp>
      <p:sp>
        <p:nvSpPr>
          <p:cNvPr id="709" name="Google Shape;709;p52"/>
          <p:cNvSpPr/>
          <p:nvPr/>
        </p:nvSpPr>
        <p:spPr>
          <a:xfrm>
            <a:off x="5427676" y="2609651"/>
            <a:ext cx="477200" cy="410800"/>
          </a:xfrm>
          <a:prstGeom prst="rect">
            <a:avLst/>
          </a:prstGeom>
          <a:solidFill>
            <a:srgbClr val="A4C2F4"/>
          </a:solidFill>
          <a:ln w="952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chemeClr val="dk1"/>
                </a:solidFill>
                <a:latin typeface="Rockwell"/>
                <a:ea typeface="Rockwell"/>
                <a:cs typeface="Rockwell"/>
                <a:sym typeface="Rockwell"/>
              </a:rPr>
              <a:t>A</a:t>
            </a:r>
            <a:endParaRPr sz="2400" b="0" i="0" u="none" strike="noStrike" cap="none">
              <a:solidFill>
                <a:schemeClr val="dk1"/>
              </a:solidFill>
              <a:latin typeface="Rockwell"/>
              <a:ea typeface="Rockwell"/>
              <a:cs typeface="Rockwell"/>
              <a:sym typeface="Rockwell"/>
            </a:endParaRPr>
          </a:p>
        </p:txBody>
      </p:sp>
      <p:sp>
        <p:nvSpPr>
          <p:cNvPr id="710" name="Google Shape;710;p52"/>
          <p:cNvSpPr/>
          <p:nvPr/>
        </p:nvSpPr>
        <p:spPr>
          <a:xfrm>
            <a:off x="5963797" y="2609651"/>
            <a:ext cx="596000" cy="410800"/>
          </a:xfrm>
          <a:prstGeom prst="rect">
            <a:avLst/>
          </a:prstGeom>
          <a:solidFill>
            <a:srgbClr val="FFFFFF"/>
          </a:solidFill>
          <a:ln w="952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chemeClr val="dk1"/>
                </a:solidFill>
                <a:latin typeface="Rockwell"/>
                <a:ea typeface="Rockwell"/>
                <a:cs typeface="Rockwell"/>
                <a:sym typeface="Rockwell"/>
              </a:rPr>
              <a:t>2</a:t>
            </a:r>
            <a:endParaRPr sz="2400" b="0" i="0" u="none" strike="noStrike" cap="none">
              <a:solidFill>
                <a:schemeClr val="dk1"/>
              </a:solidFill>
              <a:latin typeface="Rockwell"/>
              <a:ea typeface="Rockwell"/>
              <a:cs typeface="Rockwell"/>
              <a:sym typeface="Rockwell"/>
            </a:endParaRPr>
          </a:p>
        </p:txBody>
      </p:sp>
      <p:sp>
        <p:nvSpPr>
          <p:cNvPr id="711" name="Google Shape;711;p52"/>
          <p:cNvSpPr/>
          <p:nvPr/>
        </p:nvSpPr>
        <p:spPr>
          <a:xfrm>
            <a:off x="5427676" y="3435641"/>
            <a:ext cx="477200" cy="410800"/>
          </a:xfrm>
          <a:prstGeom prst="rect">
            <a:avLst/>
          </a:prstGeom>
          <a:solidFill>
            <a:srgbClr val="A4C2F4"/>
          </a:solidFill>
          <a:ln w="952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chemeClr val="dk1"/>
                </a:solidFill>
                <a:latin typeface="Rockwell"/>
                <a:ea typeface="Rockwell"/>
                <a:cs typeface="Rockwell"/>
                <a:sym typeface="Rockwell"/>
              </a:rPr>
              <a:t>B</a:t>
            </a:r>
            <a:endParaRPr sz="2400" b="0" i="0" u="none" strike="noStrike" cap="none">
              <a:solidFill>
                <a:schemeClr val="dk1"/>
              </a:solidFill>
              <a:latin typeface="Rockwell"/>
              <a:ea typeface="Rockwell"/>
              <a:cs typeface="Rockwell"/>
              <a:sym typeface="Rockwell"/>
            </a:endParaRPr>
          </a:p>
        </p:txBody>
      </p:sp>
      <p:sp>
        <p:nvSpPr>
          <p:cNvPr id="712" name="Google Shape;712;p52"/>
          <p:cNvSpPr/>
          <p:nvPr/>
        </p:nvSpPr>
        <p:spPr>
          <a:xfrm>
            <a:off x="5963797" y="3435641"/>
            <a:ext cx="596000" cy="410800"/>
          </a:xfrm>
          <a:prstGeom prst="rect">
            <a:avLst/>
          </a:prstGeom>
          <a:solidFill>
            <a:srgbClr val="FFFFFF"/>
          </a:solidFill>
          <a:ln w="952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chemeClr val="dk1"/>
                </a:solidFill>
                <a:latin typeface="Rockwell"/>
                <a:ea typeface="Rockwell"/>
                <a:cs typeface="Rockwell"/>
                <a:sym typeface="Rockwell"/>
              </a:rPr>
              <a:t>1</a:t>
            </a:r>
            <a:endParaRPr sz="2400" b="0" i="0" u="none" strike="noStrike" cap="none">
              <a:solidFill>
                <a:schemeClr val="dk1"/>
              </a:solidFill>
              <a:latin typeface="Rockwell"/>
              <a:ea typeface="Rockwell"/>
              <a:cs typeface="Rockwell"/>
              <a:sym typeface="Rockwell"/>
            </a:endParaRPr>
          </a:p>
        </p:txBody>
      </p:sp>
      <p:sp>
        <p:nvSpPr>
          <p:cNvPr id="713" name="Google Shape;713;p52"/>
          <p:cNvSpPr/>
          <p:nvPr/>
        </p:nvSpPr>
        <p:spPr>
          <a:xfrm>
            <a:off x="5427676" y="3956833"/>
            <a:ext cx="477200" cy="410800"/>
          </a:xfrm>
          <a:prstGeom prst="rect">
            <a:avLst/>
          </a:prstGeom>
          <a:solidFill>
            <a:srgbClr val="A4C2F4"/>
          </a:solidFill>
          <a:ln w="952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chemeClr val="dk1"/>
                </a:solidFill>
                <a:latin typeface="Rockwell"/>
                <a:ea typeface="Rockwell"/>
                <a:cs typeface="Rockwell"/>
                <a:sym typeface="Rockwell"/>
              </a:rPr>
              <a:t>B</a:t>
            </a:r>
            <a:endParaRPr sz="2400" b="0" i="0" u="none" strike="noStrike" cap="none">
              <a:solidFill>
                <a:schemeClr val="dk1"/>
              </a:solidFill>
              <a:latin typeface="Rockwell"/>
              <a:ea typeface="Rockwell"/>
              <a:cs typeface="Rockwell"/>
              <a:sym typeface="Rockwell"/>
            </a:endParaRPr>
          </a:p>
        </p:txBody>
      </p:sp>
      <p:sp>
        <p:nvSpPr>
          <p:cNvPr id="714" name="Google Shape;714;p52"/>
          <p:cNvSpPr/>
          <p:nvPr/>
        </p:nvSpPr>
        <p:spPr>
          <a:xfrm>
            <a:off x="5963797" y="3956833"/>
            <a:ext cx="596000" cy="410800"/>
          </a:xfrm>
          <a:prstGeom prst="rect">
            <a:avLst/>
          </a:prstGeom>
          <a:solidFill>
            <a:srgbClr val="FFFFFF"/>
          </a:solidFill>
          <a:ln w="952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chemeClr val="dk1"/>
                </a:solidFill>
                <a:latin typeface="Rockwell"/>
                <a:ea typeface="Rockwell"/>
                <a:cs typeface="Rockwell"/>
                <a:sym typeface="Rockwell"/>
              </a:rPr>
              <a:t>5</a:t>
            </a:r>
            <a:endParaRPr sz="2400" b="0" i="0" u="none" strike="noStrike" cap="none">
              <a:solidFill>
                <a:schemeClr val="dk1"/>
              </a:solidFill>
              <a:latin typeface="Rockwell"/>
              <a:ea typeface="Rockwell"/>
              <a:cs typeface="Rockwell"/>
              <a:sym typeface="Rockwell"/>
            </a:endParaRPr>
          </a:p>
        </p:txBody>
      </p:sp>
      <p:sp>
        <p:nvSpPr>
          <p:cNvPr id="715" name="Google Shape;715;p52"/>
          <p:cNvSpPr/>
          <p:nvPr/>
        </p:nvSpPr>
        <p:spPr>
          <a:xfrm>
            <a:off x="5427676" y="4478025"/>
            <a:ext cx="477200" cy="410800"/>
          </a:xfrm>
          <a:prstGeom prst="rect">
            <a:avLst/>
          </a:prstGeom>
          <a:solidFill>
            <a:srgbClr val="A4C2F4"/>
          </a:solidFill>
          <a:ln w="952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chemeClr val="dk1"/>
                </a:solidFill>
                <a:latin typeface="Rockwell"/>
                <a:ea typeface="Rockwell"/>
                <a:cs typeface="Rockwell"/>
                <a:sym typeface="Rockwell"/>
              </a:rPr>
              <a:t>B</a:t>
            </a:r>
            <a:endParaRPr sz="2400" b="0" i="0" u="none" strike="noStrike" cap="none">
              <a:solidFill>
                <a:schemeClr val="dk1"/>
              </a:solidFill>
              <a:latin typeface="Rockwell"/>
              <a:ea typeface="Rockwell"/>
              <a:cs typeface="Rockwell"/>
              <a:sym typeface="Rockwell"/>
            </a:endParaRPr>
          </a:p>
        </p:txBody>
      </p:sp>
      <p:sp>
        <p:nvSpPr>
          <p:cNvPr id="716" name="Google Shape;716;p52"/>
          <p:cNvSpPr/>
          <p:nvPr/>
        </p:nvSpPr>
        <p:spPr>
          <a:xfrm>
            <a:off x="5963797" y="4478025"/>
            <a:ext cx="596000" cy="410800"/>
          </a:xfrm>
          <a:prstGeom prst="rect">
            <a:avLst/>
          </a:prstGeom>
          <a:solidFill>
            <a:srgbClr val="FFFFFF"/>
          </a:solidFill>
          <a:ln w="952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chemeClr val="dk1"/>
                </a:solidFill>
                <a:latin typeface="Rockwell"/>
                <a:ea typeface="Rockwell"/>
                <a:cs typeface="Rockwell"/>
                <a:sym typeface="Rockwell"/>
              </a:rPr>
              <a:t>6</a:t>
            </a:r>
            <a:endParaRPr sz="2400" b="0" i="0" u="none" strike="noStrike" cap="none">
              <a:solidFill>
                <a:schemeClr val="dk1"/>
              </a:solidFill>
              <a:latin typeface="Rockwell"/>
              <a:ea typeface="Rockwell"/>
              <a:cs typeface="Rockwell"/>
              <a:sym typeface="Rockwell"/>
            </a:endParaRPr>
          </a:p>
        </p:txBody>
      </p:sp>
      <p:sp>
        <p:nvSpPr>
          <p:cNvPr id="717" name="Google Shape;717;p52"/>
          <p:cNvSpPr/>
          <p:nvPr/>
        </p:nvSpPr>
        <p:spPr>
          <a:xfrm>
            <a:off x="5427676" y="5304017"/>
            <a:ext cx="477200" cy="410800"/>
          </a:xfrm>
          <a:prstGeom prst="rect">
            <a:avLst/>
          </a:prstGeom>
          <a:solidFill>
            <a:srgbClr val="A4C2F4"/>
          </a:solidFill>
          <a:ln w="952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chemeClr val="dk1"/>
                </a:solidFill>
                <a:latin typeface="Rockwell"/>
                <a:ea typeface="Rockwell"/>
                <a:cs typeface="Rockwell"/>
                <a:sym typeface="Rockwell"/>
              </a:rPr>
              <a:t>C</a:t>
            </a:r>
            <a:endParaRPr sz="2400" b="0" i="0" u="none" strike="noStrike" cap="none">
              <a:solidFill>
                <a:schemeClr val="dk1"/>
              </a:solidFill>
              <a:latin typeface="Rockwell"/>
              <a:ea typeface="Rockwell"/>
              <a:cs typeface="Rockwell"/>
              <a:sym typeface="Rockwell"/>
            </a:endParaRPr>
          </a:p>
        </p:txBody>
      </p:sp>
      <p:sp>
        <p:nvSpPr>
          <p:cNvPr id="718" name="Google Shape;718;p52"/>
          <p:cNvSpPr/>
          <p:nvPr/>
        </p:nvSpPr>
        <p:spPr>
          <a:xfrm>
            <a:off x="5963797" y="5304017"/>
            <a:ext cx="596000" cy="410800"/>
          </a:xfrm>
          <a:prstGeom prst="rect">
            <a:avLst/>
          </a:prstGeom>
          <a:solidFill>
            <a:srgbClr val="FFFFFF"/>
          </a:solidFill>
          <a:ln w="952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chemeClr val="dk1"/>
                </a:solidFill>
                <a:latin typeface="Rockwell"/>
                <a:ea typeface="Rockwell"/>
                <a:cs typeface="Rockwell"/>
                <a:sym typeface="Rockwell"/>
              </a:rPr>
              <a:t>4</a:t>
            </a:r>
            <a:endParaRPr sz="2400" b="0" i="0" u="none" strike="noStrike" cap="none">
              <a:solidFill>
                <a:schemeClr val="dk1"/>
              </a:solidFill>
              <a:latin typeface="Rockwell"/>
              <a:ea typeface="Rockwell"/>
              <a:cs typeface="Rockwell"/>
              <a:sym typeface="Rockwell"/>
            </a:endParaRPr>
          </a:p>
        </p:txBody>
      </p:sp>
      <p:sp>
        <p:nvSpPr>
          <p:cNvPr id="719" name="Google Shape;719;p52"/>
          <p:cNvSpPr/>
          <p:nvPr/>
        </p:nvSpPr>
        <p:spPr>
          <a:xfrm>
            <a:off x="5427676" y="5825208"/>
            <a:ext cx="477200" cy="410800"/>
          </a:xfrm>
          <a:prstGeom prst="rect">
            <a:avLst/>
          </a:prstGeom>
          <a:solidFill>
            <a:srgbClr val="A4C2F4"/>
          </a:solidFill>
          <a:ln w="952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chemeClr val="dk1"/>
                </a:solidFill>
                <a:latin typeface="Rockwell"/>
                <a:ea typeface="Rockwell"/>
                <a:cs typeface="Rockwell"/>
                <a:sym typeface="Rockwell"/>
              </a:rPr>
              <a:t>C</a:t>
            </a:r>
            <a:endParaRPr sz="2400" b="0" i="0" u="none" strike="noStrike" cap="none">
              <a:solidFill>
                <a:schemeClr val="dk1"/>
              </a:solidFill>
              <a:latin typeface="Rockwell"/>
              <a:ea typeface="Rockwell"/>
              <a:cs typeface="Rockwell"/>
              <a:sym typeface="Rockwell"/>
            </a:endParaRPr>
          </a:p>
        </p:txBody>
      </p:sp>
      <p:sp>
        <p:nvSpPr>
          <p:cNvPr id="720" name="Google Shape;720;p52"/>
          <p:cNvSpPr/>
          <p:nvPr/>
        </p:nvSpPr>
        <p:spPr>
          <a:xfrm>
            <a:off x="5963797" y="5825208"/>
            <a:ext cx="596000" cy="410800"/>
          </a:xfrm>
          <a:prstGeom prst="rect">
            <a:avLst/>
          </a:prstGeom>
          <a:solidFill>
            <a:srgbClr val="FFFFFF"/>
          </a:solidFill>
          <a:ln w="952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chemeClr val="dk1"/>
                </a:solidFill>
                <a:latin typeface="Rockwell"/>
                <a:ea typeface="Rockwell"/>
                <a:cs typeface="Rockwell"/>
                <a:sym typeface="Rockwell"/>
              </a:rPr>
              <a:t>9</a:t>
            </a:r>
            <a:endParaRPr sz="2400" b="0" i="0" u="none" strike="noStrike" cap="none">
              <a:solidFill>
                <a:schemeClr val="dk1"/>
              </a:solidFill>
              <a:latin typeface="Rockwell"/>
              <a:ea typeface="Rockwell"/>
              <a:cs typeface="Rockwell"/>
              <a:sym typeface="Rockwell"/>
            </a:endParaRPr>
          </a:p>
        </p:txBody>
      </p:sp>
      <p:sp>
        <p:nvSpPr>
          <p:cNvPr id="721" name="Google Shape;721;p52"/>
          <p:cNvSpPr/>
          <p:nvPr/>
        </p:nvSpPr>
        <p:spPr>
          <a:xfrm>
            <a:off x="5427676" y="6346400"/>
            <a:ext cx="477200" cy="410800"/>
          </a:xfrm>
          <a:prstGeom prst="rect">
            <a:avLst/>
          </a:prstGeom>
          <a:solidFill>
            <a:srgbClr val="A4C2F4"/>
          </a:solidFill>
          <a:ln w="952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chemeClr val="dk1"/>
                </a:solidFill>
                <a:latin typeface="Rockwell"/>
                <a:ea typeface="Rockwell"/>
                <a:cs typeface="Rockwell"/>
                <a:sym typeface="Rockwell"/>
              </a:rPr>
              <a:t>C</a:t>
            </a:r>
            <a:endParaRPr sz="2400" b="0" i="0" u="none" strike="noStrike" cap="none">
              <a:solidFill>
                <a:schemeClr val="dk1"/>
              </a:solidFill>
              <a:latin typeface="Rockwell"/>
              <a:ea typeface="Rockwell"/>
              <a:cs typeface="Rockwell"/>
              <a:sym typeface="Rockwell"/>
            </a:endParaRPr>
          </a:p>
        </p:txBody>
      </p:sp>
      <p:sp>
        <p:nvSpPr>
          <p:cNvPr id="722" name="Google Shape;722;p52"/>
          <p:cNvSpPr/>
          <p:nvPr/>
        </p:nvSpPr>
        <p:spPr>
          <a:xfrm>
            <a:off x="5963797" y="6346400"/>
            <a:ext cx="596000" cy="410800"/>
          </a:xfrm>
          <a:prstGeom prst="rect">
            <a:avLst/>
          </a:prstGeom>
          <a:solidFill>
            <a:srgbClr val="FFFFFF"/>
          </a:solidFill>
          <a:ln w="952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chemeClr val="dk1"/>
                </a:solidFill>
                <a:latin typeface="Rockwell"/>
                <a:ea typeface="Rockwell"/>
                <a:cs typeface="Rockwell"/>
                <a:sym typeface="Rockwell"/>
              </a:rPr>
              <a:t>5</a:t>
            </a:r>
            <a:endParaRPr sz="2400" b="0" i="0" u="none" strike="noStrike" cap="none">
              <a:solidFill>
                <a:schemeClr val="dk1"/>
              </a:solidFill>
              <a:latin typeface="Rockwell"/>
              <a:ea typeface="Rockwell"/>
              <a:cs typeface="Rockwell"/>
              <a:sym typeface="Rockwell"/>
            </a:endParaRPr>
          </a:p>
        </p:txBody>
      </p:sp>
      <p:sp>
        <p:nvSpPr>
          <p:cNvPr id="723" name="Google Shape;723;p52"/>
          <p:cNvSpPr/>
          <p:nvPr/>
        </p:nvSpPr>
        <p:spPr>
          <a:xfrm>
            <a:off x="9106209" y="3435625"/>
            <a:ext cx="477200" cy="410800"/>
          </a:xfrm>
          <a:prstGeom prst="rect">
            <a:avLst/>
          </a:prstGeom>
          <a:solidFill>
            <a:srgbClr val="A4C2F4"/>
          </a:solidFill>
          <a:ln w="952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chemeClr val="dk1"/>
                </a:solidFill>
                <a:latin typeface="Rockwell"/>
                <a:ea typeface="Rockwell"/>
                <a:cs typeface="Rockwell"/>
                <a:sym typeface="Rockwell"/>
              </a:rPr>
              <a:t>A</a:t>
            </a:r>
            <a:endParaRPr sz="2400" b="0" i="0" u="none" strike="noStrike" cap="none">
              <a:solidFill>
                <a:schemeClr val="dk1"/>
              </a:solidFill>
              <a:latin typeface="Rockwell"/>
              <a:ea typeface="Rockwell"/>
              <a:cs typeface="Rockwell"/>
              <a:sym typeface="Rockwell"/>
            </a:endParaRPr>
          </a:p>
        </p:txBody>
      </p:sp>
      <p:sp>
        <p:nvSpPr>
          <p:cNvPr id="724" name="Google Shape;724;p52"/>
          <p:cNvSpPr/>
          <p:nvPr/>
        </p:nvSpPr>
        <p:spPr>
          <a:xfrm>
            <a:off x="9642331" y="3435625"/>
            <a:ext cx="596000" cy="410800"/>
          </a:xfrm>
          <a:prstGeom prst="rect">
            <a:avLst/>
          </a:prstGeom>
          <a:solidFill>
            <a:srgbClr val="FFFFFF"/>
          </a:solidFill>
          <a:ln w="952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chemeClr val="dk1"/>
                </a:solidFill>
                <a:latin typeface="Rockwell"/>
                <a:ea typeface="Rockwell"/>
                <a:cs typeface="Rockwell"/>
                <a:sym typeface="Rockwell"/>
              </a:rPr>
              <a:t>3</a:t>
            </a:r>
            <a:endParaRPr sz="2400" b="0" i="0" u="none" strike="noStrike" cap="none">
              <a:solidFill>
                <a:schemeClr val="dk1"/>
              </a:solidFill>
              <a:latin typeface="Rockwell"/>
              <a:ea typeface="Rockwell"/>
              <a:cs typeface="Rockwell"/>
              <a:sym typeface="Rockwell"/>
            </a:endParaRPr>
          </a:p>
        </p:txBody>
      </p:sp>
      <p:sp>
        <p:nvSpPr>
          <p:cNvPr id="725" name="Google Shape;725;p52"/>
          <p:cNvSpPr/>
          <p:nvPr/>
        </p:nvSpPr>
        <p:spPr>
          <a:xfrm>
            <a:off x="9106209" y="3956833"/>
            <a:ext cx="477200" cy="410800"/>
          </a:xfrm>
          <a:prstGeom prst="rect">
            <a:avLst/>
          </a:prstGeom>
          <a:solidFill>
            <a:srgbClr val="A4C2F4"/>
          </a:solidFill>
          <a:ln w="952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chemeClr val="dk1"/>
                </a:solidFill>
                <a:latin typeface="Rockwell"/>
                <a:ea typeface="Rockwell"/>
                <a:cs typeface="Rockwell"/>
                <a:sym typeface="Rockwell"/>
              </a:rPr>
              <a:t>B</a:t>
            </a:r>
            <a:endParaRPr sz="2400" b="0" i="0" u="none" strike="noStrike" cap="none">
              <a:solidFill>
                <a:schemeClr val="dk1"/>
              </a:solidFill>
              <a:latin typeface="Rockwell"/>
              <a:ea typeface="Rockwell"/>
              <a:cs typeface="Rockwell"/>
              <a:sym typeface="Rockwell"/>
            </a:endParaRPr>
          </a:p>
        </p:txBody>
      </p:sp>
      <p:sp>
        <p:nvSpPr>
          <p:cNvPr id="726" name="Google Shape;726;p52"/>
          <p:cNvSpPr/>
          <p:nvPr/>
        </p:nvSpPr>
        <p:spPr>
          <a:xfrm>
            <a:off x="9642331" y="3956833"/>
            <a:ext cx="596000" cy="410800"/>
          </a:xfrm>
          <a:prstGeom prst="rect">
            <a:avLst/>
          </a:prstGeom>
          <a:solidFill>
            <a:srgbClr val="FFFFFF"/>
          </a:solidFill>
          <a:ln w="952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chemeClr val="dk1"/>
                </a:solidFill>
                <a:latin typeface="Rockwell"/>
                <a:ea typeface="Rockwell"/>
                <a:cs typeface="Rockwell"/>
                <a:sym typeface="Rockwell"/>
              </a:rPr>
              <a:t>6</a:t>
            </a:r>
            <a:endParaRPr sz="2400" b="0" i="0" u="none" strike="noStrike" cap="none">
              <a:solidFill>
                <a:schemeClr val="dk1"/>
              </a:solidFill>
              <a:latin typeface="Rockwell"/>
              <a:ea typeface="Rockwell"/>
              <a:cs typeface="Rockwell"/>
              <a:sym typeface="Rockwell"/>
            </a:endParaRPr>
          </a:p>
        </p:txBody>
      </p:sp>
      <p:sp>
        <p:nvSpPr>
          <p:cNvPr id="727" name="Google Shape;727;p52"/>
          <p:cNvSpPr/>
          <p:nvPr/>
        </p:nvSpPr>
        <p:spPr>
          <a:xfrm>
            <a:off x="9106209" y="4478041"/>
            <a:ext cx="477200" cy="410800"/>
          </a:xfrm>
          <a:prstGeom prst="rect">
            <a:avLst/>
          </a:prstGeom>
          <a:solidFill>
            <a:srgbClr val="A4C2F4"/>
          </a:solidFill>
          <a:ln w="952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chemeClr val="dk1"/>
                </a:solidFill>
                <a:latin typeface="Rockwell"/>
                <a:ea typeface="Rockwell"/>
                <a:cs typeface="Rockwell"/>
                <a:sym typeface="Rockwell"/>
              </a:rPr>
              <a:t>C</a:t>
            </a:r>
            <a:endParaRPr sz="2400" b="0" i="0" u="none" strike="noStrike" cap="none">
              <a:solidFill>
                <a:schemeClr val="dk1"/>
              </a:solidFill>
              <a:latin typeface="Rockwell"/>
              <a:ea typeface="Rockwell"/>
              <a:cs typeface="Rockwell"/>
              <a:sym typeface="Rockwell"/>
            </a:endParaRPr>
          </a:p>
        </p:txBody>
      </p:sp>
      <p:sp>
        <p:nvSpPr>
          <p:cNvPr id="728" name="Google Shape;728;p52"/>
          <p:cNvSpPr/>
          <p:nvPr/>
        </p:nvSpPr>
        <p:spPr>
          <a:xfrm>
            <a:off x="9642331" y="4478041"/>
            <a:ext cx="596000" cy="410800"/>
          </a:xfrm>
          <a:prstGeom prst="rect">
            <a:avLst/>
          </a:prstGeom>
          <a:solidFill>
            <a:srgbClr val="FFFFFF"/>
          </a:solidFill>
          <a:ln w="952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chemeClr val="dk1"/>
                </a:solidFill>
                <a:latin typeface="Rockwell"/>
                <a:ea typeface="Rockwell"/>
                <a:cs typeface="Rockwell"/>
                <a:sym typeface="Rockwell"/>
              </a:rPr>
              <a:t>9</a:t>
            </a:r>
            <a:endParaRPr sz="2400" b="0" i="0" u="none" strike="noStrike" cap="none">
              <a:solidFill>
                <a:schemeClr val="dk1"/>
              </a:solidFill>
              <a:latin typeface="Rockwell"/>
              <a:ea typeface="Rockwell"/>
              <a:cs typeface="Rockwell"/>
              <a:sym typeface="Rockwell"/>
            </a:endParaRPr>
          </a:p>
        </p:txBody>
      </p:sp>
      <p:cxnSp>
        <p:nvCxnSpPr>
          <p:cNvPr id="729" name="Google Shape;729;p52"/>
          <p:cNvCxnSpPr/>
          <p:nvPr/>
        </p:nvCxnSpPr>
        <p:spPr>
          <a:xfrm>
            <a:off x="4206033" y="4198267"/>
            <a:ext cx="588000" cy="0"/>
          </a:xfrm>
          <a:prstGeom prst="straightConnector1">
            <a:avLst/>
          </a:prstGeom>
          <a:noFill/>
          <a:ln w="28575" cap="flat" cmpd="sng">
            <a:solidFill>
              <a:srgbClr val="000000"/>
            </a:solidFill>
            <a:prstDash val="solid"/>
            <a:round/>
            <a:headEnd type="none" w="sm" len="sm"/>
            <a:tailEnd type="triangle" w="med" len="med"/>
          </a:ln>
        </p:spPr>
      </p:cxnSp>
      <p:cxnSp>
        <p:nvCxnSpPr>
          <p:cNvPr id="730" name="Google Shape;730;p52"/>
          <p:cNvCxnSpPr/>
          <p:nvPr/>
        </p:nvCxnSpPr>
        <p:spPr>
          <a:xfrm>
            <a:off x="7774927" y="2348879"/>
            <a:ext cx="1131200" cy="1283600"/>
          </a:xfrm>
          <a:prstGeom prst="straightConnector1">
            <a:avLst/>
          </a:prstGeom>
          <a:noFill/>
          <a:ln w="28575" cap="flat" cmpd="sng">
            <a:solidFill>
              <a:srgbClr val="000000"/>
            </a:solidFill>
            <a:prstDash val="solid"/>
            <a:round/>
            <a:headEnd type="none" w="sm" len="sm"/>
            <a:tailEnd type="triangle" w="med" len="med"/>
          </a:ln>
        </p:spPr>
      </p:cxnSp>
      <p:cxnSp>
        <p:nvCxnSpPr>
          <p:cNvPr id="731" name="Google Shape;731;p52"/>
          <p:cNvCxnSpPr/>
          <p:nvPr/>
        </p:nvCxnSpPr>
        <p:spPr>
          <a:xfrm>
            <a:off x="7768193" y="4162245"/>
            <a:ext cx="1145600" cy="0"/>
          </a:xfrm>
          <a:prstGeom prst="straightConnector1">
            <a:avLst/>
          </a:prstGeom>
          <a:noFill/>
          <a:ln w="28575" cap="flat" cmpd="sng">
            <a:solidFill>
              <a:srgbClr val="000000"/>
            </a:solidFill>
            <a:prstDash val="solid"/>
            <a:round/>
            <a:headEnd type="none" w="sm" len="sm"/>
            <a:tailEnd type="triangle" w="med" len="med"/>
          </a:ln>
        </p:spPr>
      </p:cxnSp>
      <p:cxnSp>
        <p:nvCxnSpPr>
          <p:cNvPr id="732" name="Google Shape;732;p52"/>
          <p:cNvCxnSpPr/>
          <p:nvPr/>
        </p:nvCxnSpPr>
        <p:spPr>
          <a:xfrm rot="10800000" flipH="1">
            <a:off x="7807667" y="4686300"/>
            <a:ext cx="1098400" cy="1365200"/>
          </a:xfrm>
          <a:prstGeom prst="straightConnector1">
            <a:avLst/>
          </a:prstGeom>
          <a:noFill/>
          <a:ln w="28575" cap="flat" cmpd="sng">
            <a:solidFill>
              <a:srgbClr val="000000"/>
            </a:solidFill>
            <a:prstDash val="solid"/>
            <a:round/>
            <a:headEnd type="none" w="sm" len="sm"/>
            <a:tailEnd type="triangle" w="med" len="med"/>
          </a:ln>
        </p:spPr>
      </p:cxnSp>
      <p:sp>
        <p:nvSpPr>
          <p:cNvPr id="733" name="Google Shape;733;p52"/>
          <p:cNvSpPr/>
          <p:nvPr/>
        </p:nvSpPr>
        <p:spPr>
          <a:xfrm rot="-5400000">
            <a:off x="4332400" y="974033"/>
            <a:ext cx="477200" cy="1290400"/>
          </a:xfrm>
          <a:prstGeom prst="rightBrace">
            <a:avLst>
              <a:gd name="adj1" fmla="val 8333"/>
              <a:gd name="adj2" fmla="val 50000"/>
            </a:avLst>
          </a:prstGeom>
          <a:noFill/>
          <a:ln w="2857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Rockwell"/>
              <a:ea typeface="Rockwell"/>
              <a:cs typeface="Rockwell"/>
              <a:sym typeface="Rockwell"/>
            </a:endParaRPr>
          </a:p>
        </p:txBody>
      </p:sp>
      <p:sp>
        <p:nvSpPr>
          <p:cNvPr id="734" name="Google Shape;734;p52"/>
          <p:cNvSpPr/>
          <p:nvPr/>
        </p:nvSpPr>
        <p:spPr>
          <a:xfrm rot="-5400000">
            <a:off x="8174800" y="974033"/>
            <a:ext cx="477200" cy="1290400"/>
          </a:xfrm>
          <a:prstGeom prst="rightBrace">
            <a:avLst>
              <a:gd name="adj1" fmla="val 8333"/>
              <a:gd name="adj2" fmla="val 50000"/>
            </a:avLst>
          </a:prstGeom>
          <a:noFill/>
          <a:ln w="2857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Rockwell"/>
              <a:ea typeface="Rockwell"/>
              <a:cs typeface="Rockwell"/>
              <a:sym typeface="Rockwell"/>
            </a:endParaRPr>
          </a:p>
        </p:txBody>
      </p:sp>
      <p:sp>
        <p:nvSpPr>
          <p:cNvPr id="735" name="Google Shape;735;p52"/>
          <p:cNvSpPr txBox="1"/>
          <p:nvPr/>
        </p:nvSpPr>
        <p:spPr>
          <a:xfrm>
            <a:off x="3925800" y="922033"/>
            <a:ext cx="1501876" cy="520400"/>
          </a:xfrm>
          <a:prstGeom prst="rect">
            <a:avLst/>
          </a:prstGeom>
          <a:noFill/>
          <a:ln>
            <a:noFill/>
          </a:ln>
        </p:spPr>
        <p:txBody>
          <a:bodyPr spcFirstLastPara="1" wrap="square" lIns="121900" tIns="121900" rIns="121900" bIns="121900" anchor="t"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rgbClr val="BE0712"/>
                </a:solidFill>
                <a:latin typeface="Consolas"/>
                <a:ea typeface="Consolas"/>
                <a:cs typeface="Consolas"/>
                <a:sym typeface="Consolas"/>
              </a:rPr>
              <a:t>groupby</a:t>
            </a:r>
            <a:endParaRPr sz="2400" b="0" i="0" u="none" strike="noStrike" cap="none">
              <a:solidFill>
                <a:srgbClr val="BE0712"/>
              </a:solidFill>
              <a:latin typeface="Consolas"/>
              <a:ea typeface="Consolas"/>
              <a:cs typeface="Consolas"/>
              <a:sym typeface="Consolas"/>
            </a:endParaRPr>
          </a:p>
        </p:txBody>
      </p:sp>
      <p:sp>
        <p:nvSpPr>
          <p:cNvPr id="736" name="Google Shape;736;p52"/>
          <p:cNvSpPr txBox="1"/>
          <p:nvPr/>
        </p:nvSpPr>
        <p:spPr>
          <a:xfrm>
            <a:off x="7768200" y="922033"/>
            <a:ext cx="4160400" cy="520400"/>
          </a:xfrm>
          <a:prstGeom prst="rect">
            <a:avLst/>
          </a:prstGeom>
          <a:noFill/>
          <a:ln>
            <a:noFill/>
          </a:ln>
        </p:spPr>
        <p:txBody>
          <a:bodyPr spcFirstLastPara="1" wrap="square" lIns="121900" tIns="121900" rIns="121900" bIns="1219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 sz="2400" b="0" i="0" u="none" strike="noStrike" cap="none">
                <a:solidFill>
                  <a:srgbClr val="BE0712"/>
                </a:solidFill>
                <a:latin typeface="Consolas"/>
                <a:ea typeface="Consolas"/>
                <a:cs typeface="Consolas"/>
                <a:sym typeface="Consolas"/>
              </a:rPr>
              <a:t>.agg(f)</a:t>
            </a:r>
            <a:r>
              <a:rPr lang="en" sz="2400" b="0" i="0" u="none" strike="noStrike" cap="none">
                <a:solidFill>
                  <a:srgbClr val="BE0712"/>
                </a:solidFill>
                <a:latin typeface="Calibri"/>
                <a:ea typeface="Calibri"/>
                <a:cs typeface="Calibri"/>
                <a:sym typeface="Calibri"/>
              </a:rPr>
              <a:t>, where </a:t>
            </a:r>
            <a:r>
              <a:rPr lang="en" sz="2400" b="0" i="0" u="none" strike="noStrike" cap="none">
                <a:solidFill>
                  <a:srgbClr val="BE0712"/>
                </a:solidFill>
                <a:latin typeface="Consolas"/>
                <a:ea typeface="Consolas"/>
                <a:cs typeface="Consolas"/>
                <a:sym typeface="Consolas"/>
              </a:rPr>
              <a:t>f = max</a:t>
            </a:r>
            <a:endParaRPr sz="2400" b="0" i="0" u="none" strike="noStrike" cap="none">
              <a:solidFill>
                <a:srgbClr val="BE0712"/>
              </a:solidFill>
              <a:latin typeface="Consolas"/>
              <a:ea typeface="Consolas"/>
              <a:cs typeface="Consolas"/>
              <a:sym typeface="Consolas"/>
            </a:endParaRPr>
          </a:p>
        </p:txBody>
      </p:sp>
      <p:sp>
        <p:nvSpPr>
          <p:cNvPr id="737" name="Google Shape;737;p52"/>
          <p:cNvSpPr/>
          <p:nvPr/>
        </p:nvSpPr>
        <p:spPr>
          <a:xfrm>
            <a:off x="3052204" y="1872067"/>
            <a:ext cx="596000" cy="410800"/>
          </a:xfrm>
          <a:prstGeom prst="rect">
            <a:avLst/>
          </a:prstGeom>
          <a:solidFill>
            <a:srgbClr val="FFFFFF"/>
          </a:solidFill>
          <a:ln w="952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chemeClr val="dk1"/>
                </a:solidFill>
                <a:latin typeface="Rockwell"/>
                <a:ea typeface="Rockwell"/>
                <a:cs typeface="Rockwell"/>
                <a:sym typeface="Rockwell"/>
              </a:rPr>
              <a:t>ak</a:t>
            </a:r>
            <a:endParaRPr sz="2400" b="0" i="0" u="none" strike="noStrike" cap="none">
              <a:solidFill>
                <a:schemeClr val="dk1"/>
              </a:solidFill>
              <a:latin typeface="Rockwell"/>
              <a:ea typeface="Rockwell"/>
              <a:cs typeface="Rockwell"/>
              <a:sym typeface="Rockwell"/>
            </a:endParaRPr>
          </a:p>
        </p:txBody>
      </p:sp>
      <p:sp>
        <p:nvSpPr>
          <p:cNvPr id="738" name="Google Shape;738;p52"/>
          <p:cNvSpPr/>
          <p:nvPr/>
        </p:nvSpPr>
        <p:spPr>
          <a:xfrm>
            <a:off x="3052204" y="2393267"/>
            <a:ext cx="596000" cy="410800"/>
          </a:xfrm>
          <a:prstGeom prst="rect">
            <a:avLst/>
          </a:prstGeom>
          <a:solidFill>
            <a:srgbClr val="FFFFFF"/>
          </a:solidFill>
          <a:ln w="952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chemeClr val="dk1"/>
                </a:solidFill>
                <a:latin typeface="Rockwell"/>
                <a:ea typeface="Rockwell"/>
                <a:cs typeface="Rockwell"/>
                <a:sym typeface="Rockwell"/>
              </a:rPr>
              <a:t>tx</a:t>
            </a:r>
            <a:endParaRPr sz="2400" b="0" i="0" u="none" strike="noStrike" cap="none">
              <a:solidFill>
                <a:schemeClr val="dk1"/>
              </a:solidFill>
              <a:latin typeface="Rockwell"/>
              <a:ea typeface="Rockwell"/>
              <a:cs typeface="Rockwell"/>
              <a:sym typeface="Rockwell"/>
            </a:endParaRPr>
          </a:p>
        </p:txBody>
      </p:sp>
      <p:sp>
        <p:nvSpPr>
          <p:cNvPr id="739" name="Google Shape;739;p52"/>
          <p:cNvSpPr/>
          <p:nvPr/>
        </p:nvSpPr>
        <p:spPr>
          <a:xfrm>
            <a:off x="3052204" y="2914467"/>
            <a:ext cx="596000" cy="410800"/>
          </a:xfrm>
          <a:prstGeom prst="rect">
            <a:avLst/>
          </a:prstGeom>
          <a:solidFill>
            <a:srgbClr val="FFFFFF"/>
          </a:solidFill>
          <a:ln w="952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chemeClr val="dk1"/>
                </a:solidFill>
                <a:latin typeface="Rockwell"/>
                <a:ea typeface="Rockwell"/>
                <a:cs typeface="Rockwell"/>
                <a:sym typeface="Rockwell"/>
              </a:rPr>
              <a:t>fl</a:t>
            </a:r>
            <a:endParaRPr sz="2400" b="0" i="0" u="none" strike="noStrike" cap="none">
              <a:solidFill>
                <a:schemeClr val="dk1"/>
              </a:solidFill>
              <a:latin typeface="Rockwell"/>
              <a:ea typeface="Rockwell"/>
              <a:cs typeface="Rockwell"/>
              <a:sym typeface="Rockwell"/>
            </a:endParaRPr>
          </a:p>
        </p:txBody>
      </p:sp>
      <p:sp>
        <p:nvSpPr>
          <p:cNvPr id="740" name="Google Shape;740;p52"/>
          <p:cNvSpPr/>
          <p:nvPr/>
        </p:nvSpPr>
        <p:spPr>
          <a:xfrm>
            <a:off x="3052204" y="3435667"/>
            <a:ext cx="596000" cy="410800"/>
          </a:xfrm>
          <a:prstGeom prst="rect">
            <a:avLst/>
          </a:prstGeom>
          <a:solidFill>
            <a:srgbClr val="FFFFFF"/>
          </a:solidFill>
          <a:ln w="952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chemeClr val="dk1"/>
                </a:solidFill>
                <a:latin typeface="Rockwell"/>
                <a:ea typeface="Rockwell"/>
                <a:cs typeface="Rockwell"/>
                <a:sym typeface="Rockwell"/>
              </a:rPr>
              <a:t>hi</a:t>
            </a:r>
            <a:endParaRPr sz="2400" b="0" i="0" u="none" strike="noStrike" cap="none">
              <a:solidFill>
                <a:schemeClr val="dk1"/>
              </a:solidFill>
              <a:latin typeface="Rockwell"/>
              <a:ea typeface="Rockwell"/>
              <a:cs typeface="Rockwell"/>
              <a:sym typeface="Rockwell"/>
            </a:endParaRPr>
          </a:p>
        </p:txBody>
      </p:sp>
      <p:sp>
        <p:nvSpPr>
          <p:cNvPr id="741" name="Google Shape;741;p52"/>
          <p:cNvSpPr/>
          <p:nvPr/>
        </p:nvSpPr>
        <p:spPr>
          <a:xfrm>
            <a:off x="3052204" y="3956867"/>
            <a:ext cx="656287" cy="410800"/>
          </a:xfrm>
          <a:prstGeom prst="rect">
            <a:avLst/>
          </a:prstGeom>
          <a:solidFill>
            <a:srgbClr val="FFFFFF"/>
          </a:solidFill>
          <a:ln w="952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chemeClr val="dk1"/>
                </a:solidFill>
                <a:latin typeface="Rockwell"/>
                <a:ea typeface="Rockwell"/>
                <a:cs typeface="Rockwell"/>
                <a:sym typeface="Rockwell"/>
              </a:rPr>
              <a:t>mi</a:t>
            </a:r>
            <a:endParaRPr sz="2400" b="0" i="0" u="none" strike="noStrike" cap="none">
              <a:solidFill>
                <a:schemeClr val="dk1"/>
              </a:solidFill>
              <a:latin typeface="Rockwell"/>
              <a:ea typeface="Rockwell"/>
              <a:cs typeface="Rockwell"/>
              <a:sym typeface="Rockwell"/>
            </a:endParaRPr>
          </a:p>
        </p:txBody>
      </p:sp>
      <p:sp>
        <p:nvSpPr>
          <p:cNvPr id="742" name="Google Shape;742;p52"/>
          <p:cNvSpPr/>
          <p:nvPr/>
        </p:nvSpPr>
        <p:spPr>
          <a:xfrm>
            <a:off x="3052204" y="4478067"/>
            <a:ext cx="596000" cy="410800"/>
          </a:xfrm>
          <a:prstGeom prst="rect">
            <a:avLst/>
          </a:prstGeom>
          <a:solidFill>
            <a:srgbClr val="FFFFFF"/>
          </a:solidFill>
          <a:ln w="952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chemeClr val="dk1"/>
                </a:solidFill>
                <a:latin typeface="Rockwell"/>
                <a:ea typeface="Rockwell"/>
                <a:cs typeface="Rockwell"/>
                <a:sym typeface="Rockwell"/>
              </a:rPr>
              <a:t>ak</a:t>
            </a:r>
            <a:endParaRPr sz="2400" b="0" i="0" u="none" strike="noStrike" cap="none">
              <a:solidFill>
                <a:schemeClr val="dk1"/>
              </a:solidFill>
              <a:latin typeface="Rockwell"/>
              <a:ea typeface="Rockwell"/>
              <a:cs typeface="Rockwell"/>
              <a:sym typeface="Rockwell"/>
            </a:endParaRPr>
          </a:p>
        </p:txBody>
      </p:sp>
      <p:sp>
        <p:nvSpPr>
          <p:cNvPr id="743" name="Google Shape;743;p52"/>
          <p:cNvSpPr/>
          <p:nvPr/>
        </p:nvSpPr>
        <p:spPr>
          <a:xfrm>
            <a:off x="3052204" y="4999267"/>
            <a:ext cx="596000" cy="410800"/>
          </a:xfrm>
          <a:prstGeom prst="rect">
            <a:avLst/>
          </a:prstGeom>
          <a:solidFill>
            <a:srgbClr val="FFFFFF"/>
          </a:solidFill>
          <a:ln w="952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chemeClr val="dk1"/>
                </a:solidFill>
                <a:latin typeface="Rockwell"/>
                <a:ea typeface="Rockwell"/>
                <a:cs typeface="Rockwell"/>
                <a:sym typeface="Rockwell"/>
              </a:rPr>
              <a:t>ca</a:t>
            </a:r>
            <a:endParaRPr sz="2400" b="0" i="0" u="none" strike="noStrike" cap="none">
              <a:solidFill>
                <a:schemeClr val="dk1"/>
              </a:solidFill>
              <a:latin typeface="Rockwell"/>
              <a:ea typeface="Rockwell"/>
              <a:cs typeface="Rockwell"/>
              <a:sym typeface="Rockwell"/>
            </a:endParaRPr>
          </a:p>
        </p:txBody>
      </p:sp>
      <p:sp>
        <p:nvSpPr>
          <p:cNvPr id="744" name="Google Shape;744;p52"/>
          <p:cNvSpPr/>
          <p:nvPr/>
        </p:nvSpPr>
        <p:spPr>
          <a:xfrm>
            <a:off x="3052204" y="5520467"/>
            <a:ext cx="596000" cy="410800"/>
          </a:xfrm>
          <a:prstGeom prst="rect">
            <a:avLst/>
          </a:prstGeom>
          <a:solidFill>
            <a:srgbClr val="FFFFFF"/>
          </a:solidFill>
          <a:ln w="952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chemeClr val="dk1"/>
                </a:solidFill>
                <a:latin typeface="Rockwell"/>
                <a:ea typeface="Rockwell"/>
                <a:cs typeface="Rockwell"/>
                <a:sym typeface="Rockwell"/>
              </a:rPr>
              <a:t>sd</a:t>
            </a:r>
            <a:endParaRPr sz="2400" b="0" i="0" u="none" strike="noStrike" cap="none">
              <a:solidFill>
                <a:schemeClr val="dk1"/>
              </a:solidFill>
              <a:latin typeface="Rockwell"/>
              <a:ea typeface="Rockwell"/>
              <a:cs typeface="Rockwell"/>
              <a:sym typeface="Rockwell"/>
            </a:endParaRPr>
          </a:p>
        </p:txBody>
      </p:sp>
      <p:sp>
        <p:nvSpPr>
          <p:cNvPr id="745" name="Google Shape;745;p52"/>
          <p:cNvSpPr/>
          <p:nvPr/>
        </p:nvSpPr>
        <p:spPr>
          <a:xfrm>
            <a:off x="3052204" y="6041667"/>
            <a:ext cx="596000" cy="410800"/>
          </a:xfrm>
          <a:prstGeom prst="rect">
            <a:avLst/>
          </a:prstGeom>
          <a:solidFill>
            <a:srgbClr val="FFFFFF"/>
          </a:solidFill>
          <a:ln w="952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chemeClr val="dk1"/>
                </a:solidFill>
                <a:latin typeface="Rockwell"/>
                <a:ea typeface="Rockwell"/>
                <a:cs typeface="Rockwell"/>
                <a:sym typeface="Rockwell"/>
              </a:rPr>
              <a:t>nc</a:t>
            </a:r>
            <a:endParaRPr sz="2400" b="0" i="0" u="none" strike="noStrike" cap="none">
              <a:solidFill>
                <a:schemeClr val="dk1"/>
              </a:solidFill>
              <a:latin typeface="Rockwell"/>
              <a:ea typeface="Rockwell"/>
              <a:cs typeface="Rockwell"/>
              <a:sym typeface="Rockwell"/>
            </a:endParaRPr>
          </a:p>
        </p:txBody>
      </p:sp>
      <p:sp>
        <p:nvSpPr>
          <p:cNvPr id="746" name="Google Shape;746;p52"/>
          <p:cNvSpPr/>
          <p:nvPr/>
        </p:nvSpPr>
        <p:spPr>
          <a:xfrm>
            <a:off x="6630504" y="1567267"/>
            <a:ext cx="596000" cy="410800"/>
          </a:xfrm>
          <a:prstGeom prst="rect">
            <a:avLst/>
          </a:prstGeom>
          <a:solidFill>
            <a:srgbClr val="FFFFFF"/>
          </a:solidFill>
          <a:ln w="952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chemeClr val="dk1"/>
                </a:solidFill>
                <a:latin typeface="Rockwell"/>
                <a:ea typeface="Rockwell"/>
                <a:cs typeface="Rockwell"/>
                <a:sym typeface="Rockwell"/>
              </a:rPr>
              <a:t>ak</a:t>
            </a:r>
            <a:endParaRPr sz="2400" b="0" i="0" u="none" strike="noStrike" cap="none">
              <a:solidFill>
                <a:schemeClr val="dk1"/>
              </a:solidFill>
              <a:latin typeface="Rockwell"/>
              <a:ea typeface="Rockwell"/>
              <a:cs typeface="Rockwell"/>
              <a:sym typeface="Rockwell"/>
            </a:endParaRPr>
          </a:p>
        </p:txBody>
      </p:sp>
      <p:sp>
        <p:nvSpPr>
          <p:cNvPr id="747" name="Google Shape;747;p52"/>
          <p:cNvSpPr/>
          <p:nvPr/>
        </p:nvSpPr>
        <p:spPr>
          <a:xfrm>
            <a:off x="6630504" y="2088467"/>
            <a:ext cx="596000" cy="410800"/>
          </a:xfrm>
          <a:prstGeom prst="rect">
            <a:avLst/>
          </a:prstGeom>
          <a:solidFill>
            <a:srgbClr val="FFFFFF"/>
          </a:solidFill>
          <a:ln w="952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chemeClr val="dk1"/>
                </a:solidFill>
                <a:latin typeface="Rockwell"/>
                <a:ea typeface="Rockwell"/>
                <a:cs typeface="Rockwell"/>
                <a:sym typeface="Rockwell"/>
              </a:rPr>
              <a:t>hi</a:t>
            </a:r>
            <a:endParaRPr sz="2400" b="0" i="0" u="none" strike="noStrike" cap="none">
              <a:solidFill>
                <a:schemeClr val="dk1"/>
              </a:solidFill>
              <a:latin typeface="Rockwell"/>
              <a:ea typeface="Rockwell"/>
              <a:cs typeface="Rockwell"/>
              <a:sym typeface="Rockwell"/>
            </a:endParaRPr>
          </a:p>
        </p:txBody>
      </p:sp>
      <p:sp>
        <p:nvSpPr>
          <p:cNvPr id="748" name="Google Shape;748;p52"/>
          <p:cNvSpPr/>
          <p:nvPr/>
        </p:nvSpPr>
        <p:spPr>
          <a:xfrm>
            <a:off x="6630504" y="2609667"/>
            <a:ext cx="596000" cy="410800"/>
          </a:xfrm>
          <a:prstGeom prst="rect">
            <a:avLst/>
          </a:prstGeom>
          <a:solidFill>
            <a:srgbClr val="FFFFFF"/>
          </a:solidFill>
          <a:ln w="952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chemeClr val="dk1"/>
                </a:solidFill>
                <a:latin typeface="Rockwell"/>
                <a:ea typeface="Rockwell"/>
                <a:cs typeface="Rockwell"/>
                <a:sym typeface="Rockwell"/>
              </a:rPr>
              <a:t>ca</a:t>
            </a:r>
            <a:endParaRPr sz="2400" b="0" i="0" u="none" strike="noStrike" cap="none">
              <a:solidFill>
                <a:schemeClr val="dk1"/>
              </a:solidFill>
              <a:latin typeface="Rockwell"/>
              <a:ea typeface="Rockwell"/>
              <a:cs typeface="Rockwell"/>
              <a:sym typeface="Rockwell"/>
            </a:endParaRPr>
          </a:p>
        </p:txBody>
      </p:sp>
      <p:sp>
        <p:nvSpPr>
          <p:cNvPr id="749" name="Google Shape;749;p52"/>
          <p:cNvSpPr/>
          <p:nvPr/>
        </p:nvSpPr>
        <p:spPr>
          <a:xfrm>
            <a:off x="6630504" y="3435667"/>
            <a:ext cx="596000" cy="410800"/>
          </a:xfrm>
          <a:prstGeom prst="rect">
            <a:avLst/>
          </a:prstGeom>
          <a:solidFill>
            <a:srgbClr val="FFFFFF"/>
          </a:solidFill>
          <a:ln w="952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chemeClr val="dk1"/>
                </a:solidFill>
                <a:latin typeface="Rockwell"/>
                <a:ea typeface="Rockwell"/>
                <a:cs typeface="Rockwell"/>
                <a:sym typeface="Rockwell"/>
              </a:rPr>
              <a:t>tx</a:t>
            </a:r>
            <a:endParaRPr sz="2400" b="0" i="0" u="none" strike="noStrike" cap="none">
              <a:solidFill>
                <a:schemeClr val="dk1"/>
              </a:solidFill>
              <a:latin typeface="Rockwell"/>
              <a:ea typeface="Rockwell"/>
              <a:cs typeface="Rockwell"/>
              <a:sym typeface="Rockwell"/>
            </a:endParaRPr>
          </a:p>
        </p:txBody>
      </p:sp>
      <p:sp>
        <p:nvSpPr>
          <p:cNvPr id="750" name="Google Shape;750;p52"/>
          <p:cNvSpPr/>
          <p:nvPr/>
        </p:nvSpPr>
        <p:spPr>
          <a:xfrm>
            <a:off x="6630503" y="3956867"/>
            <a:ext cx="656287" cy="410800"/>
          </a:xfrm>
          <a:prstGeom prst="rect">
            <a:avLst/>
          </a:prstGeom>
          <a:solidFill>
            <a:srgbClr val="FFFFFF"/>
          </a:solidFill>
          <a:ln w="952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chemeClr val="dk1"/>
                </a:solidFill>
                <a:latin typeface="Rockwell"/>
                <a:ea typeface="Rockwell"/>
                <a:cs typeface="Rockwell"/>
                <a:sym typeface="Rockwell"/>
              </a:rPr>
              <a:t>mi</a:t>
            </a:r>
            <a:endParaRPr sz="2400" b="0" i="0" u="none" strike="noStrike" cap="none">
              <a:solidFill>
                <a:schemeClr val="dk1"/>
              </a:solidFill>
              <a:latin typeface="Rockwell"/>
              <a:ea typeface="Rockwell"/>
              <a:cs typeface="Rockwell"/>
              <a:sym typeface="Rockwell"/>
            </a:endParaRPr>
          </a:p>
        </p:txBody>
      </p:sp>
      <p:sp>
        <p:nvSpPr>
          <p:cNvPr id="751" name="Google Shape;751;p52"/>
          <p:cNvSpPr/>
          <p:nvPr/>
        </p:nvSpPr>
        <p:spPr>
          <a:xfrm>
            <a:off x="6630504" y="4478067"/>
            <a:ext cx="596000" cy="410800"/>
          </a:xfrm>
          <a:prstGeom prst="rect">
            <a:avLst/>
          </a:prstGeom>
          <a:solidFill>
            <a:srgbClr val="FFFFFF"/>
          </a:solidFill>
          <a:ln w="952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chemeClr val="dk1"/>
                </a:solidFill>
                <a:latin typeface="Rockwell"/>
                <a:ea typeface="Rockwell"/>
                <a:cs typeface="Rockwell"/>
                <a:sym typeface="Rockwell"/>
              </a:rPr>
              <a:t>nc</a:t>
            </a:r>
            <a:endParaRPr sz="2400" b="0" i="0" u="none" strike="noStrike" cap="none">
              <a:solidFill>
                <a:schemeClr val="dk1"/>
              </a:solidFill>
              <a:latin typeface="Rockwell"/>
              <a:ea typeface="Rockwell"/>
              <a:cs typeface="Rockwell"/>
              <a:sym typeface="Rockwell"/>
            </a:endParaRPr>
          </a:p>
        </p:txBody>
      </p:sp>
      <p:sp>
        <p:nvSpPr>
          <p:cNvPr id="752" name="Google Shape;752;p52"/>
          <p:cNvSpPr/>
          <p:nvPr/>
        </p:nvSpPr>
        <p:spPr>
          <a:xfrm>
            <a:off x="6630504" y="5304067"/>
            <a:ext cx="596000" cy="410800"/>
          </a:xfrm>
          <a:prstGeom prst="rect">
            <a:avLst/>
          </a:prstGeom>
          <a:solidFill>
            <a:srgbClr val="FFFFFF"/>
          </a:solidFill>
          <a:ln w="952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chemeClr val="dk1"/>
                </a:solidFill>
                <a:latin typeface="Rockwell"/>
                <a:ea typeface="Rockwell"/>
                <a:cs typeface="Rockwell"/>
                <a:sym typeface="Rockwell"/>
              </a:rPr>
              <a:t>fl</a:t>
            </a:r>
            <a:endParaRPr sz="2400" b="0" i="0" u="none" strike="noStrike" cap="none">
              <a:solidFill>
                <a:schemeClr val="dk1"/>
              </a:solidFill>
              <a:latin typeface="Rockwell"/>
              <a:ea typeface="Rockwell"/>
              <a:cs typeface="Rockwell"/>
              <a:sym typeface="Rockwell"/>
            </a:endParaRPr>
          </a:p>
        </p:txBody>
      </p:sp>
      <p:sp>
        <p:nvSpPr>
          <p:cNvPr id="753" name="Google Shape;753;p52"/>
          <p:cNvSpPr/>
          <p:nvPr/>
        </p:nvSpPr>
        <p:spPr>
          <a:xfrm>
            <a:off x="6630504" y="5825267"/>
            <a:ext cx="596000" cy="410800"/>
          </a:xfrm>
          <a:prstGeom prst="rect">
            <a:avLst/>
          </a:prstGeom>
          <a:solidFill>
            <a:srgbClr val="FFFFFF"/>
          </a:solidFill>
          <a:ln w="952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chemeClr val="dk1"/>
                </a:solidFill>
                <a:latin typeface="Rockwell"/>
                <a:ea typeface="Rockwell"/>
                <a:cs typeface="Rockwell"/>
                <a:sym typeface="Rockwell"/>
              </a:rPr>
              <a:t>ak</a:t>
            </a:r>
            <a:endParaRPr sz="2400" b="0" i="0" u="none" strike="noStrike" cap="none">
              <a:solidFill>
                <a:schemeClr val="dk1"/>
              </a:solidFill>
              <a:latin typeface="Rockwell"/>
              <a:ea typeface="Rockwell"/>
              <a:cs typeface="Rockwell"/>
              <a:sym typeface="Rockwell"/>
            </a:endParaRPr>
          </a:p>
        </p:txBody>
      </p:sp>
      <p:sp>
        <p:nvSpPr>
          <p:cNvPr id="754" name="Google Shape;754;p52"/>
          <p:cNvSpPr/>
          <p:nvPr/>
        </p:nvSpPr>
        <p:spPr>
          <a:xfrm>
            <a:off x="6630504" y="6346467"/>
            <a:ext cx="596000" cy="410800"/>
          </a:xfrm>
          <a:prstGeom prst="rect">
            <a:avLst/>
          </a:prstGeom>
          <a:solidFill>
            <a:srgbClr val="FFFFFF"/>
          </a:solidFill>
          <a:ln w="952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chemeClr val="dk1"/>
                </a:solidFill>
                <a:latin typeface="Rockwell"/>
                <a:ea typeface="Rockwell"/>
                <a:cs typeface="Rockwell"/>
                <a:sym typeface="Rockwell"/>
              </a:rPr>
              <a:t>sd</a:t>
            </a:r>
            <a:endParaRPr sz="2400" b="0" i="0" u="none" strike="noStrike" cap="none">
              <a:solidFill>
                <a:schemeClr val="dk1"/>
              </a:solidFill>
              <a:latin typeface="Rockwell"/>
              <a:ea typeface="Rockwell"/>
              <a:cs typeface="Rockwell"/>
              <a:sym typeface="Rockwell"/>
            </a:endParaRPr>
          </a:p>
        </p:txBody>
      </p:sp>
      <p:sp>
        <p:nvSpPr>
          <p:cNvPr id="755" name="Google Shape;755;p52"/>
          <p:cNvSpPr/>
          <p:nvPr/>
        </p:nvSpPr>
        <p:spPr>
          <a:xfrm>
            <a:off x="10297271" y="3435633"/>
            <a:ext cx="596000" cy="410800"/>
          </a:xfrm>
          <a:prstGeom prst="rect">
            <a:avLst/>
          </a:prstGeom>
          <a:solidFill>
            <a:srgbClr val="FFFFFF"/>
          </a:solidFill>
          <a:ln w="952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chemeClr val="dk1"/>
                </a:solidFill>
                <a:latin typeface="Rockwell"/>
                <a:ea typeface="Rockwell"/>
                <a:cs typeface="Rockwell"/>
                <a:sym typeface="Rockwell"/>
              </a:rPr>
              <a:t>hi</a:t>
            </a:r>
            <a:endParaRPr sz="2400" b="0" i="0" u="none" strike="noStrike" cap="none">
              <a:solidFill>
                <a:schemeClr val="dk1"/>
              </a:solidFill>
              <a:latin typeface="Rockwell"/>
              <a:ea typeface="Rockwell"/>
              <a:cs typeface="Rockwell"/>
              <a:sym typeface="Rockwell"/>
            </a:endParaRPr>
          </a:p>
        </p:txBody>
      </p:sp>
      <p:sp>
        <p:nvSpPr>
          <p:cNvPr id="756" name="Google Shape;756;p52"/>
          <p:cNvSpPr/>
          <p:nvPr/>
        </p:nvSpPr>
        <p:spPr>
          <a:xfrm>
            <a:off x="10297271" y="3956833"/>
            <a:ext cx="596000" cy="410800"/>
          </a:xfrm>
          <a:prstGeom prst="rect">
            <a:avLst/>
          </a:prstGeom>
          <a:solidFill>
            <a:srgbClr val="FFFFFF"/>
          </a:solidFill>
          <a:ln w="952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chemeClr val="dk1"/>
                </a:solidFill>
                <a:latin typeface="Rockwell"/>
                <a:ea typeface="Rockwell"/>
                <a:cs typeface="Rockwell"/>
                <a:sym typeface="Rockwell"/>
              </a:rPr>
              <a:t>tx</a:t>
            </a:r>
            <a:endParaRPr sz="2400" b="0" i="0" u="none" strike="noStrike" cap="none">
              <a:solidFill>
                <a:schemeClr val="dk1"/>
              </a:solidFill>
              <a:latin typeface="Rockwell"/>
              <a:ea typeface="Rockwell"/>
              <a:cs typeface="Rockwell"/>
              <a:sym typeface="Rockwell"/>
            </a:endParaRPr>
          </a:p>
        </p:txBody>
      </p:sp>
      <p:sp>
        <p:nvSpPr>
          <p:cNvPr id="757" name="Google Shape;757;p52"/>
          <p:cNvSpPr/>
          <p:nvPr/>
        </p:nvSpPr>
        <p:spPr>
          <a:xfrm>
            <a:off x="10297271" y="4478033"/>
            <a:ext cx="596000" cy="410800"/>
          </a:xfrm>
          <a:prstGeom prst="rect">
            <a:avLst/>
          </a:prstGeom>
          <a:solidFill>
            <a:srgbClr val="FFFFFF"/>
          </a:solidFill>
          <a:ln w="952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0" i="0" u="none" strike="noStrike" cap="none">
                <a:solidFill>
                  <a:schemeClr val="dk1"/>
                </a:solidFill>
                <a:latin typeface="Rockwell"/>
                <a:ea typeface="Rockwell"/>
                <a:cs typeface="Rockwell"/>
                <a:sym typeface="Rockwell"/>
              </a:rPr>
              <a:t>sd</a:t>
            </a:r>
            <a:endParaRPr sz="2400" b="0" i="0" u="none" strike="noStrike" cap="none">
              <a:solidFill>
                <a:schemeClr val="dk1"/>
              </a:solidFill>
              <a:latin typeface="Rockwell"/>
              <a:ea typeface="Rockwell"/>
              <a:cs typeface="Rockwell"/>
              <a:sym typeface="Rockwell"/>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761"/>
        <p:cNvGrpSpPr/>
        <p:nvPr/>
      </p:nvGrpSpPr>
      <p:grpSpPr>
        <a:xfrm>
          <a:off x="0" y="0"/>
          <a:ext cx="0" cy="0"/>
          <a:chOff x="0" y="0"/>
          <a:chExt cx="0" cy="0"/>
        </a:xfrm>
      </p:grpSpPr>
      <p:sp>
        <p:nvSpPr>
          <p:cNvPr id="762" name="Google Shape;762;p46"/>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
              <a:t>ACKNOWLEDGMENTS</a:t>
            </a:r>
            <a:endParaRPr/>
          </a:p>
        </p:txBody>
      </p:sp>
      <p:sp>
        <p:nvSpPr>
          <p:cNvPr id="763" name="Google Shape;763;p46"/>
          <p:cNvSpPr txBox="1">
            <a:spLocks noGrp="1"/>
          </p:cNvSpPr>
          <p:nvPr>
            <p:ph type="body" idx="1"/>
          </p:nvPr>
        </p:nvSpPr>
        <p:spPr>
          <a:xfrm>
            <a:off x="1069848" y="2121408"/>
            <a:ext cx="10058400" cy="4050792"/>
          </a:xfrm>
          <a:prstGeom prst="rect">
            <a:avLst/>
          </a:prstGeom>
          <a:noFill/>
          <a:ln>
            <a:noFill/>
          </a:ln>
        </p:spPr>
        <p:txBody>
          <a:bodyPr spcFirstLastPara="1" wrap="square" lIns="91425" tIns="45700" rIns="91425" bIns="45700" anchor="t" anchorCtr="0">
            <a:normAutofit/>
          </a:bodyPr>
          <a:lstStyle/>
          <a:p>
            <a:pPr marL="182880" lvl="0" indent="-182880" algn="l" rtl="0">
              <a:lnSpc>
                <a:spcPct val="90000"/>
              </a:lnSpc>
              <a:spcBef>
                <a:spcPts val="0"/>
              </a:spcBef>
              <a:spcAft>
                <a:spcPts val="0"/>
              </a:spcAft>
              <a:buSzPts val="1700"/>
              <a:buChar char="▪"/>
            </a:pPr>
            <a:r>
              <a:rPr lang="en"/>
              <a:t>These slides use materials by the Berkeley DS 100 team  </a:t>
            </a:r>
            <a:endParaRP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el">
  <a:themeElements>
    <a:clrScheme name="Oriel">
      <a:dk1>
        <a:sysClr val="windowText" lastClr="000000"/>
      </a:dk1>
      <a:lt1>
        <a:sysClr val="window" lastClr="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Gill Sans MT">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riel">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Oriel</Template>
  <TotalTime>3408</TotalTime>
  <Words>4161</Words>
  <Application>Microsoft Macintosh PowerPoint</Application>
  <PresentationFormat>宽屏</PresentationFormat>
  <Paragraphs>645</Paragraphs>
  <Slides>65</Slides>
  <Notes>65</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65</vt:i4>
      </vt:variant>
    </vt:vector>
  </HeadingPairs>
  <TitlesOfParts>
    <vt:vector size="76" baseType="lpstr">
      <vt:lpstr>Noto Sans Symbols</vt:lpstr>
      <vt:lpstr>Arial</vt:lpstr>
      <vt:lpstr>Calibri</vt:lpstr>
      <vt:lpstr>Consolas</vt:lpstr>
      <vt:lpstr>Courier New</vt:lpstr>
      <vt:lpstr>Gill Sans MT</vt:lpstr>
      <vt:lpstr>Helvetica Neue</vt:lpstr>
      <vt:lpstr>Rockwell</vt:lpstr>
      <vt:lpstr>Wingdings</vt:lpstr>
      <vt:lpstr>Wingdings 2</vt:lpstr>
      <vt:lpstr>Oriel</vt:lpstr>
      <vt:lpstr>Data lifecycle (cntd) and Pandas</vt:lpstr>
      <vt:lpstr>ANNOUNCEMENTS</vt:lpstr>
      <vt:lpstr>LITERARY DIGEST, 1936</vt:lpstr>
      <vt:lpstr>LITERARY DIGEST, 1936: WHAT HAPPENED?</vt:lpstr>
      <vt:lpstr>BIG DATA CANNOT REASONABLY COMPENSATE FOR SAMPLE BIAS</vt:lpstr>
      <vt:lpstr>DATASET TERMINOLOGY</vt:lpstr>
      <vt:lpstr>PROBABILITY SAMPLING</vt:lpstr>
      <vt:lpstr>PROBABILITY SAMPLING:  SIMPLE RANDOM SAMPLE (SRS)</vt:lpstr>
      <vt:lpstr>PROBABILITY SAMPLING:  CLUSTER SAMPLING</vt:lpstr>
      <vt:lpstr>PROBABILITY SAMPLING:  STRATIFIED SAMPLING</vt:lpstr>
      <vt:lpstr>ARE FIRST BORNS MORE LIKELY TO ATTEND HARVARD?</vt:lpstr>
      <vt:lpstr>STATS REVIEW</vt:lpstr>
      <vt:lpstr>ARE FIRST BORNS MORE LIKELY TO ATTEND HARVARD?</vt:lpstr>
      <vt:lpstr>INFORMAL EXPLANATION OF WHY SANDEL’S ARGUMENT IS INCONCLUSIVE</vt:lpstr>
      <vt:lpstr>AN ERRONEOUS ANALYSIS</vt:lpstr>
      <vt:lpstr>AN ERRONEOUS ANALYSIS</vt:lpstr>
      <vt:lpstr>MORE MATHEMATICALLY PRECISE VERSION OF SANDEL’S FLAW</vt:lpstr>
      <vt:lpstr>SURVEY</vt:lpstr>
      <vt:lpstr>MORE MATHEMATICALLY PRECISE VERSION OF SANDEL’S FLAW</vt:lpstr>
      <vt:lpstr>CLASS PROJECT</vt:lpstr>
      <vt:lpstr>PowerPoint 演示文稿</vt:lpstr>
      <vt:lpstr>PowerPoint 演示文稿</vt:lpstr>
      <vt:lpstr>Rest of the lecture</vt:lpstr>
      <vt:lpstr>RECTANGULAR DATA</vt:lpstr>
      <vt:lpstr>PANDAS DATA STRUCTURES</vt:lpstr>
      <vt:lpstr>SIMPLE ATTRIBUTES AND FUNCTIONS</vt:lpstr>
      <vt:lpstr>RELATIONSHIP BETWEEN  DATA FRAMES, SERIES, AND INDICES</vt:lpstr>
      <vt:lpstr>INDICES ARE NOT NECESSARILY ROW NUMBERS</vt:lpstr>
      <vt:lpstr>INDICES</vt:lpstr>
      <vt:lpstr>COLUMN NAMES MUST BE UNIQUE!</vt:lpstr>
      <vt:lpstr>INDEXING WITH LOC AND ILOC</vt:lpstr>
      <vt:lpstr>LOC AND ILOC</vt:lpstr>
      <vt:lpstr>LOC WITH LISTS</vt:lpstr>
      <vt:lpstr>LOC WITH SLICES</vt:lpstr>
      <vt:lpstr>LOC WITH SINGLE VALUES FOR COLUMN LABEL</vt:lpstr>
      <vt:lpstr>LOC WITH SINGLE VALUES FOR COLUMN LABEL</vt:lpstr>
      <vt:lpstr>LOC WITH SINGLE VALUES FOR ROW LABEL</vt:lpstr>
      <vt:lpstr>ILOC: INTEGER-BASED INDEXING  FOR SELECTION BY POSITION</vt:lpstr>
      <vt:lpstr>INDEXING WITH THE [] OPERATOR</vt:lpstr>
      <vt:lpstr>INDEXING BY COLUMN NAMES USING []</vt:lpstr>
      <vt:lpstr>INDEXING BY ROW SLICES USING []</vt:lpstr>
      <vt:lpstr>NOTE: ROW SELECTION REQUIRES SLICING!!</vt:lpstr>
      <vt:lpstr>[] SUMMARY</vt:lpstr>
      <vt:lpstr>QUESTION 1</vt:lpstr>
      <vt:lpstr>QUESTION 2</vt:lpstr>
      <vt:lpstr>QUESTION 3</vt:lpstr>
      <vt:lpstr>BOOLEAN ARRAY SELECTION</vt:lpstr>
      <vt:lpstr>BOOLEAN ARRAY INPUT</vt:lpstr>
      <vt:lpstr>BOOLEAN ARRAY INPUT</vt:lpstr>
      <vt:lpstr>BOOLEAN ARRAY INPUT</vt:lpstr>
      <vt:lpstr>LOC SUPPORTS BOOLEAN ARRAYS</vt:lpstr>
      <vt:lpstr>ANNOYING QUESTION CHALLENGE</vt:lpstr>
      <vt:lpstr>HANDY PROPERTIES AND UTILITY FUNCTIONS  FOR SERIES AND DATAFRAMES</vt:lpstr>
      <vt:lpstr>THE SORT_VALUES METHOD</vt:lpstr>
      <vt:lpstr>THE SORT_VALUES METHOD</vt:lpstr>
      <vt:lpstr>THE VALUE_COUNTS METHOD</vt:lpstr>
      <vt:lpstr>THE UNIQUE METHOD</vt:lpstr>
      <vt:lpstr>ISIN</vt:lpstr>
      <vt:lpstr>GROUPBY</vt:lpstr>
      <vt:lpstr>GROUPBY KEY CONCEPTS: SERIES</vt:lpstr>
      <vt:lpstr>GROUPBY ON DATAFRAME</vt:lpstr>
      <vt:lpstr>GROUPBY AND AGG </vt:lpstr>
      <vt:lpstr>SERIES GROUPBY/AGG SUMMARY</vt:lpstr>
      <vt:lpstr>DATAFRAME GROUPBY/AGG SUMMARY</vt:lpstr>
      <vt:lpstr>ACKNOWLEDGMENTS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WELCOME TO DATA SCIENCE</dc:title>
  <dc:subject/>
  <dc:creator>sathya@uic.edu</dc:creator>
  <cp:keywords/>
  <dc:description/>
  <cp:lastModifiedBy>yuting lu</cp:lastModifiedBy>
  <cp:revision>103</cp:revision>
  <dcterms:created xsi:type="dcterms:W3CDTF">2017-08-21T17:08:06Z</dcterms:created>
  <dcterms:modified xsi:type="dcterms:W3CDTF">2024-10-29T16:45:04Z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
    <vt:lpwstr>Sathya Ravi</vt:lpwstr>
  </property>
</Properties>
</file>