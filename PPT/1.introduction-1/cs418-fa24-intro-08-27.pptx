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39"/>
  </p:notesMasterIdLst>
  <p:sldIdLst>
    <p:sldId id="256" r:id="rId2"/>
    <p:sldId id="258" r:id="rId3"/>
    <p:sldId id="263" r:id="rId4"/>
    <p:sldId id="261" r:id="rId5"/>
    <p:sldId id="265" r:id="rId6"/>
    <p:sldId id="266" r:id="rId7"/>
    <p:sldId id="267" r:id="rId8"/>
    <p:sldId id="268" r:id="rId9"/>
    <p:sldId id="269" r:id="rId10"/>
    <p:sldId id="270" r:id="rId11"/>
    <p:sldId id="339" r:id="rId12"/>
    <p:sldId id="272" r:id="rId13"/>
    <p:sldId id="275" r:id="rId14"/>
    <p:sldId id="276" r:id="rId15"/>
    <p:sldId id="277" r:id="rId16"/>
    <p:sldId id="278" r:id="rId17"/>
    <p:sldId id="279" r:id="rId18"/>
    <p:sldId id="280" r:id="rId19"/>
    <p:sldId id="281" r:id="rId20"/>
    <p:sldId id="283" r:id="rId21"/>
    <p:sldId id="284" r:id="rId22"/>
    <p:sldId id="285" r:id="rId23"/>
    <p:sldId id="286" r:id="rId24"/>
    <p:sldId id="287" r:id="rId25"/>
    <p:sldId id="288" r:id="rId26"/>
    <p:sldId id="289" r:id="rId27"/>
    <p:sldId id="290" r:id="rId28"/>
    <p:sldId id="291" r:id="rId29"/>
    <p:sldId id="294" r:id="rId30"/>
    <p:sldId id="295" r:id="rId31"/>
    <p:sldId id="296" r:id="rId32"/>
    <p:sldId id="297" r:id="rId33"/>
    <p:sldId id="298" r:id="rId34"/>
    <p:sldId id="308" r:id="rId35"/>
    <p:sldId id="309" r:id="rId36"/>
    <p:sldId id="310" r:id="rId37"/>
    <p:sldId id="311" r:id="rId38"/>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5" roundtripDataSignature="AMtx7mgjr6sOdHEeufIgXygRCCpSkdg5S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E43D9A-B9CC-D204-4563-8196A434CD32}" name="Ravi, Sathya" initials="" userId="S::sathya@uic.edu::617e2e82-06a6-4137-a700-b460764285c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9F83C-5B16-4E0F-93E5-201A7CBD518D}">
  <a:tblStyle styleId="{CA29F83C-5B16-4E0F-93E5-201A7CBD518D}"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b="off" i="off"/>
      <a:tcStyle>
        <a:tcBdr/>
        <a:fill>
          <a:solidFill>
            <a:srgbClr val="EFCECA"/>
          </a:solidFill>
        </a:fill>
      </a:tcStyle>
    </a:band1H>
    <a:band2H>
      <a:tcTxStyle b="off" i="off"/>
      <a:tcStyle>
        <a:tcBdr/>
      </a:tcStyle>
    </a:band2H>
    <a:band1V>
      <a:tcTxStyle b="off" i="off"/>
      <a:tcStyle>
        <a:tcBdr/>
        <a:fill>
          <a:solidFill>
            <a:srgbClr val="EFCECA"/>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1"/>
          </a:solidFill>
        </a:fill>
      </a:tcStyle>
    </a:lastCol>
    <a:firstCol>
      <a:tcTxStyle b="on" i="off">
        <a:font>
          <a:latin typeface="Rockwell"/>
          <a:ea typeface="Rockwell"/>
          <a:cs typeface="Rockwell"/>
        </a:font>
        <a:schemeClr val="lt1"/>
      </a:tcTxStyle>
      <a:tcStyle>
        <a:tcBdr/>
        <a:fill>
          <a:solidFill>
            <a:schemeClr val="accent1"/>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58"/>
    <p:restoredTop sz="83648"/>
  </p:normalViewPr>
  <p:slideViewPr>
    <p:cSldViewPr snapToGrid="0">
      <p:cViewPr varScale="1">
        <p:scale>
          <a:sx n="91" d="100"/>
          <a:sy n="91" d="100"/>
        </p:scale>
        <p:origin x="1632"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89"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8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90"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85"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8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97" name="Google Shape;19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8195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74" name="Google Shape;274;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80" name="Google Shape;28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88" name="Google Shape;28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c64e597d38_1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g1c64e597d38_1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g1c64e597d38_1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d25206e77b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g1d25206e77b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g1d25206e77b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23" name="Google Shape;323;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1" indent="0" algn="l" rtl="0">
              <a:lnSpc>
                <a:spcPct val="100000"/>
              </a:lnSpc>
              <a:spcBef>
                <a:spcPts val="0"/>
              </a:spcBef>
              <a:spcAft>
                <a:spcPts val="0"/>
              </a:spcAft>
              <a:buClr>
                <a:schemeClr val="dk1"/>
              </a:buClr>
              <a:buSzPts val="1200"/>
              <a:buFont typeface="Calibri"/>
              <a:buNone/>
            </a:pPr>
            <a:endParaRPr dirty="0"/>
          </a:p>
        </p:txBody>
      </p:sp>
      <p:sp>
        <p:nvSpPr>
          <p:cNvPr id="359" name="Google Shape;359;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6" name="Google Shape;366;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9" name="Google Shape;37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88" name="Google Shape;388;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 name="Google Shape;3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95" name="Google Shape;395;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4" name="Google Shape;424;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p:txBody>
      </p:sp>
      <p:sp>
        <p:nvSpPr>
          <p:cNvPr id="432" name="Google Shape;432;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 name="Google Shape;439;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7" name="Google Shape;447;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8" name="Google Shape;45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11" name="Google Shape;21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6" name="Google Shape;22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3027680" y="1183257"/>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2421" y="3429000"/>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9" name="Slide Number Placeholder 28"/>
          <p:cNvSpPr>
            <a:spLocks noGrp="1"/>
          </p:cNvSpPr>
          <p:nvPr>
            <p:ph type="sldNum" sz="quarter" idx="12"/>
          </p:nvPr>
        </p:nvSpPr>
        <p:spPr bwMode="auto">
          <a:xfrm>
            <a:off x="1767392"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76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endParaRPr lang="en-US"/>
          </a:p>
        </p:txBody>
      </p:sp>
      <p:sp>
        <p:nvSpPr>
          <p:cNvPr id="9" name="Slide Number Placeholder 8"/>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6285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1590" y="494193"/>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51616" y="3280744"/>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6" name="Slide Number Placeholder 5"/>
          <p:cNvSpPr>
            <a:spLocks noGrp="1"/>
          </p:cNvSpPr>
          <p:nvPr>
            <p:ph type="sldNum" sz="quarter" idx="12"/>
          </p:nvPr>
        </p:nvSpPr>
        <p:spPr bwMode="auto">
          <a:xfrm>
            <a:off x="1787488"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56050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92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065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endParaRPr lang="en-US"/>
          </a:p>
        </p:txBody>
      </p:sp>
      <p:sp>
        <p:nvSpPr>
          <p:cNvPr id="7" name="Slide Number Placeholder 6"/>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404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763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endParaRPr lang="en-US"/>
          </a:p>
        </p:txBody>
      </p:sp>
      <p:sp>
        <p:nvSpPr>
          <p:cNvPr id="22" name="Slide Number Placeholder 21"/>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196271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7" name="Date Placeholder 16"/>
          <p:cNvSpPr>
            <a:spLocks noGrp="1"/>
          </p:cNvSpPr>
          <p:nvPr>
            <p:ph type="dt" sz="half" idx="10"/>
          </p:nvPr>
        </p:nvSpPr>
        <p:spPr/>
        <p:txBody>
          <a:bodyPr rtlCol="0"/>
          <a:lstStyle/>
          <a:p>
            <a:endParaRPr lang="en-US"/>
          </a:p>
        </p:txBody>
      </p:sp>
      <p:sp>
        <p:nvSpPr>
          <p:cNvPr id="18" name="Slide Number Placeholder 17"/>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0137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7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44692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600201"/>
            <a:ext cx="10972800" cy="4525963"/>
          </a:xfrm>
        </p:spPr>
        <p:txBody>
          <a:bodyPr/>
          <a:lstStyle/>
          <a:p>
            <a:r>
              <a:rPr lang="en-US"/>
              <a:t>Click icon to add chart</a:t>
            </a:r>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469415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2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theatlantic.com/technology/archive/2019/01/how-machine-learning-found-flints-lead-pipes/578692/" TargetMode="External"/><Relationship Id="rId5" Type="http://schemas.openxmlformats.org/officeDocument/2006/relationships/image" Target="../media/image8.png"/><Relationship Id="rId4" Type="http://schemas.openxmlformats.org/officeDocument/2006/relationships/hyperlink" Target="https://www.npr.org/sections/thetwo-way/2016/04/20/465545378/lead-laced-water-in-flint-a-step-by-step-look-at-the-makings-of-a-crisis"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see.stanford.edu/materials/aimlcs229/cs229-prob.pdf"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www.cs.princeton.edu/courses/archive/spring07/cos424/scribe_notes/0208.pdf"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WELCOME TO DATA SCIENCE</a:t>
            </a:r>
            <a:endParaRPr lang="en-US" dirty="0"/>
          </a:p>
        </p:txBody>
      </p:sp>
      <p:sp>
        <p:nvSpPr>
          <p:cNvPr id="110" name="Google Shape;110;p1"/>
          <p:cNvSpPr txBox="1">
            <a:spLocks noGrp="1"/>
          </p:cNvSpPr>
          <p:nvPr>
            <p:ph type="subTitle" idx="1"/>
          </p:nvPr>
        </p:nvSpPr>
        <p:spPr>
          <a:xfrm>
            <a:off x="3027680" y="3429000"/>
            <a:ext cx="7891272" cy="105621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SzPct val="85000"/>
              <a:buNone/>
            </a:pPr>
            <a:r>
              <a:rPr lang="en-US" dirty="0"/>
              <a:t>CS 418 Introduction to Data Science</a:t>
            </a:r>
            <a:endParaRPr dirty="0"/>
          </a:p>
          <a:p>
            <a:pPr marL="0" lvl="0" indent="0" algn="l" rtl="0">
              <a:lnSpc>
                <a:spcPct val="90000"/>
              </a:lnSpc>
              <a:spcBef>
                <a:spcPts val="1200"/>
              </a:spcBef>
              <a:spcAft>
                <a:spcPts val="0"/>
              </a:spcAft>
              <a:buSzPct val="85000"/>
              <a:buNone/>
            </a:pPr>
            <a:r>
              <a:rPr lang="en-US" dirty="0"/>
              <a:t>Prof. Sathya Ravi</a:t>
            </a:r>
            <a:endParaRPr dirty="0"/>
          </a:p>
          <a:p>
            <a:pPr marL="0" lvl="0" indent="0" algn="l" rtl="0">
              <a:lnSpc>
                <a:spcPct val="90000"/>
              </a:lnSpc>
              <a:spcBef>
                <a:spcPts val="1200"/>
              </a:spcBef>
              <a:spcAft>
                <a:spcPts val="0"/>
              </a:spcAft>
              <a:buSzPct val="85000"/>
              <a:buNone/>
            </a:pPr>
            <a:r>
              <a:rPr lang="en-US" dirty="0"/>
              <a:t>August 27, 2024</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
          <p:cNvSpPr txBox="1">
            <a:spLocks noGrp="1"/>
          </p:cNvSpPr>
          <p:nvPr>
            <p:ph sz="quarter" idx="1"/>
          </p:nvPr>
        </p:nvSpPr>
        <p:spPr>
          <a:xfrm>
            <a:off x="1069848" y="1435608"/>
            <a:ext cx="10058400" cy="4050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0" lvl="0" indent="0" algn="ctr" rtl="0">
              <a:lnSpc>
                <a:spcPct val="90000"/>
              </a:lnSpc>
              <a:spcBef>
                <a:spcPts val="1200"/>
              </a:spcBef>
              <a:spcAft>
                <a:spcPts val="0"/>
              </a:spcAft>
              <a:buSzPts val="4590"/>
              <a:buNone/>
            </a:pPr>
            <a:r>
              <a:rPr lang="en-US" sz="5400" dirty="0"/>
              <a:t>What is Data Science?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WHAT IS DATA SCIENCE? From syllabus</a:t>
            </a:r>
            <a:endParaRPr dirty="0"/>
          </a:p>
        </p:txBody>
      </p:sp>
      <p:sp>
        <p:nvSpPr>
          <p:cNvPr id="162" name="Google Shape;162;p8"/>
          <p:cNvSpPr txBox="1">
            <a:spLocks noGrp="1"/>
          </p:cNvSpPr>
          <p:nvPr>
            <p:ph sz="quarter" idx="1"/>
          </p:nvPr>
        </p:nvSpPr>
        <p:spPr>
          <a:xfrm>
            <a:off x="609600" y="1200806"/>
            <a:ext cx="9956800" cy="538255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700"/>
              <a:buNone/>
            </a:pPr>
            <a:r>
              <a:rPr lang="en-US" sz="2300" i="1" dirty="0"/>
              <a:t>“Our ability to collect, manipulate, analyze, and act on vast amounts of data is having a profound impact on all aspects of society.  This transformation has led to </a:t>
            </a:r>
            <a:r>
              <a:rPr lang="en-US" sz="2300" i="1" dirty="0">
                <a:solidFill>
                  <a:srgbClr val="00B050"/>
                </a:solidFill>
              </a:rPr>
              <a:t>the emergence of data science as a new discipline</a:t>
            </a:r>
            <a:r>
              <a:rPr lang="en-US" sz="2300" i="1" dirty="0"/>
              <a:t>.  The explosive growth of interest in this area has been </a:t>
            </a:r>
            <a:r>
              <a:rPr lang="en-US" sz="2300" b="1" i="1" dirty="0">
                <a:solidFill>
                  <a:srgbClr val="7030A0"/>
                </a:solidFill>
              </a:rPr>
              <a:t>driven</a:t>
            </a:r>
            <a:r>
              <a:rPr lang="en-US" sz="2300" i="1" dirty="0">
                <a:solidFill>
                  <a:srgbClr val="7030A0"/>
                </a:solidFill>
              </a:rPr>
              <a:t> by research in social, natural, and physical sciences</a:t>
            </a:r>
            <a:r>
              <a:rPr lang="en-US" sz="2300" i="1" dirty="0"/>
              <a:t> with access to data at an unprecedented scale and variety, </a:t>
            </a:r>
            <a:r>
              <a:rPr lang="en-US" sz="2300" i="1" dirty="0">
                <a:solidFill>
                  <a:srgbClr val="7030A0"/>
                </a:solidFill>
              </a:rPr>
              <a:t>by industry assembling huge amounts of operational and behavioral information</a:t>
            </a:r>
            <a:r>
              <a:rPr lang="en-US" sz="2300" i="1" dirty="0"/>
              <a:t> to create new services and sources of revenue, and </a:t>
            </a:r>
            <a:r>
              <a:rPr lang="en-US" sz="2300" i="1" dirty="0">
                <a:solidFill>
                  <a:srgbClr val="7030A0"/>
                </a:solidFill>
              </a:rPr>
              <a:t>by government, social services and non-profits </a:t>
            </a:r>
            <a:r>
              <a:rPr lang="en-US" sz="2300" i="1" dirty="0"/>
              <a:t>leveraging data for social good. This emerging discipline relies on a </a:t>
            </a:r>
            <a:r>
              <a:rPr lang="en-US" sz="2300" i="1" dirty="0">
                <a:solidFill>
                  <a:srgbClr val="FF0000"/>
                </a:solidFill>
              </a:rPr>
              <a:t>novel mix of mathematical and statistical modeling, computational thinking and methods, data representation and management, and domain expertise</a:t>
            </a:r>
            <a:r>
              <a:rPr lang="en-US" sz="2300" i="1" dirty="0"/>
              <a:t>.”</a:t>
            </a:r>
            <a:endParaRPr sz="2300" dirty="0"/>
          </a:p>
          <a:p>
            <a:pPr marL="0" lvl="0" indent="0" algn="r" rtl="0">
              <a:lnSpc>
                <a:spcPct val="90000"/>
              </a:lnSpc>
              <a:spcBef>
                <a:spcPts val="1200"/>
              </a:spcBef>
              <a:spcAft>
                <a:spcPts val="0"/>
              </a:spcAft>
              <a:buSzPts val="1700"/>
              <a:buNone/>
            </a:pPr>
            <a:r>
              <a:rPr lang="en-US" sz="2300" dirty="0"/>
              <a:t>Computing Research Association’s Committee on Data Science, 2016</a:t>
            </a:r>
            <a:endParaRPr sz="2300" dirty="0"/>
          </a:p>
          <a:p>
            <a:pPr marL="182880" lvl="0" indent="-74928" algn="l" rtl="0">
              <a:lnSpc>
                <a:spcPct val="90000"/>
              </a:lnSpc>
              <a:spcBef>
                <a:spcPts val="1200"/>
              </a:spcBef>
              <a:spcAft>
                <a:spcPts val="0"/>
              </a:spcAft>
              <a:buSzPts val="1700"/>
              <a:buNone/>
            </a:pPr>
            <a:r>
              <a:rPr lang="en-US" sz="2300" i="1" dirty="0"/>
              <a:t>“</a:t>
            </a:r>
            <a:r>
              <a:rPr lang="en-US" sz="2300" dirty="0"/>
              <a:t>Data science is a </a:t>
            </a:r>
            <a:r>
              <a:rPr lang="en-US" sz="2300" dirty="0">
                <a:solidFill>
                  <a:srgbClr val="FF0000"/>
                </a:solidFill>
              </a:rPr>
              <a:t>data-based</a:t>
            </a:r>
            <a:r>
              <a:rPr lang="en-US" sz="2300" dirty="0"/>
              <a:t> approach to problem solving by </a:t>
            </a:r>
            <a:r>
              <a:rPr lang="en-US" sz="2300" dirty="0">
                <a:solidFill>
                  <a:srgbClr val="00B050"/>
                </a:solidFill>
              </a:rPr>
              <a:t>analyzing and exploring</a:t>
            </a:r>
            <a:r>
              <a:rPr lang="en-US" sz="2300" dirty="0"/>
              <a:t> large volumes of possibly multi-modal </a:t>
            </a:r>
            <a:r>
              <a:rPr lang="en-US" sz="2300" dirty="0">
                <a:solidFill>
                  <a:srgbClr val="00B050"/>
                </a:solidFill>
              </a:rPr>
              <a:t>data</a:t>
            </a:r>
            <a:r>
              <a:rPr lang="en-US" sz="2300" dirty="0"/>
              <a:t>, </a:t>
            </a:r>
            <a:r>
              <a:rPr lang="en-US" sz="2300" b="1" dirty="0"/>
              <a:t>extracting knowledge and insight</a:t>
            </a:r>
            <a:r>
              <a:rPr lang="en-US" sz="2300" dirty="0"/>
              <a:t> from it, and using information </a:t>
            </a:r>
            <a:r>
              <a:rPr lang="en-US" sz="2300" dirty="0">
                <a:solidFill>
                  <a:srgbClr val="00B050"/>
                </a:solidFill>
              </a:rPr>
              <a:t>for better decision-making</a:t>
            </a:r>
            <a:r>
              <a:rPr lang="en-US" sz="2300" dirty="0"/>
              <a:t>. It involves the </a:t>
            </a:r>
            <a:r>
              <a:rPr lang="en-US" sz="2300" dirty="0">
                <a:solidFill>
                  <a:srgbClr val="0070C0"/>
                </a:solidFill>
              </a:rPr>
              <a:t>process of collecting, preparing, managing, analyzing, explaining, and disseminating the data and analysis results</a:t>
            </a:r>
            <a:r>
              <a:rPr lang="en-US" sz="2300" dirty="0"/>
              <a:t>.</a:t>
            </a:r>
            <a:r>
              <a:rPr lang="en-US" sz="2300" i="1" dirty="0"/>
              <a:t>”</a:t>
            </a:r>
            <a:r>
              <a:rPr lang="en-US" sz="2300" dirty="0"/>
              <a:t>  from Data Science --  A Systematic Treatment, CACM, 2023</a:t>
            </a:r>
            <a:endParaRPr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WHAT IS DATA SCIENCE? Informal but useful definition</a:t>
            </a:r>
            <a:endParaRPr dirty="0"/>
          </a:p>
        </p:txBody>
      </p:sp>
      <p:sp>
        <p:nvSpPr>
          <p:cNvPr id="148" name="Google Shape;148;p6"/>
          <p:cNvSpPr txBox="1">
            <a:spLocks noGrp="1"/>
          </p:cNvSpPr>
          <p:nvPr>
            <p:ph sz="quarter" idx="1"/>
          </p:nvPr>
        </p:nvSpPr>
        <p:spPr>
          <a:xfrm>
            <a:off x="609600" y="1007735"/>
            <a:ext cx="4918841" cy="3829652"/>
          </a:xfrm>
          <a:prstGeom prst="rect">
            <a:avLst/>
          </a:prstGeom>
          <a:noFill/>
          <a:ln>
            <a:noFill/>
          </a:ln>
        </p:spPr>
        <p:txBody>
          <a:bodyPr spcFirstLastPara="1" wrap="square" lIns="91425" tIns="45700" rIns="91425" bIns="45700" anchor="t" anchorCtr="0">
            <a:normAutofit lnSpcReduction="10000"/>
          </a:bodyPr>
          <a:lstStyle/>
          <a:p>
            <a:pPr marL="182880" lvl="0" indent="-74928" algn="l" rtl="0">
              <a:lnSpc>
                <a:spcPct val="90000"/>
              </a:lnSpc>
              <a:spcBef>
                <a:spcPts val="0"/>
              </a:spcBef>
              <a:spcAft>
                <a:spcPts val="0"/>
              </a:spcAft>
              <a:buSzPts val="1700"/>
              <a:buNone/>
            </a:pPr>
            <a:endParaRPr i="1" dirty="0"/>
          </a:p>
          <a:p>
            <a:pPr marL="0" lvl="0" indent="0" algn="l" rtl="0">
              <a:lnSpc>
                <a:spcPct val="90000"/>
              </a:lnSpc>
              <a:spcBef>
                <a:spcPts val="1200"/>
              </a:spcBef>
              <a:spcAft>
                <a:spcPts val="0"/>
              </a:spcAft>
              <a:buSzPts val="2380"/>
              <a:buNone/>
            </a:pPr>
            <a:r>
              <a:rPr lang="en-US" sz="2800" i="1" dirty="0"/>
              <a:t>The application of </a:t>
            </a:r>
            <a:r>
              <a:rPr lang="en-US" sz="2800" i="1" dirty="0">
                <a:solidFill>
                  <a:srgbClr val="FF0000"/>
                </a:solidFill>
              </a:rPr>
              <a:t>data-centric</a:t>
            </a:r>
            <a:r>
              <a:rPr lang="en-US" sz="2800" i="1" dirty="0"/>
              <a:t>, </a:t>
            </a:r>
            <a:r>
              <a:rPr lang="en-US" sz="2800" i="1" dirty="0">
                <a:solidFill>
                  <a:srgbClr val="0070C0"/>
                </a:solidFill>
              </a:rPr>
              <a:t>computational</a:t>
            </a:r>
            <a:r>
              <a:rPr lang="en-US" sz="2800" i="1" dirty="0"/>
              <a:t>, and </a:t>
            </a:r>
            <a:r>
              <a:rPr lang="en-US" sz="2800" i="1" dirty="0">
                <a:solidFill>
                  <a:srgbClr val="7030A0"/>
                </a:solidFill>
              </a:rPr>
              <a:t>inferential</a:t>
            </a:r>
            <a:r>
              <a:rPr lang="en-US" sz="2800" i="1" dirty="0"/>
              <a:t> thinking to:</a:t>
            </a:r>
            <a:endParaRPr dirty="0"/>
          </a:p>
          <a:p>
            <a:pPr marL="0" lvl="0" indent="0" algn="l" rtl="0">
              <a:lnSpc>
                <a:spcPct val="90000"/>
              </a:lnSpc>
              <a:spcBef>
                <a:spcPts val="1200"/>
              </a:spcBef>
              <a:spcAft>
                <a:spcPts val="0"/>
              </a:spcAft>
              <a:buSzPts val="1020"/>
              <a:buNone/>
            </a:pPr>
            <a:endParaRPr sz="1200" i="1" dirty="0"/>
          </a:p>
          <a:p>
            <a:pPr marL="0" lvl="0" indent="0" algn="l" rtl="0">
              <a:lnSpc>
                <a:spcPct val="90000"/>
              </a:lnSpc>
              <a:spcBef>
                <a:spcPts val="1200"/>
              </a:spcBef>
              <a:spcAft>
                <a:spcPts val="0"/>
              </a:spcAft>
              <a:buSzPts val="2380"/>
              <a:buNone/>
            </a:pPr>
            <a:r>
              <a:rPr lang="en-US" sz="2800" i="1" dirty="0"/>
              <a:t>      1) understand the world (science) </a:t>
            </a:r>
            <a:endParaRPr dirty="0"/>
          </a:p>
          <a:p>
            <a:pPr marL="0" lvl="0" indent="0" algn="l" rtl="0">
              <a:lnSpc>
                <a:spcPct val="90000"/>
              </a:lnSpc>
              <a:spcBef>
                <a:spcPts val="1200"/>
              </a:spcBef>
              <a:spcAft>
                <a:spcPts val="0"/>
              </a:spcAft>
              <a:buSzPts val="1020"/>
              <a:buNone/>
            </a:pPr>
            <a:endParaRPr sz="1200" i="1" dirty="0"/>
          </a:p>
          <a:p>
            <a:pPr marL="0" lvl="0" indent="0" algn="l" rtl="0">
              <a:lnSpc>
                <a:spcPct val="90000"/>
              </a:lnSpc>
              <a:spcBef>
                <a:spcPts val="1200"/>
              </a:spcBef>
              <a:spcAft>
                <a:spcPts val="0"/>
              </a:spcAft>
              <a:buSzPts val="2380"/>
              <a:buNone/>
            </a:pPr>
            <a:r>
              <a:rPr lang="en-US" sz="2800" i="1" dirty="0"/>
              <a:t>      2) solve problems (engineering)</a:t>
            </a:r>
            <a:endParaRPr sz="2800" dirty="0"/>
          </a:p>
        </p:txBody>
      </p:sp>
      <p:sp>
        <p:nvSpPr>
          <p:cNvPr id="149" name="Google Shape;149;p6"/>
          <p:cNvSpPr txBox="1"/>
          <p:nvPr/>
        </p:nvSpPr>
        <p:spPr>
          <a:xfrm>
            <a:off x="3297607" y="5316664"/>
            <a:ext cx="34526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--Joey Gonzalez (UC Berkeley) </a:t>
            </a:r>
            <a:endParaRPr sz="1400" b="0" i="0" u="none" strike="noStrike" cap="none" dirty="0">
              <a:solidFill>
                <a:srgbClr val="000000"/>
              </a:solidFill>
              <a:latin typeface="Arial"/>
              <a:ea typeface="Arial"/>
              <a:cs typeface="Arial"/>
              <a:sym typeface="Arial"/>
            </a:endParaRPr>
          </a:p>
        </p:txBody>
      </p:sp>
      <p:sp>
        <p:nvSpPr>
          <p:cNvPr id="2" name="Google Shape;155;p7">
            <a:extLst>
              <a:ext uri="{FF2B5EF4-FFF2-40B4-BE49-F238E27FC236}">
                <a16:creationId xmlns:a16="http://schemas.microsoft.com/office/drawing/2014/main" id="{EDD9F544-19AC-1AC1-CACD-4ECB07694AE9}"/>
              </a:ext>
            </a:extLst>
          </p:cNvPr>
          <p:cNvSpPr txBox="1">
            <a:spLocks/>
          </p:cNvSpPr>
          <p:nvPr/>
        </p:nvSpPr>
        <p:spPr>
          <a:xfrm>
            <a:off x="6103484" y="1526421"/>
            <a:ext cx="5426356" cy="3866126"/>
          </a:xfrm>
          <a:prstGeom prst="rect">
            <a:avLst/>
          </a:prstGeom>
          <a:noFill/>
          <a:ln>
            <a:noFill/>
          </a:ln>
        </p:spPr>
        <p:txBody>
          <a:bodyPr spcFirstLastPara="1" vert="horz" wrap="square" lIns="91425" tIns="45700" rIns="91425" bIns="45700" anchor="t" anchorCtr="0">
            <a:normAutofit fontScale="92500" lnSpcReduction="2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fontAlgn="auto">
              <a:lnSpc>
                <a:spcPct val="90000"/>
              </a:lnSpc>
              <a:spcBef>
                <a:spcPts val="0"/>
              </a:spcBef>
              <a:spcAft>
                <a:spcPts val="0"/>
              </a:spcAft>
              <a:buSzPct val="85000"/>
              <a:buFont typeface="Wingdings"/>
              <a:buNone/>
            </a:pPr>
            <a:r>
              <a:rPr lang="en-US" sz="2600" dirty="0"/>
              <a:t>Data science = statistics </a:t>
            </a:r>
            <a:endParaRPr lang="en-US" dirty="0"/>
          </a:p>
          <a:p>
            <a:pPr marL="0" indent="0" fontAlgn="auto">
              <a:lnSpc>
                <a:spcPct val="90000"/>
              </a:lnSpc>
              <a:spcBef>
                <a:spcPts val="1200"/>
              </a:spcBef>
              <a:spcAft>
                <a:spcPts val="0"/>
              </a:spcAft>
              <a:buSzPct val="85000"/>
              <a:buFont typeface="Wingdings"/>
              <a:buNone/>
            </a:pPr>
            <a:r>
              <a:rPr lang="en-US" sz="2600" dirty="0"/>
              <a:t>		+ data collection </a:t>
            </a:r>
            <a:endParaRPr lang="en-US" dirty="0"/>
          </a:p>
          <a:p>
            <a:pPr marL="0" indent="0" fontAlgn="auto">
              <a:lnSpc>
                <a:spcPct val="90000"/>
              </a:lnSpc>
              <a:spcBef>
                <a:spcPts val="1200"/>
              </a:spcBef>
              <a:spcAft>
                <a:spcPts val="0"/>
              </a:spcAft>
              <a:buSzPct val="85000"/>
              <a:buFont typeface="Wingdings"/>
              <a:buNone/>
            </a:pPr>
            <a:r>
              <a:rPr lang="en-US" sz="2600" dirty="0"/>
              <a:t>		+ data preprocessing </a:t>
            </a:r>
            <a:endParaRPr lang="en-US" dirty="0"/>
          </a:p>
          <a:p>
            <a:pPr marL="0" indent="0" fontAlgn="auto">
              <a:lnSpc>
                <a:spcPct val="90000"/>
              </a:lnSpc>
              <a:spcBef>
                <a:spcPts val="1200"/>
              </a:spcBef>
              <a:spcAft>
                <a:spcPts val="0"/>
              </a:spcAft>
              <a:buSzPct val="85000"/>
              <a:buFont typeface="Wingdings"/>
              <a:buNone/>
            </a:pPr>
            <a:r>
              <a:rPr lang="en-US" sz="2600" dirty="0"/>
              <a:t>		+ machine learning </a:t>
            </a:r>
            <a:endParaRPr lang="en-US" dirty="0"/>
          </a:p>
          <a:p>
            <a:pPr marL="0" indent="0" fontAlgn="auto">
              <a:lnSpc>
                <a:spcPct val="90000"/>
              </a:lnSpc>
              <a:spcBef>
                <a:spcPts val="1200"/>
              </a:spcBef>
              <a:spcAft>
                <a:spcPts val="0"/>
              </a:spcAft>
              <a:buSzPct val="85000"/>
              <a:buFont typeface="Wingdings"/>
              <a:buNone/>
            </a:pPr>
            <a:r>
              <a:rPr lang="en-US" sz="2600" dirty="0"/>
              <a:t>		+ visualization </a:t>
            </a:r>
            <a:endParaRPr lang="en-US" dirty="0"/>
          </a:p>
          <a:p>
            <a:pPr marL="0" indent="0" fontAlgn="auto">
              <a:lnSpc>
                <a:spcPct val="90000"/>
              </a:lnSpc>
              <a:spcBef>
                <a:spcPts val="1200"/>
              </a:spcBef>
              <a:spcAft>
                <a:spcPts val="0"/>
              </a:spcAft>
              <a:buSzPct val="85000"/>
              <a:buFont typeface="Wingdings"/>
              <a:buNone/>
            </a:pPr>
            <a:r>
              <a:rPr lang="en-US" sz="2600" dirty="0"/>
              <a:t>		+ business insights </a:t>
            </a:r>
            <a:endParaRPr lang="en-US" dirty="0"/>
          </a:p>
          <a:p>
            <a:pPr marL="0" indent="0" fontAlgn="auto">
              <a:lnSpc>
                <a:spcPct val="90000"/>
              </a:lnSpc>
              <a:spcBef>
                <a:spcPts val="1200"/>
              </a:spcBef>
              <a:spcAft>
                <a:spcPts val="0"/>
              </a:spcAft>
              <a:buSzPct val="85000"/>
              <a:buFont typeface="Wingdings"/>
              <a:buNone/>
            </a:pPr>
            <a:r>
              <a:rPr lang="en-US" sz="2600" dirty="0"/>
              <a:t>		+ scientific hypotheses </a:t>
            </a:r>
            <a:endParaRPr lang="en-US" dirty="0"/>
          </a:p>
          <a:p>
            <a:pPr marL="0" indent="0" fontAlgn="auto">
              <a:lnSpc>
                <a:spcPct val="90000"/>
              </a:lnSpc>
              <a:spcBef>
                <a:spcPts val="1200"/>
              </a:spcBef>
              <a:spcAft>
                <a:spcPts val="0"/>
              </a:spcAft>
              <a:buSzPct val="85000"/>
              <a:buFont typeface="Wingdings"/>
              <a:buNone/>
            </a:pPr>
            <a:r>
              <a:rPr lang="en-US" sz="2600" dirty="0"/>
              <a:t>		+ big data </a:t>
            </a:r>
            <a:endParaRPr lang="en-US" dirty="0"/>
          </a:p>
          <a:p>
            <a:pPr marL="0" indent="0" fontAlgn="auto">
              <a:lnSpc>
                <a:spcPct val="90000"/>
              </a:lnSpc>
              <a:spcBef>
                <a:spcPts val="1200"/>
              </a:spcBef>
              <a:spcAft>
                <a:spcPts val="0"/>
              </a:spcAft>
              <a:buSzPct val="85000"/>
              <a:buFont typeface="Wingdings"/>
              <a:buNone/>
            </a:pPr>
            <a:r>
              <a:rPr lang="en-US" sz="2600" dirty="0"/>
              <a:t>		+ (</a:t>
            </a:r>
            <a:r>
              <a:rPr lang="en-US" sz="2600" dirty="0" err="1"/>
              <a:t>etc</a:t>
            </a:r>
            <a:r>
              <a:rPr lang="en-US" sz="2600" dirty="0"/>
              <a:t>)</a:t>
            </a:r>
            <a:br>
              <a:rPr lang="en-US" dirty="0"/>
            </a:br>
            <a:endParaRPr lang="en-US" dirty="0"/>
          </a:p>
        </p:txBody>
      </p:sp>
      <p:sp>
        <p:nvSpPr>
          <p:cNvPr id="3" name="Google Shape;156;p7">
            <a:extLst>
              <a:ext uri="{FF2B5EF4-FFF2-40B4-BE49-F238E27FC236}">
                <a16:creationId xmlns:a16="http://schemas.microsoft.com/office/drawing/2014/main" id="{7A02A4A8-74BF-E19C-ABAB-666D6A65844B}"/>
              </a:ext>
            </a:extLst>
          </p:cNvPr>
          <p:cNvSpPr txBox="1"/>
          <p:nvPr/>
        </p:nvSpPr>
        <p:spPr>
          <a:xfrm>
            <a:off x="9470491" y="5392547"/>
            <a:ext cx="231524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 Zico Kolter (CMU)</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9"/>
          <p:cNvSpPr txBox="1">
            <a:spLocks noGrp="1"/>
          </p:cNvSpPr>
          <p:nvPr>
            <p:ph sz="quarter" idx="1"/>
          </p:nvPr>
        </p:nvSpPr>
        <p:spPr>
          <a:xfrm>
            <a:off x="1069848" y="1359408"/>
            <a:ext cx="10058400" cy="4050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endParaRPr/>
          </a:p>
          <a:p>
            <a:pPr marL="0" lvl="0" indent="0" algn="l" rtl="0">
              <a:lnSpc>
                <a:spcPct val="90000"/>
              </a:lnSpc>
              <a:spcBef>
                <a:spcPts val="1200"/>
              </a:spcBef>
              <a:spcAft>
                <a:spcPts val="0"/>
              </a:spcAft>
              <a:buSzPts val="1700"/>
              <a:buNone/>
            </a:pPr>
            <a:endParaRPr/>
          </a:p>
          <a:p>
            <a:pPr marL="0" lvl="0" indent="0" algn="ctr" rtl="0">
              <a:lnSpc>
                <a:spcPct val="90000"/>
              </a:lnSpc>
              <a:spcBef>
                <a:spcPts val="1200"/>
              </a:spcBef>
              <a:spcAft>
                <a:spcPts val="0"/>
              </a:spcAft>
              <a:buSzPts val="4590"/>
              <a:buNone/>
            </a:pPr>
            <a:r>
              <a:rPr lang="en-US" sz="5400"/>
              <a:t>What Data Science is not</a:t>
            </a:r>
            <a:endParaRPr/>
          </a:p>
          <a:p>
            <a:pPr marL="0" lvl="0" indent="0" algn="ctr" rtl="0">
              <a:lnSpc>
                <a:spcPct val="90000"/>
              </a:lnSpc>
              <a:spcBef>
                <a:spcPts val="1200"/>
              </a:spcBef>
              <a:spcAft>
                <a:spcPts val="0"/>
              </a:spcAft>
              <a:buSzPts val="4590"/>
              <a:buNone/>
            </a:pPr>
            <a:r>
              <a:rPr lang="en-US" sz="5400"/>
              <a:t>(at least not by itself)</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a:spLocks noGrp="1"/>
          </p:cNvSpPr>
          <p:nvPr>
            <p:ph type="title"/>
          </p:nvPr>
        </p:nvSpPr>
        <p:spPr>
          <a:xfrm>
            <a:off x="1069848" y="274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DATA SCIENCE IS NOT MACHINE LEARNING</a:t>
            </a:r>
            <a:endParaRPr/>
          </a:p>
        </p:txBody>
      </p:sp>
      <p:pic>
        <p:nvPicPr>
          <p:cNvPr id="181" name="Google Shape;181;p10"/>
          <p:cNvPicPr preferRelativeResize="0">
            <a:picLocks noGrp="1"/>
          </p:cNvPicPr>
          <p:nvPr>
            <p:ph sz="quarter" idx="1"/>
          </p:nvPr>
        </p:nvPicPr>
        <p:blipFill rotWithShape="1">
          <a:blip r:embed="rId3">
            <a:alphaModFix/>
          </a:blip>
          <a:srcRect/>
          <a:stretch/>
        </p:blipFill>
        <p:spPr>
          <a:xfrm>
            <a:off x="1729429" y="1681021"/>
            <a:ext cx="4265467" cy="4065524"/>
          </a:xfrm>
          <a:prstGeom prst="rect">
            <a:avLst/>
          </a:prstGeom>
          <a:noFill/>
          <a:ln>
            <a:noFill/>
          </a:ln>
        </p:spPr>
      </p:pic>
      <p:sp>
        <p:nvSpPr>
          <p:cNvPr id="182" name="Google Shape;182;p10"/>
          <p:cNvSpPr txBox="1"/>
          <p:nvPr/>
        </p:nvSpPr>
        <p:spPr>
          <a:xfrm>
            <a:off x="2404619" y="5790168"/>
            <a:ext cx="33613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Drew Conway’s Venn Diagram</a:t>
            </a:r>
            <a:endParaRPr sz="1400" b="0" i="0" u="none" strike="noStrike" cap="none">
              <a:solidFill>
                <a:srgbClr val="000000"/>
              </a:solidFill>
              <a:latin typeface="Arial"/>
              <a:ea typeface="Arial"/>
              <a:cs typeface="Arial"/>
              <a:sym typeface="Arial"/>
            </a:endParaRPr>
          </a:p>
        </p:txBody>
      </p:sp>
      <p:sp>
        <p:nvSpPr>
          <p:cNvPr id="183" name="Google Shape;183;p10"/>
          <p:cNvSpPr txBox="1"/>
          <p:nvPr/>
        </p:nvSpPr>
        <p:spPr>
          <a:xfrm>
            <a:off x="553653" y="6380726"/>
            <a:ext cx="117692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See Battle of the Data Science Venn Diagrams:  http://www.prooffreader.com/2016/09/battle-of-data-science-venn-diagrams.html</a:t>
            </a:r>
            <a:endParaRPr sz="1400" b="0" i="0" u="none" strike="noStrike" cap="none">
              <a:solidFill>
                <a:schemeClr val="dk1"/>
              </a:solidFill>
              <a:latin typeface="Rockwell"/>
              <a:ea typeface="Rockwell"/>
              <a:cs typeface="Rockwell"/>
              <a:sym typeface="Rockwell"/>
            </a:endParaRPr>
          </a:p>
        </p:txBody>
      </p:sp>
      <p:sp>
        <p:nvSpPr>
          <p:cNvPr id="184" name="Google Shape;184;p10"/>
          <p:cNvSpPr txBox="1"/>
          <p:nvPr/>
        </p:nvSpPr>
        <p:spPr>
          <a:xfrm>
            <a:off x="6091084" y="2121408"/>
            <a:ext cx="5037164" cy="4050792"/>
          </a:xfrm>
          <a:prstGeom prst="rect">
            <a:avLst/>
          </a:prstGeom>
          <a:noFill/>
          <a:ln>
            <a:noFill/>
          </a:ln>
        </p:spPr>
        <p:txBody>
          <a:bodyPr spcFirstLastPara="1" wrap="square" lIns="91425" tIns="45700" rIns="91425" bIns="45700" anchor="t" anchorCtr="0">
            <a:normAutofit/>
          </a:bodyPr>
          <a:lstStyle/>
          <a:p>
            <a:pPr marL="182880" marR="0" lvl="0" indent="-182880" algn="l" rtl="0">
              <a:lnSpc>
                <a:spcPct val="90000"/>
              </a:lnSpc>
              <a:spcBef>
                <a:spcPts val="0"/>
              </a:spcBef>
              <a:spcAft>
                <a:spcPts val="0"/>
              </a:spcAft>
              <a:buClr>
                <a:srgbClr val="9E3611"/>
              </a:buClr>
              <a:buSzPts val="1700"/>
              <a:buFont typeface="Noto Sans Symbols"/>
              <a:buChar char="▪"/>
            </a:pPr>
            <a:r>
              <a:rPr lang="en-US" sz="2000" b="0" i="0" u="none" strike="noStrike" cap="none">
                <a:solidFill>
                  <a:schemeClr val="dk1"/>
                </a:solidFill>
                <a:latin typeface="Rockwell"/>
                <a:ea typeface="Rockwell"/>
                <a:cs typeface="Rockwell"/>
                <a:sym typeface="Rockwell"/>
              </a:rPr>
              <a:t>Machine learning involves computation and statistics, but has not traditionally been very concerned about answering scientific questions</a:t>
            </a:r>
            <a:endParaRPr sz="1400" b="0" i="0" u="none" strike="noStrike" cap="none">
              <a:solidFill>
                <a:srgbClr val="000000"/>
              </a:solidFill>
              <a:latin typeface="Arial"/>
              <a:ea typeface="Arial"/>
              <a:cs typeface="Arial"/>
              <a:sym typeface="Arial"/>
            </a:endParaRPr>
          </a:p>
          <a:p>
            <a:pPr marL="182880" marR="0" lvl="0" indent="-74928" algn="l" rtl="0">
              <a:lnSpc>
                <a:spcPct val="90000"/>
              </a:lnSpc>
              <a:spcBef>
                <a:spcPts val="1200"/>
              </a:spcBef>
              <a:spcAft>
                <a:spcPts val="0"/>
              </a:spcAft>
              <a:buClr>
                <a:srgbClr val="9E3611"/>
              </a:buClr>
              <a:buSzPts val="1700"/>
              <a:buFont typeface="Noto Sans Symbols"/>
              <a:buNone/>
            </a:pPr>
            <a:endParaRPr sz="2000" b="0" i="0" u="none" strike="noStrike" cap="none">
              <a:solidFill>
                <a:schemeClr val="dk1"/>
              </a:solidFill>
              <a:latin typeface="Rockwell"/>
              <a:ea typeface="Rockwell"/>
              <a:cs typeface="Rockwell"/>
              <a:sym typeface="Rockwell"/>
            </a:endParaRPr>
          </a:p>
          <a:p>
            <a:pPr marL="182880" marR="0" lvl="0" indent="-182880" algn="l" rtl="0">
              <a:lnSpc>
                <a:spcPct val="90000"/>
              </a:lnSpc>
              <a:spcBef>
                <a:spcPts val="1200"/>
              </a:spcBef>
              <a:spcAft>
                <a:spcPts val="0"/>
              </a:spcAft>
              <a:buClr>
                <a:srgbClr val="9E3611"/>
              </a:buClr>
              <a:buSzPts val="1700"/>
              <a:buFont typeface="Noto Sans Symbols"/>
              <a:buChar char="▪"/>
            </a:pPr>
            <a:r>
              <a:rPr lang="en-US" sz="2000" b="0" i="0" u="none" strike="noStrike" cap="none">
                <a:solidFill>
                  <a:schemeClr val="dk1"/>
                </a:solidFill>
                <a:latin typeface="Rockwell"/>
                <a:ea typeface="Rockwell"/>
                <a:cs typeface="Rockwell"/>
                <a:sym typeface="Rockwell"/>
              </a:rPr>
              <a:t>Machine learning has a heavy focus on fancy algorithms…</a:t>
            </a:r>
            <a:endParaRPr sz="1400" b="0" i="0" u="none" strike="noStrike" cap="none">
              <a:solidFill>
                <a:srgbClr val="000000"/>
              </a:solidFill>
              <a:latin typeface="Arial"/>
              <a:ea typeface="Arial"/>
              <a:cs typeface="Arial"/>
              <a:sym typeface="Arial"/>
            </a:endParaRPr>
          </a:p>
          <a:p>
            <a:pPr marL="182880" marR="0" lvl="0" indent="-74928" algn="l" rtl="0">
              <a:lnSpc>
                <a:spcPct val="90000"/>
              </a:lnSpc>
              <a:spcBef>
                <a:spcPts val="1200"/>
              </a:spcBef>
              <a:spcAft>
                <a:spcPts val="0"/>
              </a:spcAft>
              <a:buClr>
                <a:srgbClr val="9E3611"/>
              </a:buClr>
              <a:buSzPts val="1700"/>
              <a:buFont typeface="Noto Sans Symbols"/>
              <a:buNone/>
            </a:pPr>
            <a:endParaRPr sz="2000" b="0" i="0" u="none" strike="noStrike" cap="none">
              <a:solidFill>
                <a:schemeClr val="dk1"/>
              </a:solidFill>
              <a:latin typeface="Rockwell"/>
              <a:ea typeface="Rockwell"/>
              <a:cs typeface="Rockwell"/>
              <a:sym typeface="Rockwell"/>
            </a:endParaRPr>
          </a:p>
          <a:p>
            <a:pPr marL="182880" marR="0" lvl="0" indent="-182880" algn="l" rtl="0">
              <a:lnSpc>
                <a:spcPct val="90000"/>
              </a:lnSpc>
              <a:spcBef>
                <a:spcPts val="1200"/>
              </a:spcBef>
              <a:spcAft>
                <a:spcPts val="0"/>
              </a:spcAft>
              <a:buClr>
                <a:srgbClr val="9E3611"/>
              </a:buClr>
              <a:buSzPts val="1700"/>
              <a:buFont typeface="Noto Sans Symbols"/>
              <a:buChar char="▪"/>
            </a:pPr>
            <a:r>
              <a:rPr lang="en-US" sz="2000" b="0" i="0" u="none" strike="noStrike" cap="none">
                <a:solidFill>
                  <a:schemeClr val="dk1"/>
                </a:solidFill>
                <a:latin typeface="Rockwell"/>
                <a:ea typeface="Rockwell"/>
                <a:cs typeface="Rockwell"/>
                <a:sym typeface="Rockwell"/>
              </a:rPr>
              <a:t>... but sometimes the best way to solve a problem is just by visualizing the data, for instance</a:t>
            </a:r>
            <a:endParaRPr sz="1400" b="0" i="0" u="none" strike="noStrike" cap="none">
              <a:solidFill>
                <a:srgbClr val="000000"/>
              </a:solidFill>
              <a:latin typeface="Arial"/>
              <a:ea typeface="Arial"/>
              <a:cs typeface="Arial"/>
              <a:sym typeface="Arial"/>
            </a:endParaRPr>
          </a:p>
          <a:p>
            <a:pPr marL="182880" marR="0" lvl="0" indent="-74928" algn="l" rtl="0">
              <a:lnSpc>
                <a:spcPct val="90000"/>
              </a:lnSpc>
              <a:spcBef>
                <a:spcPts val="1200"/>
              </a:spcBef>
              <a:spcAft>
                <a:spcPts val="0"/>
              </a:spcAft>
              <a:buClr>
                <a:srgbClr val="9E3611"/>
              </a:buClr>
              <a:buSzPts val="1700"/>
              <a:buFont typeface="Noto Sans Symbols"/>
              <a:buNone/>
            </a:pPr>
            <a:endParaRPr sz="2000" b="0" i="0" u="none" strike="noStrike" cap="none">
              <a:solidFill>
                <a:schemeClr val="dk1"/>
              </a:solidFill>
              <a:latin typeface="Rockwell"/>
              <a:ea typeface="Rockwell"/>
              <a:cs typeface="Rockwell"/>
              <a:sym typeface="Rockwe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1"/>
          <p:cNvSpPr txBox="1">
            <a:spLocks noGrp="1"/>
          </p:cNvSpPr>
          <p:nvPr>
            <p:ph type="title"/>
          </p:nvPr>
        </p:nvSpPr>
        <p:spPr>
          <a:xfrm>
            <a:off x="1069850" y="-201180"/>
            <a:ext cx="10058400" cy="2758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DATA SCIENCE IS NOT MACHINE LEARNING COMPETITIONS</a:t>
            </a:r>
            <a:endParaRPr/>
          </a:p>
        </p:txBody>
      </p:sp>
      <p:sp>
        <p:nvSpPr>
          <p:cNvPr id="191" name="Google Shape;191;p11"/>
          <p:cNvSpPr txBox="1">
            <a:spLocks noGrp="1"/>
          </p:cNvSpPr>
          <p:nvPr>
            <p:ph sz="quarter" idx="1"/>
          </p:nvPr>
        </p:nvSpPr>
        <p:spPr>
          <a:xfrm>
            <a:off x="7005484" y="2093976"/>
            <a:ext cx="5036100" cy="4050900"/>
          </a:xfrm>
          <a:prstGeom prst="rect">
            <a:avLst/>
          </a:prstGeom>
          <a:noFill/>
          <a:ln>
            <a:noFill/>
          </a:ln>
        </p:spPr>
        <p:txBody>
          <a:bodyPr spcFirstLastPara="1" wrap="square" lIns="91425" tIns="45700" rIns="91425" bIns="45700" anchor="t" anchorCtr="0">
            <a:normAutofit fontScale="92500" lnSpcReduction="10000"/>
          </a:bodyPr>
          <a:lstStyle/>
          <a:p>
            <a:pPr marL="182880" lvl="0" indent="-74928" algn="l" rtl="0">
              <a:lnSpc>
                <a:spcPct val="90000"/>
              </a:lnSpc>
              <a:spcBef>
                <a:spcPts val="0"/>
              </a:spcBef>
              <a:spcAft>
                <a:spcPts val="0"/>
              </a:spcAft>
              <a:buSzPts val="1700"/>
              <a:buNone/>
            </a:pPr>
            <a:endParaRPr/>
          </a:p>
          <a:p>
            <a:pPr marL="182880" lvl="0" indent="-182880" algn="l" rtl="0">
              <a:lnSpc>
                <a:spcPct val="90000"/>
              </a:lnSpc>
              <a:spcBef>
                <a:spcPts val="1200"/>
              </a:spcBef>
              <a:spcAft>
                <a:spcPts val="0"/>
              </a:spcAft>
              <a:buSzPts val="1700"/>
              <a:buChar char="▪"/>
            </a:pPr>
            <a:r>
              <a:rPr lang="en-US"/>
              <a:t>Data science competitions like Kaggle ask you to optimize a metric on a fixed data set</a:t>
            </a:r>
            <a:endParaRPr/>
          </a:p>
          <a:p>
            <a:pPr marL="182880" lvl="0" indent="-182880" algn="l" rtl="0">
              <a:lnSpc>
                <a:spcPct val="90000"/>
              </a:lnSpc>
              <a:spcBef>
                <a:spcPts val="1200"/>
              </a:spcBef>
              <a:spcAft>
                <a:spcPts val="0"/>
              </a:spcAft>
              <a:buSzPts val="1700"/>
              <a:buChar char="▪"/>
            </a:pPr>
            <a:r>
              <a:rPr lang="en-US"/>
              <a:t>This may or may not ultimately solve the desired business/scientific problem</a:t>
            </a:r>
            <a:endParaRPr/>
          </a:p>
          <a:p>
            <a:pPr marL="182880" lvl="0" indent="-182880" algn="l" rtl="0">
              <a:lnSpc>
                <a:spcPct val="90000"/>
              </a:lnSpc>
              <a:spcBef>
                <a:spcPts val="1200"/>
              </a:spcBef>
              <a:spcAft>
                <a:spcPts val="0"/>
              </a:spcAft>
              <a:buSzPts val="1700"/>
              <a:buChar char="▪"/>
            </a:pPr>
            <a:r>
              <a:rPr lang="en-US"/>
              <a:t>Data science is the iterative cycle of designing a concrete problem, finding the right data for it, building an algorithm to solve it (or determining that this is not possible), and evaluating what insights this provides for the real underlying question</a:t>
            </a:r>
            <a:endParaRPr/>
          </a:p>
          <a:p>
            <a:pPr marL="182880" lvl="0" indent="-74928" algn="l" rtl="0">
              <a:lnSpc>
                <a:spcPct val="90000"/>
              </a:lnSpc>
              <a:spcBef>
                <a:spcPts val="1200"/>
              </a:spcBef>
              <a:spcAft>
                <a:spcPts val="0"/>
              </a:spcAft>
              <a:buSzPts val="1700"/>
              <a:buNone/>
            </a:pPr>
            <a:endParaRPr/>
          </a:p>
        </p:txBody>
      </p:sp>
      <p:pic>
        <p:nvPicPr>
          <p:cNvPr id="192" name="Google Shape;192;p11"/>
          <p:cNvPicPr preferRelativeResize="0"/>
          <p:nvPr/>
        </p:nvPicPr>
        <p:blipFill rotWithShape="1">
          <a:blip r:embed="rId3">
            <a:alphaModFix/>
          </a:blip>
          <a:srcRect/>
          <a:stretch/>
        </p:blipFill>
        <p:spPr>
          <a:xfrm>
            <a:off x="1069848" y="2398776"/>
            <a:ext cx="1473610" cy="663612"/>
          </a:xfrm>
          <a:prstGeom prst="rect">
            <a:avLst/>
          </a:prstGeom>
          <a:noFill/>
          <a:ln>
            <a:noFill/>
          </a:ln>
        </p:spPr>
      </p:pic>
      <p:pic>
        <p:nvPicPr>
          <p:cNvPr id="193" name="Google Shape;193;p11"/>
          <p:cNvPicPr preferRelativeResize="0"/>
          <p:nvPr/>
        </p:nvPicPr>
        <p:blipFill rotWithShape="1">
          <a:blip r:embed="rId4">
            <a:alphaModFix/>
          </a:blip>
          <a:srcRect/>
          <a:stretch/>
        </p:blipFill>
        <p:spPr>
          <a:xfrm>
            <a:off x="1076634" y="3013894"/>
            <a:ext cx="5737122" cy="33365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DATA SCIENCE IS NOT STATISTICS</a:t>
            </a:r>
            <a:endParaRPr dirty="0"/>
          </a:p>
        </p:txBody>
      </p:sp>
      <p:sp>
        <p:nvSpPr>
          <p:cNvPr id="200" name="Google Shape;200;p12"/>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74928" algn="l" rtl="0">
              <a:lnSpc>
                <a:spcPct val="90000"/>
              </a:lnSpc>
              <a:spcBef>
                <a:spcPts val="0"/>
              </a:spcBef>
              <a:spcAft>
                <a:spcPts val="0"/>
              </a:spcAft>
              <a:buSzPts val="1700"/>
              <a:buNone/>
            </a:pPr>
            <a:endParaRPr sz="2500" dirty="0"/>
          </a:p>
          <a:p>
            <a:pPr marL="182880" lvl="0" indent="-182880" algn="l" rtl="0">
              <a:lnSpc>
                <a:spcPct val="90000"/>
              </a:lnSpc>
              <a:spcBef>
                <a:spcPts val="1200"/>
              </a:spcBef>
              <a:spcAft>
                <a:spcPts val="0"/>
              </a:spcAft>
              <a:buSzPts val="2200"/>
              <a:buChar char="▪"/>
            </a:pPr>
            <a:r>
              <a:rPr lang="en-US" sz="2500" dirty="0"/>
              <a:t>“Analyzing data computationally, to understand some phenomenon in the real world, you say? … that sounds an awful lot like statistics”</a:t>
            </a:r>
            <a:endParaRPr sz="2500" dirty="0"/>
          </a:p>
          <a:p>
            <a:pPr marL="182880" lvl="0" indent="-182880" algn="l" rtl="0">
              <a:lnSpc>
                <a:spcPct val="90000"/>
              </a:lnSpc>
              <a:spcBef>
                <a:spcPts val="1200"/>
              </a:spcBef>
              <a:spcAft>
                <a:spcPts val="0"/>
              </a:spcAft>
              <a:buSzPts val="2200"/>
              <a:buChar char="▪"/>
            </a:pPr>
            <a:r>
              <a:rPr lang="en-US" sz="2500" dirty="0"/>
              <a:t>Statistics (at least the academic type) has evolved a lot more along the theoretical frontier. For example: under what technical conditions are the results from data analysis valid? </a:t>
            </a:r>
          </a:p>
          <a:p>
            <a:pPr marL="182880" lvl="0" indent="-182880" algn="l" rtl="0">
              <a:lnSpc>
                <a:spcPct val="90000"/>
              </a:lnSpc>
              <a:spcBef>
                <a:spcPts val="1200"/>
              </a:spcBef>
              <a:spcAft>
                <a:spcPts val="0"/>
              </a:spcAft>
              <a:buSzPts val="2200"/>
              <a:buChar char="▪"/>
            </a:pPr>
            <a:r>
              <a:rPr lang="en-US" sz="2500" dirty="0"/>
              <a:t>We will see and use some basic definitions and notions such as hypothesis testing, confidence interval etc. in this class</a:t>
            </a:r>
            <a:endParaRPr sz="2500" dirty="0"/>
          </a:p>
          <a:p>
            <a:pPr marL="182880" lvl="0" indent="-182880" algn="l" rtl="0">
              <a:lnSpc>
                <a:spcPct val="90000"/>
              </a:lnSpc>
              <a:spcBef>
                <a:spcPts val="1200"/>
              </a:spcBef>
              <a:spcAft>
                <a:spcPts val="0"/>
              </a:spcAft>
              <a:buSzPts val="2200"/>
              <a:buChar char="▪"/>
            </a:pPr>
            <a:r>
              <a:rPr lang="en-US" sz="2500" dirty="0"/>
              <a:t>Statistics courses usually do not have lectures on e.g. web scraping, data processing, databases, cloud computing, algorithms. These are key entry points in Data Science</a:t>
            </a:r>
            <a:endParaRPr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3"/>
          <p:cNvSpPr txBox="1">
            <a:spLocks noGrp="1"/>
          </p:cNvSpPr>
          <p:nvPr>
            <p:ph type="title"/>
          </p:nvPr>
        </p:nvSpPr>
        <p:spPr>
          <a:xfrm>
            <a:off x="89286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DATA SCIENCE </a:t>
            </a:r>
            <a:br>
              <a:rPr lang="en-US"/>
            </a:br>
            <a:r>
              <a:rPr lang="en-US"/>
              <a:t>IS NOT BIG DATA</a:t>
            </a:r>
            <a:endParaRPr/>
          </a:p>
        </p:txBody>
      </p:sp>
      <p:sp>
        <p:nvSpPr>
          <p:cNvPr id="207" name="Google Shape;207;p13"/>
          <p:cNvSpPr txBox="1">
            <a:spLocks noGrp="1"/>
          </p:cNvSpPr>
          <p:nvPr>
            <p:ph sz="quarter" idx="1"/>
          </p:nvPr>
        </p:nvSpPr>
        <p:spPr>
          <a:xfrm>
            <a:off x="302595" y="1827117"/>
            <a:ext cx="5448939" cy="4176153"/>
          </a:xfrm>
          <a:prstGeom prst="rect">
            <a:avLst/>
          </a:prstGeom>
          <a:noFill/>
          <a:ln>
            <a:noFill/>
          </a:ln>
        </p:spPr>
        <p:txBody>
          <a:bodyPr spcFirstLastPara="1" wrap="square" lIns="91425" tIns="45700" rIns="91425" bIns="45700" anchor="t" anchorCtr="0">
            <a:normAutofit/>
          </a:bodyPr>
          <a:lstStyle/>
          <a:p>
            <a:pPr marL="182880" lvl="0" indent="-74928" algn="l" rtl="0">
              <a:lnSpc>
                <a:spcPct val="90000"/>
              </a:lnSpc>
              <a:spcBef>
                <a:spcPts val="0"/>
              </a:spcBef>
              <a:spcAft>
                <a:spcPts val="0"/>
              </a:spcAft>
              <a:buSzPts val="1700"/>
              <a:buNone/>
            </a:pPr>
            <a:endParaRPr sz="2200" dirty="0"/>
          </a:p>
          <a:p>
            <a:pPr marL="182880" lvl="0" indent="-182880" algn="l" rtl="0">
              <a:lnSpc>
                <a:spcPct val="90000"/>
              </a:lnSpc>
              <a:spcBef>
                <a:spcPts val="1200"/>
              </a:spcBef>
              <a:spcAft>
                <a:spcPts val="0"/>
              </a:spcAft>
              <a:buSzPts val="1900"/>
              <a:buChar char="▪"/>
            </a:pPr>
            <a:r>
              <a:rPr lang="en-US" sz="2200" dirty="0"/>
              <a:t>Sometimes, in order to truly understand and answer your question, you need massive amounts of data</a:t>
            </a:r>
            <a:endParaRPr sz="2200" dirty="0"/>
          </a:p>
          <a:p>
            <a:pPr marL="457200" lvl="1" indent="-195580" algn="l" rtl="0">
              <a:lnSpc>
                <a:spcPct val="90000"/>
              </a:lnSpc>
              <a:spcBef>
                <a:spcPts val="400"/>
              </a:spcBef>
              <a:spcAft>
                <a:spcPts val="0"/>
              </a:spcAft>
              <a:buSzPts val="1730"/>
              <a:buChar char="▪"/>
            </a:pPr>
            <a:r>
              <a:rPr lang="en-US" sz="2000" dirty="0"/>
              <a:t>But often you don’t</a:t>
            </a:r>
            <a:endParaRPr sz="2000" dirty="0"/>
          </a:p>
          <a:p>
            <a:pPr marL="182880" lvl="0" indent="-182880" algn="l" rtl="0">
              <a:lnSpc>
                <a:spcPct val="90000"/>
              </a:lnSpc>
              <a:spcBef>
                <a:spcPts val="1200"/>
              </a:spcBef>
              <a:spcAft>
                <a:spcPts val="0"/>
              </a:spcAft>
              <a:buSzPts val="1900"/>
              <a:buChar char="▪"/>
            </a:pPr>
            <a:r>
              <a:rPr lang="en-US" sz="2200" dirty="0"/>
              <a:t>Don’t create more work for yourself than you need to</a:t>
            </a:r>
            <a:endParaRPr sz="2200" dirty="0"/>
          </a:p>
          <a:p>
            <a:pPr marL="182880" lvl="0" indent="-182880" algn="l" rtl="0">
              <a:lnSpc>
                <a:spcPct val="90000"/>
              </a:lnSpc>
              <a:spcBef>
                <a:spcPts val="1200"/>
              </a:spcBef>
              <a:spcAft>
                <a:spcPts val="0"/>
              </a:spcAft>
              <a:buSzPts val="1900"/>
              <a:buChar char="▪"/>
            </a:pPr>
            <a:r>
              <a:rPr lang="en-US" sz="2200" dirty="0"/>
              <a:t>“Big data is not about the data” </a:t>
            </a:r>
            <a:endParaRPr sz="2200" dirty="0"/>
          </a:p>
          <a:p>
            <a:pPr marL="0" lvl="0" indent="0" algn="l" rtl="0">
              <a:lnSpc>
                <a:spcPct val="90000"/>
              </a:lnSpc>
              <a:spcBef>
                <a:spcPts val="1200"/>
              </a:spcBef>
              <a:spcAft>
                <a:spcPts val="0"/>
              </a:spcAft>
              <a:buSzPts val="1700"/>
              <a:buNone/>
            </a:pPr>
            <a:r>
              <a:rPr lang="en-US" sz="2200" dirty="0"/>
              <a:t>                                 –- Gary King (Harvard)</a:t>
            </a:r>
            <a:endParaRPr sz="2200" dirty="0"/>
          </a:p>
          <a:p>
            <a:pPr marL="182880" lvl="0" indent="-74928" algn="l" rtl="0">
              <a:lnSpc>
                <a:spcPct val="90000"/>
              </a:lnSpc>
              <a:spcBef>
                <a:spcPts val="1200"/>
              </a:spcBef>
              <a:spcAft>
                <a:spcPts val="0"/>
              </a:spcAft>
              <a:buSzPts val="1700"/>
              <a:buNone/>
            </a:pPr>
            <a:endParaRPr dirty="0"/>
          </a:p>
        </p:txBody>
      </p:sp>
      <p:pic>
        <p:nvPicPr>
          <p:cNvPr id="208" name="Google Shape;208;p13"/>
          <p:cNvPicPr preferRelativeResize="0"/>
          <p:nvPr/>
        </p:nvPicPr>
        <p:blipFill rotWithShape="1">
          <a:blip r:embed="rId3">
            <a:alphaModFix/>
          </a:blip>
          <a:srcRect/>
          <a:stretch/>
        </p:blipFill>
        <p:spPr>
          <a:xfrm>
            <a:off x="5629631" y="143184"/>
            <a:ext cx="5321637" cy="657163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4"/>
          <p:cNvSpPr txBox="1">
            <a:spLocks noGrp="1"/>
          </p:cNvSpPr>
          <p:nvPr>
            <p:ph type="title"/>
          </p:nvPr>
        </p:nvSpPr>
        <p:spPr>
          <a:xfrm>
            <a:off x="1069848" y="-58205"/>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Textbook definition of Data science – Fig 1-1</a:t>
            </a:r>
            <a:endParaRPr dirty="0"/>
          </a:p>
        </p:txBody>
      </p:sp>
      <p:sp>
        <p:nvSpPr>
          <p:cNvPr id="215" name="Google Shape;215;p14"/>
          <p:cNvSpPr/>
          <p:nvPr/>
        </p:nvSpPr>
        <p:spPr>
          <a:xfrm>
            <a:off x="3418833" y="1839539"/>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16" name="Google Shape;216;p14"/>
          <p:cNvSpPr txBox="1"/>
          <p:nvPr/>
        </p:nvSpPr>
        <p:spPr>
          <a:xfrm>
            <a:off x="222400" y="1676739"/>
            <a:ext cx="3081200" cy="9032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dirty="0">
                <a:solidFill>
                  <a:schemeClr val="dk1"/>
                </a:solidFill>
                <a:latin typeface="Calibri"/>
                <a:ea typeface="Calibri"/>
                <a:cs typeface="Calibri"/>
                <a:sym typeface="Calibri"/>
              </a:rPr>
              <a:t>Formulate Question or Problem (node 1)</a:t>
            </a:r>
            <a:endParaRPr sz="2667" b="0" i="0" u="none" strike="noStrike" cap="none" dirty="0">
              <a:solidFill>
                <a:schemeClr val="dk1"/>
              </a:solidFill>
              <a:latin typeface="Calibri"/>
              <a:ea typeface="Calibri"/>
              <a:cs typeface="Calibri"/>
              <a:sym typeface="Calibri"/>
            </a:endParaRPr>
          </a:p>
        </p:txBody>
      </p:sp>
      <p:cxnSp>
        <p:nvCxnSpPr>
          <p:cNvPr id="217" name="Google Shape;217;p14"/>
          <p:cNvCxnSpPr/>
          <p:nvPr/>
        </p:nvCxnSpPr>
        <p:spPr>
          <a:xfrm>
            <a:off x="3809233" y="1262739"/>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218" name="Google Shape;218;p14"/>
          <p:cNvCxnSpPr/>
          <p:nvPr/>
        </p:nvCxnSpPr>
        <p:spPr>
          <a:xfrm>
            <a:off x="7201967" y="1262739"/>
            <a:ext cx="0" cy="576800"/>
          </a:xfrm>
          <a:prstGeom prst="straightConnector1">
            <a:avLst/>
          </a:prstGeom>
          <a:noFill/>
          <a:ln w="28575" cap="flat" cmpd="sng">
            <a:solidFill>
              <a:srgbClr val="000000"/>
            </a:solidFill>
            <a:prstDash val="solid"/>
            <a:round/>
            <a:headEnd type="none" w="sm" len="sm"/>
            <a:tailEnd type="triangle" w="med" len="med"/>
          </a:ln>
        </p:spPr>
      </p:cxnSp>
      <p:grpSp>
        <p:nvGrpSpPr>
          <p:cNvPr id="219" name="Google Shape;219;p14"/>
          <p:cNvGrpSpPr/>
          <p:nvPr/>
        </p:nvGrpSpPr>
        <p:grpSpPr>
          <a:xfrm>
            <a:off x="4199634" y="1676738"/>
            <a:ext cx="5451367" cy="1381771"/>
            <a:chOff x="3149725" y="1102699"/>
            <a:chExt cx="4088525" cy="1036328"/>
          </a:xfrm>
        </p:grpSpPr>
        <p:sp>
          <p:nvSpPr>
            <p:cNvPr id="220" name="Google Shape;220;p14"/>
            <p:cNvSpPr/>
            <p:nvPr/>
          </p:nvSpPr>
          <p:spPr>
            <a:xfrm>
              <a:off x="5108675" y="1224800"/>
              <a:ext cx="585600" cy="5856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21" name="Google Shape;221;p14"/>
            <p:cNvSpPr txBox="1"/>
            <p:nvPr/>
          </p:nvSpPr>
          <p:spPr>
            <a:xfrm>
              <a:off x="5755050" y="1102699"/>
              <a:ext cx="1483200" cy="1036328"/>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dirty="0">
                  <a:solidFill>
                    <a:schemeClr val="dk1"/>
                  </a:solidFill>
                  <a:latin typeface="Calibri"/>
                  <a:ea typeface="Calibri"/>
                  <a:cs typeface="Calibri"/>
                  <a:sym typeface="Calibri"/>
                </a:rPr>
                <a:t>Acquire and Clean Data</a:t>
              </a:r>
            </a:p>
            <a:p>
              <a:pPr marL="0" marR="0" lvl="0" indent="0" algn="l" rtl="0">
                <a:lnSpc>
                  <a:spcPct val="100000"/>
                </a:lnSpc>
                <a:spcBef>
                  <a:spcPts val="0"/>
                </a:spcBef>
                <a:spcAft>
                  <a:spcPts val="0"/>
                </a:spcAft>
                <a:buClr>
                  <a:srgbClr val="000000"/>
                </a:buClr>
                <a:buSzPts val="2667"/>
                <a:buFont typeface="Arial"/>
                <a:buNone/>
              </a:pPr>
              <a:r>
                <a:rPr lang="en-US" sz="2667" b="0" i="0" u="none" strike="noStrike" cap="none" dirty="0">
                  <a:solidFill>
                    <a:schemeClr val="dk1"/>
                  </a:solidFill>
                  <a:latin typeface="Calibri"/>
                  <a:ea typeface="Calibri"/>
                  <a:cs typeface="Calibri"/>
                  <a:sym typeface="Calibri"/>
                </a:rPr>
                <a:t>(node 2)</a:t>
              </a:r>
              <a:endParaRPr sz="2667" b="0" i="0" u="none" strike="noStrike" cap="none" dirty="0">
                <a:solidFill>
                  <a:schemeClr val="dk1"/>
                </a:solidFill>
                <a:latin typeface="Calibri"/>
                <a:ea typeface="Calibri"/>
                <a:cs typeface="Calibri"/>
                <a:sym typeface="Calibri"/>
              </a:endParaRPr>
            </a:p>
          </p:txBody>
        </p:sp>
        <p:cxnSp>
          <p:nvCxnSpPr>
            <p:cNvPr id="222" name="Google Shape;222;p14"/>
            <p:cNvCxnSpPr/>
            <p:nvPr/>
          </p:nvCxnSpPr>
          <p:spPr>
            <a:xfrm>
              <a:off x="3149725" y="1517600"/>
              <a:ext cx="1959000" cy="0"/>
            </a:xfrm>
            <a:prstGeom prst="straightConnector1">
              <a:avLst/>
            </a:prstGeom>
            <a:noFill/>
            <a:ln w="28575" cap="flat" cmpd="sng">
              <a:solidFill>
                <a:srgbClr val="000000"/>
              </a:solidFill>
              <a:prstDash val="solid"/>
              <a:round/>
              <a:headEnd type="none" w="sm" len="sm"/>
              <a:tailEnd type="triangle" w="med" len="med"/>
            </a:ln>
          </p:spPr>
        </p:cxnSp>
      </p:grpSp>
      <p:grpSp>
        <p:nvGrpSpPr>
          <p:cNvPr id="223" name="Google Shape;223;p14"/>
          <p:cNvGrpSpPr/>
          <p:nvPr/>
        </p:nvGrpSpPr>
        <p:grpSpPr>
          <a:xfrm>
            <a:off x="6811567" y="2620339"/>
            <a:ext cx="2955300" cy="3056571"/>
            <a:chOff x="5108675" y="1810400"/>
            <a:chExt cx="2216475" cy="2292428"/>
          </a:xfrm>
        </p:grpSpPr>
        <p:grpSp>
          <p:nvGrpSpPr>
            <p:cNvPr id="224" name="Google Shape;224;p14"/>
            <p:cNvGrpSpPr/>
            <p:nvPr/>
          </p:nvGrpSpPr>
          <p:grpSpPr>
            <a:xfrm>
              <a:off x="5108675" y="3066500"/>
              <a:ext cx="2216475" cy="1036328"/>
              <a:chOff x="5108675" y="3066500"/>
              <a:chExt cx="2216475" cy="1036328"/>
            </a:xfrm>
          </p:grpSpPr>
          <p:sp>
            <p:nvSpPr>
              <p:cNvPr id="225" name="Google Shape;225;p14"/>
              <p:cNvSpPr/>
              <p:nvPr/>
            </p:nvSpPr>
            <p:spPr>
              <a:xfrm>
                <a:off x="5108675" y="3188600"/>
                <a:ext cx="585600" cy="5856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26" name="Google Shape;226;p14"/>
              <p:cNvSpPr txBox="1"/>
              <p:nvPr/>
            </p:nvSpPr>
            <p:spPr>
              <a:xfrm>
                <a:off x="5749850" y="3066500"/>
                <a:ext cx="1575300" cy="1036328"/>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dirty="0">
                    <a:solidFill>
                      <a:schemeClr val="dk1"/>
                    </a:solidFill>
                    <a:latin typeface="Calibri"/>
                    <a:ea typeface="Calibri"/>
                    <a:cs typeface="Calibri"/>
                    <a:sym typeface="Calibri"/>
                  </a:rPr>
                  <a:t>Exploratory Data Analysis</a:t>
                </a:r>
              </a:p>
              <a:p>
                <a:pPr marL="0" marR="0" lvl="0" indent="0" algn="l" rtl="0">
                  <a:lnSpc>
                    <a:spcPct val="100000"/>
                  </a:lnSpc>
                  <a:spcBef>
                    <a:spcPts val="0"/>
                  </a:spcBef>
                  <a:spcAft>
                    <a:spcPts val="0"/>
                  </a:spcAft>
                  <a:buClr>
                    <a:srgbClr val="000000"/>
                  </a:buClr>
                  <a:buSzPts val="2667"/>
                  <a:buFont typeface="Arial"/>
                  <a:buNone/>
                </a:pPr>
                <a:r>
                  <a:rPr lang="en-US" sz="2667" b="0" i="0" u="none" strike="noStrike" cap="none" dirty="0">
                    <a:solidFill>
                      <a:schemeClr val="dk1"/>
                    </a:solidFill>
                    <a:latin typeface="Calibri"/>
                    <a:ea typeface="Calibri"/>
                    <a:cs typeface="Calibri"/>
                    <a:sym typeface="Calibri"/>
                  </a:rPr>
                  <a:t>(node 3)</a:t>
                </a:r>
                <a:endParaRPr sz="2667" b="0" i="0" u="none" strike="noStrike" cap="none" dirty="0">
                  <a:solidFill>
                    <a:schemeClr val="dk1"/>
                  </a:solidFill>
                  <a:latin typeface="Calibri"/>
                  <a:ea typeface="Calibri"/>
                  <a:cs typeface="Calibri"/>
                  <a:sym typeface="Calibri"/>
                </a:endParaRPr>
              </a:p>
            </p:txBody>
          </p:sp>
        </p:grpSp>
        <p:cxnSp>
          <p:nvCxnSpPr>
            <p:cNvPr id="227" name="Google Shape;227;p14"/>
            <p:cNvCxnSpPr/>
            <p:nvPr/>
          </p:nvCxnSpPr>
          <p:spPr>
            <a:xfrm>
              <a:off x="5401475" y="1810400"/>
              <a:ext cx="0" cy="1378200"/>
            </a:xfrm>
            <a:prstGeom prst="straightConnector1">
              <a:avLst/>
            </a:prstGeom>
            <a:noFill/>
            <a:ln w="28575" cap="flat" cmpd="sng">
              <a:solidFill>
                <a:srgbClr val="000000"/>
              </a:solidFill>
              <a:prstDash val="solid"/>
              <a:round/>
              <a:headEnd type="none" w="sm" len="sm"/>
              <a:tailEnd type="triangle" w="med" len="med"/>
            </a:ln>
          </p:spPr>
        </p:cxnSp>
      </p:grpSp>
      <p:cxnSp>
        <p:nvCxnSpPr>
          <p:cNvPr id="228" name="Google Shape;228;p14"/>
          <p:cNvCxnSpPr/>
          <p:nvPr/>
        </p:nvCxnSpPr>
        <p:spPr>
          <a:xfrm rot="10800000">
            <a:off x="4085112" y="2505884"/>
            <a:ext cx="2840800" cy="2066400"/>
          </a:xfrm>
          <a:prstGeom prst="straightConnector1">
            <a:avLst/>
          </a:prstGeom>
          <a:noFill/>
          <a:ln w="28575" cap="flat" cmpd="sng">
            <a:solidFill>
              <a:srgbClr val="000000"/>
            </a:solidFill>
            <a:prstDash val="solid"/>
            <a:round/>
            <a:headEnd type="none" w="sm" len="sm"/>
            <a:tailEnd type="triangle" w="med" len="med"/>
          </a:ln>
        </p:spPr>
      </p:cxnSp>
      <p:sp>
        <p:nvSpPr>
          <p:cNvPr id="229" name="Google Shape;229;p14"/>
          <p:cNvSpPr/>
          <p:nvPr/>
        </p:nvSpPr>
        <p:spPr>
          <a:xfrm>
            <a:off x="3418833" y="4457939"/>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30" name="Google Shape;230;p14"/>
          <p:cNvSpPr txBox="1"/>
          <p:nvPr/>
        </p:nvSpPr>
        <p:spPr>
          <a:xfrm>
            <a:off x="590233" y="4091938"/>
            <a:ext cx="2713600" cy="2077633"/>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dirty="0">
                <a:solidFill>
                  <a:schemeClr val="dk1"/>
                </a:solidFill>
                <a:latin typeface="Calibri"/>
                <a:ea typeface="Calibri"/>
                <a:cs typeface="Calibri"/>
                <a:sym typeface="Calibri"/>
              </a:rPr>
              <a:t>Draw Conclusions from Predictions and Inference</a:t>
            </a:r>
          </a:p>
          <a:p>
            <a:pPr marL="0" marR="0" lvl="0" indent="0" algn="r" rtl="0">
              <a:lnSpc>
                <a:spcPct val="100000"/>
              </a:lnSpc>
              <a:spcBef>
                <a:spcPts val="0"/>
              </a:spcBef>
              <a:spcAft>
                <a:spcPts val="0"/>
              </a:spcAft>
              <a:buClr>
                <a:srgbClr val="000000"/>
              </a:buClr>
              <a:buSzPts val="2667"/>
              <a:buFont typeface="Arial"/>
              <a:buNone/>
            </a:pPr>
            <a:r>
              <a:rPr lang="en-US" sz="2667" b="0" i="0" u="none" strike="noStrike" cap="none" dirty="0">
                <a:solidFill>
                  <a:schemeClr val="dk1"/>
                </a:solidFill>
                <a:latin typeface="Calibri"/>
                <a:ea typeface="Calibri"/>
                <a:cs typeface="Calibri"/>
                <a:sym typeface="Calibri"/>
              </a:rPr>
              <a:t>(node 4)</a:t>
            </a:r>
            <a:endParaRPr sz="2667" b="0" i="0" u="none" strike="noStrike" cap="none" dirty="0">
              <a:solidFill>
                <a:schemeClr val="dk1"/>
              </a:solidFill>
              <a:latin typeface="Calibri"/>
              <a:ea typeface="Calibri"/>
              <a:cs typeface="Calibri"/>
              <a:sym typeface="Calibri"/>
            </a:endParaRPr>
          </a:p>
        </p:txBody>
      </p:sp>
      <p:cxnSp>
        <p:nvCxnSpPr>
          <p:cNvPr id="231" name="Google Shape;231;p14"/>
          <p:cNvCxnSpPr/>
          <p:nvPr/>
        </p:nvCxnSpPr>
        <p:spPr>
          <a:xfrm rot="10800000">
            <a:off x="4213635" y="4848339"/>
            <a:ext cx="2612000" cy="0"/>
          </a:xfrm>
          <a:prstGeom prst="straightConnector1">
            <a:avLst/>
          </a:prstGeom>
          <a:noFill/>
          <a:ln w="28575" cap="flat" cmpd="sng">
            <a:solidFill>
              <a:srgbClr val="000000"/>
            </a:solidFill>
            <a:prstDash val="solid"/>
            <a:round/>
            <a:headEnd type="none" w="sm" len="sm"/>
            <a:tailEnd type="triangle" w="med" len="med"/>
          </a:ln>
        </p:spPr>
      </p:cxnSp>
      <p:cxnSp>
        <p:nvCxnSpPr>
          <p:cNvPr id="232" name="Google Shape;232;p14"/>
          <p:cNvCxnSpPr/>
          <p:nvPr/>
        </p:nvCxnSpPr>
        <p:spPr>
          <a:xfrm rot="10800000">
            <a:off x="3809233" y="2620339"/>
            <a:ext cx="0" cy="1837600"/>
          </a:xfrm>
          <a:prstGeom prst="straightConnector1">
            <a:avLst/>
          </a:prstGeom>
          <a:noFill/>
          <a:ln w="28575" cap="flat" cmpd="sng">
            <a:solidFill>
              <a:srgbClr val="000000"/>
            </a:solidFill>
            <a:prstDash val="solid"/>
            <a:round/>
            <a:headEnd type="none" w="sm" len="sm"/>
            <a:tailEnd type="triangle" w="med" len="med"/>
          </a:ln>
        </p:spPr>
      </p:cxnSp>
      <p:grpSp>
        <p:nvGrpSpPr>
          <p:cNvPr id="233" name="Google Shape;233;p14"/>
          <p:cNvGrpSpPr/>
          <p:nvPr/>
        </p:nvGrpSpPr>
        <p:grpSpPr>
          <a:xfrm>
            <a:off x="3809234" y="5238739"/>
            <a:ext cx="4380633" cy="1519600"/>
            <a:chOff x="2856925" y="3774200"/>
            <a:chExt cx="3285475" cy="1139700"/>
          </a:xfrm>
        </p:grpSpPr>
        <p:sp>
          <p:nvSpPr>
            <p:cNvPr id="234" name="Google Shape;234;p14"/>
            <p:cNvSpPr txBox="1"/>
            <p:nvPr/>
          </p:nvSpPr>
          <p:spPr>
            <a:xfrm>
              <a:off x="3938000" y="4236500"/>
              <a:ext cx="22044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Reports, Decisions, and Solutions</a:t>
              </a:r>
              <a:endParaRPr sz="2667" b="0" i="0" u="none" strike="noStrike" cap="none">
                <a:solidFill>
                  <a:schemeClr val="dk1"/>
                </a:solidFill>
                <a:latin typeface="Calibri"/>
                <a:ea typeface="Calibri"/>
                <a:cs typeface="Calibri"/>
                <a:sym typeface="Calibri"/>
              </a:endParaRPr>
            </a:p>
          </p:txBody>
        </p:sp>
        <p:cxnSp>
          <p:nvCxnSpPr>
            <p:cNvPr id="235" name="Google Shape;235;p14"/>
            <p:cNvCxnSpPr/>
            <p:nvPr/>
          </p:nvCxnSpPr>
          <p:spPr>
            <a:xfrm rot="-5400000" flipH="1">
              <a:off x="2997025" y="3634100"/>
              <a:ext cx="801000" cy="1081200"/>
            </a:xfrm>
            <a:prstGeom prst="bentConnector2">
              <a:avLst/>
            </a:prstGeom>
            <a:noFill/>
            <a:ln w="28575" cap="flat" cmpd="sng">
              <a:solidFill>
                <a:srgbClr val="000000"/>
              </a:solidFill>
              <a:prstDash val="solid"/>
              <a:round/>
              <a:headEnd type="none" w="sm" len="sm"/>
              <a:tailEnd type="triangle" w="med" len="med"/>
            </a:ln>
          </p:spPr>
        </p:cxnSp>
      </p:grpSp>
      <p:sp>
        <p:nvSpPr>
          <p:cNvPr id="236" name="Google Shape;236;p14"/>
          <p:cNvSpPr txBox="1"/>
          <p:nvPr/>
        </p:nvSpPr>
        <p:spPr>
          <a:xfrm>
            <a:off x="9872467" y="1364472"/>
            <a:ext cx="1977600" cy="1068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Note the two distinct entry points!</a:t>
            </a:r>
            <a:endParaRPr sz="2400" b="0" i="0" u="none" strike="noStrike" cap="none">
              <a:solidFill>
                <a:schemeClr val="dk1"/>
              </a:solidFill>
              <a:latin typeface="Rockwell"/>
              <a:ea typeface="Rockwell"/>
              <a:cs typeface="Rockwell"/>
              <a:sym typeface="Rockwell"/>
            </a:endParaRPr>
          </a:p>
        </p:txBody>
      </p:sp>
      <p:sp>
        <p:nvSpPr>
          <p:cNvPr id="237" name="Google Shape;237;p14"/>
          <p:cNvSpPr txBox="1"/>
          <p:nvPr/>
        </p:nvSpPr>
        <p:spPr>
          <a:xfrm>
            <a:off x="7130697" y="4444508"/>
            <a:ext cx="384000" cy="368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38" name="Google Shape;238;p14"/>
          <p:cNvSpPr txBox="1"/>
          <p:nvPr/>
        </p:nvSpPr>
        <p:spPr>
          <a:xfrm>
            <a:off x="7309053" y="2291183"/>
            <a:ext cx="214800" cy="375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239" name="Google Shape;239;p14"/>
          <p:cNvCxnSpPr/>
          <p:nvPr/>
        </p:nvCxnSpPr>
        <p:spPr>
          <a:xfrm rot="-5400000">
            <a:off x="6444297" y="3549008"/>
            <a:ext cx="2150100" cy="9300"/>
          </a:xfrm>
          <a:prstGeom prst="curvedConnector3">
            <a:avLst>
              <a:gd name="adj1" fmla="val 0"/>
            </a:avLst>
          </a:prstGeom>
          <a:noFill/>
          <a:ln w="28575" cap="flat" cmpd="sng">
            <a:solidFill>
              <a:srgbClr val="00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5"/>
          <p:cNvSpPr txBox="1">
            <a:spLocks noGrp="1"/>
          </p:cNvSpPr>
          <p:nvPr>
            <p:ph type="title"/>
          </p:nvPr>
        </p:nvSpPr>
        <p:spPr>
          <a:xfrm>
            <a:off x="1069848" y="-2383"/>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IN SIMPLER TERMS</a:t>
            </a:r>
            <a:endParaRPr/>
          </a:p>
        </p:txBody>
      </p:sp>
      <p:sp>
        <p:nvSpPr>
          <p:cNvPr id="169" name="Google Shape;169;p5"/>
          <p:cNvSpPr/>
          <p:nvPr/>
        </p:nvSpPr>
        <p:spPr>
          <a:xfrm>
            <a:off x="3418833" y="1810043"/>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70" name="Google Shape;170;p5"/>
          <p:cNvSpPr txBox="1"/>
          <p:nvPr/>
        </p:nvSpPr>
        <p:spPr>
          <a:xfrm>
            <a:off x="1482367" y="1647243"/>
            <a:ext cx="1821600" cy="9032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Ask a Question</a:t>
            </a:r>
            <a:endParaRPr sz="2667" b="0" i="0" u="none" strike="noStrike" cap="none">
              <a:solidFill>
                <a:schemeClr val="dk1"/>
              </a:solidFill>
              <a:latin typeface="Calibri"/>
              <a:ea typeface="Calibri"/>
              <a:cs typeface="Calibri"/>
              <a:sym typeface="Calibri"/>
            </a:endParaRPr>
          </a:p>
        </p:txBody>
      </p:sp>
      <p:cxnSp>
        <p:nvCxnSpPr>
          <p:cNvPr id="171" name="Google Shape;171;p5"/>
          <p:cNvCxnSpPr/>
          <p:nvPr/>
        </p:nvCxnSpPr>
        <p:spPr>
          <a:xfrm>
            <a:off x="3809233" y="1233243"/>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172" name="Google Shape;172;p5"/>
          <p:cNvCxnSpPr/>
          <p:nvPr/>
        </p:nvCxnSpPr>
        <p:spPr>
          <a:xfrm>
            <a:off x="7201967" y="1233243"/>
            <a:ext cx="0" cy="576800"/>
          </a:xfrm>
          <a:prstGeom prst="straightConnector1">
            <a:avLst/>
          </a:prstGeom>
          <a:noFill/>
          <a:ln w="28575" cap="flat" cmpd="sng">
            <a:solidFill>
              <a:srgbClr val="000000"/>
            </a:solidFill>
            <a:prstDash val="solid"/>
            <a:round/>
            <a:headEnd type="none" w="sm" len="sm"/>
            <a:tailEnd type="triangle" w="med" len="med"/>
          </a:ln>
        </p:spPr>
      </p:cxnSp>
      <p:grpSp>
        <p:nvGrpSpPr>
          <p:cNvPr id="173" name="Google Shape;173;p5"/>
          <p:cNvGrpSpPr/>
          <p:nvPr/>
        </p:nvGrpSpPr>
        <p:grpSpPr>
          <a:xfrm>
            <a:off x="4199634" y="1647243"/>
            <a:ext cx="5320567" cy="943600"/>
            <a:chOff x="3149725" y="1102700"/>
            <a:chExt cx="3990425" cy="707700"/>
          </a:xfrm>
        </p:grpSpPr>
        <p:sp>
          <p:nvSpPr>
            <p:cNvPr id="174" name="Google Shape;174;p5"/>
            <p:cNvSpPr/>
            <p:nvPr/>
          </p:nvSpPr>
          <p:spPr>
            <a:xfrm>
              <a:off x="5108675" y="1224800"/>
              <a:ext cx="585600" cy="5856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75" name="Google Shape;175;p5"/>
            <p:cNvSpPr txBox="1"/>
            <p:nvPr/>
          </p:nvSpPr>
          <p:spPr>
            <a:xfrm>
              <a:off x="5983650" y="1102700"/>
              <a:ext cx="11565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Obtain Data</a:t>
              </a:r>
              <a:endParaRPr sz="2667" b="0" i="0" u="none" strike="noStrike" cap="none">
                <a:solidFill>
                  <a:schemeClr val="dk1"/>
                </a:solidFill>
                <a:latin typeface="Calibri"/>
                <a:ea typeface="Calibri"/>
                <a:cs typeface="Calibri"/>
                <a:sym typeface="Calibri"/>
              </a:endParaRPr>
            </a:p>
          </p:txBody>
        </p:sp>
        <p:cxnSp>
          <p:nvCxnSpPr>
            <p:cNvPr id="176" name="Google Shape;176;p5"/>
            <p:cNvCxnSpPr/>
            <p:nvPr/>
          </p:nvCxnSpPr>
          <p:spPr>
            <a:xfrm>
              <a:off x="3149725" y="1517600"/>
              <a:ext cx="1959000" cy="0"/>
            </a:xfrm>
            <a:prstGeom prst="straightConnector1">
              <a:avLst/>
            </a:prstGeom>
            <a:noFill/>
            <a:ln w="28575" cap="flat" cmpd="sng">
              <a:solidFill>
                <a:srgbClr val="000000"/>
              </a:solidFill>
              <a:prstDash val="solid"/>
              <a:round/>
              <a:headEnd type="none" w="sm" len="sm"/>
              <a:tailEnd type="triangle" w="med" len="med"/>
            </a:ln>
          </p:spPr>
        </p:cxnSp>
      </p:grpSp>
      <p:grpSp>
        <p:nvGrpSpPr>
          <p:cNvPr id="177" name="Google Shape;177;p5"/>
          <p:cNvGrpSpPr/>
          <p:nvPr/>
        </p:nvGrpSpPr>
        <p:grpSpPr>
          <a:xfrm>
            <a:off x="6811567" y="2590843"/>
            <a:ext cx="2832500" cy="2618400"/>
            <a:chOff x="5108675" y="1810400"/>
            <a:chExt cx="2124375" cy="1963800"/>
          </a:xfrm>
        </p:grpSpPr>
        <p:grpSp>
          <p:nvGrpSpPr>
            <p:cNvPr id="178" name="Google Shape;178;p5"/>
            <p:cNvGrpSpPr/>
            <p:nvPr/>
          </p:nvGrpSpPr>
          <p:grpSpPr>
            <a:xfrm>
              <a:off x="5108675" y="3066500"/>
              <a:ext cx="2124375" cy="707700"/>
              <a:chOff x="5108675" y="3066500"/>
              <a:chExt cx="2124375" cy="707700"/>
            </a:xfrm>
          </p:grpSpPr>
          <p:sp>
            <p:nvSpPr>
              <p:cNvPr id="179" name="Google Shape;179;p5"/>
              <p:cNvSpPr/>
              <p:nvPr/>
            </p:nvSpPr>
            <p:spPr>
              <a:xfrm>
                <a:off x="5108675" y="3188600"/>
                <a:ext cx="585600" cy="5856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80" name="Google Shape;180;p5"/>
              <p:cNvSpPr txBox="1"/>
              <p:nvPr/>
            </p:nvSpPr>
            <p:spPr>
              <a:xfrm>
                <a:off x="5749850" y="3066500"/>
                <a:ext cx="14832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Understand the Data</a:t>
                </a:r>
                <a:endParaRPr sz="2667" b="0" i="0" u="none" strike="noStrike" cap="none">
                  <a:solidFill>
                    <a:schemeClr val="dk1"/>
                  </a:solidFill>
                  <a:latin typeface="Calibri"/>
                  <a:ea typeface="Calibri"/>
                  <a:cs typeface="Calibri"/>
                  <a:sym typeface="Calibri"/>
                </a:endParaRPr>
              </a:p>
            </p:txBody>
          </p:sp>
        </p:grpSp>
        <p:cxnSp>
          <p:nvCxnSpPr>
            <p:cNvPr id="181" name="Google Shape;181;p5"/>
            <p:cNvCxnSpPr/>
            <p:nvPr/>
          </p:nvCxnSpPr>
          <p:spPr>
            <a:xfrm>
              <a:off x="5401475" y="1810400"/>
              <a:ext cx="0" cy="1378200"/>
            </a:xfrm>
            <a:prstGeom prst="straightConnector1">
              <a:avLst/>
            </a:prstGeom>
            <a:noFill/>
            <a:ln w="28575" cap="flat" cmpd="sng">
              <a:solidFill>
                <a:srgbClr val="000000"/>
              </a:solidFill>
              <a:prstDash val="solid"/>
              <a:round/>
              <a:headEnd type="none" w="sm" len="sm"/>
              <a:tailEnd type="triangle" w="med" len="med"/>
            </a:ln>
          </p:spPr>
        </p:cxnSp>
      </p:grpSp>
      <p:cxnSp>
        <p:nvCxnSpPr>
          <p:cNvPr id="182" name="Google Shape;182;p5"/>
          <p:cNvCxnSpPr/>
          <p:nvPr/>
        </p:nvCxnSpPr>
        <p:spPr>
          <a:xfrm rot="10800000">
            <a:off x="4085112" y="2476388"/>
            <a:ext cx="2840800" cy="2066400"/>
          </a:xfrm>
          <a:prstGeom prst="straightConnector1">
            <a:avLst/>
          </a:prstGeom>
          <a:noFill/>
          <a:ln w="28575" cap="flat" cmpd="sng">
            <a:solidFill>
              <a:srgbClr val="000000"/>
            </a:solidFill>
            <a:prstDash val="solid"/>
            <a:round/>
            <a:headEnd type="none" w="sm" len="sm"/>
            <a:tailEnd type="triangle" w="med" len="med"/>
          </a:ln>
        </p:spPr>
      </p:cxnSp>
      <p:grpSp>
        <p:nvGrpSpPr>
          <p:cNvPr id="183" name="Google Shape;183;p5"/>
          <p:cNvGrpSpPr/>
          <p:nvPr/>
        </p:nvGrpSpPr>
        <p:grpSpPr>
          <a:xfrm>
            <a:off x="1071567" y="4265643"/>
            <a:ext cx="5740000" cy="943600"/>
            <a:chOff x="803675" y="3066500"/>
            <a:chExt cx="4305000" cy="707700"/>
          </a:xfrm>
        </p:grpSpPr>
        <p:sp>
          <p:nvSpPr>
            <p:cNvPr id="184" name="Google Shape;184;p5"/>
            <p:cNvSpPr/>
            <p:nvPr/>
          </p:nvSpPr>
          <p:spPr>
            <a:xfrm>
              <a:off x="2564125" y="3188600"/>
              <a:ext cx="585600" cy="5856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85" name="Google Shape;185;p5"/>
            <p:cNvSpPr txBox="1"/>
            <p:nvPr/>
          </p:nvSpPr>
          <p:spPr>
            <a:xfrm>
              <a:off x="803675" y="3066500"/>
              <a:ext cx="1674300" cy="6774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Understand the World</a:t>
              </a:r>
              <a:endParaRPr sz="2667" b="0" i="0" u="none" strike="noStrike" cap="none">
                <a:solidFill>
                  <a:schemeClr val="dk1"/>
                </a:solidFill>
                <a:latin typeface="Calibri"/>
                <a:ea typeface="Calibri"/>
                <a:cs typeface="Calibri"/>
                <a:sym typeface="Calibri"/>
              </a:endParaRPr>
            </a:p>
          </p:txBody>
        </p:sp>
        <p:cxnSp>
          <p:nvCxnSpPr>
            <p:cNvPr id="186" name="Google Shape;186;p5"/>
            <p:cNvCxnSpPr/>
            <p:nvPr/>
          </p:nvCxnSpPr>
          <p:spPr>
            <a:xfrm rot="10800000">
              <a:off x="3149675" y="3481400"/>
              <a:ext cx="1959000" cy="0"/>
            </a:xfrm>
            <a:prstGeom prst="straightConnector1">
              <a:avLst/>
            </a:prstGeom>
            <a:noFill/>
            <a:ln w="28575" cap="flat" cmpd="sng">
              <a:solidFill>
                <a:srgbClr val="000000"/>
              </a:solidFill>
              <a:prstDash val="solid"/>
              <a:round/>
              <a:headEnd type="none" w="sm" len="sm"/>
              <a:tailEnd type="triangle" w="med" len="med"/>
            </a:ln>
          </p:spPr>
        </p:cxnSp>
      </p:grpSp>
      <p:cxnSp>
        <p:nvCxnSpPr>
          <p:cNvPr id="187" name="Google Shape;187;p5"/>
          <p:cNvCxnSpPr/>
          <p:nvPr/>
        </p:nvCxnSpPr>
        <p:spPr>
          <a:xfrm rot="10800000">
            <a:off x="3809233" y="2590843"/>
            <a:ext cx="0" cy="1837600"/>
          </a:xfrm>
          <a:prstGeom prst="straightConnector1">
            <a:avLst/>
          </a:prstGeom>
          <a:noFill/>
          <a:ln w="28575" cap="flat" cmpd="sng">
            <a:solidFill>
              <a:srgbClr val="000000"/>
            </a:solidFill>
            <a:prstDash val="solid"/>
            <a:round/>
            <a:headEnd type="none" w="sm" len="sm"/>
            <a:tailEnd type="triangle" w="med" len="med"/>
          </a:ln>
        </p:spPr>
      </p:cxnSp>
      <p:grpSp>
        <p:nvGrpSpPr>
          <p:cNvPr id="188" name="Google Shape;188;p5"/>
          <p:cNvGrpSpPr/>
          <p:nvPr/>
        </p:nvGrpSpPr>
        <p:grpSpPr>
          <a:xfrm>
            <a:off x="3809234" y="5209243"/>
            <a:ext cx="4380633" cy="1519600"/>
            <a:chOff x="2856925" y="3774200"/>
            <a:chExt cx="3285475" cy="1139700"/>
          </a:xfrm>
        </p:grpSpPr>
        <p:sp>
          <p:nvSpPr>
            <p:cNvPr id="189" name="Google Shape;189;p5"/>
            <p:cNvSpPr txBox="1"/>
            <p:nvPr/>
          </p:nvSpPr>
          <p:spPr>
            <a:xfrm>
              <a:off x="3938000" y="4236500"/>
              <a:ext cx="22044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Reports, Decisions, and Solutions</a:t>
              </a:r>
              <a:endParaRPr sz="2667" b="0" i="0" u="none" strike="noStrike" cap="none">
                <a:solidFill>
                  <a:schemeClr val="dk1"/>
                </a:solidFill>
                <a:latin typeface="Calibri"/>
                <a:ea typeface="Calibri"/>
                <a:cs typeface="Calibri"/>
                <a:sym typeface="Calibri"/>
              </a:endParaRPr>
            </a:p>
          </p:txBody>
        </p:sp>
        <p:cxnSp>
          <p:nvCxnSpPr>
            <p:cNvPr id="190" name="Google Shape;190;p5"/>
            <p:cNvCxnSpPr/>
            <p:nvPr/>
          </p:nvCxnSpPr>
          <p:spPr>
            <a:xfrm rot="-5400000" flipH="1">
              <a:off x="2997025" y="3634100"/>
              <a:ext cx="801000" cy="1081200"/>
            </a:xfrm>
            <a:prstGeom prst="bentConnector2">
              <a:avLst/>
            </a:prstGeom>
            <a:noFill/>
            <a:ln w="28575" cap="flat" cmpd="sng">
              <a:solidFill>
                <a:srgbClr val="000000"/>
              </a:solidFill>
              <a:prstDash val="solid"/>
              <a:round/>
              <a:headEnd type="none" w="sm" len="sm"/>
              <a:tailEnd type="triangle" w="med" len="med"/>
            </a:ln>
          </p:spPr>
        </p:cxnSp>
      </p:grpSp>
      <p:sp>
        <p:nvSpPr>
          <p:cNvPr id="191" name="Google Shape;191;p5"/>
          <p:cNvSpPr txBox="1"/>
          <p:nvPr/>
        </p:nvSpPr>
        <p:spPr>
          <a:xfrm>
            <a:off x="9872467" y="1334976"/>
            <a:ext cx="1977600" cy="1068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Note the two distinct entry points!</a:t>
            </a:r>
            <a:endParaRPr sz="2400" b="0" i="0" u="none" strike="noStrike" cap="none">
              <a:solidFill>
                <a:schemeClr val="dk1"/>
              </a:solidFill>
              <a:latin typeface="Rockwell"/>
              <a:ea typeface="Rockwell"/>
              <a:cs typeface="Rockwell"/>
              <a:sym typeface="Rockwell"/>
            </a:endParaRPr>
          </a:p>
        </p:txBody>
      </p:sp>
      <p:sp>
        <p:nvSpPr>
          <p:cNvPr id="192" name="Google Shape;192;p5"/>
          <p:cNvSpPr txBox="1"/>
          <p:nvPr/>
        </p:nvSpPr>
        <p:spPr>
          <a:xfrm>
            <a:off x="7130697" y="4415012"/>
            <a:ext cx="384000" cy="368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93" name="Google Shape;193;p5"/>
          <p:cNvSpPr txBox="1"/>
          <p:nvPr/>
        </p:nvSpPr>
        <p:spPr>
          <a:xfrm>
            <a:off x="7309053" y="2261687"/>
            <a:ext cx="214800" cy="375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194" name="Google Shape;194;p5"/>
          <p:cNvCxnSpPr/>
          <p:nvPr/>
        </p:nvCxnSpPr>
        <p:spPr>
          <a:xfrm rot="-5400000">
            <a:off x="6444297" y="3519512"/>
            <a:ext cx="2150100" cy="9300"/>
          </a:xfrm>
          <a:prstGeom prst="curvedConnector3">
            <a:avLst>
              <a:gd name="adj1" fmla="val 0"/>
            </a:avLst>
          </a:prstGeom>
          <a:noFill/>
          <a:ln w="28575" cap="flat" cmpd="sng">
            <a:solidFill>
              <a:srgbClr val="000000"/>
            </a:solidFill>
            <a:prstDash val="solid"/>
            <a:round/>
            <a:headEnd type="none" w="sm" len="sm"/>
            <a:tailEnd type="triangle" w="med" len="med"/>
          </a:ln>
        </p:spPr>
      </p:cxnSp>
    </p:spTree>
    <p:extLst>
      <p:ext uri="{BB962C8B-B14F-4D97-AF65-F5344CB8AC3E}">
        <p14:creationId xmlns:p14="http://schemas.microsoft.com/office/powerpoint/2010/main" val="285891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1"/>
                                        <p:tgtEl>
                                          <p:spTgt spid="1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fade">
                                      <p:cBhvr>
                                        <p:cTn id="12" dur="1"/>
                                        <p:tgtEl>
                                          <p:spTgt spid="172"/>
                                        </p:tgtEl>
                                      </p:cBhvr>
                                    </p:animEffect>
                                  </p:childTnLst>
                                </p:cTn>
                              </p:par>
                              <p:par>
                                <p:cTn id="13" presetID="10" presetClass="entr" presetSubtype="0" fill="hold" nodeType="withEffect">
                                  <p:stCondLst>
                                    <p:cond delay="0"/>
                                  </p:stCondLst>
                                  <p:childTnLst>
                                    <p:set>
                                      <p:cBhvr>
                                        <p:cTn id="14" dur="1" fill="hold">
                                          <p:stCondLst>
                                            <p:cond delay="0"/>
                                          </p:stCondLst>
                                        </p:cTn>
                                        <p:tgtEl>
                                          <p:spTgt spid="191"/>
                                        </p:tgtEl>
                                        <p:attrNameLst>
                                          <p:attrName>style.visibility</p:attrName>
                                        </p:attrNameLst>
                                      </p:cBhvr>
                                      <p:to>
                                        <p:strVal val="visible"/>
                                      </p:to>
                                    </p:set>
                                    <p:animEffect transition="in" filter="fade">
                                      <p:cBhvr>
                                        <p:cTn id="15" dur="1"/>
                                        <p:tgtEl>
                                          <p:spTgt spid="19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7"/>
                                        </p:tgtEl>
                                        <p:attrNameLst>
                                          <p:attrName>style.visibility</p:attrName>
                                        </p:attrNameLst>
                                      </p:cBhvr>
                                      <p:to>
                                        <p:strVal val="visible"/>
                                      </p:to>
                                    </p:set>
                                    <p:animEffect transition="in" filter="fade">
                                      <p:cBhvr>
                                        <p:cTn id="20" dur="1"/>
                                        <p:tgtEl>
                                          <p:spTgt spid="17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94"/>
                                        </p:tgtEl>
                                        <p:attrNameLst>
                                          <p:attrName>style.visibility</p:attrName>
                                        </p:attrNameLst>
                                      </p:cBhvr>
                                      <p:to>
                                        <p:strVal val="visible"/>
                                      </p:to>
                                    </p:set>
                                    <p:animEffect transition="in" filter="fade">
                                      <p:cBhvr>
                                        <p:cTn id="25" dur="1"/>
                                        <p:tgtEl>
                                          <p:spTgt spid="19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2"/>
                                        </p:tgtEl>
                                        <p:attrNameLst>
                                          <p:attrName>style.visibility</p:attrName>
                                        </p:attrNameLst>
                                      </p:cBhvr>
                                      <p:to>
                                        <p:strVal val="visible"/>
                                      </p:to>
                                    </p:set>
                                    <p:animEffect transition="in" filter="fade">
                                      <p:cBhvr>
                                        <p:cTn id="30" dur="1"/>
                                        <p:tgtEl>
                                          <p:spTgt spid="18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83"/>
                                        </p:tgtEl>
                                        <p:attrNameLst>
                                          <p:attrName>style.visibility</p:attrName>
                                        </p:attrNameLst>
                                      </p:cBhvr>
                                      <p:to>
                                        <p:strVal val="visible"/>
                                      </p:to>
                                    </p:set>
                                    <p:animEffect transition="in" filter="fade">
                                      <p:cBhvr>
                                        <p:cTn id="35" dur="1"/>
                                        <p:tgtEl>
                                          <p:spTgt spid="18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88"/>
                                        </p:tgtEl>
                                        <p:attrNameLst>
                                          <p:attrName>style.visibility</p:attrName>
                                        </p:attrNameLst>
                                      </p:cBhvr>
                                      <p:to>
                                        <p:strVal val="visible"/>
                                      </p:to>
                                    </p:set>
                                    <p:animEffect transition="in" filter="fade">
                                      <p:cBhvr>
                                        <p:cTn id="40" dur="1"/>
                                        <p:tgtEl>
                                          <p:spTgt spid="18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87"/>
                                        </p:tgtEl>
                                        <p:attrNameLst>
                                          <p:attrName>style.visibility</p:attrName>
                                        </p:attrNameLst>
                                      </p:cBhvr>
                                      <p:to>
                                        <p:strVal val="visible"/>
                                      </p:to>
                                    </p:set>
                                    <p:animEffect transition="in" filter="fade">
                                      <p:cBhvr>
                                        <p:cTn id="45" dur="1"/>
                                        <p:tgtEl>
                                          <p:spTgt spid="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6"/>
          <p:cNvSpPr txBox="1">
            <a:spLocks noGrp="1"/>
          </p:cNvSpPr>
          <p:nvPr>
            <p:ph sz="quarter" idx="1"/>
          </p:nvPr>
        </p:nvSpPr>
        <p:spPr>
          <a:xfrm>
            <a:off x="1069848" y="1435608"/>
            <a:ext cx="10058400" cy="4050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endParaRPr/>
          </a:p>
          <a:p>
            <a:pPr marL="0" lvl="0" indent="0" algn="l" rtl="0">
              <a:lnSpc>
                <a:spcPct val="90000"/>
              </a:lnSpc>
              <a:spcBef>
                <a:spcPts val="1200"/>
              </a:spcBef>
              <a:spcAft>
                <a:spcPts val="0"/>
              </a:spcAft>
              <a:buSzPts val="1700"/>
              <a:buNone/>
            </a:pPr>
            <a:endParaRPr/>
          </a:p>
          <a:p>
            <a:pPr marL="0" lvl="0" indent="0" algn="l" rtl="0">
              <a:lnSpc>
                <a:spcPct val="90000"/>
              </a:lnSpc>
              <a:spcBef>
                <a:spcPts val="1200"/>
              </a:spcBef>
              <a:spcAft>
                <a:spcPts val="0"/>
              </a:spcAft>
              <a:buSzPts val="1700"/>
              <a:buNone/>
            </a:pPr>
            <a:endParaRPr/>
          </a:p>
          <a:p>
            <a:pPr marL="0" lvl="0" indent="0" algn="ctr" rtl="0">
              <a:lnSpc>
                <a:spcPct val="90000"/>
              </a:lnSpc>
              <a:spcBef>
                <a:spcPts val="1200"/>
              </a:spcBef>
              <a:spcAft>
                <a:spcPts val="0"/>
              </a:spcAft>
              <a:buSzPts val="4590"/>
              <a:buNone/>
            </a:pPr>
            <a:r>
              <a:rPr lang="en-US" sz="5400"/>
              <a:t>Data Science examples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8"/>
          <p:cNvSpPr txBox="1">
            <a:spLocks noGrp="1"/>
          </p:cNvSpPr>
          <p:nvPr>
            <p:ph sz="quarter" idx="1"/>
          </p:nvPr>
        </p:nvSpPr>
        <p:spPr>
          <a:xfrm>
            <a:off x="1069848" y="1435608"/>
            <a:ext cx="10058400" cy="4050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720"/>
              <a:buNone/>
            </a:pPr>
            <a:endParaRPr sz="3200" i="1"/>
          </a:p>
          <a:p>
            <a:pPr marL="0" lvl="0" indent="0" algn="l" rtl="0">
              <a:lnSpc>
                <a:spcPct val="90000"/>
              </a:lnSpc>
              <a:spcBef>
                <a:spcPts val="1200"/>
              </a:spcBef>
              <a:spcAft>
                <a:spcPts val="0"/>
              </a:spcAft>
              <a:buSzPts val="2720"/>
              <a:buNone/>
            </a:pPr>
            <a:endParaRPr sz="3200" i="1"/>
          </a:p>
          <a:p>
            <a:pPr marL="0" lvl="0" indent="0" algn="l" rtl="0">
              <a:lnSpc>
                <a:spcPct val="90000"/>
              </a:lnSpc>
              <a:spcBef>
                <a:spcPts val="1200"/>
              </a:spcBef>
              <a:spcAft>
                <a:spcPts val="0"/>
              </a:spcAft>
              <a:buSzPts val="2720"/>
              <a:buNone/>
            </a:pPr>
            <a:r>
              <a:rPr lang="en-US" sz="3200" i="1"/>
              <a:t>The greatest value of a picture is when it forces us to notice what we never expected to see. </a:t>
            </a:r>
            <a:endParaRPr/>
          </a:p>
          <a:p>
            <a:pPr marL="0" lvl="0" indent="0" algn="r" rtl="0">
              <a:lnSpc>
                <a:spcPct val="90000"/>
              </a:lnSpc>
              <a:spcBef>
                <a:spcPts val="1200"/>
              </a:spcBef>
              <a:spcAft>
                <a:spcPts val="0"/>
              </a:spcAft>
              <a:buSzPts val="1700"/>
              <a:buNone/>
            </a:pPr>
            <a:r>
              <a:rPr lang="en-US" i="1"/>
              <a:t>-John Tukey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FIVETHIRTYEIGHT</a:t>
            </a:r>
            <a:endParaRPr/>
          </a:p>
        </p:txBody>
      </p:sp>
      <p:pic>
        <p:nvPicPr>
          <p:cNvPr id="283" name="Google Shape;283;p19"/>
          <p:cNvPicPr preferRelativeResize="0">
            <a:picLocks noGrp="1"/>
          </p:cNvPicPr>
          <p:nvPr>
            <p:ph sz="quarter" idx="1"/>
          </p:nvPr>
        </p:nvPicPr>
        <p:blipFill rotWithShape="1">
          <a:blip r:embed="rId3">
            <a:alphaModFix/>
          </a:blip>
          <a:srcRect/>
          <a:stretch/>
        </p:blipFill>
        <p:spPr>
          <a:xfrm>
            <a:off x="3658190" y="1695514"/>
            <a:ext cx="4881716" cy="4653665"/>
          </a:xfrm>
          <a:prstGeom prst="rect">
            <a:avLst/>
          </a:prstGeom>
          <a:noFill/>
          <a:ln>
            <a:noFill/>
          </a:ln>
        </p:spPr>
      </p:pic>
      <p:sp>
        <p:nvSpPr>
          <p:cNvPr id="284" name="Google Shape;284;p19"/>
          <p:cNvSpPr/>
          <p:nvPr/>
        </p:nvSpPr>
        <p:spPr>
          <a:xfrm>
            <a:off x="1449124" y="6488675"/>
            <a:ext cx="709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A76ECF"/>
                </a:solidFill>
                <a:latin typeface="Helvetica Neue"/>
                <a:ea typeface="Helvetica Neue"/>
                <a:cs typeface="Helvetica Neue"/>
                <a:sym typeface="Helvetica Neue"/>
              </a:rPr>
              <a:t>https://projects.fivethirtyeight.com/2016-election-forecast/</a:t>
            </a:r>
            <a:endParaRPr sz="1800" b="0" i="0" u="none" strike="noStrike" cap="none">
              <a:solidFill>
                <a:srgbClr val="A76ECF"/>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7" name="Google Shape;297;p20"/>
          <p:cNvSpPr txBox="1">
            <a:spLocks noGrp="1"/>
          </p:cNvSpPr>
          <p:nvPr>
            <p:ph type="title"/>
          </p:nvPr>
        </p:nvSpPr>
        <p:spPr>
          <a:xfrm>
            <a:off x="821173" y="213933"/>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LEAD WATER PIPES</a:t>
            </a:r>
            <a:endParaRPr/>
          </a:p>
        </p:txBody>
      </p:sp>
      <p:pic>
        <p:nvPicPr>
          <p:cNvPr id="290" name="Google Shape;290;p20" descr="A screenshot of a cell phone&#10;&#10;Description automatically generated"/>
          <p:cNvPicPr preferRelativeResize="0">
            <a:picLocks noGrp="1"/>
          </p:cNvPicPr>
          <p:nvPr>
            <p:ph sz="quarter" idx="1"/>
          </p:nvPr>
        </p:nvPicPr>
        <p:blipFill rotWithShape="1">
          <a:blip r:embed="rId3">
            <a:alphaModFix/>
          </a:blip>
          <a:srcRect/>
          <a:stretch/>
        </p:blipFill>
        <p:spPr>
          <a:xfrm>
            <a:off x="7323437" y="12455"/>
            <a:ext cx="4633800" cy="5359800"/>
          </a:xfrm>
          <a:prstGeom prst="rect">
            <a:avLst/>
          </a:prstGeom>
          <a:noFill/>
          <a:ln>
            <a:noFill/>
          </a:ln>
        </p:spPr>
      </p:pic>
      <p:sp>
        <p:nvSpPr>
          <p:cNvPr id="291" name="Google Shape;291;p20"/>
          <p:cNvSpPr/>
          <p:nvPr/>
        </p:nvSpPr>
        <p:spPr>
          <a:xfrm>
            <a:off x="52825" y="5595725"/>
            <a:ext cx="6369900" cy="73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chemeClr val="dk1"/>
                </a:solidFill>
                <a:latin typeface="Rockwell"/>
                <a:ea typeface="Rockwell"/>
                <a:cs typeface="Rockwell"/>
                <a:sym typeface="Rockwell"/>
                <a:hlinkClick r:id="rId4">
                  <a:extLst>
                    <a:ext uri="{A12FA001-AC4F-418D-AE19-62706E023703}">
                      <ahyp:hlinkClr xmlns:ahyp="http://schemas.microsoft.com/office/drawing/2018/hyperlinkcolor" val="tx"/>
                    </a:ext>
                  </a:extLst>
                </a:hlinkClick>
              </a:rPr>
              <a:t>Source:https://www.npr.org/sections/thetwo-way/2016/04/20/465545378/lead-laced-water-in-flint-a-step-by-step-look-at-the-makings-of-a-crisis</a:t>
            </a:r>
            <a:endParaRPr sz="1400" b="0" i="0" u="none" strike="noStrike" cap="none">
              <a:solidFill>
                <a:schemeClr val="dk1"/>
              </a:solidFill>
              <a:latin typeface="Rockwell"/>
              <a:ea typeface="Rockwell"/>
              <a:cs typeface="Rockwell"/>
              <a:sym typeface="Rockwell"/>
            </a:endParaRPr>
          </a:p>
        </p:txBody>
      </p:sp>
      <p:pic>
        <p:nvPicPr>
          <p:cNvPr id="292" name="Google Shape;292;p20" descr="A group of people sitting at a desk&#10;&#10;Description automatically generated"/>
          <p:cNvPicPr preferRelativeResize="0"/>
          <p:nvPr/>
        </p:nvPicPr>
        <p:blipFill rotWithShape="1">
          <a:blip r:embed="rId5">
            <a:alphaModFix/>
          </a:blip>
          <a:srcRect/>
          <a:stretch/>
        </p:blipFill>
        <p:spPr>
          <a:xfrm>
            <a:off x="472374" y="1758950"/>
            <a:ext cx="4440750" cy="3275774"/>
          </a:xfrm>
          <a:prstGeom prst="rect">
            <a:avLst/>
          </a:prstGeom>
          <a:noFill/>
          <a:ln>
            <a:noFill/>
          </a:ln>
        </p:spPr>
      </p:pic>
      <p:sp>
        <p:nvSpPr>
          <p:cNvPr id="293" name="Google Shape;293;p20"/>
          <p:cNvSpPr/>
          <p:nvPr/>
        </p:nvSpPr>
        <p:spPr>
          <a:xfrm>
            <a:off x="5307116" y="6192168"/>
            <a:ext cx="6046800" cy="5232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chemeClr val="dk1"/>
                </a:solidFill>
                <a:latin typeface="Rockwell"/>
                <a:ea typeface="Rockwell"/>
                <a:cs typeface="Rockwell"/>
                <a:sym typeface="Rockwell"/>
                <a:hlinkClick r:id="rId6">
                  <a:extLst>
                    <a:ext uri="{A12FA001-AC4F-418D-AE19-62706E023703}">
                      <ahyp:hlinkClr xmlns:ahyp="http://schemas.microsoft.com/office/drawing/2018/hyperlinkcolor" val="tx"/>
                    </a:ext>
                  </a:extLst>
                </a:hlinkClick>
              </a:rPr>
              <a:t>Source:https://www.theatlantic.com/technology/archive/2019/01/how-machine-learning-found-flints-lead-pipes/578692/</a:t>
            </a:r>
            <a:endParaRPr sz="1400" b="0" i="0" u="none" strike="noStrike" cap="none">
              <a:solidFill>
                <a:schemeClr val="dk1"/>
              </a:solidFill>
              <a:latin typeface="Rockwell"/>
              <a:ea typeface="Rockwell"/>
              <a:cs typeface="Rockwell"/>
              <a:sym typeface="Rockwell"/>
            </a:endParaRPr>
          </a:p>
        </p:txBody>
      </p:sp>
      <p:pic>
        <p:nvPicPr>
          <p:cNvPr id="294" name="Google Shape;294;p20" descr="A close up of a map&#10;&#10;Description automatically generated"/>
          <p:cNvPicPr preferRelativeResize="0"/>
          <p:nvPr/>
        </p:nvPicPr>
        <p:blipFill rotWithShape="1">
          <a:blip r:embed="rId7">
            <a:alphaModFix/>
          </a:blip>
          <a:srcRect/>
          <a:stretch/>
        </p:blipFill>
        <p:spPr>
          <a:xfrm>
            <a:off x="7808237" y="7126189"/>
            <a:ext cx="3653902" cy="2801680"/>
          </a:xfrm>
          <a:prstGeom prst="rect">
            <a:avLst/>
          </a:prstGeom>
          <a:noFill/>
          <a:ln>
            <a:noFill/>
          </a:ln>
        </p:spPr>
      </p:pic>
      <p:sp>
        <p:nvSpPr>
          <p:cNvPr id="295" name="Google Shape;295;p20"/>
          <p:cNvSpPr/>
          <p:nvPr/>
        </p:nvSpPr>
        <p:spPr>
          <a:xfrm>
            <a:off x="7097800" y="2112250"/>
            <a:ext cx="5018100" cy="4115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pic>
        <p:nvPicPr>
          <p:cNvPr id="296" name="Google Shape;296;p20" descr="A close up of a map&#10;&#10;Description automatically generated"/>
          <p:cNvPicPr preferRelativeResize="0"/>
          <p:nvPr/>
        </p:nvPicPr>
        <p:blipFill rotWithShape="1">
          <a:blip r:embed="rId8">
            <a:alphaModFix/>
          </a:blip>
          <a:srcRect/>
          <a:stretch/>
        </p:blipFill>
        <p:spPr>
          <a:xfrm>
            <a:off x="7724682" y="2112252"/>
            <a:ext cx="3679827" cy="411530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1c64e597d38_1_22"/>
          <p:cNvSpPr txBox="1">
            <a:spLocks noGrp="1"/>
          </p:cNvSpPr>
          <p:nvPr>
            <p:ph type="title"/>
          </p:nvPr>
        </p:nvSpPr>
        <p:spPr>
          <a:xfrm>
            <a:off x="1069848" y="103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DATA (SCIENCE) PRODUCTS</a:t>
            </a:r>
            <a:endParaRPr/>
          </a:p>
        </p:txBody>
      </p:sp>
      <p:pic>
        <p:nvPicPr>
          <p:cNvPr id="304" name="Google Shape;304;g1c64e597d38_1_22"/>
          <p:cNvPicPr preferRelativeResize="0"/>
          <p:nvPr/>
        </p:nvPicPr>
        <p:blipFill rotWithShape="1">
          <a:blip r:embed="rId3">
            <a:alphaModFix/>
          </a:blip>
          <a:srcRect/>
          <a:stretch/>
        </p:blipFill>
        <p:spPr>
          <a:xfrm>
            <a:off x="3216510" y="2223184"/>
            <a:ext cx="2045879" cy="3536595"/>
          </a:xfrm>
          <a:prstGeom prst="rect">
            <a:avLst/>
          </a:prstGeom>
          <a:noFill/>
          <a:ln w="9525" cap="flat" cmpd="sng">
            <a:solidFill>
              <a:schemeClr val="accent1"/>
            </a:solidFill>
            <a:prstDash val="solid"/>
            <a:round/>
            <a:headEnd type="none" w="sm" len="sm"/>
            <a:tailEnd type="none" w="sm" len="sm"/>
          </a:ln>
        </p:spPr>
      </p:pic>
      <p:pic>
        <p:nvPicPr>
          <p:cNvPr id="305" name="Google Shape;305;g1c64e597d38_1_22"/>
          <p:cNvPicPr preferRelativeResize="0"/>
          <p:nvPr/>
        </p:nvPicPr>
        <p:blipFill rotWithShape="1">
          <a:blip r:embed="rId4">
            <a:alphaModFix/>
          </a:blip>
          <a:srcRect/>
          <a:stretch/>
        </p:blipFill>
        <p:spPr>
          <a:xfrm>
            <a:off x="5510785" y="1816608"/>
            <a:ext cx="2309142" cy="4106106"/>
          </a:xfrm>
          <a:prstGeom prst="rect">
            <a:avLst/>
          </a:prstGeom>
          <a:noFill/>
          <a:ln>
            <a:noFill/>
          </a:ln>
        </p:spPr>
      </p:pic>
      <p:pic>
        <p:nvPicPr>
          <p:cNvPr id="306" name="Google Shape;306;g1c64e597d38_1_22"/>
          <p:cNvPicPr preferRelativeResize="0"/>
          <p:nvPr/>
        </p:nvPicPr>
        <p:blipFill rotWithShape="1">
          <a:blip r:embed="rId5">
            <a:alphaModFix/>
          </a:blip>
          <a:srcRect/>
          <a:stretch/>
        </p:blipFill>
        <p:spPr>
          <a:xfrm>
            <a:off x="8143460" y="1398727"/>
            <a:ext cx="3299465" cy="2470933"/>
          </a:xfrm>
          <a:prstGeom prst="rect">
            <a:avLst/>
          </a:prstGeom>
          <a:noFill/>
          <a:ln>
            <a:noFill/>
          </a:ln>
        </p:spPr>
      </p:pic>
      <p:pic>
        <p:nvPicPr>
          <p:cNvPr id="307" name="Google Shape;307;g1c64e597d38_1_22"/>
          <p:cNvPicPr preferRelativeResize="0"/>
          <p:nvPr/>
        </p:nvPicPr>
        <p:blipFill rotWithShape="1">
          <a:blip r:embed="rId6">
            <a:alphaModFix/>
          </a:blip>
          <a:srcRect/>
          <a:stretch/>
        </p:blipFill>
        <p:spPr>
          <a:xfrm>
            <a:off x="8222366" y="4188233"/>
            <a:ext cx="3308321" cy="2205548"/>
          </a:xfrm>
          <a:prstGeom prst="rect">
            <a:avLst/>
          </a:prstGeom>
          <a:noFill/>
          <a:ln>
            <a:noFill/>
          </a:ln>
        </p:spPr>
      </p:pic>
      <p:pic>
        <p:nvPicPr>
          <p:cNvPr id="308" name="Google Shape;308;g1c64e597d38_1_22" descr="Screen Shot 2017-04-21 at 3.18.51 PM.png"/>
          <p:cNvPicPr preferRelativeResize="0"/>
          <p:nvPr/>
        </p:nvPicPr>
        <p:blipFill rotWithShape="1">
          <a:blip r:embed="rId7">
            <a:alphaModFix/>
          </a:blip>
          <a:srcRect/>
          <a:stretch/>
        </p:blipFill>
        <p:spPr>
          <a:xfrm>
            <a:off x="727683" y="3121787"/>
            <a:ext cx="2190410" cy="3442784"/>
          </a:xfrm>
          <a:prstGeom prst="rect">
            <a:avLst/>
          </a:prstGeom>
          <a:noFill/>
          <a:ln w="9525" cap="flat" cmpd="sng">
            <a:solidFill>
              <a:schemeClr val="accent1"/>
            </a:solidFill>
            <a:prstDash val="solid"/>
            <a:round/>
            <a:headEnd type="none" w="sm" len="sm"/>
            <a:tailEnd type="none" w="sm" len="sm"/>
          </a:ln>
        </p:spPr>
      </p:pic>
      <p:pic>
        <p:nvPicPr>
          <p:cNvPr id="309" name="Google Shape;309;g1c64e597d38_1_22"/>
          <p:cNvPicPr preferRelativeResize="0"/>
          <p:nvPr/>
        </p:nvPicPr>
        <p:blipFill rotWithShape="1">
          <a:blip r:embed="rId8"/>
          <a:srcRect/>
          <a:stretch/>
        </p:blipFill>
        <p:spPr>
          <a:xfrm>
            <a:off x="420414" y="1219200"/>
            <a:ext cx="2458921" cy="1723459"/>
          </a:xfrm>
          <a:prstGeom prst="rect">
            <a:avLst/>
          </a:prstGeom>
          <a:noFill/>
          <a:ln w="9525" cap="flat" cmpd="sng">
            <a:solidFill>
              <a:schemeClr val="accent1"/>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1d25206e77b_0_15"/>
          <p:cNvSpPr txBox="1">
            <a:spLocks noGrp="1"/>
          </p:cNvSpPr>
          <p:nvPr>
            <p:ph type="title"/>
          </p:nvPr>
        </p:nvSpPr>
        <p:spPr>
          <a:xfrm>
            <a:off x="612650" y="103625"/>
            <a:ext cx="10986000" cy="1609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5400"/>
              <a:buFont typeface="Rockwell"/>
              <a:buNone/>
            </a:pPr>
            <a:r>
              <a:rPr lang="en-US"/>
              <a:t>AUTONOMOUS VEHICLES</a:t>
            </a:r>
            <a:endParaRPr/>
          </a:p>
        </p:txBody>
      </p:sp>
      <p:sp>
        <p:nvSpPr>
          <p:cNvPr id="318" name="Google Shape;318;g1d25206e77b_0_15"/>
          <p:cNvSpPr txBox="1">
            <a:spLocks noGrp="1"/>
          </p:cNvSpPr>
          <p:nvPr>
            <p:ph sz="quarter" idx="1"/>
          </p:nvPr>
        </p:nvSpPr>
        <p:spPr>
          <a:xfrm>
            <a:off x="231650" y="5169400"/>
            <a:ext cx="11544900" cy="18384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200"/>
              <a:buChar char="▪"/>
            </a:pPr>
            <a:r>
              <a:rPr lang="en-US" sz="2500"/>
              <a:t>Use mapping data, on-road data, and simulation data to safely drive</a:t>
            </a:r>
            <a:endParaRPr sz="2500"/>
          </a:p>
          <a:p>
            <a:pPr marL="182880" lvl="0" indent="-182880" algn="l" rtl="0">
              <a:lnSpc>
                <a:spcPct val="90000"/>
              </a:lnSpc>
              <a:spcBef>
                <a:spcPts val="0"/>
              </a:spcBef>
              <a:spcAft>
                <a:spcPts val="0"/>
              </a:spcAft>
              <a:buSzPts val="2200"/>
              <a:buChar char="▪"/>
            </a:pPr>
            <a:r>
              <a:rPr lang="en-US" sz="2500"/>
              <a:t>Challenge: fat tail of corner cases</a:t>
            </a:r>
            <a:endParaRPr sz="2500"/>
          </a:p>
          <a:p>
            <a:pPr marL="182880" lvl="0" indent="-182880" algn="l" rtl="0">
              <a:lnSpc>
                <a:spcPct val="90000"/>
              </a:lnSpc>
              <a:spcBef>
                <a:spcPts val="0"/>
              </a:spcBef>
              <a:spcAft>
                <a:spcPts val="0"/>
              </a:spcAft>
              <a:buSzPts val="2200"/>
              <a:buChar char="▪"/>
            </a:pPr>
            <a:r>
              <a:rPr lang="en-US" sz="2500"/>
              <a:t>Extremely data-driven! How can you ensure changes improve driving?</a:t>
            </a:r>
            <a:endParaRPr sz="2300"/>
          </a:p>
          <a:p>
            <a:pPr marL="182880" lvl="0" indent="-74928" algn="l" rtl="0">
              <a:lnSpc>
                <a:spcPct val="90000"/>
              </a:lnSpc>
              <a:spcBef>
                <a:spcPts val="1400"/>
              </a:spcBef>
              <a:spcAft>
                <a:spcPts val="0"/>
              </a:spcAft>
              <a:buSzPts val="1700"/>
              <a:buNone/>
            </a:pPr>
            <a:endParaRPr/>
          </a:p>
        </p:txBody>
      </p:sp>
      <p:pic>
        <p:nvPicPr>
          <p:cNvPr id="316" name="Google Shape;316;g1d25206e77b_0_15"/>
          <p:cNvPicPr preferRelativeResize="0"/>
          <p:nvPr/>
        </p:nvPicPr>
        <p:blipFill rotWithShape="1">
          <a:blip r:embed="rId3">
            <a:alphaModFix/>
          </a:blip>
          <a:srcRect/>
          <a:stretch/>
        </p:blipFill>
        <p:spPr>
          <a:xfrm>
            <a:off x="152400" y="1712825"/>
            <a:ext cx="5960849" cy="3311576"/>
          </a:xfrm>
          <a:prstGeom prst="rect">
            <a:avLst/>
          </a:prstGeom>
          <a:noFill/>
          <a:ln>
            <a:noFill/>
          </a:ln>
        </p:spPr>
      </p:pic>
      <p:pic>
        <p:nvPicPr>
          <p:cNvPr id="317" name="Google Shape;317;g1d25206e77b_0_15"/>
          <p:cNvPicPr preferRelativeResize="0"/>
          <p:nvPr/>
        </p:nvPicPr>
        <p:blipFill rotWithShape="1">
          <a:blip r:embed="rId4">
            <a:alphaModFix/>
          </a:blip>
          <a:srcRect r="50000" b="48854"/>
          <a:stretch/>
        </p:blipFill>
        <p:spPr>
          <a:xfrm>
            <a:off x="6179600" y="1712825"/>
            <a:ext cx="5716763" cy="3311576"/>
          </a:xfrm>
          <a:prstGeom prst="rect">
            <a:avLst/>
          </a:prstGeom>
          <a:noFill/>
          <a:ln>
            <a:noFill/>
          </a:ln>
        </p:spPr>
      </p:pic>
      <p:sp>
        <p:nvSpPr>
          <p:cNvPr id="319" name="Google Shape;319;g1d25206e77b_0_15"/>
          <p:cNvSpPr/>
          <p:nvPr/>
        </p:nvSpPr>
        <p:spPr>
          <a:xfrm>
            <a:off x="7546849" y="6437050"/>
            <a:ext cx="31515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Source: https://aurora.tech</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TYPES OF DATA SCIENTISTS</a:t>
            </a:r>
            <a:endParaRPr/>
          </a:p>
        </p:txBody>
      </p:sp>
      <p:sp>
        <p:nvSpPr>
          <p:cNvPr id="326" name="Google Shape;326;p22"/>
          <p:cNvSpPr txBox="1">
            <a:spLocks noGrp="1"/>
          </p:cNvSpPr>
          <p:nvPr>
            <p:ph sz="quarter" idx="1"/>
          </p:nvPr>
        </p:nvSpPr>
        <p:spPr>
          <a:xfrm>
            <a:off x="1069847" y="2121408"/>
            <a:ext cx="5124476"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200"/>
              <a:buChar char="▪"/>
            </a:pPr>
            <a:r>
              <a:rPr lang="en-US" sz="2500" dirty="0"/>
              <a:t>Decision scientists (data science for humans)</a:t>
            </a:r>
            <a:endParaRPr sz="2500" dirty="0"/>
          </a:p>
          <a:p>
            <a:pPr marL="457200" lvl="1" indent="-214630" algn="l" rtl="0">
              <a:lnSpc>
                <a:spcPct val="90000"/>
              </a:lnSpc>
              <a:spcBef>
                <a:spcPts val="400"/>
              </a:spcBef>
              <a:spcAft>
                <a:spcPts val="0"/>
              </a:spcAft>
              <a:buSzPts val="2030"/>
              <a:buChar char="▪"/>
            </a:pPr>
            <a:r>
              <a:rPr lang="en-US" sz="2300" dirty="0">
                <a:solidFill>
                  <a:srgbClr val="0070C0"/>
                </a:solidFill>
              </a:rPr>
              <a:t>Output</a:t>
            </a:r>
            <a:r>
              <a:rPr lang="en-US" sz="2300" dirty="0"/>
              <a:t>: data summaries, metrics, visualizations, experiments</a:t>
            </a:r>
            <a:endParaRPr sz="2300" dirty="0"/>
          </a:p>
          <a:p>
            <a:pPr marL="457200" lvl="1" indent="-214630" algn="l" rtl="0">
              <a:lnSpc>
                <a:spcPct val="90000"/>
              </a:lnSpc>
              <a:spcBef>
                <a:spcPts val="600"/>
              </a:spcBef>
              <a:spcAft>
                <a:spcPts val="0"/>
              </a:spcAft>
              <a:buSzPts val="2030"/>
              <a:buChar char="▪"/>
            </a:pPr>
            <a:r>
              <a:rPr lang="en-US" sz="2300" dirty="0">
                <a:solidFill>
                  <a:srgbClr val="7030A0"/>
                </a:solidFill>
              </a:rPr>
              <a:t>Consumers</a:t>
            </a:r>
            <a:r>
              <a:rPr lang="en-US" sz="2300" dirty="0"/>
              <a:t> of the output: decision makers</a:t>
            </a:r>
            <a:endParaRPr sz="2300" dirty="0"/>
          </a:p>
          <a:p>
            <a:pPr marL="457200" lvl="1" indent="-214630" algn="l" rtl="0">
              <a:lnSpc>
                <a:spcPct val="90000"/>
              </a:lnSpc>
              <a:spcBef>
                <a:spcPts val="600"/>
              </a:spcBef>
              <a:spcAft>
                <a:spcPts val="0"/>
              </a:spcAft>
              <a:buSzPts val="2030"/>
              <a:buChar char="▪"/>
            </a:pPr>
            <a:r>
              <a:rPr lang="en-US" sz="2300" dirty="0">
                <a:solidFill>
                  <a:srgbClr val="00B050"/>
                </a:solidFill>
              </a:rPr>
              <a:t>Products</a:t>
            </a:r>
            <a:r>
              <a:rPr lang="en-US" sz="2300" dirty="0"/>
              <a:t>: dashboards </a:t>
            </a:r>
            <a:endParaRPr sz="2300" dirty="0"/>
          </a:p>
          <a:p>
            <a:pPr marL="182880" lvl="0" indent="-74928" algn="l" rtl="0">
              <a:lnSpc>
                <a:spcPct val="90000"/>
              </a:lnSpc>
              <a:spcBef>
                <a:spcPts val="1400"/>
              </a:spcBef>
              <a:spcAft>
                <a:spcPts val="0"/>
              </a:spcAft>
              <a:buSzPts val="1700"/>
              <a:buNone/>
            </a:pPr>
            <a:endParaRPr dirty="0"/>
          </a:p>
        </p:txBody>
      </p:sp>
      <p:sp>
        <p:nvSpPr>
          <p:cNvPr id="327" name="Google Shape;327;p22"/>
          <p:cNvSpPr/>
          <p:nvPr/>
        </p:nvSpPr>
        <p:spPr>
          <a:xfrm>
            <a:off x="1069848" y="6437049"/>
            <a:ext cx="977021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Source: https://hbr.org/2018/11/the-kinds-of-data-scientist</a:t>
            </a:r>
            <a:endParaRPr sz="1400" b="0" i="0" u="none" strike="noStrike" cap="none">
              <a:solidFill>
                <a:srgbClr val="000000"/>
              </a:solidFill>
              <a:latin typeface="Arial"/>
              <a:ea typeface="Arial"/>
              <a:cs typeface="Arial"/>
              <a:sym typeface="Arial"/>
            </a:endParaRPr>
          </a:p>
        </p:txBody>
      </p:sp>
      <p:sp>
        <p:nvSpPr>
          <p:cNvPr id="328" name="Google Shape;328;p22"/>
          <p:cNvSpPr txBox="1"/>
          <p:nvPr/>
        </p:nvSpPr>
        <p:spPr>
          <a:xfrm>
            <a:off x="6696948" y="2093976"/>
            <a:ext cx="4880536" cy="4050792"/>
          </a:xfrm>
          <a:prstGeom prst="rect">
            <a:avLst/>
          </a:prstGeom>
          <a:noFill/>
          <a:ln>
            <a:noFill/>
          </a:ln>
        </p:spPr>
        <p:txBody>
          <a:bodyPr spcFirstLastPara="1" wrap="square" lIns="91425" tIns="45700" rIns="91425" bIns="45700" anchor="t" anchorCtr="0">
            <a:noAutofit/>
          </a:bodyPr>
          <a:lstStyle/>
          <a:p>
            <a:pPr marL="182880" marR="0" lvl="0" indent="-182880" algn="l" rtl="0">
              <a:lnSpc>
                <a:spcPct val="90000"/>
              </a:lnSpc>
              <a:spcBef>
                <a:spcPts val="0"/>
              </a:spcBef>
              <a:spcAft>
                <a:spcPts val="0"/>
              </a:spcAft>
              <a:buClr>
                <a:srgbClr val="9E3611"/>
              </a:buClr>
              <a:buSzPts val="2200"/>
              <a:buFont typeface="Noto Sans Symbols"/>
              <a:buChar char="▪"/>
            </a:pPr>
            <a:r>
              <a:rPr lang="en-US" sz="2500" b="0" i="0" u="none" strike="noStrike" cap="none">
                <a:solidFill>
                  <a:schemeClr val="dk1"/>
                </a:solidFill>
                <a:latin typeface="Rockwell"/>
                <a:ea typeface="Rockwell"/>
                <a:cs typeface="Rockwell"/>
                <a:sym typeface="Rockwell"/>
              </a:rPr>
              <a:t>Modeling scientists (data science for machines) </a:t>
            </a:r>
            <a:endParaRPr sz="1900" b="0" i="0" u="none" strike="noStrike" cap="none">
              <a:solidFill>
                <a:srgbClr val="000000"/>
              </a:solidFill>
              <a:latin typeface="Arial"/>
              <a:ea typeface="Arial"/>
              <a:cs typeface="Arial"/>
              <a:sym typeface="Arial"/>
            </a:endParaRPr>
          </a:p>
          <a:p>
            <a:pPr marL="457200" marR="0" lvl="1" indent="-214630" algn="l" rtl="0">
              <a:lnSpc>
                <a:spcPct val="90000"/>
              </a:lnSpc>
              <a:spcBef>
                <a:spcPts val="400"/>
              </a:spcBef>
              <a:spcAft>
                <a:spcPts val="0"/>
              </a:spcAft>
              <a:buClr>
                <a:srgbClr val="9E3611"/>
              </a:buClr>
              <a:buSzPts val="2030"/>
              <a:buFont typeface="Noto Sans Symbols"/>
              <a:buChar char="▪"/>
            </a:pPr>
            <a:r>
              <a:rPr lang="en-US" sz="2300" b="0" i="0" u="none" strike="noStrike" cap="none">
                <a:solidFill>
                  <a:srgbClr val="0070C0"/>
                </a:solidFill>
                <a:latin typeface="Rockwell"/>
                <a:ea typeface="Rockwell"/>
                <a:cs typeface="Rockwell"/>
                <a:sym typeface="Rockwell"/>
              </a:rPr>
              <a:t>Output</a:t>
            </a:r>
            <a:r>
              <a:rPr lang="en-US" sz="2300" b="0" i="0" u="none" strike="noStrike" cap="none">
                <a:solidFill>
                  <a:schemeClr val="dk1"/>
                </a:solidFill>
                <a:latin typeface="Rockwell"/>
                <a:ea typeface="Rockwell"/>
                <a:cs typeface="Rockwell"/>
                <a:sym typeface="Rockwell"/>
              </a:rPr>
              <a:t>: training data, models and algorithms</a:t>
            </a:r>
            <a:endParaRPr sz="1900" b="0" i="0" u="none" strike="noStrike" cap="none">
              <a:solidFill>
                <a:srgbClr val="000000"/>
              </a:solidFill>
              <a:latin typeface="Arial"/>
              <a:ea typeface="Arial"/>
              <a:cs typeface="Arial"/>
              <a:sym typeface="Arial"/>
            </a:endParaRPr>
          </a:p>
          <a:p>
            <a:pPr marL="457200" marR="0" lvl="1" indent="-214630" algn="l" rtl="0">
              <a:lnSpc>
                <a:spcPct val="90000"/>
              </a:lnSpc>
              <a:spcBef>
                <a:spcPts val="600"/>
              </a:spcBef>
              <a:spcAft>
                <a:spcPts val="0"/>
              </a:spcAft>
              <a:buClr>
                <a:srgbClr val="9E3611"/>
              </a:buClr>
              <a:buSzPts val="2030"/>
              <a:buFont typeface="Noto Sans Symbols"/>
              <a:buChar char="▪"/>
            </a:pPr>
            <a:r>
              <a:rPr lang="en-US" sz="2300" b="0" i="0" u="none" strike="noStrike" cap="none">
                <a:solidFill>
                  <a:srgbClr val="7030A0"/>
                </a:solidFill>
                <a:latin typeface="Rockwell"/>
                <a:ea typeface="Rockwell"/>
                <a:cs typeface="Rockwell"/>
                <a:sym typeface="Rockwell"/>
              </a:rPr>
              <a:t>Consumers</a:t>
            </a:r>
            <a:r>
              <a:rPr lang="en-US" sz="2300" b="0" i="0" u="none" strike="noStrike" cap="none">
                <a:solidFill>
                  <a:schemeClr val="dk1"/>
                </a:solidFill>
                <a:latin typeface="Rockwell"/>
                <a:ea typeface="Rockwell"/>
                <a:cs typeface="Rockwell"/>
                <a:sym typeface="Rockwell"/>
              </a:rPr>
              <a:t> of the output: computers</a:t>
            </a:r>
            <a:endParaRPr sz="1900" b="0" i="0" u="none" strike="noStrike" cap="none">
              <a:solidFill>
                <a:srgbClr val="000000"/>
              </a:solidFill>
              <a:latin typeface="Arial"/>
              <a:ea typeface="Arial"/>
              <a:cs typeface="Arial"/>
              <a:sym typeface="Arial"/>
            </a:endParaRPr>
          </a:p>
          <a:p>
            <a:pPr marL="457200" marR="0" lvl="1" indent="-214630" algn="l" rtl="0">
              <a:lnSpc>
                <a:spcPct val="90000"/>
              </a:lnSpc>
              <a:spcBef>
                <a:spcPts val="600"/>
              </a:spcBef>
              <a:spcAft>
                <a:spcPts val="0"/>
              </a:spcAft>
              <a:buClr>
                <a:srgbClr val="9E3611"/>
              </a:buClr>
              <a:buSzPts val="2030"/>
              <a:buFont typeface="Noto Sans Symbols"/>
              <a:buChar char="▪"/>
            </a:pPr>
            <a:r>
              <a:rPr lang="en-US" sz="2300" b="0" i="0" u="none" strike="noStrike" cap="none">
                <a:solidFill>
                  <a:srgbClr val="00B050"/>
                </a:solidFill>
                <a:latin typeface="Rockwell"/>
                <a:ea typeface="Rockwell"/>
                <a:cs typeface="Rockwell"/>
                <a:sym typeface="Rockwell"/>
              </a:rPr>
              <a:t>Products</a:t>
            </a:r>
            <a:r>
              <a:rPr lang="en-US" sz="2300" b="0" i="0" u="none" strike="noStrike" cap="none">
                <a:solidFill>
                  <a:schemeClr val="dk1"/>
                </a:solidFill>
                <a:latin typeface="Rockwell"/>
                <a:ea typeface="Rockwell"/>
                <a:cs typeface="Rockwell"/>
                <a:sym typeface="Rockwell"/>
              </a:rPr>
              <a:t>: recommender systems</a:t>
            </a:r>
            <a:endParaRPr sz="1900" b="0" i="0" u="none" strike="noStrike" cap="none">
              <a:solidFill>
                <a:srgbClr val="000000"/>
              </a:solidFill>
              <a:latin typeface="Arial"/>
              <a:ea typeface="Arial"/>
              <a:cs typeface="Arial"/>
              <a:sym typeface="Arial"/>
            </a:endParaRPr>
          </a:p>
          <a:p>
            <a:pPr marL="457200" marR="0" lvl="1" indent="-214630" algn="l" rtl="0">
              <a:lnSpc>
                <a:spcPct val="90000"/>
              </a:lnSpc>
              <a:spcBef>
                <a:spcPts val="600"/>
              </a:spcBef>
              <a:spcAft>
                <a:spcPts val="0"/>
              </a:spcAft>
              <a:buClr>
                <a:srgbClr val="9E3611"/>
              </a:buClr>
              <a:buSzPts val="2030"/>
              <a:buFont typeface="Noto Sans Symbols"/>
              <a:buChar char="▪"/>
            </a:pPr>
            <a:r>
              <a:rPr lang="en-US" sz="2300" b="0" i="0" u="none" strike="noStrike" cap="none">
                <a:solidFill>
                  <a:schemeClr val="dk1"/>
                </a:solidFill>
                <a:latin typeface="Rockwell"/>
                <a:ea typeface="Rockwell"/>
                <a:cs typeface="Rockwell"/>
                <a:sym typeface="Rockwell"/>
              </a:rPr>
              <a:t>Products either </a:t>
            </a:r>
            <a:r>
              <a:rPr lang="en-US" sz="2300" b="0" i="0" u="none" strike="noStrike" cap="none">
                <a:solidFill>
                  <a:srgbClr val="FF0000"/>
                </a:solidFill>
                <a:latin typeface="Rockwell"/>
                <a:ea typeface="Rockwell"/>
                <a:cs typeface="Rockwell"/>
                <a:sym typeface="Rockwell"/>
              </a:rPr>
              <a:t>deployed</a:t>
            </a:r>
            <a:r>
              <a:rPr lang="en-US" sz="2300" b="0" i="0" u="none" strike="noStrike" cap="none">
                <a:solidFill>
                  <a:schemeClr val="dk1"/>
                </a:solidFill>
                <a:latin typeface="Rockwell"/>
                <a:ea typeface="Rockwell"/>
                <a:cs typeface="Rockwell"/>
                <a:sym typeface="Rockwell"/>
              </a:rPr>
              <a:t> directly to production systems </a:t>
            </a:r>
            <a:r>
              <a:rPr lang="en-US" sz="2300" b="0" i="0" u="none" strike="noStrike" cap="none">
                <a:solidFill>
                  <a:srgbClr val="FF0000"/>
                </a:solidFill>
                <a:latin typeface="Rockwell"/>
                <a:ea typeface="Rockwell"/>
                <a:cs typeface="Rockwell"/>
                <a:sym typeface="Rockwell"/>
              </a:rPr>
              <a:t>or prototypes </a:t>
            </a:r>
            <a:r>
              <a:rPr lang="en-US" sz="2300" b="0" i="0" u="none" strike="noStrike" cap="none">
                <a:solidFill>
                  <a:schemeClr val="dk1"/>
                </a:solidFill>
                <a:latin typeface="Rockwell"/>
                <a:ea typeface="Rockwell"/>
                <a:cs typeface="Rockwell"/>
                <a:sym typeface="Rockwell"/>
              </a:rPr>
              <a:t>are handed off to software engineers  </a:t>
            </a:r>
            <a:endParaRPr sz="19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HOW DO I BECOME A DATA SCIENTIST</a:t>
            </a:r>
            <a:endParaRPr/>
          </a:p>
        </p:txBody>
      </p:sp>
      <p:sp>
        <p:nvSpPr>
          <p:cNvPr id="334" name="Google Shape;334;p23"/>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100"/>
              <a:buChar char="▪"/>
            </a:pPr>
            <a:r>
              <a:rPr lang="en-US" sz="2400" dirty="0"/>
              <a:t>Claudia </a:t>
            </a:r>
            <a:r>
              <a:rPr lang="en-US" sz="2400" dirty="0" err="1"/>
              <a:t>Perlich</a:t>
            </a:r>
            <a:r>
              <a:rPr lang="en-US" sz="2400" dirty="0"/>
              <a:t> (Two Sigma): “</a:t>
            </a:r>
            <a:r>
              <a:rPr lang="en-US" sz="2400" i="1" dirty="0"/>
              <a:t>Learning how to do data science is like learning to ski. </a:t>
            </a:r>
            <a:r>
              <a:rPr lang="en-US" sz="2400" b="1" i="1" dirty="0">
                <a:solidFill>
                  <a:srgbClr val="FF0000"/>
                </a:solidFill>
              </a:rPr>
              <a:t>You have to do it</a:t>
            </a:r>
            <a:r>
              <a:rPr lang="en-US" sz="2400" b="1" i="1" dirty="0"/>
              <a:t>.”</a:t>
            </a:r>
            <a:endParaRPr sz="2400" i="1" dirty="0"/>
          </a:p>
          <a:p>
            <a:pPr marL="182880" lvl="0" indent="-182880" algn="l" rtl="0">
              <a:lnSpc>
                <a:spcPct val="90000"/>
              </a:lnSpc>
              <a:spcBef>
                <a:spcPts val="1200"/>
              </a:spcBef>
              <a:spcAft>
                <a:spcPts val="0"/>
              </a:spcAft>
              <a:buSzPts val="2100"/>
              <a:buChar char="▪"/>
            </a:pPr>
            <a:r>
              <a:rPr lang="en-US" sz="2400" dirty="0"/>
              <a:t>DJ Patil (Former US Chief Data Scientist): </a:t>
            </a:r>
            <a:r>
              <a:rPr lang="en-US" sz="2400" i="1" dirty="0"/>
              <a:t>“</a:t>
            </a:r>
            <a:r>
              <a:rPr lang="en-US" sz="2400" b="1" i="1" dirty="0">
                <a:solidFill>
                  <a:srgbClr val="7030A0"/>
                </a:solidFill>
              </a:rPr>
              <a:t>The No. 1 thing is you’ve got to have passion</a:t>
            </a:r>
            <a:r>
              <a:rPr lang="en-US" sz="2400" b="1" i="1" dirty="0"/>
              <a:t>.</a:t>
            </a:r>
            <a:r>
              <a:rPr lang="en-US" sz="2400" i="1" dirty="0"/>
              <a:t> This rich passion for going ruthlessly after the problem and being deeply intellectually honest with yourself about whether this is a reasonable answer…. The second part is having the ability to be extremely clever with the data. And what I mean by that is:  You’re working with ambiguity.  And very often you can’t approach the problem with the rigor you would a homework assignment. </a:t>
            </a:r>
            <a:r>
              <a:rPr lang="en-US" sz="2400" b="1" i="1" dirty="0">
                <a:solidFill>
                  <a:srgbClr val="0070C0"/>
                </a:solidFill>
              </a:rPr>
              <a:t>The only way to survive through that is by being clever—to think of a different question that gets at the answer</a:t>
            </a:r>
            <a:r>
              <a:rPr lang="en-US" sz="2400" b="1" i="1" dirty="0"/>
              <a:t>.</a:t>
            </a:r>
            <a:r>
              <a:rPr lang="en-US" sz="2400" i="1" dirty="0"/>
              <a:t>”</a:t>
            </a:r>
            <a:endParaRPr dirty="0"/>
          </a:p>
        </p:txBody>
      </p:sp>
      <p:sp>
        <p:nvSpPr>
          <p:cNvPr id="335" name="Google Shape;335;p23"/>
          <p:cNvSpPr/>
          <p:nvPr/>
        </p:nvSpPr>
        <p:spPr>
          <a:xfrm>
            <a:off x="1069848" y="6344403"/>
            <a:ext cx="1033065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https://www.kdnuggets.com/2017/05/42-essential-quotes-data-science-thought-leaders.html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MOST DESIRED DATA SCIENTIST TRAITS</a:t>
            </a:r>
            <a:endParaRPr/>
          </a:p>
        </p:txBody>
      </p:sp>
      <p:sp>
        <p:nvSpPr>
          <p:cNvPr id="349" name="Google Shape;349;p25"/>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240"/>
              <a:buChar char="▪"/>
            </a:pPr>
            <a:r>
              <a:rPr lang="en-US" sz="2600"/>
              <a:t>In addition to technical skills:</a:t>
            </a:r>
            <a:endParaRPr sz="2200"/>
          </a:p>
          <a:p>
            <a:pPr marL="182880" lvl="0" indent="-53338" algn="l" rtl="0">
              <a:lnSpc>
                <a:spcPct val="90000"/>
              </a:lnSpc>
              <a:spcBef>
                <a:spcPts val="1200"/>
              </a:spcBef>
              <a:spcAft>
                <a:spcPts val="0"/>
              </a:spcAft>
              <a:buSzPts val="2040"/>
              <a:buNone/>
            </a:pPr>
            <a:endParaRPr sz="2600"/>
          </a:p>
          <a:p>
            <a:pPr marL="457200" lvl="1" indent="-195580" algn="l" rtl="0">
              <a:lnSpc>
                <a:spcPct val="90000"/>
              </a:lnSpc>
              <a:spcBef>
                <a:spcPts val="400"/>
              </a:spcBef>
              <a:spcAft>
                <a:spcPts val="0"/>
              </a:spcAft>
              <a:buSzPts val="2240"/>
              <a:buChar char="▪"/>
            </a:pPr>
            <a:r>
              <a:rPr lang="en-US" sz="2600"/>
              <a:t>Ability to collaborate</a:t>
            </a:r>
            <a:endParaRPr sz="2000"/>
          </a:p>
          <a:p>
            <a:pPr marL="457200" lvl="1" indent="-53340" algn="l" rtl="0">
              <a:lnSpc>
                <a:spcPct val="90000"/>
              </a:lnSpc>
              <a:spcBef>
                <a:spcPts val="600"/>
              </a:spcBef>
              <a:spcAft>
                <a:spcPts val="0"/>
              </a:spcAft>
              <a:buSzPts val="2040"/>
              <a:buNone/>
            </a:pPr>
            <a:endParaRPr sz="2600"/>
          </a:p>
          <a:p>
            <a:pPr marL="457200" lvl="1" indent="-195580" algn="l" rtl="0">
              <a:lnSpc>
                <a:spcPct val="90000"/>
              </a:lnSpc>
              <a:spcBef>
                <a:spcPts val="600"/>
              </a:spcBef>
              <a:spcAft>
                <a:spcPts val="0"/>
              </a:spcAft>
              <a:buSzPts val="2240"/>
              <a:buChar char="▪"/>
            </a:pPr>
            <a:r>
              <a:rPr lang="en-US" sz="2600"/>
              <a:t>In love with solving problems, not specific solutions or methods</a:t>
            </a:r>
            <a:endParaRPr sz="2000"/>
          </a:p>
          <a:p>
            <a:pPr marL="457200" lvl="1" indent="-53340" algn="l" rtl="0">
              <a:lnSpc>
                <a:spcPct val="90000"/>
              </a:lnSpc>
              <a:spcBef>
                <a:spcPts val="600"/>
              </a:spcBef>
              <a:spcAft>
                <a:spcPts val="0"/>
              </a:spcAft>
              <a:buSzPts val="2040"/>
              <a:buNone/>
            </a:pPr>
            <a:endParaRPr sz="2600"/>
          </a:p>
          <a:p>
            <a:pPr marL="457200" lvl="1" indent="-195580" algn="l" rtl="0">
              <a:lnSpc>
                <a:spcPct val="90000"/>
              </a:lnSpc>
              <a:spcBef>
                <a:spcPts val="600"/>
              </a:spcBef>
              <a:spcAft>
                <a:spcPts val="0"/>
              </a:spcAft>
              <a:buSzPts val="2240"/>
              <a:buChar char="▪"/>
            </a:pPr>
            <a:r>
              <a:rPr lang="en-US" sz="2600"/>
              <a:t>High integrity</a:t>
            </a:r>
            <a:endParaRPr sz="2000"/>
          </a:p>
          <a:p>
            <a:pPr marL="182880" lvl="0" indent="-53338" algn="l" rtl="0">
              <a:lnSpc>
                <a:spcPct val="90000"/>
              </a:lnSpc>
              <a:spcBef>
                <a:spcPts val="1400"/>
              </a:spcBef>
              <a:spcAft>
                <a:spcPts val="0"/>
              </a:spcAft>
              <a:buSzPts val="2040"/>
              <a:buNone/>
            </a:pPr>
            <a:endParaRPr sz="2400"/>
          </a:p>
        </p:txBody>
      </p:sp>
      <p:sp>
        <p:nvSpPr>
          <p:cNvPr id="350" name="Google Shape;350;p25"/>
          <p:cNvSpPr/>
          <p:nvPr/>
        </p:nvSpPr>
        <p:spPr>
          <a:xfrm>
            <a:off x="1069848" y="6437049"/>
            <a:ext cx="977021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Source: https://hbr.org/2018/11/the-kinds-of-data-scientist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6"/>
          <p:cNvSpPr txBox="1">
            <a:spLocks noGrp="1"/>
          </p:cNvSpPr>
          <p:nvPr>
            <p:ph sz="quarter" idx="1"/>
          </p:nvPr>
        </p:nvSpPr>
        <p:spPr>
          <a:xfrm>
            <a:off x="1069848" y="1588008"/>
            <a:ext cx="10058400" cy="4050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endParaRPr/>
          </a:p>
          <a:p>
            <a:pPr marL="0" lvl="0" indent="0" algn="l" rtl="0">
              <a:lnSpc>
                <a:spcPct val="90000"/>
              </a:lnSpc>
              <a:spcBef>
                <a:spcPts val="1200"/>
              </a:spcBef>
              <a:spcAft>
                <a:spcPts val="0"/>
              </a:spcAft>
              <a:buSzPts val="1700"/>
              <a:buNone/>
            </a:pPr>
            <a:endParaRPr/>
          </a:p>
          <a:p>
            <a:pPr marL="0" lvl="0" indent="0" algn="l" rtl="0">
              <a:lnSpc>
                <a:spcPct val="90000"/>
              </a:lnSpc>
              <a:spcBef>
                <a:spcPts val="1200"/>
              </a:spcBef>
              <a:spcAft>
                <a:spcPts val="0"/>
              </a:spcAft>
              <a:buSzPts val="1700"/>
              <a:buNone/>
            </a:pPr>
            <a:endParaRPr/>
          </a:p>
          <a:p>
            <a:pPr marL="0" lvl="0" indent="0" algn="ctr" rtl="0">
              <a:lnSpc>
                <a:spcPct val="90000"/>
              </a:lnSpc>
              <a:spcBef>
                <a:spcPts val="1200"/>
              </a:spcBef>
              <a:spcAft>
                <a:spcPts val="0"/>
              </a:spcAft>
              <a:buSzPts val="4590"/>
              <a:buNone/>
            </a:pPr>
            <a:r>
              <a:rPr lang="en-US" sz="5400"/>
              <a:t>What is this course about?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WHAT IS THIS COURSE ABOUT?</a:t>
            </a:r>
            <a:endParaRPr/>
          </a:p>
        </p:txBody>
      </p:sp>
      <p:sp>
        <p:nvSpPr>
          <p:cNvPr id="362" name="Google Shape;362;p27"/>
          <p:cNvSpPr txBox="1">
            <a:spLocks noGrp="1"/>
          </p:cNvSpPr>
          <p:nvPr>
            <p:ph sz="quarter" idx="1"/>
          </p:nvPr>
        </p:nvSpPr>
        <p:spPr>
          <a:xfrm>
            <a:off x="1069850" y="2121399"/>
            <a:ext cx="10551900" cy="44727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400"/>
              <a:buChar char="▪"/>
            </a:pPr>
            <a:r>
              <a:rPr lang="en-US" sz="2700">
                <a:solidFill>
                  <a:srgbClr val="0070C0"/>
                </a:solidFill>
              </a:rPr>
              <a:t>Exploring key areas of data science</a:t>
            </a:r>
            <a:endParaRPr sz="2700"/>
          </a:p>
          <a:p>
            <a:pPr marL="457200" lvl="1" indent="-227330" algn="l" rtl="0">
              <a:lnSpc>
                <a:spcPct val="90000"/>
              </a:lnSpc>
              <a:spcBef>
                <a:spcPts val="400"/>
              </a:spcBef>
              <a:spcAft>
                <a:spcPts val="0"/>
              </a:spcAft>
              <a:buSzPts val="2230"/>
              <a:buChar char="▪"/>
            </a:pPr>
            <a:r>
              <a:rPr lang="en-US" sz="2500"/>
              <a:t>Question formulation, data collection and cleaning, visualization, statistical inference, predictive modeling, decision making</a:t>
            </a:r>
            <a:endParaRPr sz="2500"/>
          </a:p>
          <a:p>
            <a:pPr marL="182880" lvl="1" indent="-182880" algn="l" rtl="0">
              <a:lnSpc>
                <a:spcPct val="90000"/>
              </a:lnSpc>
              <a:spcBef>
                <a:spcPts val="1200"/>
              </a:spcBef>
              <a:spcAft>
                <a:spcPts val="0"/>
              </a:spcAft>
              <a:buSzPts val="2400"/>
              <a:buChar char="▪"/>
            </a:pPr>
            <a:r>
              <a:rPr lang="en-US" sz="2700">
                <a:solidFill>
                  <a:srgbClr val="7030A0"/>
                </a:solidFill>
              </a:rPr>
              <a:t>Covering key principles and techniques of data science</a:t>
            </a:r>
            <a:endParaRPr sz="2500">
              <a:solidFill>
                <a:schemeClr val="accent1"/>
              </a:solidFill>
            </a:endParaRPr>
          </a:p>
          <a:p>
            <a:pPr marL="457200" lvl="1" indent="-227330" algn="l" rtl="0">
              <a:lnSpc>
                <a:spcPct val="90000"/>
              </a:lnSpc>
              <a:spcBef>
                <a:spcPts val="400"/>
              </a:spcBef>
              <a:spcAft>
                <a:spcPts val="0"/>
              </a:spcAft>
              <a:buSzPts val="2230"/>
              <a:buChar char="▪"/>
            </a:pPr>
            <a:r>
              <a:rPr lang="en-US" sz="2500"/>
              <a:t>Techniques for transforming, querying and analyzing data</a:t>
            </a:r>
            <a:endParaRPr sz="2500"/>
          </a:p>
          <a:p>
            <a:pPr marL="457200" lvl="1" indent="-227330" algn="l" rtl="0">
              <a:lnSpc>
                <a:spcPct val="90000"/>
              </a:lnSpc>
              <a:spcBef>
                <a:spcPts val="600"/>
              </a:spcBef>
              <a:spcAft>
                <a:spcPts val="0"/>
              </a:spcAft>
              <a:buSzPts val="2230"/>
              <a:buChar char="▪"/>
            </a:pPr>
            <a:r>
              <a:rPr lang="en-US" sz="2500"/>
              <a:t>Principles behind creating informative data visualizations</a:t>
            </a:r>
            <a:endParaRPr sz="2500"/>
          </a:p>
          <a:p>
            <a:pPr marL="457200" lvl="1" indent="-227330" algn="l" rtl="0">
              <a:lnSpc>
                <a:spcPct val="90000"/>
              </a:lnSpc>
              <a:spcBef>
                <a:spcPts val="600"/>
              </a:spcBef>
              <a:spcAft>
                <a:spcPts val="0"/>
              </a:spcAft>
              <a:buSzPts val="2230"/>
              <a:buChar char="▪"/>
            </a:pPr>
            <a:r>
              <a:rPr lang="en-US" sz="2500"/>
              <a:t>Statistical concepts of measurement error and prediction</a:t>
            </a:r>
            <a:endParaRPr sz="2500"/>
          </a:p>
          <a:p>
            <a:pPr marL="457200" lvl="1" indent="-227330" algn="l" rtl="0">
              <a:lnSpc>
                <a:spcPct val="90000"/>
              </a:lnSpc>
              <a:spcBef>
                <a:spcPts val="600"/>
              </a:spcBef>
              <a:spcAft>
                <a:spcPts val="0"/>
              </a:spcAft>
              <a:buSzPts val="2230"/>
              <a:buChar char="▪"/>
            </a:pPr>
            <a:r>
              <a:rPr lang="en-US" sz="2500"/>
              <a:t>Algorithms for machine learning and their evaluation</a:t>
            </a:r>
            <a:endParaRPr sz="2500"/>
          </a:p>
          <a:p>
            <a:pPr marL="457200" lvl="1" indent="-227330" algn="l" rtl="0">
              <a:lnSpc>
                <a:spcPct val="90000"/>
              </a:lnSpc>
              <a:spcBef>
                <a:spcPts val="600"/>
              </a:spcBef>
              <a:spcAft>
                <a:spcPts val="0"/>
              </a:spcAft>
              <a:buSzPts val="2230"/>
              <a:buChar char="▪"/>
            </a:pPr>
            <a:r>
              <a:rPr lang="en-US" sz="2500"/>
              <a:t>Techniques for scalable data processing</a:t>
            </a:r>
            <a:endParaRPr sz="25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LEARNING OBJECTIVES FOR THE COURSE</a:t>
            </a:r>
            <a:endParaRPr/>
          </a:p>
        </p:txBody>
      </p:sp>
      <p:sp>
        <p:nvSpPr>
          <p:cNvPr id="369" name="Google Shape;369;p28"/>
          <p:cNvSpPr txBox="1">
            <a:spLocks noGrp="1"/>
          </p:cNvSpPr>
          <p:nvPr>
            <p:ph sz="quarter" idx="1"/>
          </p:nvPr>
        </p:nvSpPr>
        <p:spPr>
          <a:xfrm>
            <a:off x="1069848" y="2121408"/>
            <a:ext cx="10058400" cy="47365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00"/>
              <a:buChar char="▪"/>
            </a:pPr>
            <a:r>
              <a:rPr lang="en-US" sz="2300">
                <a:solidFill>
                  <a:srgbClr val="7030A0"/>
                </a:solidFill>
              </a:rPr>
              <a:t>Empower students to apply computational and statistical thinking to tackle real-world problems with data</a:t>
            </a:r>
            <a:endParaRPr sz="2300"/>
          </a:p>
          <a:p>
            <a:pPr marL="457200" lvl="1" indent="-201930" algn="l" rtl="0">
              <a:lnSpc>
                <a:spcPct val="90000"/>
              </a:lnSpc>
              <a:spcBef>
                <a:spcPts val="400"/>
              </a:spcBef>
              <a:spcAft>
                <a:spcPts val="0"/>
              </a:spcAft>
              <a:buSzPts val="1830"/>
              <a:buChar char="▪"/>
            </a:pPr>
            <a:r>
              <a:rPr lang="en-US" sz="2100"/>
              <a:t>understand the full data science pipeline, and be familiar with </a:t>
            </a:r>
            <a:r>
              <a:rPr lang="en-US" sz="2100">
                <a:solidFill>
                  <a:srgbClr val="0070C0"/>
                </a:solidFill>
              </a:rPr>
              <a:t>programming tools </a:t>
            </a:r>
            <a:r>
              <a:rPr lang="en-US" sz="2100"/>
              <a:t>to accomplish the different portions</a:t>
            </a:r>
            <a:endParaRPr sz="2100"/>
          </a:p>
          <a:p>
            <a:pPr marL="457200" lvl="1" indent="-201930" algn="l" rtl="0">
              <a:lnSpc>
                <a:spcPct val="90000"/>
              </a:lnSpc>
              <a:spcBef>
                <a:spcPts val="600"/>
              </a:spcBef>
              <a:spcAft>
                <a:spcPts val="0"/>
              </a:spcAft>
              <a:buSzPts val="1830"/>
              <a:buChar char="▪"/>
            </a:pPr>
            <a:r>
              <a:rPr lang="en-US" sz="2100"/>
              <a:t>be able to </a:t>
            </a:r>
            <a:r>
              <a:rPr lang="en-US" sz="2100">
                <a:solidFill>
                  <a:srgbClr val="FF0000"/>
                </a:solidFill>
              </a:rPr>
              <a:t>collect data </a:t>
            </a:r>
            <a:r>
              <a:rPr lang="en-US" sz="2100"/>
              <a:t>from unstructured sources and </a:t>
            </a:r>
            <a:r>
              <a:rPr lang="en-US" sz="2100">
                <a:solidFill>
                  <a:srgbClr val="FF0000"/>
                </a:solidFill>
              </a:rPr>
              <a:t>store</a:t>
            </a:r>
            <a:r>
              <a:rPr lang="en-US" sz="2100"/>
              <a:t> it using appropriate structure such as relational databases, graphs, matrices, etc.</a:t>
            </a:r>
            <a:endParaRPr sz="2100"/>
          </a:p>
          <a:p>
            <a:pPr marL="457200" lvl="1" indent="-201930" algn="l" rtl="0">
              <a:lnSpc>
                <a:spcPct val="90000"/>
              </a:lnSpc>
              <a:spcBef>
                <a:spcPts val="600"/>
              </a:spcBef>
              <a:spcAft>
                <a:spcPts val="0"/>
              </a:spcAft>
              <a:buSzPts val="1830"/>
              <a:buChar char="▪"/>
            </a:pPr>
            <a:r>
              <a:rPr lang="en-US" sz="2100"/>
              <a:t>know to </a:t>
            </a:r>
            <a:r>
              <a:rPr lang="en-US" sz="2100">
                <a:solidFill>
                  <a:srgbClr val="FFC000"/>
                </a:solidFill>
              </a:rPr>
              <a:t>explore and visualize </a:t>
            </a:r>
            <a:r>
              <a:rPr lang="en-US" sz="2100"/>
              <a:t>your data</a:t>
            </a:r>
            <a:endParaRPr sz="2100"/>
          </a:p>
          <a:p>
            <a:pPr marL="457200" lvl="1" indent="-201930" algn="l" rtl="0">
              <a:lnSpc>
                <a:spcPct val="90000"/>
              </a:lnSpc>
              <a:spcBef>
                <a:spcPts val="600"/>
              </a:spcBef>
              <a:spcAft>
                <a:spcPts val="0"/>
              </a:spcAft>
              <a:buSzPts val="1830"/>
              <a:buChar char="▪"/>
            </a:pPr>
            <a:r>
              <a:rPr lang="en-US" sz="2100"/>
              <a:t>be able to </a:t>
            </a:r>
            <a:r>
              <a:rPr lang="en-US" sz="2100">
                <a:solidFill>
                  <a:srgbClr val="FF76FF"/>
                </a:solidFill>
              </a:rPr>
              <a:t>analyze your data rigorously</a:t>
            </a:r>
            <a:r>
              <a:rPr lang="en-US" sz="2100"/>
              <a:t> using a variety of statistical and machine learning approaches</a:t>
            </a:r>
            <a:endParaRPr sz="2100"/>
          </a:p>
          <a:p>
            <a:pPr marL="182880" lvl="0" indent="-182880" algn="l" rtl="0">
              <a:lnSpc>
                <a:spcPct val="90000"/>
              </a:lnSpc>
              <a:spcBef>
                <a:spcPts val="1400"/>
              </a:spcBef>
              <a:spcAft>
                <a:spcPts val="0"/>
              </a:spcAft>
              <a:buSzPts val="2000"/>
              <a:buChar char="▪"/>
            </a:pPr>
            <a:r>
              <a:rPr lang="en-US" sz="2300">
                <a:solidFill>
                  <a:srgbClr val="00B050"/>
                </a:solidFill>
              </a:rPr>
              <a:t>This is an introductory Data Science course and by no means comprehensive!</a:t>
            </a:r>
            <a:endParaRPr sz="2300"/>
          </a:p>
          <a:p>
            <a:pPr marL="457200" lvl="1" indent="-201930" algn="l" rtl="0">
              <a:lnSpc>
                <a:spcPct val="90000"/>
              </a:lnSpc>
              <a:spcBef>
                <a:spcPts val="400"/>
              </a:spcBef>
              <a:spcAft>
                <a:spcPts val="0"/>
              </a:spcAft>
              <a:buSzPts val="1830"/>
              <a:buChar char="▪"/>
            </a:pPr>
            <a:r>
              <a:rPr lang="en-US" sz="2100"/>
              <a:t>A lot of emphasis on practice and hands-on programming</a:t>
            </a:r>
            <a:endParaRPr sz="2100"/>
          </a:p>
          <a:p>
            <a:pPr marL="457200" lvl="1" indent="-201930" algn="l" rtl="0">
              <a:lnSpc>
                <a:spcPct val="90000"/>
              </a:lnSpc>
              <a:spcBef>
                <a:spcPts val="600"/>
              </a:spcBef>
              <a:spcAft>
                <a:spcPts val="0"/>
              </a:spcAft>
              <a:buSzPts val="1830"/>
              <a:buChar char="▪"/>
            </a:pPr>
            <a:r>
              <a:rPr lang="en-US" sz="2100"/>
              <a:t>You are strongly encouraged to go beyond what you learn in class</a:t>
            </a:r>
            <a:endParaRPr sz="2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COURSE PREREQUISITES</a:t>
            </a:r>
            <a:endParaRPr/>
          </a:p>
        </p:txBody>
      </p:sp>
      <p:sp>
        <p:nvSpPr>
          <p:cNvPr id="376" name="Google Shape;376;p29"/>
          <p:cNvSpPr txBox="1">
            <a:spLocks noGrp="1"/>
          </p:cNvSpPr>
          <p:nvPr>
            <p:ph sz="quarter" idx="1"/>
          </p:nvPr>
        </p:nvSpPr>
        <p:spPr>
          <a:xfrm>
            <a:off x="1069848" y="2121407"/>
            <a:ext cx="10448642" cy="4412127"/>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00"/>
              <a:buChar char="▪"/>
            </a:pPr>
            <a:r>
              <a:rPr lang="en-US" sz="2300" dirty="0">
                <a:solidFill>
                  <a:srgbClr val="00B050"/>
                </a:solidFill>
              </a:rPr>
              <a:t>This course requires working knowledge of probability, data structures, programming</a:t>
            </a:r>
            <a:endParaRPr sz="2300" dirty="0"/>
          </a:p>
          <a:p>
            <a:pPr marL="457200" lvl="1" indent="-201930" algn="l" rtl="0">
              <a:lnSpc>
                <a:spcPct val="90000"/>
              </a:lnSpc>
              <a:spcBef>
                <a:spcPts val="400"/>
              </a:spcBef>
              <a:spcAft>
                <a:spcPts val="0"/>
              </a:spcAft>
              <a:buSzPts val="1830"/>
              <a:buChar char="▪"/>
            </a:pPr>
            <a:r>
              <a:rPr lang="en-US" sz="2100" dirty="0"/>
              <a:t>Otherwise, it will be hard for you to complete class assignments</a:t>
            </a:r>
            <a:endParaRPr sz="2100" dirty="0"/>
          </a:p>
          <a:p>
            <a:pPr marL="182880" lvl="0" indent="-182880" algn="l" rtl="0">
              <a:lnSpc>
                <a:spcPct val="90000"/>
              </a:lnSpc>
              <a:spcBef>
                <a:spcPts val="1400"/>
              </a:spcBef>
              <a:spcAft>
                <a:spcPts val="0"/>
              </a:spcAft>
              <a:buSzPts val="2000"/>
              <a:buChar char="▪"/>
            </a:pPr>
            <a:r>
              <a:rPr lang="en-US" sz="2300" dirty="0">
                <a:solidFill>
                  <a:srgbClr val="FF0000"/>
                </a:solidFill>
              </a:rPr>
              <a:t>Probability and statistics</a:t>
            </a:r>
            <a:endParaRPr sz="2300" dirty="0"/>
          </a:p>
          <a:p>
            <a:pPr marL="457200" lvl="1" indent="-201930" algn="l" rtl="0">
              <a:lnSpc>
                <a:spcPct val="90000"/>
              </a:lnSpc>
              <a:spcBef>
                <a:spcPts val="400"/>
              </a:spcBef>
              <a:spcAft>
                <a:spcPts val="0"/>
              </a:spcAft>
              <a:buSzPts val="1830"/>
              <a:buChar char="▪"/>
            </a:pPr>
            <a:r>
              <a:rPr lang="en-US" sz="2100" dirty="0"/>
              <a:t>Random variables, continuous and discrete distributions, expectations, variance</a:t>
            </a:r>
            <a:endParaRPr sz="2100" dirty="0"/>
          </a:p>
          <a:p>
            <a:pPr marL="457200" lvl="1" indent="-201930" algn="l" rtl="0">
              <a:lnSpc>
                <a:spcPct val="90000"/>
              </a:lnSpc>
              <a:spcBef>
                <a:spcPts val="600"/>
              </a:spcBef>
              <a:spcAft>
                <a:spcPts val="0"/>
              </a:spcAft>
              <a:buSzPts val="1830"/>
              <a:buChar char="▪"/>
            </a:pPr>
            <a:r>
              <a:rPr lang="en-US" sz="2100" dirty="0"/>
              <a:t>Conditional probability, marginalization, Bayes rule</a:t>
            </a:r>
            <a:endParaRPr sz="2100" dirty="0"/>
          </a:p>
          <a:p>
            <a:pPr marL="457200" lvl="1" indent="-201930" algn="l" rtl="0">
              <a:lnSpc>
                <a:spcPct val="90000"/>
              </a:lnSpc>
              <a:spcBef>
                <a:spcPts val="600"/>
              </a:spcBef>
              <a:spcAft>
                <a:spcPts val="0"/>
              </a:spcAft>
              <a:buSzPts val="1830"/>
              <a:buChar char="▪"/>
            </a:pPr>
            <a:r>
              <a:rPr lang="en-US" sz="2100" dirty="0"/>
              <a:t>Refreshers:  </a:t>
            </a:r>
            <a:r>
              <a:rPr lang="en-US" sz="2100" u="sng" dirty="0">
                <a:solidFill>
                  <a:schemeClr val="hlink"/>
                </a:solidFill>
                <a:hlinkClick r:id="rId3"/>
              </a:rPr>
              <a:t>https://see.stanford.edu/materials/aimlcs229/cs229-prob.pdf</a:t>
            </a:r>
            <a:r>
              <a:rPr lang="en-US" sz="2100" dirty="0"/>
              <a:t> </a:t>
            </a:r>
            <a:r>
              <a:rPr lang="en-US" sz="2100" u="sng" dirty="0">
                <a:solidFill>
                  <a:schemeClr val="hlink"/>
                </a:solidFill>
                <a:hlinkClick r:id="rId4"/>
              </a:rPr>
              <a:t>http://www.cs.princeton.edu/courses/archive/spring07/cos424/scribe_notes/0208.pdf</a:t>
            </a:r>
            <a:endParaRPr sz="2100" dirty="0"/>
          </a:p>
          <a:p>
            <a:pPr marL="182880" lvl="0" indent="-182880" algn="l" rtl="0">
              <a:lnSpc>
                <a:spcPct val="90000"/>
              </a:lnSpc>
              <a:spcBef>
                <a:spcPts val="1200"/>
              </a:spcBef>
              <a:spcAft>
                <a:spcPts val="0"/>
              </a:spcAft>
              <a:buSzPts val="2000"/>
              <a:buChar char="▪"/>
            </a:pPr>
            <a:r>
              <a:rPr lang="en-US" sz="2300" dirty="0">
                <a:solidFill>
                  <a:srgbClr val="7030A0"/>
                </a:solidFill>
              </a:rPr>
              <a:t>Ability to (learn to) program in Python</a:t>
            </a:r>
            <a:endParaRPr sz="2300" dirty="0"/>
          </a:p>
          <a:p>
            <a:pPr marL="457200" lvl="1" indent="-85725" algn="l" rtl="0">
              <a:lnSpc>
                <a:spcPct val="90000"/>
              </a:lnSpc>
              <a:spcBef>
                <a:spcPts val="400"/>
              </a:spcBef>
              <a:spcAft>
                <a:spcPts val="0"/>
              </a:spcAft>
              <a:buSzPts val="1530"/>
              <a:buNone/>
            </a:pPr>
            <a:endParaRPr dirty="0"/>
          </a:p>
          <a:p>
            <a:pPr marL="457200" lvl="1" indent="-85725" algn="l" rtl="0">
              <a:lnSpc>
                <a:spcPct val="90000"/>
              </a:lnSpc>
              <a:spcBef>
                <a:spcPts val="600"/>
              </a:spcBef>
              <a:spcAft>
                <a:spcPts val="0"/>
              </a:spcAft>
              <a:buSzPts val="1530"/>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MAIN PROGRAMMING LANGUAGE: PYTHON</a:t>
            </a:r>
            <a:endParaRPr/>
          </a:p>
        </p:txBody>
      </p:sp>
      <p:pic>
        <p:nvPicPr>
          <p:cNvPr id="382" name="Google Shape;382;p30"/>
          <p:cNvPicPr preferRelativeResize="0">
            <a:picLocks noGrp="1"/>
          </p:cNvPicPr>
          <p:nvPr>
            <p:ph sz="quarter" idx="1"/>
          </p:nvPr>
        </p:nvPicPr>
        <p:blipFill rotWithShape="1">
          <a:blip r:embed="rId3">
            <a:alphaModFix/>
          </a:blip>
          <a:srcRect/>
          <a:stretch/>
        </p:blipFill>
        <p:spPr>
          <a:xfrm>
            <a:off x="2349288" y="2093976"/>
            <a:ext cx="4668084" cy="4051300"/>
          </a:xfrm>
          <a:prstGeom prst="rect">
            <a:avLst/>
          </a:prstGeom>
          <a:noFill/>
          <a:ln>
            <a:noFill/>
          </a:ln>
        </p:spPr>
      </p:pic>
      <p:sp>
        <p:nvSpPr>
          <p:cNvPr id="383" name="Google Shape;383;p30"/>
          <p:cNvSpPr/>
          <p:nvPr/>
        </p:nvSpPr>
        <p:spPr>
          <a:xfrm>
            <a:off x="1069848" y="6199124"/>
            <a:ext cx="86622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Source: https://stackoverflow.blog/2017/09/06/incredible-growth-python/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DELIVERABLES AND GRADING</a:t>
            </a:r>
            <a:endParaRPr/>
          </a:p>
        </p:txBody>
      </p:sp>
      <p:sp>
        <p:nvSpPr>
          <p:cNvPr id="391" name="Google Shape;391;p31"/>
          <p:cNvSpPr txBox="1">
            <a:spLocks noGrp="1"/>
          </p:cNvSpPr>
          <p:nvPr>
            <p:ph sz="quarter" idx="1"/>
          </p:nvPr>
        </p:nvSpPr>
        <p:spPr>
          <a:xfrm>
            <a:off x="1027805" y="1304229"/>
            <a:ext cx="10950000" cy="5012488"/>
          </a:xfrm>
          <a:prstGeom prst="rect">
            <a:avLst/>
          </a:prstGeom>
          <a:noFill/>
          <a:ln>
            <a:noFill/>
          </a:ln>
        </p:spPr>
        <p:txBody>
          <a:bodyPr spcFirstLastPara="1" wrap="square" lIns="91425" tIns="45700" rIns="91425" bIns="45700" anchor="t" anchorCtr="0">
            <a:noAutofit/>
          </a:bodyPr>
          <a:lstStyle/>
          <a:p>
            <a:pPr marL="182880" lvl="0" indent="-182880" algn="l" rtl="0">
              <a:lnSpc>
                <a:spcPct val="80000"/>
              </a:lnSpc>
              <a:spcBef>
                <a:spcPts val="1200"/>
              </a:spcBef>
              <a:spcAft>
                <a:spcPts val="0"/>
              </a:spcAft>
              <a:buSzPts val="2062"/>
              <a:buChar char="▪"/>
            </a:pPr>
            <a:r>
              <a:rPr lang="en-US" sz="2391" dirty="0"/>
              <a:t>Homework assignments including programming/implementation (3*10%=30%)</a:t>
            </a:r>
            <a:endParaRPr sz="2191" dirty="0"/>
          </a:p>
          <a:p>
            <a:pPr marL="182880" lvl="0" indent="-182880" algn="l" rtl="0">
              <a:lnSpc>
                <a:spcPct val="80000"/>
              </a:lnSpc>
              <a:spcBef>
                <a:spcPts val="1200"/>
              </a:spcBef>
              <a:spcAft>
                <a:spcPts val="0"/>
              </a:spcAft>
              <a:buSzPts val="2062"/>
              <a:buChar char="▪"/>
            </a:pPr>
            <a:r>
              <a:rPr lang="en-US" sz="2391" dirty="0"/>
              <a:t>Group class project (30%)</a:t>
            </a:r>
            <a:endParaRPr sz="2191" dirty="0"/>
          </a:p>
          <a:p>
            <a:pPr marL="182880" lvl="0" indent="-182880" algn="l" rtl="0">
              <a:lnSpc>
                <a:spcPct val="80000"/>
              </a:lnSpc>
              <a:spcBef>
                <a:spcPts val="1200"/>
              </a:spcBef>
              <a:spcAft>
                <a:spcPts val="0"/>
              </a:spcAft>
              <a:buSzPts val="2062"/>
              <a:buChar char="▪"/>
            </a:pPr>
            <a:r>
              <a:rPr lang="en-US" sz="2391" dirty="0"/>
              <a:t>In-class quizzes (2*10%=20%) </a:t>
            </a:r>
          </a:p>
          <a:p>
            <a:pPr marL="548640" lvl="1" indent="-182880">
              <a:lnSpc>
                <a:spcPct val="80000"/>
              </a:lnSpc>
              <a:spcBef>
                <a:spcPts val="1200"/>
              </a:spcBef>
              <a:buSzPts val="2062"/>
              <a:buChar char="▪"/>
            </a:pPr>
            <a:r>
              <a:rPr lang="en-US" sz="2091" dirty="0"/>
              <a:t>No make-up, beginning of the lectures for 30 minutes.</a:t>
            </a:r>
            <a:endParaRPr lang="en-US" sz="1891" dirty="0"/>
          </a:p>
          <a:p>
            <a:pPr marL="182880" lvl="0" indent="-182880" algn="l" rtl="0">
              <a:lnSpc>
                <a:spcPct val="80000"/>
              </a:lnSpc>
              <a:spcBef>
                <a:spcPts val="1200"/>
              </a:spcBef>
              <a:spcAft>
                <a:spcPts val="0"/>
              </a:spcAft>
              <a:buSzPts val="2062"/>
              <a:buChar char="▪"/>
            </a:pPr>
            <a:r>
              <a:rPr lang="en-US" sz="2391" dirty="0"/>
              <a:t>One midterm exam (20%)</a:t>
            </a:r>
          </a:p>
          <a:p>
            <a:pPr marL="548640" lvl="1" indent="-182880">
              <a:lnSpc>
                <a:spcPct val="80000"/>
              </a:lnSpc>
              <a:spcBef>
                <a:spcPts val="1200"/>
              </a:spcBef>
              <a:buSzPts val="2062"/>
              <a:buFont typeface="Wingdings"/>
              <a:buChar char="▪"/>
            </a:pPr>
            <a:r>
              <a:rPr lang="en-US" dirty="0"/>
              <a:t>No make-up, full lecture.</a:t>
            </a:r>
            <a:endParaRPr sz="1891" dirty="0"/>
          </a:p>
          <a:p>
            <a:pPr marL="182880" lvl="0" indent="-182880" algn="l" rtl="0">
              <a:lnSpc>
                <a:spcPct val="80000"/>
              </a:lnSpc>
              <a:spcBef>
                <a:spcPts val="1200"/>
              </a:spcBef>
              <a:spcAft>
                <a:spcPts val="0"/>
              </a:spcAft>
              <a:buSzPts val="2062"/>
              <a:buChar char="▪"/>
            </a:pPr>
            <a:r>
              <a:rPr lang="en-US" sz="2391" dirty="0"/>
              <a:t>Extra credit for extraordinary Piazza contributions and project presentation feedback (up to 5%) </a:t>
            </a:r>
            <a:endParaRPr sz="2191" dirty="0"/>
          </a:p>
          <a:p>
            <a:pPr marL="182880" lvl="0" indent="-73039" algn="l" rtl="0">
              <a:lnSpc>
                <a:spcPct val="80000"/>
              </a:lnSpc>
              <a:spcBef>
                <a:spcPts val="1200"/>
              </a:spcBef>
              <a:spcAft>
                <a:spcPts val="0"/>
              </a:spcAft>
              <a:buSzPts val="1870"/>
              <a:buNone/>
            </a:pPr>
            <a:endParaRPr sz="2391" dirty="0"/>
          </a:p>
          <a:p>
            <a:pPr marL="91440" indent="-202351">
              <a:lnSpc>
                <a:spcPct val="80000"/>
              </a:lnSpc>
              <a:spcBef>
                <a:spcPts val="400"/>
              </a:spcBef>
              <a:buSzPts val="1722"/>
              <a:buChar char="▪"/>
            </a:pPr>
            <a:r>
              <a:rPr lang="en-US" sz="2700" dirty="0"/>
              <a:t>Online textbooks, including:</a:t>
            </a:r>
          </a:p>
          <a:p>
            <a:pPr marL="457200" lvl="1" indent="-202350">
              <a:lnSpc>
                <a:spcPct val="80000"/>
              </a:lnSpc>
              <a:spcBef>
                <a:spcPts val="600"/>
              </a:spcBef>
              <a:buSzPts val="1722"/>
              <a:buChar char="▪"/>
            </a:pPr>
            <a:r>
              <a:rPr lang="en-US" sz="2291" i="1" dirty="0"/>
              <a:t>Learning Data Science</a:t>
            </a:r>
            <a:r>
              <a:rPr lang="en-US" sz="2291" dirty="0"/>
              <a:t>. Lau, Gonzalez, Nolan </a:t>
            </a:r>
            <a:r>
              <a:rPr lang="en-US" sz="2291" dirty="0">
                <a:solidFill>
                  <a:srgbClr val="0070C0"/>
                </a:solidFill>
              </a:rPr>
              <a:t>(will be denoted as LDS)</a:t>
            </a:r>
            <a:endParaRPr sz="2091" dirty="0">
              <a:solidFill>
                <a:srgbClr val="0070C0"/>
              </a:solidFill>
            </a:endParaRPr>
          </a:p>
          <a:p>
            <a:pPr marL="457200" lvl="1" indent="-202350">
              <a:lnSpc>
                <a:spcPct val="80000"/>
              </a:lnSpc>
              <a:spcBef>
                <a:spcPts val="600"/>
              </a:spcBef>
              <a:buSzPts val="1722"/>
              <a:buChar char="▪"/>
            </a:pPr>
            <a:r>
              <a:rPr lang="en-US" sz="2291" i="1" dirty="0"/>
              <a:t>Mining of Massive Datasets</a:t>
            </a:r>
            <a:r>
              <a:rPr lang="en-US" sz="2291" dirty="0"/>
              <a:t>. </a:t>
            </a:r>
            <a:r>
              <a:rPr lang="en-US" sz="2291" dirty="0" err="1"/>
              <a:t>Leskovec</a:t>
            </a:r>
            <a:r>
              <a:rPr lang="en-US" sz="2291" dirty="0"/>
              <a:t>, Rajaraman, Ullman </a:t>
            </a:r>
            <a:r>
              <a:rPr lang="en-US" sz="2291" dirty="0">
                <a:solidFill>
                  <a:srgbClr val="0070C0"/>
                </a:solidFill>
              </a:rPr>
              <a:t>(MMD)</a:t>
            </a:r>
            <a:endParaRPr sz="2191" dirty="0">
              <a:solidFill>
                <a:srgbClr val="0070C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THREE HOMEWORK ASSIGNMENTS (30%)</a:t>
            </a:r>
            <a:endParaRPr dirty="0"/>
          </a:p>
        </p:txBody>
      </p:sp>
      <p:sp>
        <p:nvSpPr>
          <p:cNvPr id="398" name="Google Shape;398;p32"/>
          <p:cNvSpPr txBox="1">
            <a:spLocks noGrp="1"/>
          </p:cNvSpPr>
          <p:nvPr>
            <p:ph sz="quarter" idx="1"/>
          </p:nvPr>
        </p:nvSpPr>
        <p:spPr>
          <a:xfrm>
            <a:off x="1069850" y="2121400"/>
            <a:ext cx="10737600" cy="4050900"/>
          </a:xfrm>
          <a:prstGeom prst="rect">
            <a:avLst/>
          </a:prstGeom>
          <a:noFill/>
          <a:ln>
            <a:noFill/>
          </a:ln>
        </p:spPr>
        <p:txBody>
          <a:bodyPr spcFirstLastPara="1" wrap="square" lIns="91425" tIns="45700" rIns="91425" bIns="45700" anchor="t" anchorCtr="0">
            <a:noAutofit/>
          </a:bodyPr>
          <a:lstStyle/>
          <a:p>
            <a:pPr marL="182880" lvl="0" indent="-182880" algn="l" rtl="0">
              <a:lnSpc>
                <a:spcPct val="80000"/>
              </a:lnSpc>
              <a:spcBef>
                <a:spcPts val="0"/>
              </a:spcBef>
              <a:spcAft>
                <a:spcPts val="0"/>
              </a:spcAft>
              <a:buSzPts val="1800"/>
              <a:buChar char="▪"/>
            </a:pPr>
            <a:r>
              <a:rPr lang="en-US" sz="2100" dirty="0">
                <a:solidFill>
                  <a:srgbClr val="7030A0"/>
                </a:solidFill>
              </a:rPr>
              <a:t>Homework reinforces the material through programming assignments</a:t>
            </a:r>
            <a:endParaRPr sz="2100" dirty="0"/>
          </a:p>
          <a:p>
            <a:pPr marL="457200" lvl="1" indent="-189230" algn="l" rtl="0">
              <a:lnSpc>
                <a:spcPct val="80000"/>
              </a:lnSpc>
              <a:spcBef>
                <a:spcPts val="400"/>
              </a:spcBef>
              <a:spcAft>
                <a:spcPts val="0"/>
              </a:spcAft>
              <a:buSzPts val="1630"/>
              <a:buChar char="▪"/>
            </a:pPr>
            <a:r>
              <a:rPr lang="en-US" sz="1900" dirty="0"/>
              <a:t>Typically released on Tuesday and due two weeks later on Thursday</a:t>
            </a:r>
            <a:endParaRPr sz="1900" dirty="0"/>
          </a:p>
          <a:p>
            <a:pPr marL="457200" lvl="1" indent="-189230" algn="l" rtl="0">
              <a:lnSpc>
                <a:spcPct val="80000"/>
              </a:lnSpc>
              <a:spcBef>
                <a:spcPts val="600"/>
              </a:spcBef>
              <a:spcAft>
                <a:spcPts val="0"/>
              </a:spcAft>
              <a:buSzPts val="1630"/>
              <a:buChar char="▪"/>
            </a:pPr>
            <a:r>
              <a:rPr lang="en-US" sz="1900" dirty="0"/>
              <a:t>Starting early on each assignment is very important for successful completion</a:t>
            </a:r>
            <a:endParaRPr sz="1900" dirty="0"/>
          </a:p>
          <a:p>
            <a:pPr marL="182880" lvl="0" indent="-182880" algn="l" rtl="0">
              <a:lnSpc>
                <a:spcPct val="80000"/>
              </a:lnSpc>
              <a:spcBef>
                <a:spcPts val="1400"/>
              </a:spcBef>
              <a:spcAft>
                <a:spcPts val="0"/>
              </a:spcAft>
              <a:buSzPts val="1800"/>
              <a:buChar char="▪"/>
            </a:pPr>
            <a:r>
              <a:rPr lang="en-US" sz="2100" dirty="0">
                <a:solidFill>
                  <a:srgbClr val="FF0000"/>
                </a:solidFill>
              </a:rPr>
              <a:t>Late work policy</a:t>
            </a:r>
            <a:endParaRPr sz="2100" dirty="0"/>
          </a:p>
          <a:p>
            <a:pPr marL="457200" lvl="1" indent="-189230" algn="l" rtl="0">
              <a:lnSpc>
                <a:spcPct val="80000"/>
              </a:lnSpc>
              <a:spcBef>
                <a:spcPts val="400"/>
              </a:spcBef>
              <a:spcAft>
                <a:spcPts val="0"/>
              </a:spcAft>
              <a:buSzPts val="1630"/>
              <a:buChar char="▪"/>
            </a:pPr>
            <a:r>
              <a:rPr lang="en-US" sz="1900" dirty="0"/>
              <a:t>You have 3 late day credits, can be used on one homework assignment or spread across 2 or 3</a:t>
            </a:r>
            <a:endParaRPr sz="1900" dirty="0"/>
          </a:p>
          <a:p>
            <a:pPr marL="457200" lvl="1" indent="-189230" algn="l" rtl="0">
              <a:lnSpc>
                <a:spcPct val="80000"/>
              </a:lnSpc>
              <a:spcBef>
                <a:spcPts val="600"/>
              </a:spcBef>
              <a:spcAft>
                <a:spcPts val="0"/>
              </a:spcAft>
              <a:buSzPts val="1630"/>
              <a:buChar char="▪"/>
            </a:pPr>
            <a:r>
              <a:rPr lang="en-US" sz="1900" dirty="0"/>
              <a:t>If 3 late days have been used, then 20% grade penalty per day for submitting up to 3 days late</a:t>
            </a:r>
          </a:p>
          <a:p>
            <a:pPr marL="457200" lvl="1" indent="-189230" algn="l" rtl="0">
              <a:lnSpc>
                <a:spcPct val="80000"/>
              </a:lnSpc>
              <a:spcBef>
                <a:spcPts val="600"/>
              </a:spcBef>
              <a:spcAft>
                <a:spcPts val="0"/>
              </a:spcAft>
              <a:buSzPts val="1630"/>
              <a:buChar char="▪"/>
            </a:pPr>
            <a:r>
              <a:rPr lang="en-US" sz="1900" dirty="0"/>
              <a:t>No homework assignment will be accepted beyond 3 days late</a:t>
            </a:r>
            <a:endParaRPr sz="1900" dirty="0"/>
          </a:p>
          <a:p>
            <a:pPr marL="457200" lvl="1" indent="-206375" algn="l" rtl="0">
              <a:lnSpc>
                <a:spcPct val="80000"/>
              </a:lnSpc>
              <a:spcBef>
                <a:spcPts val="600"/>
              </a:spcBef>
              <a:spcAft>
                <a:spcPts val="0"/>
              </a:spcAft>
              <a:buSzPts val="1900"/>
              <a:buChar char="▪"/>
            </a:pPr>
            <a:r>
              <a:rPr lang="en-US" sz="1900" dirty="0"/>
              <a:t>Do not expect office hours/Piazza assistance after the HW deadline if using late days!</a:t>
            </a:r>
            <a:endParaRPr sz="1900" dirty="0"/>
          </a:p>
          <a:p>
            <a:pPr marL="182880" lvl="0" indent="-182880" algn="l" rtl="0">
              <a:lnSpc>
                <a:spcPct val="80000"/>
              </a:lnSpc>
              <a:spcBef>
                <a:spcPts val="1400"/>
              </a:spcBef>
              <a:spcAft>
                <a:spcPts val="0"/>
              </a:spcAft>
              <a:buSzPts val="1800"/>
              <a:buChar char="▪"/>
            </a:pPr>
            <a:r>
              <a:rPr lang="en-US" sz="2100" dirty="0">
                <a:solidFill>
                  <a:srgbClr val="0070C0"/>
                </a:solidFill>
              </a:rPr>
              <a:t>Statute of limitations</a:t>
            </a:r>
            <a:endParaRPr sz="2100" dirty="0"/>
          </a:p>
          <a:p>
            <a:pPr marL="457200" lvl="1" indent="-189230" algn="l" rtl="0">
              <a:lnSpc>
                <a:spcPct val="80000"/>
              </a:lnSpc>
              <a:spcBef>
                <a:spcPts val="400"/>
              </a:spcBef>
              <a:spcAft>
                <a:spcPts val="0"/>
              </a:spcAft>
              <a:buSzPts val="1630"/>
              <a:buChar char="▪"/>
            </a:pPr>
            <a:r>
              <a:rPr lang="en-US" sz="1900" dirty="0"/>
              <a:t>We can address grading questions only within </a:t>
            </a:r>
            <a:r>
              <a:rPr lang="en-US" sz="1900" dirty="0">
                <a:solidFill>
                  <a:srgbClr val="FF0000"/>
                </a:solidFill>
              </a:rPr>
              <a:t>2 weeks </a:t>
            </a:r>
            <a:r>
              <a:rPr lang="en-US" sz="1900" dirty="0"/>
              <a:t>after an item is returned – </a:t>
            </a:r>
            <a:r>
              <a:rPr lang="en-US" sz="1900" b="1" dirty="0"/>
              <a:t>no exceptions! </a:t>
            </a:r>
            <a:endParaRPr sz="1900" dirty="0"/>
          </a:p>
          <a:p>
            <a:pPr marL="182880" lvl="0" indent="-182880" algn="l" rtl="0">
              <a:lnSpc>
                <a:spcPct val="80000"/>
              </a:lnSpc>
              <a:spcBef>
                <a:spcPts val="1400"/>
              </a:spcBef>
              <a:spcAft>
                <a:spcPts val="0"/>
              </a:spcAft>
              <a:buSzPts val="1800"/>
              <a:buChar char="▪"/>
            </a:pPr>
            <a:r>
              <a:rPr lang="en-US" sz="2100" dirty="0">
                <a:solidFill>
                  <a:srgbClr val="FFC000"/>
                </a:solidFill>
              </a:rPr>
              <a:t>Blackboard and/or </a:t>
            </a:r>
            <a:r>
              <a:rPr lang="en-US" sz="2100" dirty="0" err="1">
                <a:solidFill>
                  <a:srgbClr val="FFC000"/>
                </a:solidFill>
              </a:rPr>
              <a:t>Gradescope</a:t>
            </a:r>
            <a:r>
              <a:rPr lang="en-US" sz="2100" dirty="0"/>
              <a:t> for grading assignments (please read instructions before starting)</a:t>
            </a:r>
            <a:endParaRPr sz="21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GROUP PROJECT (30%)</a:t>
            </a:r>
            <a:endParaRPr dirty="0"/>
          </a:p>
        </p:txBody>
      </p:sp>
      <p:sp>
        <p:nvSpPr>
          <p:cNvPr id="405" name="Google Shape;405;p33"/>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100"/>
              <a:buChar char="▪"/>
            </a:pPr>
            <a:r>
              <a:rPr lang="en-US" sz="2400" dirty="0"/>
              <a:t>Detailed project specifications will be released 2</a:t>
            </a:r>
            <a:r>
              <a:rPr lang="en-US" sz="2400" baseline="30000" dirty="0"/>
              <a:t>nd</a:t>
            </a:r>
            <a:r>
              <a:rPr lang="en-US" sz="2400" dirty="0"/>
              <a:t> week of the semester</a:t>
            </a:r>
            <a:endParaRPr sz="2400" dirty="0"/>
          </a:p>
          <a:p>
            <a:pPr marL="182880" lvl="0" indent="-182880" algn="l" rtl="0">
              <a:lnSpc>
                <a:spcPct val="90000"/>
              </a:lnSpc>
              <a:spcBef>
                <a:spcPts val="1200"/>
              </a:spcBef>
              <a:spcAft>
                <a:spcPts val="0"/>
              </a:spcAft>
              <a:buSzPts val="2100"/>
              <a:buChar char="▪"/>
            </a:pPr>
            <a:r>
              <a:rPr lang="en-US" sz="2400" dirty="0"/>
              <a:t>Groups will have five/six members each</a:t>
            </a:r>
            <a:endParaRPr sz="2400" dirty="0"/>
          </a:p>
          <a:p>
            <a:pPr marL="457200" lvl="1" indent="-208280" algn="l" rtl="0">
              <a:lnSpc>
                <a:spcPct val="90000"/>
              </a:lnSpc>
              <a:spcBef>
                <a:spcPts val="400"/>
              </a:spcBef>
              <a:spcAft>
                <a:spcPts val="0"/>
              </a:spcAft>
              <a:buSzPts val="1930"/>
              <a:buChar char="▪"/>
            </a:pPr>
            <a:r>
              <a:rPr lang="en-US" sz="2200" dirty="0"/>
              <a:t>There is an individual and group component of the grade</a:t>
            </a:r>
            <a:endParaRPr sz="2200" dirty="0"/>
          </a:p>
          <a:p>
            <a:pPr marL="182880" lvl="0" indent="-182880" algn="l" rtl="0">
              <a:lnSpc>
                <a:spcPct val="90000"/>
              </a:lnSpc>
              <a:spcBef>
                <a:spcPts val="1200"/>
              </a:spcBef>
              <a:spcAft>
                <a:spcPts val="0"/>
              </a:spcAft>
              <a:buSzPts val="2100"/>
              <a:buChar char="▪"/>
            </a:pPr>
            <a:r>
              <a:rPr lang="en-US" sz="2400" dirty="0"/>
              <a:t>Group Deliverables</a:t>
            </a:r>
            <a:endParaRPr sz="2400" dirty="0"/>
          </a:p>
          <a:p>
            <a:pPr marL="457200" lvl="1" indent="-208280" algn="l" rtl="0">
              <a:lnSpc>
                <a:spcPct val="90000"/>
              </a:lnSpc>
              <a:spcBef>
                <a:spcPts val="600"/>
              </a:spcBef>
              <a:spcAft>
                <a:spcPts val="0"/>
              </a:spcAft>
              <a:buSzPts val="1930"/>
              <a:buChar char="▪"/>
            </a:pPr>
            <a:r>
              <a:rPr lang="en-US" sz="2200" dirty="0"/>
              <a:t>Check-in with professor</a:t>
            </a:r>
            <a:endParaRPr sz="2200" dirty="0"/>
          </a:p>
          <a:p>
            <a:pPr marL="457200" lvl="1" indent="-208280" algn="l" rtl="0">
              <a:lnSpc>
                <a:spcPct val="90000"/>
              </a:lnSpc>
              <a:spcBef>
                <a:spcPts val="600"/>
              </a:spcBef>
              <a:spcAft>
                <a:spcPts val="0"/>
              </a:spcAft>
              <a:buSzPts val="1930"/>
              <a:buChar char="▪"/>
            </a:pPr>
            <a:r>
              <a:rPr lang="en-US" sz="2200" dirty="0"/>
              <a:t>Progress report</a:t>
            </a:r>
            <a:endParaRPr sz="2200" dirty="0"/>
          </a:p>
          <a:p>
            <a:pPr marL="457200" lvl="1" indent="-208280" algn="l" rtl="0">
              <a:lnSpc>
                <a:spcPct val="90000"/>
              </a:lnSpc>
              <a:spcBef>
                <a:spcPts val="600"/>
              </a:spcBef>
              <a:spcAft>
                <a:spcPts val="0"/>
              </a:spcAft>
              <a:buSzPts val="1930"/>
              <a:buChar char="▪"/>
            </a:pPr>
            <a:r>
              <a:rPr lang="en-US" sz="2200" dirty="0"/>
              <a:t>Project presentation</a:t>
            </a:r>
            <a:endParaRPr sz="2200" dirty="0"/>
          </a:p>
          <a:p>
            <a:pPr marL="457200" lvl="1" indent="-208280" algn="l" rtl="0">
              <a:lnSpc>
                <a:spcPct val="90000"/>
              </a:lnSpc>
              <a:spcBef>
                <a:spcPts val="600"/>
              </a:spcBef>
              <a:spcAft>
                <a:spcPts val="0"/>
              </a:spcAft>
              <a:buSzPts val="1930"/>
              <a:buChar char="▪"/>
            </a:pPr>
            <a:r>
              <a:rPr lang="en-US" sz="2200" dirty="0"/>
              <a:t>Final report</a:t>
            </a:r>
            <a:endParaRPr sz="1900" dirty="0"/>
          </a:p>
        </p:txBody>
      </p:sp>
      <p:sp>
        <p:nvSpPr>
          <p:cNvPr id="406" name="Google Shape;406;p33"/>
          <p:cNvSpPr txBox="1">
            <a:spLocks noGrp="1"/>
          </p:cNvSpPr>
          <p:nvPr>
            <p:ph type="body" idx="4294967295"/>
          </p:nvPr>
        </p:nvSpPr>
        <p:spPr>
          <a:xfrm>
            <a:off x="4288221" y="2903921"/>
            <a:ext cx="4214648" cy="3679441"/>
          </a:xfrm>
          <a:prstGeom prst="rect">
            <a:avLst/>
          </a:prstGeom>
          <a:noFill/>
          <a:ln>
            <a:noFill/>
          </a:ln>
        </p:spPr>
        <p:txBody>
          <a:bodyPr spcFirstLastPara="1" wrap="square" lIns="91425" tIns="45700" rIns="91425" bIns="45700" anchor="t" anchorCtr="0">
            <a:normAutofit/>
          </a:bodyPr>
          <a:lstStyle/>
          <a:p>
            <a:pPr marL="457200" lvl="1" indent="-208280" algn="l" rtl="0">
              <a:lnSpc>
                <a:spcPct val="90000"/>
              </a:lnSpc>
              <a:spcBef>
                <a:spcPts val="400"/>
              </a:spcBef>
              <a:spcAft>
                <a:spcPts val="0"/>
              </a:spcAft>
              <a:buSzPts val="1930"/>
              <a:buChar char="▪"/>
            </a:pPr>
            <a:r>
              <a:rPr lang="en-US" sz="2200" dirty="0"/>
              <a:t>Individual Assessment</a:t>
            </a:r>
          </a:p>
          <a:p>
            <a:pPr marL="800100" lvl="2" indent="-236855" algn="l" rtl="0">
              <a:lnSpc>
                <a:spcPct val="90000"/>
              </a:lnSpc>
              <a:spcBef>
                <a:spcPts val="600"/>
              </a:spcBef>
              <a:spcAft>
                <a:spcPts val="0"/>
              </a:spcAft>
              <a:buSzPts val="1930"/>
              <a:buChar char="▪"/>
            </a:pPr>
            <a:r>
              <a:rPr lang="en-US" sz="2200" dirty="0"/>
              <a:t>Project proposal</a:t>
            </a:r>
          </a:p>
          <a:p>
            <a:pPr marL="800100" lvl="2" indent="-236855">
              <a:lnSpc>
                <a:spcPct val="90000"/>
              </a:lnSpc>
              <a:spcBef>
                <a:spcPts val="600"/>
              </a:spcBef>
              <a:buSzPts val="1930"/>
              <a:buFont typeface="Wingdings"/>
              <a:buChar char="▪"/>
            </a:pPr>
            <a:r>
              <a:rPr lang="en-US" sz="2200" dirty="0"/>
              <a:t>Peer assessment</a:t>
            </a:r>
          </a:p>
          <a:p>
            <a:pPr marL="800100" lvl="2" indent="-254000" algn="l" rtl="0">
              <a:lnSpc>
                <a:spcPct val="90000"/>
              </a:lnSpc>
              <a:spcBef>
                <a:spcPts val="600"/>
              </a:spcBef>
              <a:spcAft>
                <a:spcPts val="0"/>
              </a:spcAft>
              <a:buSzPts val="2200"/>
              <a:buChar char="▪"/>
            </a:pPr>
            <a:r>
              <a:rPr lang="en-US" sz="2200" dirty="0"/>
              <a:t>Code contributions</a:t>
            </a:r>
            <a:endParaRPr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2" name="Picture 1">
            <a:extLst>
              <a:ext uri="{FF2B5EF4-FFF2-40B4-BE49-F238E27FC236}">
                <a16:creationId xmlns:a16="http://schemas.microsoft.com/office/drawing/2014/main" id="{59B546F1-759A-1339-B8FA-508AF2D13D4B}"/>
              </a:ext>
            </a:extLst>
          </p:cNvPr>
          <p:cNvPicPr>
            <a:picLocks noChangeAspect="1"/>
          </p:cNvPicPr>
          <p:nvPr/>
        </p:nvPicPr>
        <p:blipFill>
          <a:blip r:embed="rId3"/>
          <a:srcRect/>
          <a:stretch/>
        </p:blipFill>
        <p:spPr>
          <a:xfrm>
            <a:off x="891628" y="1146394"/>
            <a:ext cx="10597240" cy="4539703"/>
          </a:xfrm>
          <a:prstGeom prst="rect">
            <a:avLst/>
          </a:prstGeom>
        </p:spPr>
      </p:pic>
      <p:sp>
        <p:nvSpPr>
          <p:cNvPr id="426" name="Google Shape;426;p36"/>
          <p:cNvSpPr txBox="1">
            <a:spLocks noGrp="1"/>
          </p:cNvSpPr>
          <p:nvPr>
            <p:ph type="title"/>
          </p:nvPr>
        </p:nvSpPr>
        <p:spPr>
          <a:xfrm>
            <a:off x="445257" y="-103236"/>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TENTATIVE SCHEDULE as in syllabus</a:t>
            </a:r>
            <a:endParaRPr dirty="0"/>
          </a:p>
        </p:txBody>
      </p:sp>
      <p:sp>
        <p:nvSpPr>
          <p:cNvPr id="428" name="Google Shape;428;p36"/>
          <p:cNvSpPr txBox="1">
            <a:spLocks noGrp="1"/>
          </p:cNvSpPr>
          <p:nvPr>
            <p:ph sz="quarter" idx="1"/>
          </p:nvPr>
        </p:nvSpPr>
        <p:spPr>
          <a:xfrm>
            <a:off x="8826073" y="447575"/>
            <a:ext cx="2837100" cy="507600"/>
          </a:xfrm>
          <a:prstGeom prst="rect">
            <a:avLst/>
          </a:prstGeom>
          <a:noFill/>
          <a:ln>
            <a:noFill/>
          </a:ln>
        </p:spPr>
        <p:txBody>
          <a:bodyPr spcFirstLastPara="1" wrap="square" lIns="91425" tIns="45700" rIns="91425" bIns="45700" anchor="t" anchorCtr="0">
            <a:normAutofit fontScale="77500" lnSpcReduction="20000"/>
          </a:bodyPr>
          <a:lstStyle/>
          <a:p>
            <a:pPr marL="182880" lvl="0" indent="-174783" algn="l" rtl="0">
              <a:lnSpc>
                <a:spcPct val="90000"/>
              </a:lnSpc>
              <a:spcBef>
                <a:spcPts val="0"/>
              </a:spcBef>
              <a:spcAft>
                <a:spcPts val="0"/>
              </a:spcAft>
              <a:buSzPct val="85000"/>
              <a:buChar char="▪"/>
            </a:pPr>
            <a:r>
              <a:rPr lang="en-US"/>
              <a:t>Check Piazza for most up-to-date</a:t>
            </a:r>
            <a:endParaRPr/>
          </a:p>
        </p:txBody>
      </p:sp>
      <p:sp>
        <p:nvSpPr>
          <p:cNvPr id="3" name="Left Brace 2">
            <a:extLst>
              <a:ext uri="{FF2B5EF4-FFF2-40B4-BE49-F238E27FC236}">
                <a16:creationId xmlns:a16="http://schemas.microsoft.com/office/drawing/2014/main" id="{1561563A-23AF-B699-5586-EBFC1377896C}"/>
              </a:ext>
            </a:extLst>
          </p:cNvPr>
          <p:cNvSpPr/>
          <p:nvPr/>
        </p:nvSpPr>
        <p:spPr>
          <a:xfrm>
            <a:off x="703133" y="1681655"/>
            <a:ext cx="400454" cy="98797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Left Brace 3">
            <a:extLst>
              <a:ext uri="{FF2B5EF4-FFF2-40B4-BE49-F238E27FC236}">
                <a16:creationId xmlns:a16="http://schemas.microsoft.com/office/drawing/2014/main" id="{6E569EF7-6FD7-838A-1DED-951023912036}"/>
              </a:ext>
            </a:extLst>
          </p:cNvPr>
          <p:cNvSpPr/>
          <p:nvPr/>
        </p:nvSpPr>
        <p:spPr>
          <a:xfrm>
            <a:off x="708393" y="2688543"/>
            <a:ext cx="400454" cy="10867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Left Brace 4">
            <a:extLst>
              <a:ext uri="{FF2B5EF4-FFF2-40B4-BE49-F238E27FC236}">
                <a16:creationId xmlns:a16="http://schemas.microsoft.com/office/drawing/2014/main" id="{E4690C02-57BF-872C-09E1-749AB6A2C965}"/>
              </a:ext>
            </a:extLst>
          </p:cNvPr>
          <p:cNvSpPr/>
          <p:nvPr/>
        </p:nvSpPr>
        <p:spPr>
          <a:xfrm>
            <a:off x="692628" y="3818398"/>
            <a:ext cx="400454" cy="98797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6B340A19-702E-52EE-6082-2B5913221844}"/>
              </a:ext>
            </a:extLst>
          </p:cNvPr>
          <p:cNvSpPr txBox="1"/>
          <p:nvPr/>
        </p:nvSpPr>
        <p:spPr>
          <a:xfrm>
            <a:off x="111395" y="1938280"/>
            <a:ext cx="1114096" cy="523220"/>
          </a:xfrm>
          <a:prstGeom prst="rect">
            <a:avLst/>
          </a:prstGeom>
          <a:noFill/>
        </p:spPr>
        <p:txBody>
          <a:bodyPr wrap="square" rtlCol="0">
            <a:spAutoFit/>
          </a:bodyPr>
          <a:lstStyle/>
          <a:p>
            <a:r>
              <a:rPr lang="en-US" sz="1400" dirty="0"/>
              <a:t>Data Preparation</a:t>
            </a:r>
          </a:p>
        </p:txBody>
      </p:sp>
      <p:sp>
        <p:nvSpPr>
          <p:cNvPr id="7" name="TextBox 6">
            <a:extLst>
              <a:ext uri="{FF2B5EF4-FFF2-40B4-BE49-F238E27FC236}">
                <a16:creationId xmlns:a16="http://schemas.microsoft.com/office/drawing/2014/main" id="{6ECC9524-D983-D724-2BAE-B4015228CD1E}"/>
              </a:ext>
            </a:extLst>
          </p:cNvPr>
          <p:cNvSpPr txBox="1"/>
          <p:nvPr/>
        </p:nvSpPr>
        <p:spPr>
          <a:xfrm>
            <a:off x="53586" y="2910485"/>
            <a:ext cx="1114096" cy="523220"/>
          </a:xfrm>
          <a:prstGeom prst="rect">
            <a:avLst/>
          </a:prstGeom>
          <a:noFill/>
        </p:spPr>
        <p:txBody>
          <a:bodyPr wrap="square" rtlCol="0">
            <a:spAutoFit/>
          </a:bodyPr>
          <a:lstStyle/>
          <a:p>
            <a:r>
              <a:rPr lang="en-US" sz="1400" dirty="0"/>
              <a:t>Data Analytics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7"/>
          <p:cNvSpPr txBox="1">
            <a:spLocks noGrp="1"/>
          </p:cNvSpPr>
          <p:nvPr>
            <p:ph type="title"/>
          </p:nvPr>
        </p:nvSpPr>
        <p:spPr>
          <a:xfrm>
            <a:off x="1069848" y="82847"/>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ANNOUNCEMENTS</a:t>
            </a:r>
            <a:endParaRPr/>
          </a:p>
        </p:txBody>
      </p:sp>
      <p:sp>
        <p:nvSpPr>
          <p:cNvPr id="435" name="Google Shape;435;p37"/>
          <p:cNvSpPr txBox="1">
            <a:spLocks noGrp="1"/>
          </p:cNvSpPr>
          <p:nvPr>
            <p:ph sz="quarter" idx="1"/>
          </p:nvPr>
        </p:nvSpPr>
        <p:spPr>
          <a:xfrm>
            <a:off x="617902" y="1993543"/>
            <a:ext cx="11122153" cy="4227148"/>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100"/>
              <a:buChar char="▪"/>
            </a:pPr>
            <a:r>
              <a:rPr lang="en-US" sz="2400" dirty="0"/>
              <a:t>In a typical lecture you will see a slide like this to help you stay on top of deliverables</a:t>
            </a:r>
            <a:endParaRPr sz="2400" dirty="0"/>
          </a:p>
          <a:p>
            <a:pPr marL="182880" lvl="0" indent="-182880" algn="l" rtl="0">
              <a:lnSpc>
                <a:spcPct val="90000"/>
              </a:lnSpc>
              <a:spcBef>
                <a:spcPts val="1200"/>
              </a:spcBef>
              <a:spcAft>
                <a:spcPts val="0"/>
              </a:spcAft>
              <a:buSzPts val="2100"/>
              <a:buChar char="▪"/>
            </a:pPr>
            <a:r>
              <a:rPr lang="en-US" sz="2400" dirty="0"/>
              <a:t>Before next lecture, log in to Piazza using your UIC email</a:t>
            </a:r>
            <a:endParaRPr sz="2400" dirty="0"/>
          </a:p>
          <a:p>
            <a:pPr marL="457200" lvl="1" indent="-208280" algn="l" rtl="0">
              <a:lnSpc>
                <a:spcPct val="90000"/>
              </a:lnSpc>
              <a:spcBef>
                <a:spcPts val="400"/>
              </a:spcBef>
              <a:spcAft>
                <a:spcPts val="0"/>
              </a:spcAft>
              <a:buSzPts val="1930"/>
              <a:buChar char="▪"/>
            </a:pPr>
            <a:r>
              <a:rPr lang="en-US" sz="2200" dirty="0"/>
              <a:t>Setup python on a computer</a:t>
            </a:r>
            <a:endParaRPr sz="2200" dirty="0"/>
          </a:p>
          <a:p>
            <a:pPr marL="457200" lvl="1" indent="-208280" algn="l" rtl="0">
              <a:lnSpc>
                <a:spcPct val="90000"/>
              </a:lnSpc>
              <a:spcBef>
                <a:spcPts val="600"/>
              </a:spcBef>
              <a:spcAft>
                <a:spcPts val="0"/>
              </a:spcAft>
              <a:buSzPts val="1930"/>
              <a:buChar char="▪"/>
            </a:pPr>
            <a:r>
              <a:rPr lang="en-US" sz="2200" dirty="0"/>
              <a:t>Read the syllabus</a:t>
            </a:r>
            <a:endParaRPr sz="2200" dirty="0"/>
          </a:p>
          <a:p>
            <a:pPr marL="457200" lvl="1" indent="-208280" algn="l" rtl="0">
              <a:lnSpc>
                <a:spcPct val="90000"/>
              </a:lnSpc>
              <a:spcBef>
                <a:spcPts val="600"/>
              </a:spcBef>
              <a:spcAft>
                <a:spcPts val="0"/>
              </a:spcAft>
              <a:buSzPts val="1930"/>
              <a:buChar char="▪"/>
            </a:pPr>
            <a:r>
              <a:rPr lang="en-US" sz="2200" dirty="0"/>
              <a:t>Read the assigned reading (chapter 1, 2)</a:t>
            </a:r>
            <a:endParaRPr sz="2200" dirty="0"/>
          </a:p>
          <a:p>
            <a:pPr marL="457200" lvl="1" indent="-208280" algn="l" rtl="0">
              <a:lnSpc>
                <a:spcPct val="90000"/>
              </a:lnSpc>
              <a:spcBef>
                <a:spcPts val="600"/>
              </a:spcBef>
              <a:spcAft>
                <a:spcPts val="0"/>
              </a:spcAft>
              <a:buSzPts val="1930"/>
              <a:buChar char="▪"/>
            </a:pPr>
            <a:r>
              <a:rPr lang="en-US" sz="2200" dirty="0"/>
              <a:t>Sign up for </a:t>
            </a:r>
            <a:r>
              <a:rPr lang="en-US" sz="2200" dirty="0" err="1"/>
              <a:t>Gradescope</a:t>
            </a:r>
            <a:r>
              <a:rPr lang="en-US" sz="2200" dirty="0"/>
              <a:t> using your UIC email</a:t>
            </a:r>
            <a:endParaRPr sz="2200" dirty="0"/>
          </a:p>
          <a:p>
            <a:pPr marL="457200" lvl="1" indent="-208280" algn="l" rtl="0">
              <a:lnSpc>
                <a:spcPct val="90000"/>
              </a:lnSpc>
              <a:spcBef>
                <a:spcPts val="600"/>
              </a:spcBef>
              <a:spcAft>
                <a:spcPts val="0"/>
              </a:spcAft>
              <a:buSzPts val="1930"/>
              <a:buChar char="▪"/>
            </a:pPr>
            <a:r>
              <a:rPr lang="en-US" sz="2200" dirty="0"/>
              <a:t>Let me know dates of </a:t>
            </a:r>
            <a:r>
              <a:rPr lang="en-US" sz="2200" b="1" dirty="0"/>
              <a:t>religious holidays </a:t>
            </a:r>
            <a:r>
              <a:rPr lang="en-US" sz="2200" dirty="0"/>
              <a:t>you observe, if you need </a:t>
            </a:r>
            <a:r>
              <a:rPr lang="en-US" sz="2200" b="1" dirty="0"/>
              <a:t>disability accommodation</a:t>
            </a:r>
            <a:endParaRPr sz="2200" dirty="0"/>
          </a:p>
          <a:p>
            <a:pPr marL="182880" lvl="0" indent="-182880" algn="l" rtl="0">
              <a:lnSpc>
                <a:spcPct val="90000"/>
              </a:lnSpc>
              <a:spcBef>
                <a:spcPts val="1400"/>
              </a:spcBef>
              <a:spcAft>
                <a:spcPts val="0"/>
              </a:spcAft>
              <a:buSzPts val="2100"/>
              <a:buChar char="▪"/>
            </a:pPr>
            <a:r>
              <a:rPr lang="en-US" sz="2400" dirty="0"/>
              <a:t>Attend class on time, in order not to miss the quizzes (in the beginning)</a:t>
            </a:r>
            <a:endParaRPr sz="2400" dirty="0"/>
          </a:p>
          <a:p>
            <a:pPr marL="457200" lvl="1" indent="-85725" algn="l" rtl="0">
              <a:lnSpc>
                <a:spcPct val="90000"/>
              </a:lnSpc>
              <a:spcBef>
                <a:spcPts val="400"/>
              </a:spcBef>
              <a:spcAft>
                <a:spcPts val="0"/>
              </a:spcAft>
              <a:buSzPts val="1530"/>
              <a:buNone/>
            </a:pPr>
            <a:endParaRPr dirty="0"/>
          </a:p>
        </p:txBody>
      </p:sp>
      <p:pic>
        <p:nvPicPr>
          <p:cNvPr id="436" name="Google Shape;436;p37"/>
          <p:cNvPicPr preferRelativeResize="0"/>
          <p:nvPr/>
        </p:nvPicPr>
        <p:blipFill rotWithShape="1">
          <a:blip r:embed="rId3">
            <a:alphaModFix/>
          </a:blip>
          <a:srcRect/>
          <a:stretch/>
        </p:blipFill>
        <p:spPr>
          <a:xfrm>
            <a:off x="8913286" y="233523"/>
            <a:ext cx="2414016" cy="160934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8"/>
          <p:cNvSpPr txBox="1">
            <a:spLocks noGrp="1"/>
          </p:cNvSpPr>
          <p:nvPr>
            <p:ph type="title"/>
          </p:nvPr>
        </p:nvSpPr>
        <p:spPr>
          <a:xfrm>
            <a:off x="1069850" y="484625"/>
            <a:ext cx="109395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WHAT WE WILL USE PIAZZA FOR</a:t>
            </a:r>
            <a:endParaRPr/>
          </a:p>
        </p:txBody>
      </p:sp>
      <p:sp>
        <p:nvSpPr>
          <p:cNvPr id="443" name="Google Shape;443;p38"/>
          <p:cNvSpPr txBox="1">
            <a:spLocks noGrp="1"/>
          </p:cNvSpPr>
          <p:nvPr>
            <p:ph sz="quarter" idx="1"/>
          </p:nvPr>
        </p:nvSpPr>
        <p:spPr>
          <a:xfrm>
            <a:off x="1069848" y="2121407"/>
            <a:ext cx="10817352" cy="4485869"/>
          </a:xfrm>
          <a:prstGeom prst="rect">
            <a:avLst/>
          </a:prstGeom>
          <a:noFill/>
          <a:ln>
            <a:noFill/>
          </a:ln>
        </p:spPr>
        <p:txBody>
          <a:bodyPr spcFirstLastPara="1" wrap="square" lIns="91425" tIns="45700" rIns="91425" bIns="45700" anchor="t" anchorCtr="0">
            <a:normAutofit fontScale="92500" lnSpcReduction="10000"/>
          </a:bodyPr>
          <a:lstStyle/>
          <a:p>
            <a:pPr marL="182880" lvl="0" indent="-182880" algn="l" rtl="0">
              <a:lnSpc>
                <a:spcPct val="90000"/>
              </a:lnSpc>
              <a:spcBef>
                <a:spcPts val="0"/>
              </a:spcBef>
              <a:spcAft>
                <a:spcPts val="0"/>
              </a:spcAft>
              <a:buSzPts val="1700"/>
              <a:buChar char="▪"/>
            </a:pPr>
            <a:r>
              <a:rPr lang="en-US">
                <a:solidFill>
                  <a:srgbClr val="FF0000"/>
                </a:solidFill>
              </a:rPr>
              <a:t>Main hub for course schedule, materials, assigned readings, lecture slides</a:t>
            </a:r>
            <a:endParaRPr/>
          </a:p>
          <a:p>
            <a:pPr marL="457200" lvl="1" indent="-182880" algn="l" rtl="0">
              <a:lnSpc>
                <a:spcPct val="90000"/>
              </a:lnSpc>
              <a:spcBef>
                <a:spcPts val="400"/>
              </a:spcBef>
              <a:spcAft>
                <a:spcPts val="0"/>
              </a:spcAft>
              <a:buSzPts val="1530"/>
              <a:buChar char="▪"/>
            </a:pPr>
            <a:r>
              <a:rPr lang="en-US"/>
              <a:t>You should have received an email to </a:t>
            </a:r>
            <a:r>
              <a:rPr lang="en-US">
                <a:solidFill>
                  <a:srgbClr val="00B050"/>
                </a:solidFill>
              </a:rPr>
              <a:t>register for Piazza</a:t>
            </a:r>
            <a:endParaRPr/>
          </a:p>
          <a:p>
            <a:pPr marL="182880" lvl="0" indent="-182880" algn="l" rtl="0">
              <a:lnSpc>
                <a:spcPct val="90000"/>
              </a:lnSpc>
              <a:spcBef>
                <a:spcPts val="1400"/>
              </a:spcBef>
              <a:spcAft>
                <a:spcPts val="0"/>
              </a:spcAft>
              <a:buSzPts val="1700"/>
              <a:buChar char="▪"/>
            </a:pPr>
            <a:r>
              <a:rPr lang="en-US">
                <a:solidFill>
                  <a:srgbClr val="B956BA"/>
                </a:solidFill>
              </a:rPr>
              <a:t>Discussion of class materials and requirements</a:t>
            </a:r>
            <a:endParaRPr/>
          </a:p>
          <a:p>
            <a:pPr marL="457200" lvl="1" indent="-182880" algn="l" rtl="0">
              <a:lnSpc>
                <a:spcPct val="90000"/>
              </a:lnSpc>
              <a:spcBef>
                <a:spcPts val="400"/>
              </a:spcBef>
              <a:spcAft>
                <a:spcPts val="0"/>
              </a:spcAft>
              <a:buSzPts val="1530"/>
              <a:buChar char="▪"/>
            </a:pPr>
            <a:r>
              <a:rPr lang="en-US"/>
              <a:t>Piazza should be your go-to place for questions</a:t>
            </a:r>
            <a:endParaRPr/>
          </a:p>
          <a:p>
            <a:pPr marL="457200" lvl="1" indent="-182880" algn="l" rtl="0">
              <a:lnSpc>
                <a:spcPct val="90000"/>
              </a:lnSpc>
              <a:spcBef>
                <a:spcPts val="600"/>
              </a:spcBef>
              <a:spcAft>
                <a:spcPts val="0"/>
              </a:spcAft>
              <a:buSzPts val="1530"/>
              <a:buChar char="▪"/>
            </a:pPr>
            <a:r>
              <a:rPr lang="en-US"/>
              <a:t>Questions should be posted as public notes</a:t>
            </a:r>
            <a:endParaRPr/>
          </a:p>
          <a:p>
            <a:pPr marL="731520" lvl="2" indent="-182879" algn="l" rtl="0">
              <a:lnSpc>
                <a:spcPct val="90000"/>
              </a:lnSpc>
              <a:spcBef>
                <a:spcPts val="600"/>
              </a:spcBef>
              <a:spcAft>
                <a:spcPts val="0"/>
              </a:spcAft>
              <a:buSzPts val="1360"/>
              <a:buChar char="▪"/>
            </a:pPr>
            <a:r>
              <a:rPr lang="en-US"/>
              <a:t>We encourage you to ask </a:t>
            </a:r>
            <a:r>
              <a:rPr lang="en-US" i="1"/>
              <a:t>any</a:t>
            </a:r>
            <a:r>
              <a:rPr lang="en-US"/>
              <a:t> question, but recognize that sometimes this is embarrassing, which is why your posts can be anonymous to other students</a:t>
            </a:r>
            <a:endParaRPr/>
          </a:p>
          <a:p>
            <a:pPr marL="731520" lvl="2" indent="-182879" algn="l" rtl="0">
              <a:lnSpc>
                <a:spcPct val="90000"/>
              </a:lnSpc>
              <a:spcBef>
                <a:spcPts val="600"/>
              </a:spcBef>
              <a:spcAft>
                <a:spcPts val="0"/>
              </a:spcAft>
              <a:buSzPts val="1360"/>
              <a:buChar char="▪"/>
            </a:pPr>
            <a:r>
              <a:rPr lang="en-US"/>
              <a:t>Private notes to the </a:t>
            </a:r>
            <a:r>
              <a:rPr lang="en-US" i="1"/>
              <a:t>Instructors</a:t>
            </a:r>
            <a:r>
              <a:rPr lang="en-US"/>
              <a:t> can be posted only if you need to share part of your homework solution</a:t>
            </a:r>
            <a:endParaRPr/>
          </a:p>
          <a:p>
            <a:pPr marL="457200" lvl="1" indent="-182880" algn="l" rtl="0">
              <a:lnSpc>
                <a:spcPct val="90000"/>
              </a:lnSpc>
              <a:spcBef>
                <a:spcPts val="600"/>
              </a:spcBef>
              <a:spcAft>
                <a:spcPts val="0"/>
              </a:spcAft>
              <a:buSzPts val="1530"/>
              <a:buChar char="▪"/>
            </a:pPr>
            <a:r>
              <a:rPr lang="en-US"/>
              <a:t>Students are encouraged to answer other student questions (see Extra Credit policy)</a:t>
            </a:r>
            <a:endParaRPr/>
          </a:p>
          <a:p>
            <a:pPr marL="457200" lvl="1" indent="-182880" algn="l" rtl="0">
              <a:lnSpc>
                <a:spcPct val="90000"/>
              </a:lnSpc>
              <a:spcBef>
                <a:spcPts val="600"/>
              </a:spcBef>
              <a:spcAft>
                <a:spcPts val="0"/>
              </a:spcAft>
              <a:buSzPts val="1530"/>
              <a:buChar char="▪"/>
            </a:pPr>
            <a:r>
              <a:rPr lang="en-US"/>
              <a:t>TA’s will be available to answer questions through Piazza </a:t>
            </a:r>
            <a:endParaRPr/>
          </a:p>
          <a:p>
            <a:pPr marL="457200" lvl="1" indent="-182880" algn="l" rtl="0">
              <a:lnSpc>
                <a:spcPct val="90000"/>
              </a:lnSpc>
              <a:spcBef>
                <a:spcPts val="600"/>
              </a:spcBef>
              <a:spcAft>
                <a:spcPts val="0"/>
              </a:spcAft>
              <a:buSzPts val="1530"/>
              <a:buChar char="▪"/>
            </a:pPr>
            <a:r>
              <a:rPr lang="en-US"/>
              <a:t>Under no circumstances should you post homework solutions on Piazza or anywhere else (see Academic Integrity policy)</a:t>
            </a:r>
            <a:endParaRPr/>
          </a:p>
          <a:p>
            <a:pPr marL="182880" lvl="0" indent="-182880" algn="l" rtl="0">
              <a:lnSpc>
                <a:spcPct val="90000"/>
              </a:lnSpc>
              <a:spcBef>
                <a:spcPts val="1400"/>
              </a:spcBef>
              <a:spcAft>
                <a:spcPts val="0"/>
              </a:spcAft>
              <a:buSzPts val="1700"/>
              <a:buChar char="▪"/>
            </a:pPr>
            <a:r>
              <a:rPr lang="en-US">
                <a:solidFill>
                  <a:srgbClr val="00B050"/>
                </a:solidFill>
              </a:rPr>
              <a:t>Means of communication with the Instructors (</a:t>
            </a:r>
            <a:r>
              <a:rPr lang="en-US">
                <a:solidFill>
                  <a:srgbClr val="FF0000"/>
                </a:solidFill>
              </a:rPr>
              <a:t>not email!</a:t>
            </a:r>
            <a:r>
              <a:rPr lang="en-US">
                <a:solidFill>
                  <a:srgbClr val="00B050"/>
                </a:solidFill>
              </a:rPr>
              <a:t>)</a:t>
            </a:r>
            <a:endParaRPr/>
          </a:p>
          <a:p>
            <a:pPr marL="457200" lvl="1" indent="-182880" algn="l" rtl="0">
              <a:lnSpc>
                <a:spcPct val="90000"/>
              </a:lnSpc>
              <a:spcBef>
                <a:spcPts val="400"/>
              </a:spcBef>
              <a:spcAft>
                <a:spcPts val="0"/>
              </a:spcAft>
              <a:buSzPts val="1530"/>
              <a:buChar char="▪"/>
            </a:pPr>
            <a:r>
              <a:rPr lang="en-US"/>
              <a:t>We will not respond to emails unless they are of sensitive personal nature</a:t>
            </a:r>
            <a:endParaRPr/>
          </a:p>
          <a:p>
            <a:pPr marL="457200" lvl="1" indent="-85725" algn="l" rtl="0">
              <a:lnSpc>
                <a:spcPct val="90000"/>
              </a:lnSpc>
              <a:spcBef>
                <a:spcPts val="600"/>
              </a:spcBef>
              <a:spcAft>
                <a:spcPts val="0"/>
              </a:spcAft>
              <a:buSzPts val="153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9"/>
          <p:cNvSpPr txBox="1">
            <a:spLocks noGrp="1"/>
          </p:cNvSpPr>
          <p:nvPr>
            <p:ph type="title"/>
          </p:nvPr>
        </p:nvSpPr>
        <p:spPr>
          <a:xfrm>
            <a:off x="1069848" y="484632"/>
            <a:ext cx="10507636"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WHAT YOU CAN EXPECT FROM INSTRUCTORS</a:t>
            </a:r>
            <a:endParaRPr/>
          </a:p>
        </p:txBody>
      </p:sp>
      <p:sp>
        <p:nvSpPr>
          <p:cNvPr id="450" name="Google Shape;450;p39"/>
          <p:cNvSpPr txBox="1">
            <a:spLocks noGrp="1"/>
          </p:cNvSpPr>
          <p:nvPr>
            <p:ph sz="quarter" idx="1"/>
          </p:nvPr>
        </p:nvSpPr>
        <p:spPr>
          <a:xfrm>
            <a:off x="969620" y="2076866"/>
            <a:ext cx="5696712" cy="4050792"/>
          </a:xfrm>
          <a:prstGeom prst="rect">
            <a:avLst/>
          </a:prstGeom>
          <a:noFill/>
          <a:ln>
            <a:noFill/>
          </a:ln>
        </p:spPr>
        <p:txBody>
          <a:bodyPr spcFirstLastPara="1" wrap="square" lIns="91425" tIns="45700" rIns="91425" bIns="45700" anchor="t" anchorCtr="0">
            <a:noAutofit/>
          </a:bodyPr>
          <a:lstStyle/>
          <a:p>
            <a:pPr marL="182880" lvl="0" indent="-182880" algn="l" rtl="0">
              <a:lnSpc>
                <a:spcPct val="90000"/>
              </a:lnSpc>
              <a:spcBef>
                <a:spcPts val="0"/>
              </a:spcBef>
              <a:spcAft>
                <a:spcPts val="0"/>
              </a:spcAft>
              <a:buSzPts val="2380"/>
              <a:buChar char="▪"/>
            </a:pPr>
            <a:r>
              <a:rPr lang="en-US" sz="2800"/>
              <a:t>We are here to </a:t>
            </a:r>
            <a:r>
              <a:rPr lang="en-US" sz="2800">
                <a:solidFill>
                  <a:srgbClr val="FF0000"/>
                </a:solidFill>
              </a:rPr>
              <a:t>help you learn</a:t>
            </a:r>
            <a:r>
              <a:rPr lang="en-US" sz="2800"/>
              <a:t> by</a:t>
            </a:r>
            <a:endParaRPr/>
          </a:p>
          <a:p>
            <a:pPr marL="457200" lvl="1" indent="-182880" algn="l" rtl="0">
              <a:lnSpc>
                <a:spcPct val="90000"/>
              </a:lnSpc>
              <a:spcBef>
                <a:spcPts val="400"/>
              </a:spcBef>
              <a:spcAft>
                <a:spcPts val="0"/>
              </a:spcAft>
              <a:buSzPts val="1700"/>
              <a:buChar char="▪"/>
            </a:pPr>
            <a:r>
              <a:rPr lang="en-US" sz="2000"/>
              <a:t>Introducing concepts from both theory and practice perspective </a:t>
            </a:r>
            <a:endParaRPr/>
          </a:p>
          <a:p>
            <a:pPr marL="457200" lvl="1" indent="-182880" algn="l" rtl="0">
              <a:lnSpc>
                <a:spcPct val="90000"/>
              </a:lnSpc>
              <a:spcBef>
                <a:spcPts val="600"/>
              </a:spcBef>
              <a:spcAft>
                <a:spcPts val="0"/>
              </a:spcAft>
              <a:buSzPts val="1700"/>
              <a:buChar char="▪"/>
            </a:pPr>
            <a:r>
              <a:rPr lang="en-US" sz="2000"/>
              <a:t>Assigning appropriate readings</a:t>
            </a:r>
            <a:endParaRPr/>
          </a:p>
          <a:p>
            <a:pPr marL="457200" lvl="1" indent="-182880" algn="l" rtl="0">
              <a:lnSpc>
                <a:spcPct val="90000"/>
              </a:lnSpc>
              <a:spcBef>
                <a:spcPts val="600"/>
              </a:spcBef>
              <a:spcAft>
                <a:spcPts val="0"/>
              </a:spcAft>
              <a:buSzPts val="1700"/>
              <a:buChar char="▪"/>
            </a:pPr>
            <a:r>
              <a:rPr lang="en-US" sz="2000"/>
              <a:t>Keeping you on track through homework </a:t>
            </a:r>
            <a:endParaRPr/>
          </a:p>
          <a:p>
            <a:pPr marL="457200" lvl="1" indent="-182880" algn="l" rtl="0">
              <a:lnSpc>
                <a:spcPct val="90000"/>
              </a:lnSpc>
              <a:spcBef>
                <a:spcPts val="600"/>
              </a:spcBef>
              <a:spcAft>
                <a:spcPts val="0"/>
              </a:spcAft>
              <a:buSzPts val="1700"/>
              <a:buChar char="▪"/>
            </a:pPr>
            <a:r>
              <a:rPr lang="en-US" sz="2000"/>
              <a:t>Guiding your project</a:t>
            </a:r>
            <a:endParaRPr/>
          </a:p>
          <a:p>
            <a:pPr marL="457200" lvl="1" indent="-182880" algn="l" rtl="0">
              <a:lnSpc>
                <a:spcPct val="90000"/>
              </a:lnSpc>
              <a:spcBef>
                <a:spcPts val="600"/>
              </a:spcBef>
              <a:spcAft>
                <a:spcPts val="0"/>
              </a:spcAft>
              <a:buSzPts val="1700"/>
              <a:buChar char="▪"/>
            </a:pPr>
            <a:r>
              <a:rPr lang="en-US" sz="2000"/>
              <a:t>Providing help during office hours*</a:t>
            </a:r>
            <a:endParaRPr/>
          </a:p>
          <a:p>
            <a:pPr marL="457200" lvl="1" indent="-182880" algn="l" rtl="0">
              <a:lnSpc>
                <a:spcPct val="90000"/>
              </a:lnSpc>
              <a:spcBef>
                <a:spcPts val="600"/>
              </a:spcBef>
              <a:spcAft>
                <a:spcPts val="0"/>
              </a:spcAft>
              <a:buSzPts val="1700"/>
              <a:buChar char="▪"/>
            </a:pPr>
            <a:r>
              <a:rPr lang="en-US" sz="2000"/>
              <a:t>Addressing your questions on Piazza within a reasonable amount of time (typically 24 hours or less during the week)</a:t>
            </a:r>
            <a:endParaRPr/>
          </a:p>
        </p:txBody>
      </p:sp>
      <p:sp>
        <p:nvSpPr>
          <p:cNvPr id="451" name="Google Shape;451;p39"/>
          <p:cNvSpPr txBox="1"/>
          <p:nvPr/>
        </p:nvSpPr>
        <p:spPr>
          <a:xfrm>
            <a:off x="7010976" y="1910250"/>
            <a:ext cx="47769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strike="noStrike" cap="none" dirty="0">
                <a:solidFill>
                  <a:schemeClr val="dk1"/>
                </a:solidFill>
                <a:latin typeface="Rockwell"/>
                <a:ea typeface="Rockwell"/>
                <a:cs typeface="Rockwell"/>
                <a:sym typeface="Rockwell"/>
              </a:rPr>
              <a:t>TA: Zhu (Ellen) Wang</a:t>
            </a:r>
            <a:r>
              <a:rPr lang="en-US" sz="1800" b="0" i="0" u="sng" strike="noStrike" cap="none" dirty="0">
                <a:solidFill>
                  <a:schemeClr val="dk1"/>
                </a:solidFill>
                <a:latin typeface="Rockwell"/>
                <a:ea typeface="Rockwell"/>
                <a:cs typeface="Rockwell"/>
                <a:sym typeface="Rockwell"/>
              </a:rPr>
              <a:t> </a:t>
            </a:r>
            <a:r>
              <a:rPr lang="en-US" sz="1800" u="sng" dirty="0">
                <a:solidFill>
                  <a:schemeClr val="hlink"/>
                </a:solidFill>
                <a:latin typeface="Rockwell"/>
                <a:ea typeface="Rockwell"/>
                <a:cs typeface="Rockwell"/>
                <a:sym typeface="Rockwell"/>
              </a:rPr>
              <a:t>zwang260@uic.edu</a:t>
            </a:r>
            <a:endParaRPr sz="1800" dirty="0">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sp>
        <p:nvSpPr>
          <p:cNvPr id="452" name="Google Shape;452;p39"/>
          <p:cNvSpPr txBox="1"/>
          <p:nvPr/>
        </p:nvSpPr>
        <p:spPr>
          <a:xfrm>
            <a:off x="1486837" y="6122056"/>
            <a:ext cx="884960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*Office hours start next week: for time/location, check Piazza -&gt; Resources -&gt; Staff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sp>
        <p:nvSpPr>
          <p:cNvPr id="453" name="Google Shape;453;p39"/>
          <p:cNvSpPr/>
          <p:nvPr/>
        </p:nvSpPr>
        <p:spPr>
          <a:xfrm>
            <a:off x="11448955" y="2985972"/>
            <a:ext cx="222345" cy="263452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454" name="Google Shape;454;p39"/>
          <p:cNvSpPr/>
          <p:nvPr/>
        </p:nvSpPr>
        <p:spPr>
          <a:xfrm>
            <a:off x="9364486" y="2985972"/>
            <a:ext cx="222345" cy="263452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pic>
        <p:nvPicPr>
          <p:cNvPr id="455" name="Google Shape;455;p39"/>
          <p:cNvPicPr preferRelativeResize="0"/>
          <p:nvPr/>
        </p:nvPicPr>
        <p:blipFill rotWithShape="1">
          <a:blip r:embed="rId3">
            <a:alphaModFix/>
          </a:blip>
          <a:srcRect/>
          <a:stretch/>
        </p:blipFill>
        <p:spPr>
          <a:xfrm>
            <a:off x="6818732" y="3138372"/>
            <a:ext cx="2393353" cy="225276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WHAT I EXPECT FROM YOU</a:t>
            </a:r>
            <a:endParaRPr/>
          </a:p>
        </p:txBody>
      </p:sp>
      <p:sp>
        <p:nvSpPr>
          <p:cNvPr id="461" name="Google Shape;461;p40"/>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900"/>
              <a:buChar char="▪"/>
            </a:pPr>
            <a:r>
              <a:rPr lang="en-US" sz="2200" dirty="0"/>
              <a:t>Read assigned readings </a:t>
            </a:r>
            <a:r>
              <a:rPr lang="en-US" sz="2200" b="1" i="1" u="sng" dirty="0"/>
              <a:t>before</a:t>
            </a:r>
            <a:r>
              <a:rPr lang="en-US" sz="2200" dirty="0"/>
              <a:t> class - see syllabus</a:t>
            </a:r>
            <a:endParaRPr sz="2200" dirty="0"/>
          </a:p>
          <a:p>
            <a:pPr marL="182880" lvl="0" indent="-182880" algn="l" rtl="0">
              <a:lnSpc>
                <a:spcPct val="90000"/>
              </a:lnSpc>
              <a:spcBef>
                <a:spcPts val="1200"/>
              </a:spcBef>
              <a:spcAft>
                <a:spcPts val="0"/>
              </a:spcAft>
              <a:buSzPts val="1900"/>
              <a:buChar char="▪"/>
            </a:pPr>
            <a:r>
              <a:rPr lang="en-US" sz="2200" dirty="0"/>
              <a:t>Start homework assignments and project early</a:t>
            </a:r>
            <a:endParaRPr sz="2200" dirty="0"/>
          </a:p>
          <a:p>
            <a:pPr marL="182880" lvl="0" indent="-182880" algn="l" rtl="0">
              <a:lnSpc>
                <a:spcPct val="90000"/>
              </a:lnSpc>
              <a:spcBef>
                <a:spcPts val="1200"/>
              </a:spcBef>
              <a:spcAft>
                <a:spcPts val="0"/>
              </a:spcAft>
              <a:buSzPts val="1900"/>
              <a:buChar char="▪"/>
            </a:pPr>
            <a:r>
              <a:rPr lang="en-US" sz="2200" dirty="0"/>
              <a:t>Be proactive</a:t>
            </a:r>
            <a:endParaRPr sz="2200" dirty="0"/>
          </a:p>
          <a:p>
            <a:pPr marL="457200" lvl="1" indent="-195580" algn="l" rtl="0">
              <a:lnSpc>
                <a:spcPct val="90000"/>
              </a:lnSpc>
              <a:spcBef>
                <a:spcPts val="400"/>
              </a:spcBef>
              <a:spcAft>
                <a:spcPts val="0"/>
              </a:spcAft>
              <a:buSzPts val="1730"/>
              <a:buChar char="▪"/>
            </a:pPr>
            <a:r>
              <a:rPr lang="en-US" sz="2000" dirty="0"/>
              <a:t>The class project is your opportunity to do real data science!</a:t>
            </a:r>
            <a:endParaRPr sz="2000" dirty="0"/>
          </a:p>
          <a:p>
            <a:pPr marL="182880" lvl="0" indent="-182880" algn="l" rtl="0">
              <a:lnSpc>
                <a:spcPct val="90000"/>
              </a:lnSpc>
              <a:spcBef>
                <a:spcPts val="1400"/>
              </a:spcBef>
              <a:spcAft>
                <a:spcPts val="0"/>
              </a:spcAft>
              <a:buSzPts val="1900"/>
              <a:buChar char="▪"/>
            </a:pPr>
            <a:r>
              <a:rPr lang="en-US" sz="2200" dirty="0"/>
              <a:t>Attend and participate in lectures</a:t>
            </a:r>
            <a:endParaRPr sz="2200" dirty="0"/>
          </a:p>
          <a:p>
            <a:pPr marL="457200" lvl="1" indent="-195580" algn="l" rtl="0">
              <a:lnSpc>
                <a:spcPct val="90000"/>
              </a:lnSpc>
              <a:spcBef>
                <a:spcPts val="400"/>
              </a:spcBef>
              <a:spcAft>
                <a:spcPts val="0"/>
              </a:spcAft>
              <a:buSzPts val="1730"/>
              <a:buChar char="▪"/>
            </a:pPr>
            <a:r>
              <a:rPr lang="en-US" sz="2000" dirty="0"/>
              <a:t>Participation is a component of the course grade and essential for success in the course</a:t>
            </a:r>
            <a:endParaRPr sz="2000" dirty="0"/>
          </a:p>
          <a:p>
            <a:pPr marL="457200" lvl="1" indent="-195580" algn="l" rtl="0">
              <a:lnSpc>
                <a:spcPct val="90000"/>
              </a:lnSpc>
              <a:spcBef>
                <a:spcPts val="600"/>
              </a:spcBef>
              <a:spcAft>
                <a:spcPts val="0"/>
              </a:spcAft>
              <a:buSzPts val="1730"/>
              <a:buChar char="▪"/>
            </a:pPr>
            <a:r>
              <a:rPr lang="en-US" sz="2000" dirty="0"/>
              <a:t>The instructor and TA’s will not be able to go over missed lecture material with you</a:t>
            </a:r>
            <a:endParaRPr sz="2000" dirty="0"/>
          </a:p>
          <a:p>
            <a:pPr marL="457200" lvl="1" indent="-195580" algn="l" rtl="0">
              <a:lnSpc>
                <a:spcPct val="90000"/>
              </a:lnSpc>
              <a:spcBef>
                <a:spcPts val="600"/>
              </a:spcBef>
              <a:spcAft>
                <a:spcPts val="0"/>
              </a:spcAft>
              <a:buSzPts val="1730"/>
              <a:buChar char="▪"/>
            </a:pPr>
            <a:r>
              <a:rPr lang="en-US" sz="2000" dirty="0"/>
              <a:t>Material covered in lectures can be a part of the exams even if it’s not in the assigned readings and slides</a:t>
            </a:r>
            <a:endParaRPr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7"/>
          <p:cNvSpPr txBox="1">
            <a:spLocks noGrp="1"/>
          </p:cNvSpPr>
          <p:nvPr>
            <p:ph type="title"/>
          </p:nvPr>
        </p:nvSpPr>
        <p:spPr>
          <a:xfrm>
            <a:off x="1069848" y="103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1. QUESTION / PROBLEM FORMULATION</a:t>
            </a:r>
            <a:endParaRPr/>
          </a:p>
        </p:txBody>
      </p:sp>
      <p:sp>
        <p:nvSpPr>
          <p:cNvPr id="214" name="Google Shape;214;p7"/>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900"/>
              <a:buChar char="▪"/>
            </a:pPr>
            <a:r>
              <a:rPr lang="en-US" sz="2200"/>
              <a:t>What do we want to know?</a:t>
            </a:r>
            <a:endParaRPr sz="2200"/>
          </a:p>
          <a:p>
            <a:pPr marL="182880" lvl="0" indent="-182880" algn="l" rtl="0">
              <a:lnSpc>
                <a:spcPct val="90000"/>
              </a:lnSpc>
              <a:spcBef>
                <a:spcPts val="0"/>
              </a:spcBef>
              <a:spcAft>
                <a:spcPts val="0"/>
              </a:spcAft>
              <a:buSzPts val="1900"/>
              <a:buChar char="▪"/>
            </a:pPr>
            <a:r>
              <a:rPr lang="en-US" sz="2200"/>
              <a:t>What problems are we trying to solve?</a:t>
            </a:r>
            <a:endParaRPr sz="2200"/>
          </a:p>
          <a:p>
            <a:pPr marL="182880" lvl="0" indent="-182880" algn="l" rtl="0">
              <a:lnSpc>
                <a:spcPct val="90000"/>
              </a:lnSpc>
              <a:spcBef>
                <a:spcPts val="0"/>
              </a:spcBef>
              <a:spcAft>
                <a:spcPts val="0"/>
              </a:spcAft>
              <a:buSzPts val="1900"/>
              <a:buChar char="▪"/>
            </a:pPr>
            <a:r>
              <a:rPr lang="en-US" sz="2200"/>
              <a:t>What are the hypotheses we want to test?</a:t>
            </a:r>
            <a:endParaRPr sz="2200"/>
          </a:p>
          <a:p>
            <a:pPr marL="182880" lvl="0" indent="-182880" algn="l" rtl="0">
              <a:lnSpc>
                <a:spcPct val="90000"/>
              </a:lnSpc>
              <a:spcBef>
                <a:spcPts val="0"/>
              </a:spcBef>
              <a:spcAft>
                <a:spcPts val="0"/>
              </a:spcAft>
              <a:buSzPts val="1900"/>
              <a:buChar char="▪"/>
            </a:pPr>
            <a:r>
              <a:rPr lang="en-US" sz="2200"/>
              <a:t>What are our metrics for success?</a:t>
            </a:r>
            <a:endParaRPr sz="2200"/>
          </a:p>
          <a:p>
            <a:pPr marL="182880" lvl="0" indent="-74928" algn="l" rtl="0">
              <a:lnSpc>
                <a:spcPct val="90000"/>
              </a:lnSpc>
              <a:spcBef>
                <a:spcPts val="1200"/>
              </a:spcBef>
              <a:spcAft>
                <a:spcPts val="0"/>
              </a:spcAft>
              <a:buSzPts val="1700"/>
              <a:buNone/>
            </a:pPr>
            <a:endParaRPr sz="2200"/>
          </a:p>
        </p:txBody>
      </p:sp>
      <p:sp>
        <p:nvSpPr>
          <p:cNvPr id="215" name="Google Shape;215;p7"/>
          <p:cNvSpPr/>
          <p:nvPr/>
        </p:nvSpPr>
        <p:spPr>
          <a:xfrm>
            <a:off x="11282516" y="6172200"/>
            <a:ext cx="909484"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216" name="Google Shape;216;p7"/>
          <p:cNvSpPr/>
          <p:nvPr/>
        </p:nvSpPr>
        <p:spPr>
          <a:xfrm>
            <a:off x="9192933" y="4430067"/>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17" name="Google Shape;217;p7"/>
          <p:cNvSpPr txBox="1"/>
          <p:nvPr/>
        </p:nvSpPr>
        <p:spPr>
          <a:xfrm>
            <a:off x="5466433" y="4267267"/>
            <a:ext cx="3611600" cy="9032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Formulate Question or Problem</a:t>
            </a:r>
            <a:endParaRPr sz="2667"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2667"/>
              <a:buFont typeface="Arial"/>
              <a:buNone/>
            </a:pPr>
            <a:endParaRPr sz="2667" b="0" i="0" u="none" strike="noStrike" cap="none">
              <a:solidFill>
                <a:schemeClr val="dk1"/>
              </a:solidFill>
              <a:latin typeface="Calibri"/>
              <a:ea typeface="Calibri"/>
              <a:cs typeface="Calibri"/>
              <a:sym typeface="Calibri"/>
            </a:endParaRPr>
          </a:p>
        </p:txBody>
      </p:sp>
      <p:cxnSp>
        <p:nvCxnSpPr>
          <p:cNvPr id="218" name="Google Shape;218;p7"/>
          <p:cNvCxnSpPr/>
          <p:nvPr/>
        </p:nvCxnSpPr>
        <p:spPr>
          <a:xfrm>
            <a:off x="9583333" y="3853267"/>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219" name="Google Shape;219;p7"/>
          <p:cNvCxnSpPr/>
          <p:nvPr/>
        </p:nvCxnSpPr>
        <p:spPr>
          <a:xfrm>
            <a:off x="9973733" y="4820467"/>
            <a:ext cx="2612000" cy="0"/>
          </a:xfrm>
          <a:prstGeom prst="straightConnector1">
            <a:avLst/>
          </a:prstGeom>
          <a:noFill/>
          <a:ln w="28575" cap="flat" cmpd="sng">
            <a:solidFill>
              <a:srgbClr val="000000"/>
            </a:solidFill>
            <a:prstDash val="solid"/>
            <a:round/>
            <a:headEnd type="none" w="sm" len="sm"/>
            <a:tailEnd type="triangle" w="med" len="med"/>
          </a:ln>
        </p:spPr>
      </p:cxnSp>
      <p:cxnSp>
        <p:nvCxnSpPr>
          <p:cNvPr id="220" name="Google Shape;220;p7"/>
          <p:cNvCxnSpPr/>
          <p:nvPr/>
        </p:nvCxnSpPr>
        <p:spPr>
          <a:xfrm rot="10800000">
            <a:off x="9859388" y="5096521"/>
            <a:ext cx="2840800" cy="2066400"/>
          </a:xfrm>
          <a:prstGeom prst="straightConnector1">
            <a:avLst/>
          </a:prstGeom>
          <a:noFill/>
          <a:ln w="28575" cap="flat" cmpd="sng">
            <a:solidFill>
              <a:srgbClr val="000000"/>
            </a:solidFill>
            <a:prstDash val="solid"/>
            <a:round/>
            <a:headEnd type="none" w="sm" len="sm"/>
            <a:tailEnd type="triangle" w="med" len="med"/>
          </a:ln>
        </p:spPr>
      </p:cxnSp>
      <p:cxnSp>
        <p:nvCxnSpPr>
          <p:cNvPr id="221" name="Google Shape;221;p7"/>
          <p:cNvCxnSpPr/>
          <p:nvPr/>
        </p:nvCxnSpPr>
        <p:spPr>
          <a:xfrm rot="10800000">
            <a:off x="9583333" y="5210867"/>
            <a:ext cx="0" cy="1837600"/>
          </a:xfrm>
          <a:prstGeom prst="straightConnector1">
            <a:avLst/>
          </a:prstGeom>
          <a:noFill/>
          <a:ln w="28575" cap="flat" cmpd="sng">
            <a:solidFill>
              <a:srgbClr val="000000"/>
            </a:solidFill>
            <a:prstDash val="solid"/>
            <a:round/>
            <a:headEnd type="none" w="sm" len="sm"/>
            <a:tailEnd type="triangle" w="med" len="med"/>
          </a:ln>
        </p:spPr>
      </p:cxnSp>
      <p:pic>
        <p:nvPicPr>
          <p:cNvPr id="222" name="Google Shape;222;p7" descr="A picture containing tree, person, outdoor&#10;&#10;Description automatically generated"/>
          <p:cNvPicPr preferRelativeResize="0"/>
          <p:nvPr/>
        </p:nvPicPr>
        <p:blipFill rotWithShape="1">
          <a:blip r:embed="rId3">
            <a:alphaModFix/>
          </a:blip>
          <a:srcRect/>
          <a:stretch/>
        </p:blipFill>
        <p:spPr>
          <a:xfrm>
            <a:off x="1352818" y="3853267"/>
            <a:ext cx="3048000" cy="2032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8"/>
          <p:cNvSpPr txBox="1">
            <a:spLocks noGrp="1"/>
          </p:cNvSpPr>
          <p:nvPr>
            <p:ph type="title"/>
          </p:nvPr>
        </p:nvSpPr>
        <p:spPr>
          <a:xfrm>
            <a:off x="1069848" y="103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2. DATA ACQUISITION AND CLEANING</a:t>
            </a:r>
            <a:endParaRPr/>
          </a:p>
        </p:txBody>
      </p:sp>
      <p:sp>
        <p:nvSpPr>
          <p:cNvPr id="229" name="Google Shape;229;p8"/>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74928" algn="l" rtl="0">
              <a:lnSpc>
                <a:spcPct val="90000"/>
              </a:lnSpc>
              <a:spcBef>
                <a:spcPts val="0"/>
              </a:spcBef>
              <a:spcAft>
                <a:spcPts val="0"/>
              </a:spcAft>
              <a:buSzPts val="1700"/>
              <a:buNone/>
            </a:pPr>
            <a:endParaRPr sz="2200"/>
          </a:p>
          <a:p>
            <a:pPr marL="182880" lvl="0" indent="-182880" algn="l" rtl="0">
              <a:lnSpc>
                <a:spcPct val="90000"/>
              </a:lnSpc>
              <a:spcBef>
                <a:spcPts val="1200"/>
              </a:spcBef>
              <a:spcAft>
                <a:spcPts val="0"/>
              </a:spcAft>
              <a:buSzPts val="1900"/>
              <a:buChar char="▪"/>
            </a:pPr>
            <a:r>
              <a:rPr lang="en-US" sz="2200"/>
              <a:t>What data do we have and what data do we need?</a:t>
            </a:r>
            <a:endParaRPr sz="2200"/>
          </a:p>
          <a:p>
            <a:pPr marL="182880" lvl="0" indent="-182880" algn="l" rtl="0">
              <a:lnSpc>
                <a:spcPct val="90000"/>
              </a:lnSpc>
              <a:spcBef>
                <a:spcPts val="0"/>
              </a:spcBef>
              <a:spcAft>
                <a:spcPts val="0"/>
              </a:spcAft>
              <a:buSzPts val="1900"/>
              <a:buChar char="▪"/>
            </a:pPr>
            <a:r>
              <a:rPr lang="en-US" sz="2200"/>
              <a:t>How will we collect more data?</a:t>
            </a:r>
            <a:endParaRPr sz="2200"/>
          </a:p>
          <a:p>
            <a:pPr marL="182880" lvl="0" indent="-182880" algn="l" rtl="0">
              <a:lnSpc>
                <a:spcPct val="90000"/>
              </a:lnSpc>
              <a:spcBef>
                <a:spcPts val="0"/>
              </a:spcBef>
              <a:spcAft>
                <a:spcPts val="0"/>
              </a:spcAft>
              <a:buSzPts val="1900"/>
              <a:buChar char="▪"/>
            </a:pPr>
            <a:r>
              <a:rPr lang="en-US" sz="2200"/>
              <a:t>How do we organize the data for analysis? </a:t>
            </a:r>
            <a:endParaRPr sz="2200"/>
          </a:p>
          <a:p>
            <a:pPr marL="182880" lvl="0" indent="-74928" algn="l" rtl="0">
              <a:lnSpc>
                <a:spcPct val="90000"/>
              </a:lnSpc>
              <a:spcBef>
                <a:spcPts val="1200"/>
              </a:spcBef>
              <a:spcAft>
                <a:spcPts val="0"/>
              </a:spcAft>
              <a:buSzPts val="1700"/>
              <a:buNone/>
            </a:pPr>
            <a:endParaRPr sz="2200"/>
          </a:p>
        </p:txBody>
      </p:sp>
      <p:sp>
        <p:nvSpPr>
          <p:cNvPr id="230" name="Google Shape;230;p8"/>
          <p:cNvSpPr/>
          <p:nvPr/>
        </p:nvSpPr>
        <p:spPr>
          <a:xfrm>
            <a:off x="1196667" y="4948500"/>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31" name="Google Shape;231;p8"/>
          <p:cNvSpPr txBox="1"/>
          <p:nvPr/>
        </p:nvSpPr>
        <p:spPr>
          <a:xfrm>
            <a:off x="2058500" y="4785700"/>
            <a:ext cx="2612000" cy="903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Acquire and Clean Data</a:t>
            </a:r>
            <a:endParaRPr sz="2667"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67"/>
              <a:buFont typeface="Arial"/>
              <a:buNone/>
            </a:pPr>
            <a:endParaRPr sz="2667" b="0" i="0" u="none" strike="noStrike" cap="none">
              <a:solidFill>
                <a:schemeClr val="dk1"/>
              </a:solidFill>
              <a:latin typeface="Calibri"/>
              <a:ea typeface="Calibri"/>
              <a:cs typeface="Calibri"/>
              <a:sym typeface="Calibri"/>
            </a:endParaRPr>
          </a:p>
        </p:txBody>
      </p:sp>
      <p:cxnSp>
        <p:nvCxnSpPr>
          <p:cNvPr id="232" name="Google Shape;232;p8"/>
          <p:cNvCxnSpPr/>
          <p:nvPr/>
        </p:nvCxnSpPr>
        <p:spPr>
          <a:xfrm>
            <a:off x="1587067" y="4371700"/>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233" name="Google Shape;233;p8"/>
          <p:cNvCxnSpPr/>
          <p:nvPr/>
        </p:nvCxnSpPr>
        <p:spPr>
          <a:xfrm>
            <a:off x="-1415333" y="5338900"/>
            <a:ext cx="2612000" cy="0"/>
          </a:xfrm>
          <a:prstGeom prst="straightConnector1">
            <a:avLst/>
          </a:prstGeom>
          <a:noFill/>
          <a:ln w="28575" cap="flat" cmpd="sng">
            <a:solidFill>
              <a:srgbClr val="000000"/>
            </a:solidFill>
            <a:prstDash val="solid"/>
            <a:round/>
            <a:headEnd type="none" w="sm" len="sm"/>
            <a:tailEnd type="triangle" w="med" len="med"/>
          </a:ln>
        </p:spPr>
      </p:cxnSp>
      <p:cxnSp>
        <p:nvCxnSpPr>
          <p:cNvPr id="234" name="Google Shape;234;p8"/>
          <p:cNvCxnSpPr/>
          <p:nvPr/>
        </p:nvCxnSpPr>
        <p:spPr>
          <a:xfrm>
            <a:off x="1587067" y="5729300"/>
            <a:ext cx="0" cy="1837600"/>
          </a:xfrm>
          <a:prstGeom prst="straightConnector1">
            <a:avLst/>
          </a:prstGeom>
          <a:noFill/>
          <a:ln w="28575" cap="flat" cmpd="sng">
            <a:solidFill>
              <a:srgbClr val="000000"/>
            </a:solidFill>
            <a:prstDash val="solid"/>
            <a:round/>
            <a:headEnd type="none" w="sm" len="sm"/>
            <a:tailEnd type="triangle" w="med" len="med"/>
          </a:ln>
        </p:spPr>
      </p:cxnSp>
      <p:sp>
        <p:nvSpPr>
          <p:cNvPr id="235" name="Google Shape;235;p8"/>
          <p:cNvSpPr/>
          <p:nvPr/>
        </p:nvSpPr>
        <p:spPr>
          <a:xfrm>
            <a:off x="5733272" y="4146804"/>
            <a:ext cx="6290580" cy="2554545"/>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Rockwell"/>
                <a:ea typeface="Rockwell"/>
                <a:cs typeface="Rockwell"/>
                <a:sym typeface="Rockwell"/>
              </a:rPr>
              <a:t>You will typically acquire data in one of four ways: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Rockwell"/>
              <a:ea typeface="Rockwell"/>
              <a:cs typeface="Rockwell"/>
              <a:sym typeface="Rockwell"/>
            </a:endParaRPr>
          </a:p>
          <a:p>
            <a:pPr marL="342900" marR="0" lvl="0" indent="-342900" algn="l" rtl="0">
              <a:lnSpc>
                <a:spcPct val="100000"/>
              </a:lnSpc>
              <a:spcBef>
                <a:spcPts val="0"/>
              </a:spcBef>
              <a:spcAft>
                <a:spcPts val="0"/>
              </a:spcAft>
              <a:buClr>
                <a:schemeClr val="dk1"/>
              </a:buClr>
              <a:buSzPts val="2000"/>
              <a:buFont typeface="Rockwell"/>
              <a:buAutoNum type="arabicPeriod"/>
            </a:pPr>
            <a:r>
              <a:rPr lang="en-US" sz="2000" b="0" i="0" u="none" strike="noStrike" cap="none">
                <a:solidFill>
                  <a:schemeClr val="dk1"/>
                </a:solidFill>
                <a:latin typeface="Rockwell"/>
                <a:ea typeface="Rockwell"/>
                <a:cs typeface="Rockwell"/>
                <a:sym typeface="Rockwell"/>
              </a:rPr>
              <a:t>Directly download a data file (or files)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Rockwell"/>
              <a:buAutoNum type="arabicPeriod"/>
            </a:pPr>
            <a:r>
              <a:rPr lang="en-US" sz="2000" b="0" i="0" u="none" strike="noStrike" cap="none">
                <a:solidFill>
                  <a:schemeClr val="dk1"/>
                </a:solidFill>
                <a:latin typeface="Rockwell"/>
                <a:ea typeface="Rockwell"/>
                <a:cs typeface="Rockwell"/>
                <a:sym typeface="Rockwell"/>
              </a:rPr>
              <a:t>Query data from a database – </a:t>
            </a:r>
            <a:r>
              <a:rPr lang="en-US" sz="2000" b="0" i="0" u="none" strike="noStrike" cap="none">
                <a:solidFill>
                  <a:srgbClr val="FF0000"/>
                </a:solidFill>
                <a:latin typeface="Rockwell"/>
                <a:ea typeface="Rockwell"/>
                <a:cs typeface="Rockwell"/>
                <a:sym typeface="Rockwell"/>
              </a:rPr>
              <a:t>later in the course</a:t>
            </a:r>
            <a:r>
              <a:rPr lang="en-US" sz="2000" b="0" i="0" u="none" strike="noStrike" cap="none">
                <a:solidFill>
                  <a:schemeClr val="dk1"/>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Rockwell"/>
              <a:buAutoNum type="arabicPeriod"/>
            </a:pPr>
            <a:r>
              <a:rPr lang="en-US" sz="2000" b="0" i="0" u="none" strike="noStrike" cap="none">
                <a:solidFill>
                  <a:schemeClr val="dk1"/>
                </a:solidFill>
                <a:latin typeface="Rockwell"/>
                <a:ea typeface="Rockwell"/>
                <a:cs typeface="Rockwell"/>
                <a:sym typeface="Rockwell"/>
              </a:rPr>
              <a:t>Query an API (usually web-based, these days)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Rockwell"/>
              <a:buAutoNum type="arabicPeriod"/>
            </a:pPr>
            <a:r>
              <a:rPr lang="en-US" sz="2000" b="0" i="0" u="none" strike="noStrike" cap="none">
                <a:solidFill>
                  <a:schemeClr val="dk1"/>
                </a:solidFill>
                <a:latin typeface="Rockwell"/>
                <a:ea typeface="Rockwell"/>
                <a:cs typeface="Rockwell"/>
                <a:sym typeface="Rockwell"/>
              </a:rPr>
              <a:t>Scrape data from a webpage</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Rockwell"/>
              <a:buNone/>
            </a:pPr>
            <a:endParaRPr sz="20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0000"/>
                </a:solidFill>
                <a:latin typeface="Rockwell"/>
                <a:ea typeface="Rockwell"/>
                <a:cs typeface="Rockwell"/>
                <a:sym typeface="Rockwell"/>
              </a:rPr>
              <a:t>The last two will be part of HW1</a:t>
            </a:r>
            <a:endParaRPr sz="1400" b="0" i="0" u="none" strike="noStrike" cap="none">
              <a:solidFill>
                <a:srgbClr val="000000"/>
              </a:solidFill>
              <a:latin typeface="Arial"/>
              <a:ea typeface="Arial"/>
              <a:cs typeface="Arial"/>
              <a:sym typeface="Arial"/>
            </a:endParaRPr>
          </a:p>
        </p:txBody>
      </p:sp>
      <p:pic>
        <p:nvPicPr>
          <p:cNvPr id="236" name="Google Shape;236;p8" descr="A picture containing tree, person, outdoor&#10;&#10;Description automatically generated"/>
          <p:cNvPicPr preferRelativeResize="0"/>
          <p:nvPr/>
        </p:nvPicPr>
        <p:blipFill rotWithShape="1">
          <a:blip r:embed="rId3">
            <a:alphaModFix/>
          </a:blip>
          <a:srcRect/>
          <a:stretch/>
        </p:blipFill>
        <p:spPr>
          <a:xfrm>
            <a:off x="7931418" y="1775326"/>
            <a:ext cx="3048000" cy="2032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9"/>
          <p:cNvSpPr txBox="1">
            <a:spLocks noGrp="1"/>
          </p:cNvSpPr>
          <p:nvPr>
            <p:ph type="title"/>
          </p:nvPr>
        </p:nvSpPr>
        <p:spPr>
          <a:xfrm>
            <a:off x="1069850" y="103625"/>
            <a:ext cx="106848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3. EXPLORATORY DATA ANALYSIS AND VISUALIZATION</a:t>
            </a:r>
            <a:endParaRPr/>
          </a:p>
        </p:txBody>
      </p:sp>
      <p:sp>
        <p:nvSpPr>
          <p:cNvPr id="243" name="Google Shape;243;p9"/>
          <p:cNvSpPr txBox="1">
            <a:spLocks noGrp="1"/>
          </p:cNvSpPr>
          <p:nvPr>
            <p:ph sz="quarter" idx="1"/>
          </p:nvPr>
        </p:nvSpPr>
        <p:spPr>
          <a:xfrm>
            <a:off x="1069848" y="2121408"/>
            <a:ext cx="8826320" cy="4050792"/>
          </a:xfrm>
          <a:prstGeom prst="rect">
            <a:avLst/>
          </a:prstGeom>
          <a:noFill/>
          <a:ln>
            <a:noFill/>
          </a:ln>
        </p:spPr>
        <p:txBody>
          <a:bodyPr spcFirstLastPara="1" wrap="square" lIns="91425" tIns="45700" rIns="91425" bIns="45700" anchor="t" anchorCtr="0">
            <a:noAutofit/>
          </a:bodyPr>
          <a:lstStyle/>
          <a:p>
            <a:pPr marL="182880" lvl="0" indent="-74928" algn="l" rtl="0">
              <a:lnSpc>
                <a:spcPct val="90000"/>
              </a:lnSpc>
              <a:spcBef>
                <a:spcPts val="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182880" algn="l" rtl="0">
              <a:lnSpc>
                <a:spcPct val="90000"/>
              </a:lnSpc>
              <a:spcBef>
                <a:spcPts val="1200"/>
              </a:spcBef>
              <a:spcAft>
                <a:spcPts val="0"/>
              </a:spcAft>
              <a:buSzPts val="1900"/>
              <a:buChar char="▪"/>
            </a:pPr>
            <a:r>
              <a:rPr lang="en-US" sz="2200"/>
              <a:t>Do we already have relevant data?</a:t>
            </a:r>
            <a:endParaRPr sz="2200"/>
          </a:p>
          <a:p>
            <a:pPr marL="182880" lvl="0" indent="-182880" algn="l" rtl="0">
              <a:lnSpc>
                <a:spcPct val="90000"/>
              </a:lnSpc>
              <a:spcBef>
                <a:spcPts val="0"/>
              </a:spcBef>
              <a:spcAft>
                <a:spcPts val="0"/>
              </a:spcAft>
              <a:buSzPts val="1900"/>
              <a:buChar char="▪"/>
            </a:pPr>
            <a:r>
              <a:rPr lang="en-US" sz="2200"/>
              <a:t>What are the biases, anomalies, or other issues with our data?</a:t>
            </a:r>
            <a:endParaRPr sz="2200"/>
          </a:p>
          <a:p>
            <a:pPr marL="182880" lvl="0" indent="-182880" algn="l" rtl="0">
              <a:lnSpc>
                <a:spcPct val="90000"/>
              </a:lnSpc>
              <a:spcBef>
                <a:spcPts val="0"/>
              </a:spcBef>
              <a:spcAft>
                <a:spcPts val="0"/>
              </a:spcAft>
              <a:buSzPts val="1900"/>
              <a:buChar char="▪"/>
            </a:pPr>
            <a:r>
              <a:rPr lang="en-US" sz="2200"/>
              <a:t>How do we transform the data to enable effective analysis?</a:t>
            </a:r>
            <a:endParaRPr sz="2200"/>
          </a:p>
          <a:p>
            <a:pPr marL="182880" lvl="0" indent="-74928" algn="l" rtl="0">
              <a:lnSpc>
                <a:spcPct val="90000"/>
              </a:lnSpc>
              <a:spcBef>
                <a:spcPts val="1200"/>
              </a:spcBef>
              <a:spcAft>
                <a:spcPts val="0"/>
              </a:spcAft>
              <a:buSzPts val="1700"/>
              <a:buNone/>
            </a:pPr>
            <a:endParaRPr sz="2200"/>
          </a:p>
        </p:txBody>
      </p:sp>
      <p:sp>
        <p:nvSpPr>
          <p:cNvPr id="244" name="Google Shape;244;p9"/>
          <p:cNvSpPr/>
          <p:nvPr/>
        </p:nvSpPr>
        <p:spPr>
          <a:xfrm>
            <a:off x="1325167" y="3922947"/>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45" name="Google Shape;245;p9"/>
          <p:cNvSpPr txBox="1"/>
          <p:nvPr/>
        </p:nvSpPr>
        <p:spPr>
          <a:xfrm>
            <a:off x="2180067" y="3760145"/>
            <a:ext cx="2380400" cy="903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Exploratory Data Analysis</a:t>
            </a:r>
            <a:endParaRPr sz="2667"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67"/>
              <a:buFont typeface="Arial"/>
              <a:buNone/>
            </a:pPr>
            <a:endParaRPr sz="2667" b="0" i="0" u="none" strike="noStrike" cap="none">
              <a:solidFill>
                <a:schemeClr val="dk1"/>
              </a:solidFill>
              <a:latin typeface="Calibri"/>
              <a:ea typeface="Calibri"/>
              <a:cs typeface="Calibri"/>
              <a:sym typeface="Calibri"/>
            </a:endParaRPr>
          </a:p>
        </p:txBody>
      </p:sp>
      <p:cxnSp>
        <p:nvCxnSpPr>
          <p:cNvPr id="246" name="Google Shape;246;p9"/>
          <p:cNvCxnSpPr/>
          <p:nvPr/>
        </p:nvCxnSpPr>
        <p:spPr>
          <a:xfrm>
            <a:off x="1715567" y="2085347"/>
            <a:ext cx="0" cy="1837600"/>
          </a:xfrm>
          <a:prstGeom prst="straightConnector1">
            <a:avLst/>
          </a:prstGeom>
          <a:noFill/>
          <a:ln w="28575" cap="flat" cmpd="sng">
            <a:solidFill>
              <a:srgbClr val="000000"/>
            </a:solidFill>
            <a:prstDash val="solid"/>
            <a:round/>
            <a:headEnd type="none" w="sm" len="sm"/>
            <a:tailEnd type="triangle" w="med" len="med"/>
          </a:ln>
        </p:spPr>
      </p:cxnSp>
      <p:cxnSp>
        <p:nvCxnSpPr>
          <p:cNvPr id="247" name="Google Shape;247;p9"/>
          <p:cNvCxnSpPr/>
          <p:nvPr/>
        </p:nvCxnSpPr>
        <p:spPr>
          <a:xfrm rot="10800000">
            <a:off x="-1401288" y="1970892"/>
            <a:ext cx="2840800" cy="2066400"/>
          </a:xfrm>
          <a:prstGeom prst="straightConnector1">
            <a:avLst/>
          </a:prstGeom>
          <a:noFill/>
          <a:ln w="28575" cap="flat" cmpd="sng">
            <a:solidFill>
              <a:srgbClr val="000000"/>
            </a:solidFill>
            <a:prstDash val="solid"/>
            <a:round/>
            <a:headEnd type="none" w="sm" len="sm"/>
            <a:tailEnd type="triangle" w="med" len="med"/>
          </a:ln>
        </p:spPr>
      </p:cxnSp>
      <p:cxnSp>
        <p:nvCxnSpPr>
          <p:cNvPr id="248" name="Google Shape;248;p9"/>
          <p:cNvCxnSpPr/>
          <p:nvPr/>
        </p:nvCxnSpPr>
        <p:spPr>
          <a:xfrm rot="10800000">
            <a:off x="-1286833" y="4313347"/>
            <a:ext cx="2612000" cy="0"/>
          </a:xfrm>
          <a:prstGeom prst="straightConnector1">
            <a:avLst/>
          </a:prstGeom>
          <a:noFill/>
          <a:ln w="28575" cap="flat" cmpd="sng">
            <a:solidFill>
              <a:srgbClr val="000000"/>
            </a:solidFill>
            <a:prstDash val="solid"/>
            <a:round/>
            <a:headEnd type="none" w="sm" len="sm"/>
            <a:tailEnd type="triangle" w="med" len="med"/>
          </a:ln>
        </p:spPr>
      </p:cxnSp>
      <p:sp>
        <p:nvSpPr>
          <p:cNvPr id="249" name="Google Shape;249;p9"/>
          <p:cNvSpPr txBox="1"/>
          <p:nvPr/>
        </p:nvSpPr>
        <p:spPr>
          <a:xfrm>
            <a:off x="1705719" y="4021972"/>
            <a:ext cx="384000" cy="368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50" name="Google Shape;250;p9"/>
          <p:cNvSpPr txBox="1"/>
          <p:nvPr/>
        </p:nvSpPr>
        <p:spPr>
          <a:xfrm>
            <a:off x="1884073" y="1868647"/>
            <a:ext cx="214800" cy="375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251" name="Google Shape;251;p9"/>
          <p:cNvCxnSpPr/>
          <p:nvPr/>
        </p:nvCxnSpPr>
        <p:spPr>
          <a:xfrm rot="-5400000">
            <a:off x="1019319" y="3126472"/>
            <a:ext cx="2150100" cy="9300"/>
          </a:xfrm>
          <a:prstGeom prst="curvedConnector3">
            <a:avLst>
              <a:gd name="adj1" fmla="val 0"/>
            </a:avLst>
          </a:prstGeom>
          <a:noFill/>
          <a:ln w="28575" cap="flat" cmpd="sng">
            <a:solidFill>
              <a:srgbClr val="000000"/>
            </a:solidFill>
            <a:prstDash val="solid"/>
            <a:round/>
            <a:headEnd type="none" w="sm" len="sm"/>
            <a:tailEnd type="triangle" w="med" len="med"/>
          </a:ln>
        </p:spPr>
      </p:cxnSp>
      <p:sp>
        <p:nvSpPr>
          <p:cNvPr id="252" name="Google Shape;252;p9"/>
          <p:cNvSpPr/>
          <p:nvPr/>
        </p:nvSpPr>
        <p:spPr>
          <a:xfrm>
            <a:off x="6096000" y="4044387"/>
            <a:ext cx="5180968" cy="101566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Rockwell"/>
                <a:ea typeface="Rockwell"/>
                <a:cs typeface="Rockwell"/>
                <a:sym typeface="Rockwell"/>
              </a:rPr>
              <a:t>Exploratory data analysis (EDA): the process of discovering traits about our data that inform future analysis.</a:t>
            </a:r>
            <a:endParaRPr sz="2000" b="0" i="0" u="none" strike="noStrike" cap="none">
              <a:solidFill>
                <a:schemeClr val="dk1"/>
              </a:solidFill>
              <a:latin typeface="Rockwell"/>
              <a:ea typeface="Rockwell"/>
              <a:cs typeface="Rockwell"/>
              <a:sym typeface="Rockwell"/>
            </a:endParaRPr>
          </a:p>
        </p:txBody>
      </p:sp>
      <p:pic>
        <p:nvPicPr>
          <p:cNvPr id="253" name="Google Shape;253;p9" descr="A picture containing tree, person, outdoor&#10;&#10;Description automatically generated"/>
          <p:cNvPicPr preferRelativeResize="0"/>
          <p:nvPr/>
        </p:nvPicPr>
        <p:blipFill rotWithShape="1">
          <a:blip r:embed="rId3">
            <a:alphaModFix/>
          </a:blip>
          <a:srcRect/>
          <a:stretch/>
        </p:blipFill>
        <p:spPr>
          <a:xfrm>
            <a:off x="7931418" y="1775326"/>
            <a:ext cx="3048000" cy="2032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0"/>
          <p:cNvSpPr txBox="1">
            <a:spLocks noGrp="1"/>
          </p:cNvSpPr>
          <p:nvPr>
            <p:ph type="title"/>
          </p:nvPr>
        </p:nvSpPr>
        <p:spPr>
          <a:xfrm>
            <a:off x="1069850" y="103625"/>
            <a:ext cx="109200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4. PREDICTIONS AND INFERENCE</a:t>
            </a:r>
            <a:endParaRPr/>
          </a:p>
        </p:txBody>
      </p:sp>
      <p:sp>
        <p:nvSpPr>
          <p:cNvPr id="259" name="Google Shape;259;p10"/>
          <p:cNvSpPr txBox="1">
            <a:spLocks noGrp="1"/>
          </p:cNvSpPr>
          <p:nvPr>
            <p:ph sz="quarter" idx="1"/>
          </p:nvPr>
        </p:nvSpPr>
        <p:spPr>
          <a:xfrm>
            <a:off x="1069848" y="1816608"/>
            <a:ext cx="10058400" cy="4050900"/>
          </a:xfrm>
          <a:prstGeom prst="rect">
            <a:avLst/>
          </a:prstGeom>
          <a:noFill/>
          <a:ln>
            <a:noFill/>
          </a:ln>
        </p:spPr>
        <p:txBody>
          <a:bodyPr spcFirstLastPara="1" wrap="square" lIns="91425" tIns="45700" rIns="91425" bIns="45700" anchor="t" anchorCtr="0">
            <a:noAutofit/>
          </a:bodyPr>
          <a:lstStyle/>
          <a:p>
            <a:pPr marL="182880" lvl="0" indent="-74928" algn="l" rtl="0">
              <a:lnSpc>
                <a:spcPct val="90000"/>
              </a:lnSpc>
              <a:spcBef>
                <a:spcPts val="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a:p>
          <a:p>
            <a:pPr marL="182880" lvl="0" indent="-182880" algn="l" rtl="0">
              <a:lnSpc>
                <a:spcPct val="90000"/>
              </a:lnSpc>
              <a:spcBef>
                <a:spcPts val="1200"/>
              </a:spcBef>
              <a:spcAft>
                <a:spcPts val="0"/>
              </a:spcAft>
              <a:buSzPts val="1900"/>
              <a:buChar char="▪"/>
            </a:pPr>
            <a:r>
              <a:rPr lang="en-US" sz="2200"/>
              <a:t>What does the data say about the world?</a:t>
            </a:r>
            <a:endParaRPr sz="2200"/>
          </a:p>
          <a:p>
            <a:pPr marL="182880" lvl="0" indent="-182880" algn="l" rtl="0">
              <a:lnSpc>
                <a:spcPct val="90000"/>
              </a:lnSpc>
              <a:spcBef>
                <a:spcPts val="0"/>
              </a:spcBef>
              <a:spcAft>
                <a:spcPts val="0"/>
              </a:spcAft>
              <a:buSzPts val="1900"/>
              <a:buChar char="▪"/>
            </a:pPr>
            <a:r>
              <a:rPr lang="en-US" sz="2200"/>
              <a:t>Does it answer our questions or accurately solve the problem?</a:t>
            </a:r>
            <a:endParaRPr sz="2200"/>
          </a:p>
          <a:p>
            <a:pPr marL="182880" lvl="0" indent="-182880" algn="l" rtl="0">
              <a:lnSpc>
                <a:spcPct val="90000"/>
              </a:lnSpc>
              <a:spcBef>
                <a:spcPts val="0"/>
              </a:spcBef>
              <a:spcAft>
                <a:spcPts val="0"/>
              </a:spcAft>
              <a:buSzPts val="1900"/>
              <a:buChar char="▪"/>
            </a:pPr>
            <a:r>
              <a:rPr lang="en-US" sz="2200"/>
              <a:t>How robust are our conclusions and can we trust the predictions?</a:t>
            </a:r>
            <a:endParaRPr sz="2200"/>
          </a:p>
          <a:p>
            <a:pPr marL="182880" lvl="0" indent="-74928" algn="l" rtl="0">
              <a:lnSpc>
                <a:spcPct val="90000"/>
              </a:lnSpc>
              <a:spcBef>
                <a:spcPts val="1200"/>
              </a:spcBef>
              <a:spcAft>
                <a:spcPts val="0"/>
              </a:spcAft>
              <a:buSzPts val="1700"/>
              <a:buNone/>
            </a:pPr>
            <a:endParaRPr sz="2200"/>
          </a:p>
        </p:txBody>
      </p:sp>
      <p:sp>
        <p:nvSpPr>
          <p:cNvPr id="260" name="Google Shape;260;p10"/>
          <p:cNvSpPr/>
          <p:nvPr/>
        </p:nvSpPr>
        <p:spPr>
          <a:xfrm>
            <a:off x="7381233" y="2555403"/>
            <a:ext cx="780800" cy="780800"/>
          </a:xfrm>
          <a:prstGeom prst="ellipse">
            <a:avLst/>
          </a:prstGeom>
          <a:solidFill>
            <a:srgbClr val="CFE2F3"/>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61" name="Google Shape;261;p10"/>
          <p:cNvSpPr txBox="1"/>
          <p:nvPr/>
        </p:nvSpPr>
        <p:spPr>
          <a:xfrm>
            <a:off x="4468367" y="2392603"/>
            <a:ext cx="2798400" cy="9032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Draw Conclusions from Predictions and Inference</a:t>
            </a:r>
            <a:endParaRPr sz="2667"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2667"/>
              <a:buFont typeface="Arial"/>
              <a:buNone/>
            </a:pPr>
            <a:endParaRPr sz="2667" b="0" i="0" u="none" strike="noStrike" cap="none">
              <a:solidFill>
                <a:schemeClr val="dk1"/>
              </a:solidFill>
              <a:latin typeface="Calibri"/>
              <a:ea typeface="Calibri"/>
              <a:cs typeface="Calibri"/>
              <a:sym typeface="Calibri"/>
            </a:endParaRPr>
          </a:p>
        </p:txBody>
      </p:sp>
      <p:cxnSp>
        <p:nvCxnSpPr>
          <p:cNvPr id="262" name="Google Shape;262;p10"/>
          <p:cNvCxnSpPr/>
          <p:nvPr/>
        </p:nvCxnSpPr>
        <p:spPr>
          <a:xfrm rot="10800000">
            <a:off x="8162033" y="2945803"/>
            <a:ext cx="4059600" cy="0"/>
          </a:xfrm>
          <a:prstGeom prst="straightConnector1">
            <a:avLst/>
          </a:prstGeom>
          <a:noFill/>
          <a:ln w="28575" cap="flat" cmpd="sng">
            <a:solidFill>
              <a:srgbClr val="000000"/>
            </a:solidFill>
            <a:prstDash val="solid"/>
            <a:round/>
            <a:headEnd type="none" w="sm" len="sm"/>
            <a:tailEnd type="triangle" w="med" len="med"/>
          </a:ln>
        </p:spPr>
      </p:cxnSp>
      <p:cxnSp>
        <p:nvCxnSpPr>
          <p:cNvPr id="263" name="Google Shape;263;p10"/>
          <p:cNvCxnSpPr/>
          <p:nvPr/>
        </p:nvCxnSpPr>
        <p:spPr>
          <a:xfrm rot="10800000">
            <a:off x="7771633" y="1843403"/>
            <a:ext cx="0" cy="712000"/>
          </a:xfrm>
          <a:prstGeom prst="straightConnector1">
            <a:avLst/>
          </a:prstGeom>
          <a:noFill/>
          <a:ln w="28575" cap="flat" cmpd="sng">
            <a:solidFill>
              <a:srgbClr val="000000"/>
            </a:solidFill>
            <a:prstDash val="solid"/>
            <a:round/>
            <a:headEnd type="none" w="sm" len="sm"/>
            <a:tailEnd type="triangle" w="med" len="med"/>
          </a:ln>
        </p:spPr>
      </p:cxnSp>
      <p:sp>
        <p:nvSpPr>
          <p:cNvPr id="264" name="Google Shape;264;p10"/>
          <p:cNvSpPr txBox="1"/>
          <p:nvPr/>
        </p:nvSpPr>
        <p:spPr>
          <a:xfrm>
            <a:off x="9213067" y="3952603"/>
            <a:ext cx="2939200" cy="903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Reports, Decisions, and Solutions</a:t>
            </a:r>
            <a:endParaRPr sz="2667" b="0" i="0" u="none" strike="noStrike" cap="none">
              <a:solidFill>
                <a:schemeClr val="dk1"/>
              </a:solidFill>
              <a:latin typeface="Calibri"/>
              <a:ea typeface="Calibri"/>
              <a:cs typeface="Calibri"/>
              <a:sym typeface="Calibri"/>
            </a:endParaRPr>
          </a:p>
        </p:txBody>
      </p:sp>
      <p:cxnSp>
        <p:nvCxnSpPr>
          <p:cNvPr id="265" name="Google Shape;265;p10"/>
          <p:cNvCxnSpPr/>
          <p:nvPr/>
        </p:nvCxnSpPr>
        <p:spPr>
          <a:xfrm>
            <a:off x="7771633" y="3336203"/>
            <a:ext cx="1441500" cy="1068000"/>
          </a:xfrm>
          <a:prstGeom prst="bentConnector2">
            <a:avLst/>
          </a:prstGeom>
          <a:noFill/>
          <a:ln w="28575" cap="flat" cmpd="sng">
            <a:solidFill>
              <a:srgbClr val="000000"/>
            </a:solidFill>
            <a:prstDash val="solid"/>
            <a:round/>
            <a:headEnd type="none" w="sm" len="sm"/>
            <a:tailEnd type="triangle" w="med" len="med"/>
          </a:ln>
        </p:spPr>
      </p:cxnSp>
      <p:pic>
        <p:nvPicPr>
          <p:cNvPr id="266" name="Google Shape;266;p10" descr="A picture containing tree, person, outdoor&#10;&#10;Description automatically generated"/>
          <p:cNvPicPr preferRelativeResize="0"/>
          <p:nvPr/>
        </p:nvPicPr>
        <p:blipFill rotWithShape="1">
          <a:blip r:embed="rId3">
            <a:alphaModFix/>
          </a:blip>
          <a:srcRect/>
          <a:stretch/>
        </p:blipFill>
        <p:spPr>
          <a:xfrm>
            <a:off x="1245108" y="2372203"/>
            <a:ext cx="3048000" cy="2032000"/>
          </a:xfrm>
          <a:prstGeom prst="rect">
            <a:avLst/>
          </a:prstGeom>
          <a:noFill/>
          <a:ln>
            <a:noFill/>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859</TotalTime>
  <Words>2489</Words>
  <Application>Microsoft Macintosh PowerPoint</Application>
  <PresentationFormat>宽屏</PresentationFormat>
  <Paragraphs>306</Paragraphs>
  <Slides>37</Slides>
  <Notes>37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Noto Sans Symbols</vt:lpstr>
      <vt:lpstr>Arial</vt:lpstr>
      <vt:lpstr>Calibri</vt:lpstr>
      <vt:lpstr>Gill Sans MT</vt:lpstr>
      <vt:lpstr>Helvetica Neue</vt:lpstr>
      <vt:lpstr>Rockwell</vt:lpstr>
      <vt:lpstr>Wingdings</vt:lpstr>
      <vt:lpstr>Wingdings 2</vt:lpstr>
      <vt:lpstr>Oriel</vt:lpstr>
      <vt:lpstr>WELCOME TO DATA SCIENCE</vt:lpstr>
      <vt:lpstr>PowerPoint 演示文稿</vt:lpstr>
      <vt:lpstr>WHAT IS DATA SCIENCE? From syllabus</vt:lpstr>
      <vt:lpstr>WHAT IS DATA SCIENCE? Informal but useful definition</vt:lpstr>
      <vt:lpstr>PowerPoint 演示文稿</vt:lpstr>
      <vt:lpstr>DATA SCIENCE IS NOT MACHINE LEARNING</vt:lpstr>
      <vt:lpstr>DATA SCIENCE IS NOT MACHINE LEARNING COMPETITIONS</vt:lpstr>
      <vt:lpstr>DATA SCIENCE IS NOT STATISTICS</vt:lpstr>
      <vt:lpstr>DATA SCIENCE  IS NOT BIG DATA</vt:lpstr>
      <vt:lpstr>Textbook definition of Data science – Fig 1-1</vt:lpstr>
      <vt:lpstr>IN SIMPLER TERMS</vt:lpstr>
      <vt:lpstr>PowerPoint 演示文稿</vt:lpstr>
      <vt:lpstr>PowerPoint 演示文稿</vt:lpstr>
      <vt:lpstr>FIVETHIRTYEIGHT</vt:lpstr>
      <vt:lpstr>LEAD WATER PIPES</vt:lpstr>
      <vt:lpstr>DATA (SCIENCE) PRODUCTS</vt:lpstr>
      <vt:lpstr>AUTONOMOUS VEHICLES</vt:lpstr>
      <vt:lpstr>TYPES OF DATA SCIENTISTS</vt:lpstr>
      <vt:lpstr>HOW DO I BECOME A DATA SCIENTIST</vt:lpstr>
      <vt:lpstr>MOST DESIRED DATA SCIENTIST TRAITS</vt:lpstr>
      <vt:lpstr>PowerPoint 演示文稿</vt:lpstr>
      <vt:lpstr>WHAT IS THIS COURSE ABOUT?</vt:lpstr>
      <vt:lpstr>LEARNING OBJECTIVES FOR THE COURSE</vt:lpstr>
      <vt:lpstr>COURSE PREREQUISITES</vt:lpstr>
      <vt:lpstr>MAIN PROGRAMMING LANGUAGE: PYTHON</vt:lpstr>
      <vt:lpstr>DELIVERABLES AND GRADING</vt:lpstr>
      <vt:lpstr>THREE HOMEWORK ASSIGNMENTS (30%)</vt:lpstr>
      <vt:lpstr>GROUP PROJECT (30%)</vt:lpstr>
      <vt:lpstr>TENTATIVE SCHEDULE as in syllabus</vt:lpstr>
      <vt:lpstr>ANNOUNCEMENTS</vt:lpstr>
      <vt:lpstr>WHAT WE WILL USE PIAZZA FOR</vt:lpstr>
      <vt:lpstr>WHAT YOU CAN EXPECT FROM INSTRUCTORS</vt:lpstr>
      <vt:lpstr>WHAT I EXPECT FROM YOU</vt:lpstr>
      <vt:lpstr>1. QUESTION / PROBLEM FORMULATION</vt:lpstr>
      <vt:lpstr>2. DATA ACQUISITION AND CLEANING</vt:lpstr>
      <vt:lpstr>3. EXPLORATORY DATA ANALYSIS AND VISUALIZATION</vt:lpstr>
      <vt:lpstr>4. PREDICTIONS AND INFERENCE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DATA SCIENCE</dc:title>
  <dc:subject/>
  <dc:creator>sathya@uic.edu</dc:creator>
  <cp:keywords/>
  <dc:description/>
  <cp:lastModifiedBy>yuting lu</cp:lastModifiedBy>
  <cp:revision>63</cp:revision>
  <dcterms:created xsi:type="dcterms:W3CDTF">2017-08-21T17:08:06Z</dcterms:created>
  <dcterms:modified xsi:type="dcterms:W3CDTF">2024-10-29T16:11:48Z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Sathya Ravi</vt:lpwstr>
  </property>
</Properties>
</file>